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Override PartName="/ppt/slides/slide66.xml" ContentType="application/vnd.openxmlformats-officedocument.presentationml.slide+xml"/>
  <Override PartName="/ppt/notesSlides/notesSlide66.xml" ContentType="application/vnd.openxmlformats-officedocument.presentationml.notesSlide+xml"/>
  <Override PartName="/ppt/slides/slide67.xml" ContentType="application/vnd.openxmlformats-officedocument.presentationml.slide+xml"/>
  <Override PartName="/ppt/notesSlides/notesSlide67.xml" ContentType="application/vnd.openxmlformats-officedocument.presentationml.notesSlide+xml"/>
  <Override PartName="/ppt/slides/slide68.xml" ContentType="application/vnd.openxmlformats-officedocument.presentationml.slide+xml"/>
  <Override PartName="/ppt/notesSlides/notesSlide68.xml" ContentType="application/vnd.openxmlformats-officedocument.presentationml.notesSlide+xml"/>
  <Override PartName="/ppt/slides/slide69.xml" ContentType="application/vnd.openxmlformats-officedocument.presentationml.slide+xml"/>
  <Override PartName="/ppt/notesSlides/notesSlide69.xml" ContentType="application/vnd.openxmlformats-officedocument.presentationml.notesSlide+xml"/>
  <Override PartName="/ppt/slides/slide70.xml" ContentType="application/vnd.openxmlformats-officedocument.presentationml.slide+xml"/>
  <Override PartName="/ppt/notesSlides/notesSlide70.xml" ContentType="application/vnd.openxmlformats-officedocument.presentationml.notesSlide+xml"/>
  <Override PartName="/ppt/slides/slide71.xml" ContentType="application/vnd.openxmlformats-officedocument.presentationml.slide+xml"/>
  <Override PartName="/ppt/notesSlides/notesSlide71.xml" ContentType="application/vnd.openxmlformats-officedocument.presentationml.notesSlide+xml"/>
  <Override PartName="/ppt/slides/slide72.xml" ContentType="application/vnd.openxmlformats-officedocument.presentationml.slide+xml"/>
  <Override PartName="/ppt/notesSlides/notesSlide72.xml" ContentType="application/vnd.openxmlformats-officedocument.presentationml.notesSlide+xml"/>
  <Override PartName="/ppt/slides/slide73.xml" ContentType="application/vnd.openxmlformats-officedocument.presentationml.slide+xml"/>
  <Override PartName="/ppt/notesSlides/notesSlide73.xml" ContentType="application/vnd.openxmlformats-officedocument.presentationml.notesSlide+xml"/>
  <Override PartName="/ppt/slides/slide74.xml" ContentType="application/vnd.openxmlformats-officedocument.presentationml.slide+xml"/>
  <Override PartName="/ppt/notesSlides/notesSlide74.xml" ContentType="application/vnd.openxmlformats-officedocument.presentationml.notesSlide+xml"/>
  <Override PartName="/ppt/slides/slide75.xml" ContentType="application/vnd.openxmlformats-officedocument.presentationml.slide+xml"/>
  <Override PartName="/ppt/notesSlides/notesSlide75.xml" ContentType="application/vnd.openxmlformats-officedocument.presentationml.notesSlide+xml"/>
  <Override PartName="/ppt/slides/slide76.xml" ContentType="application/vnd.openxmlformats-officedocument.presentationml.slide+xml"/>
  <Override PartName="/ppt/notesSlides/notesSlide76.xml" ContentType="application/vnd.openxmlformats-officedocument.presentationml.notesSlide+xml"/>
  <Override PartName="/ppt/slides/slide77.xml" ContentType="application/vnd.openxmlformats-officedocument.presentationml.slide+xml"/>
  <Override PartName="/ppt/notesSlides/notesSlide77.xml" ContentType="application/vnd.openxmlformats-officedocument.presentationml.notesSlide+xml"/>
  <Override PartName="/ppt/slides/slide78.xml" ContentType="application/vnd.openxmlformats-officedocument.presentationml.slide+xml"/>
  <Override PartName="/ppt/notesSlides/notesSlide78.xml" ContentType="application/vnd.openxmlformats-officedocument.presentationml.notesSlide+xml"/>
  <Override PartName="/ppt/slides/slide79.xml" ContentType="application/vnd.openxmlformats-officedocument.presentationml.slide+xml"/>
  <Override PartName="/ppt/notesSlides/notesSlide79.xml" ContentType="application/vnd.openxmlformats-officedocument.presentationml.notesSlide+xml"/>
  <Override PartName="/ppt/slides/slide80.xml" ContentType="application/vnd.openxmlformats-officedocument.presentationml.slide+xml"/>
  <Override PartName="/ppt/notesSlides/notesSlide80.xml" ContentType="application/vnd.openxmlformats-officedocument.presentationml.notesSlide+xml"/>
  <Override PartName="/ppt/slides/slide81.xml" ContentType="application/vnd.openxmlformats-officedocument.presentationml.slide+xml"/>
  <Override PartName="/ppt/notesSlides/notesSlide81.xml" ContentType="application/vnd.openxmlformats-officedocument.presentationml.notesSlide+xml"/>
  <Override PartName="/ppt/slides/slide82.xml" ContentType="application/vnd.openxmlformats-officedocument.presentationml.slide+xml"/>
  <Override PartName="/ppt/notesSlides/notesSlide82.xml" ContentType="application/vnd.openxmlformats-officedocument.presentationml.notesSlide+xml"/>
  <Override PartName="/ppt/slides/slide83.xml" ContentType="application/vnd.openxmlformats-officedocument.presentationml.slide+xml"/>
  <Override PartName="/ppt/notesSlides/notesSlide83.xml" ContentType="application/vnd.openxmlformats-officedocument.presentationml.notesSlide+xml"/>
  <Override PartName="/ppt/slides/slide84.xml" ContentType="application/vnd.openxmlformats-officedocument.presentationml.slide+xml"/>
  <Override PartName="/ppt/notesSlides/notesSlide8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94da5a80e6b41dd" /><Relationship Type="http://schemas.openxmlformats.org/officeDocument/2006/relationships/extended-properties" Target="/docProps/app.xml" Id="Re38114b2645b4623" /><Relationship Type="http://schemas.openxmlformats.org/officeDocument/2006/relationships/officeDocument" Target="/ppt/presentation.xml" Id="R2655857a1f154825" /></Relationships>
</file>

<file path=ppt/presentation.xml><?xml version="1.0" encoding="utf-8"?>
<p:presentation xmlns:p="http://schemas.openxmlformats.org/presentationml/2006/main">
  <p:sldMasterIdLst>
    <p:sldMasterId xmlns:r="http://schemas.openxmlformats.org/officeDocument/2006/relationships" id="2147483648" r:id="R380957199ea842a0"/>
  </p:sldMasterIdLst>
  <p:notesMasterIdLst>
    <p:notesMasterId xmlns:r="http://schemas.openxmlformats.org/officeDocument/2006/relationships" r:id="R54a61a93cdfa4514"/>
  </p:notesMasterIdLst>
  <p:sldIdLst>
    <p:sldId xmlns:r="http://schemas.openxmlformats.org/officeDocument/2006/relationships" id="256" r:id="R0e298f7b3aeb4410"/>
    <p:sldId xmlns:r="http://schemas.openxmlformats.org/officeDocument/2006/relationships" id="257" r:id="Rd83c35bf638e4e1a"/>
    <p:sldId xmlns:r="http://schemas.openxmlformats.org/officeDocument/2006/relationships" id="258" r:id="Ree86ca39b1d0475c"/>
    <p:sldId xmlns:r="http://schemas.openxmlformats.org/officeDocument/2006/relationships" id="259" r:id="Rf2d55b5746ef4e1f"/>
    <p:sldId xmlns:r="http://schemas.openxmlformats.org/officeDocument/2006/relationships" id="260" r:id="Rc88e299a88d54ecb"/>
    <p:sldId xmlns:r="http://schemas.openxmlformats.org/officeDocument/2006/relationships" id="261" r:id="Rabdd7cead1c64b28"/>
    <p:sldId xmlns:r="http://schemas.openxmlformats.org/officeDocument/2006/relationships" id="262" r:id="R5e473e8a65f44c40"/>
    <p:sldId xmlns:r="http://schemas.openxmlformats.org/officeDocument/2006/relationships" id="263" r:id="R2f6a579e20b34874"/>
    <p:sldId xmlns:r="http://schemas.openxmlformats.org/officeDocument/2006/relationships" id="264" r:id="R1609f9579b764644"/>
    <p:sldId xmlns:r="http://schemas.openxmlformats.org/officeDocument/2006/relationships" id="265" r:id="Rf0af9605dd6947e1"/>
    <p:sldId xmlns:r="http://schemas.openxmlformats.org/officeDocument/2006/relationships" id="266" r:id="Rb9063ba1d69048cd"/>
    <p:sldId xmlns:r="http://schemas.openxmlformats.org/officeDocument/2006/relationships" id="267" r:id="R8ee0d7e64ee443cc"/>
    <p:sldId xmlns:r="http://schemas.openxmlformats.org/officeDocument/2006/relationships" id="268" r:id="Rdf09c8bd9ad64a5d"/>
    <p:sldId xmlns:r="http://schemas.openxmlformats.org/officeDocument/2006/relationships" id="269" r:id="R05560115ab984771"/>
    <p:sldId xmlns:r="http://schemas.openxmlformats.org/officeDocument/2006/relationships" id="270" r:id="Rd45affa66b9b4c34"/>
    <p:sldId xmlns:r="http://schemas.openxmlformats.org/officeDocument/2006/relationships" id="271" r:id="Rc1b1731defcf4620"/>
    <p:sldId xmlns:r="http://schemas.openxmlformats.org/officeDocument/2006/relationships" id="272" r:id="R505029ddc8424a4c"/>
    <p:sldId xmlns:r="http://schemas.openxmlformats.org/officeDocument/2006/relationships" id="273" r:id="R83af2700ffba41d4"/>
    <p:sldId xmlns:r="http://schemas.openxmlformats.org/officeDocument/2006/relationships" id="274" r:id="R90acae4a705b4b5b"/>
    <p:sldId xmlns:r="http://schemas.openxmlformats.org/officeDocument/2006/relationships" id="275" r:id="R74be1840a44042fe"/>
    <p:sldId xmlns:r="http://schemas.openxmlformats.org/officeDocument/2006/relationships" id="276" r:id="Ra848dcfdaf484e9b"/>
    <p:sldId xmlns:r="http://schemas.openxmlformats.org/officeDocument/2006/relationships" id="277" r:id="R628f8bccca7a4573"/>
    <p:sldId xmlns:r="http://schemas.openxmlformats.org/officeDocument/2006/relationships" id="278" r:id="R8057865dcd5a4f45"/>
    <p:sldId xmlns:r="http://schemas.openxmlformats.org/officeDocument/2006/relationships" id="279" r:id="Rc040a8269eec40e5"/>
    <p:sldId xmlns:r="http://schemas.openxmlformats.org/officeDocument/2006/relationships" id="280" r:id="Ra6c929162cd543a6"/>
    <p:sldId xmlns:r="http://schemas.openxmlformats.org/officeDocument/2006/relationships" id="281" r:id="R7c1f6268180d49c5"/>
    <p:sldId xmlns:r="http://schemas.openxmlformats.org/officeDocument/2006/relationships" id="282" r:id="R3dc5df20c8ea49c7"/>
    <p:sldId xmlns:r="http://schemas.openxmlformats.org/officeDocument/2006/relationships" id="283" r:id="Rc2e2614301bf43ea"/>
    <p:sldId xmlns:r="http://schemas.openxmlformats.org/officeDocument/2006/relationships" id="284" r:id="R0b164a4e06c540a4"/>
    <p:sldId xmlns:r="http://schemas.openxmlformats.org/officeDocument/2006/relationships" id="285" r:id="Rab604c69f7594136"/>
    <p:sldId xmlns:r="http://schemas.openxmlformats.org/officeDocument/2006/relationships" id="286" r:id="R4de9f779a4b74034"/>
    <p:sldId xmlns:r="http://schemas.openxmlformats.org/officeDocument/2006/relationships" id="287" r:id="R01c0be99f9234b55"/>
    <p:sldId xmlns:r="http://schemas.openxmlformats.org/officeDocument/2006/relationships" id="288" r:id="R1d70238f89944ce8"/>
    <p:sldId xmlns:r="http://schemas.openxmlformats.org/officeDocument/2006/relationships" id="289" r:id="R8d097243c6554a76"/>
    <p:sldId xmlns:r="http://schemas.openxmlformats.org/officeDocument/2006/relationships" id="290" r:id="R2b429bb48c824b28"/>
    <p:sldId xmlns:r="http://schemas.openxmlformats.org/officeDocument/2006/relationships" id="291" r:id="R9d9a80b89e9b49b1"/>
    <p:sldId xmlns:r="http://schemas.openxmlformats.org/officeDocument/2006/relationships" id="292" r:id="Re726f323ebe144d9"/>
    <p:sldId xmlns:r="http://schemas.openxmlformats.org/officeDocument/2006/relationships" id="293" r:id="R5f468cb264ea48f6"/>
    <p:sldId xmlns:r="http://schemas.openxmlformats.org/officeDocument/2006/relationships" id="294" r:id="Re8b024f2970141a7"/>
    <p:sldId xmlns:r="http://schemas.openxmlformats.org/officeDocument/2006/relationships" id="295" r:id="Re37e953afc5e42d0"/>
    <p:sldId xmlns:r="http://schemas.openxmlformats.org/officeDocument/2006/relationships" id="296" r:id="R00499cfa5b604c29"/>
    <p:sldId xmlns:r="http://schemas.openxmlformats.org/officeDocument/2006/relationships" id="297" r:id="Re0686a4f10104db8"/>
    <p:sldId xmlns:r="http://schemas.openxmlformats.org/officeDocument/2006/relationships" id="298" r:id="R03f5973de18d46a4"/>
    <p:sldId xmlns:r="http://schemas.openxmlformats.org/officeDocument/2006/relationships" id="299" r:id="R6504662c87f941eb"/>
    <p:sldId xmlns:r="http://schemas.openxmlformats.org/officeDocument/2006/relationships" id="300" r:id="R844814eb372c4fb1"/>
    <p:sldId xmlns:r="http://schemas.openxmlformats.org/officeDocument/2006/relationships" id="301" r:id="R790a04c70dde4a73"/>
    <p:sldId xmlns:r="http://schemas.openxmlformats.org/officeDocument/2006/relationships" id="302" r:id="R999caf7a4ca94844"/>
    <p:sldId xmlns:r="http://schemas.openxmlformats.org/officeDocument/2006/relationships" id="303" r:id="Rf9ffe4e097804ddd"/>
    <p:sldId xmlns:r="http://schemas.openxmlformats.org/officeDocument/2006/relationships" id="304" r:id="R58b1e2994bdb4b0a"/>
    <p:sldId xmlns:r="http://schemas.openxmlformats.org/officeDocument/2006/relationships" id="305" r:id="R256788faffad4790"/>
    <p:sldId xmlns:r="http://schemas.openxmlformats.org/officeDocument/2006/relationships" id="306" r:id="R51ceb6491fa44db2"/>
    <p:sldId xmlns:r="http://schemas.openxmlformats.org/officeDocument/2006/relationships" id="307" r:id="R60951d037be442ba"/>
    <p:sldId xmlns:r="http://schemas.openxmlformats.org/officeDocument/2006/relationships" id="308" r:id="R90f8f25f80e4463e"/>
    <p:sldId xmlns:r="http://schemas.openxmlformats.org/officeDocument/2006/relationships" id="309" r:id="Rc0ba9bc0d2bc4d84"/>
    <p:sldId xmlns:r="http://schemas.openxmlformats.org/officeDocument/2006/relationships" id="310" r:id="R90104be5cc734466"/>
    <p:sldId xmlns:r="http://schemas.openxmlformats.org/officeDocument/2006/relationships" id="311" r:id="R3079000ce74b4cba"/>
    <p:sldId xmlns:r="http://schemas.openxmlformats.org/officeDocument/2006/relationships" id="312" r:id="Recf6492298b04f87"/>
    <p:sldId xmlns:r="http://schemas.openxmlformats.org/officeDocument/2006/relationships" id="313" r:id="Rbf79f08610d24993"/>
    <p:sldId xmlns:r="http://schemas.openxmlformats.org/officeDocument/2006/relationships" id="314" r:id="R95f820d17cbe4a3e"/>
    <p:sldId xmlns:r="http://schemas.openxmlformats.org/officeDocument/2006/relationships" id="315" r:id="R9c2e0971f4784ffd"/>
    <p:sldId xmlns:r="http://schemas.openxmlformats.org/officeDocument/2006/relationships" id="316" r:id="R5f5b93fbefc143d0"/>
    <p:sldId xmlns:r="http://schemas.openxmlformats.org/officeDocument/2006/relationships" id="317" r:id="Rd4e7a1444d9a4f65"/>
    <p:sldId xmlns:r="http://schemas.openxmlformats.org/officeDocument/2006/relationships" id="318" r:id="R18615bd61b0e4b20"/>
    <p:sldId xmlns:r="http://schemas.openxmlformats.org/officeDocument/2006/relationships" id="319" r:id="R4a532d2df81c4d7a"/>
    <p:sldId xmlns:r="http://schemas.openxmlformats.org/officeDocument/2006/relationships" id="320" r:id="Re7bd139f04af44ab"/>
    <p:sldId xmlns:r="http://schemas.openxmlformats.org/officeDocument/2006/relationships" id="321" r:id="R0a3c9c32915f466d"/>
    <p:sldId xmlns:r="http://schemas.openxmlformats.org/officeDocument/2006/relationships" id="322" r:id="R6e3b5238a3b6484d"/>
    <p:sldId xmlns:r="http://schemas.openxmlformats.org/officeDocument/2006/relationships" id="323" r:id="R5b26cd8f7be94ce0"/>
    <p:sldId xmlns:r="http://schemas.openxmlformats.org/officeDocument/2006/relationships" id="324" r:id="R196fe23a4ee84b79"/>
    <p:sldId xmlns:r="http://schemas.openxmlformats.org/officeDocument/2006/relationships" id="325" r:id="Rad00777cc2b84884"/>
    <p:sldId xmlns:r="http://schemas.openxmlformats.org/officeDocument/2006/relationships" id="326" r:id="R9b0874b7a13a46e6"/>
    <p:sldId xmlns:r="http://schemas.openxmlformats.org/officeDocument/2006/relationships" id="327" r:id="R445c73ffd3df47bd"/>
    <p:sldId xmlns:r="http://schemas.openxmlformats.org/officeDocument/2006/relationships" id="328" r:id="R5866b3fe2dad43ea"/>
    <p:sldId xmlns:r="http://schemas.openxmlformats.org/officeDocument/2006/relationships" id="329" r:id="R1e7813d2771c4594"/>
    <p:sldId xmlns:r="http://schemas.openxmlformats.org/officeDocument/2006/relationships" id="330" r:id="Rb85ea59dab144c5e"/>
    <p:sldId xmlns:r="http://schemas.openxmlformats.org/officeDocument/2006/relationships" id="331" r:id="R43ea824f126f4e45"/>
    <p:sldId xmlns:r="http://schemas.openxmlformats.org/officeDocument/2006/relationships" id="332" r:id="R49caf4ca1ac94412"/>
    <p:sldId xmlns:r="http://schemas.openxmlformats.org/officeDocument/2006/relationships" id="333" r:id="R80f7016e9b87444a"/>
    <p:sldId xmlns:r="http://schemas.openxmlformats.org/officeDocument/2006/relationships" id="334" r:id="Re7f63eb2872a488c"/>
    <p:sldId xmlns:r="http://schemas.openxmlformats.org/officeDocument/2006/relationships" id="335" r:id="R30bf8ab38af5409d"/>
    <p:sldId xmlns:r="http://schemas.openxmlformats.org/officeDocument/2006/relationships" id="336" r:id="R37e5d76fb0c84c9a"/>
    <p:sldId xmlns:r="http://schemas.openxmlformats.org/officeDocument/2006/relationships" id="337" r:id="Re356a8dd58ac44e8"/>
    <p:sldId xmlns:r="http://schemas.openxmlformats.org/officeDocument/2006/relationships" id="338" r:id="Rbc6ec4943dcf46ae"/>
    <p:sldId xmlns:r="http://schemas.openxmlformats.org/officeDocument/2006/relationships" id="339" r:id="R0f6936fd0b2040e5"/>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8e186a3cde94100" /><Relationship Type="http://schemas.openxmlformats.org/officeDocument/2006/relationships/slideMaster" Target="/ppt/slideMasters/slideMaster1.xml" Id="R380957199ea842a0" /><Relationship Type="http://schemas.openxmlformats.org/officeDocument/2006/relationships/notesMaster" Target="/ppt/notesMasters/notesMaster1.xml" Id="R54a61a93cdfa4514" /><Relationship Type="http://schemas.openxmlformats.org/officeDocument/2006/relationships/presProps" Target="/ppt/presProps.xml" Id="R25c4d4a23d1b43e6" /><Relationship Type="http://schemas.openxmlformats.org/officeDocument/2006/relationships/tableStyles" Target="/ppt/tableStyles.xml" Id="R5b7441f35f104d19" /><Relationship Type="http://schemas.openxmlformats.org/officeDocument/2006/relationships/slide" Target="/ppt/slides/slide1.xml" Id="R0e298f7b3aeb4410" /><Relationship Type="http://schemas.openxmlformats.org/officeDocument/2006/relationships/slide" Target="/ppt/slides/slide2.xml" Id="Rd83c35bf638e4e1a" /><Relationship Type="http://schemas.openxmlformats.org/officeDocument/2006/relationships/slide" Target="/ppt/slides/slide3.xml" Id="Ree86ca39b1d0475c" /><Relationship Type="http://schemas.openxmlformats.org/officeDocument/2006/relationships/slide" Target="/ppt/slides/slide4.xml" Id="Rf2d55b5746ef4e1f" /><Relationship Type="http://schemas.openxmlformats.org/officeDocument/2006/relationships/slide" Target="/ppt/slides/slide5.xml" Id="Rc88e299a88d54ecb" /><Relationship Type="http://schemas.openxmlformats.org/officeDocument/2006/relationships/slide" Target="/ppt/slides/slide6.xml" Id="Rabdd7cead1c64b28" /><Relationship Type="http://schemas.openxmlformats.org/officeDocument/2006/relationships/slide" Target="/ppt/slides/slide7.xml" Id="R5e473e8a65f44c40" /><Relationship Type="http://schemas.openxmlformats.org/officeDocument/2006/relationships/slide" Target="/ppt/slides/slide8.xml" Id="R2f6a579e20b34874" /><Relationship Type="http://schemas.openxmlformats.org/officeDocument/2006/relationships/slide" Target="/ppt/slides/slide9.xml" Id="R1609f9579b764644" /><Relationship Type="http://schemas.openxmlformats.org/officeDocument/2006/relationships/slide" Target="/ppt/slides/slide10.xml" Id="Rf0af9605dd6947e1" /><Relationship Type="http://schemas.openxmlformats.org/officeDocument/2006/relationships/slide" Target="/ppt/slides/slide11.xml" Id="Rb9063ba1d69048cd" /><Relationship Type="http://schemas.openxmlformats.org/officeDocument/2006/relationships/slide" Target="/ppt/slides/slide12.xml" Id="R8ee0d7e64ee443cc" /><Relationship Type="http://schemas.openxmlformats.org/officeDocument/2006/relationships/slide" Target="/ppt/slides/slide13.xml" Id="Rdf09c8bd9ad64a5d" /><Relationship Type="http://schemas.openxmlformats.org/officeDocument/2006/relationships/slide" Target="/ppt/slides/slide14.xml" Id="R05560115ab984771" /><Relationship Type="http://schemas.openxmlformats.org/officeDocument/2006/relationships/slide" Target="/ppt/slides/slide15.xml" Id="Rd45affa66b9b4c34" /><Relationship Type="http://schemas.openxmlformats.org/officeDocument/2006/relationships/slide" Target="/ppt/slides/slide16.xml" Id="Rc1b1731defcf4620" /><Relationship Type="http://schemas.openxmlformats.org/officeDocument/2006/relationships/slide" Target="/ppt/slides/slide17.xml" Id="R505029ddc8424a4c" /><Relationship Type="http://schemas.openxmlformats.org/officeDocument/2006/relationships/slide" Target="/ppt/slides/slide18.xml" Id="R83af2700ffba41d4" /><Relationship Type="http://schemas.openxmlformats.org/officeDocument/2006/relationships/slide" Target="/ppt/slides/slide19.xml" Id="R90acae4a705b4b5b" /><Relationship Type="http://schemas.openxmlformats.org/officeDocument/2006/relationships/slide" Target="/ppt/slides/slide20.xml" Id="R74be1840a44042fe" /><Relationship Type="http://schemas.openxmlformats.org/officeDocument/2006/relationships/slide" Target="/ppt/slides/slide21.xml" Id="Ra848dcfdaf484e9b" /><Relationship Type="http://schemas.openxmlformats.org/officeDocument/2006/relationships/slide" Target="/ppt/slides/slide22.xml" Id="R628f8bccca7a4573" /><Relationship Type="http://schemas.openxmlformats.org/officeDocument/2006/relationships/slide" Target="/ppt/slides/slide23.xml" Id="R8057865dcd5a4f45" /><Relationship Type="http://schemas.openxmlformats.org/officeDocument/2006/relationships/slide" Target="/ppt/slides/slide24.xml" Id="Rc040a8269eec40e5" /><Relationship Type="http://schemas.openxmlformats.org/officeDocument/2006/relationships/slide" Target="/ppt/slides/slide25.xml" Id="Ra6c929162cd543a6" /><Relationship Type="http://schemas.openxmlformats.org/officeDocument/2006/relationships/slide" Target="/ppt/slides/slide26.xml" Id="R7c1f6268180d49c5" /><Relationship Type="http://schemas.openxmlformats.org/officeDocument/2006/relationships/slide" Target="/ppt/slides/slide27.xml" Id="R3dc5df20c8ea49c7" /><Relationship Type="http://schemas.openxmlformats.org/officeDocument/2006/relationships/slide" Target="/ppt/slides/slide28.xml" Id="Rc2e2614301bf43ea" /><Relationship Type="http://schemas.openxmlformats.org/officeDocument/2006/relationships/slide" Target="/ppt/slides/slide29.xml" Id="R0b164a4e06c540a4" /><Relationship Type="http://schemas.openxmlformats.org/officeDocument/2006/relationships/slide" Target="/ppt/slides/slide30.xml" Id="Rab604c69f7594136" /><Relationship Type="http://schemas.openxmlformats.org/officeDocument/2006/relationships/slide" Target="/ppt/slides/slide31.xml" Id="R4de9f779a4b74034" /><Relationship Type="http://schemas.openxmlformats.org/officeDocument/2006/relationships/slide" Target="/ppt/slides/slide32.xml" Id="R01c0be99f9234b55" /><Relationship Type="http://schemas.openxmlformats.org/officeDocument/2006/relationships/slide" Target="/ppt/slides/slide33.xml" Id="R1d70238f89944ce8" /><Relationship Type="http://schemas.openxmlformats.org/officeDocument/2006/relationships/slide" Target="/ppt/slides/slide34.xml" Id="R8d097243c6554a76" /><Relationship Type="http://schemas.openxmlformats.org/officeDocument/2006/relationships/slide" Target="/ppt/slides/slide35.xml" Id="R2b429bb48c824b28" /><Relationship Type="http://schemas.openxmlformats.org/officeDocument/2006/relationships/slide" Target="/ppt/slides/slide36.xml" Id="R9d9a80b89e9b49b1" /><Relationship Type="http://schemas.openxmlformats.org/officeDocument/2006/relationships/slide" Target="/ppt/slides/slide37.xml" Id="Re726f323ebe144d9" /><Relationship Type="http://schemas.openxmlformats.org/officeDocument/2006/relationships/slide" Target="/ppt/slides/slide38.xml" Id="R5f468cb264ea48f6" /><Relationship Type="http://schemas.openxmlformats.org/officeDocument/2006/relationships/slide" Target="/ppt/slides/slide39.xml" Id="Re8b024f2970141a7" /><Relationship Type="http://schemas.openxmlformats.org/officeDocument/2006/relationships/slide" Target="/ppt/slides/slide40.xml" Id="Re37e953afc5e42d0" /><Relationship Type="http://schemas.openxmlformats.org/officeDocument/2006/relationships/slide" Target="/ppt/slides/slide41.xml" Id="R00499cfa5b604c29" /><Relationship Type="http://schemas.openxmlformats.org/officeDocument/2006/relationships/slide" Target="/ppt/slides/slide42.xml" Id="Re0686a4f10104db8" /><Relationship Type="http://schemas.openxmlformats.org/officeDocument/2006/relationships/slide" Target="/ppt/slides/slide43.xml" Id="R03f5973de18d46a4" /><Relationship Type="http://schemas.openxmlformats.org/officeDocument/2006/relationships/slide" Target="/ppt/slides/slide44.xml" Id="R6504662c87f941eb" /><Relationship Type="http://schemas.openxmlformats.org/officeDocument/2006/relationships/slide" Target="/ppt/slides/slide45.xml" Id="R844814eb372c4fb1" /><Relationship Type="http://schemas.openxmlformats.org/officeDocument/2006/relationships/slide" Target="/ppt/slides/slide46.xml" Id="R790a04c70dde4a73" /><Relationship Type="http://schemas.openxmlformats.org/officeDocument/2006/relationships/slide" Target="/ppt/slides/slide47.xml" Id="R999caf7a4ca94844" /><Relationship Type="http://schemas.openxmlformats.org/officeDocument/2006/relationships/slide" Target="/ppt/slides/slide48.xml" Id="Rf9ffe4e097804ddd" /><Relationship Type="http://schemas.openxmlformats.org/officeDocument/2006/relationships/slide" Target="/ppt/slides/slide49.xml" Id="R58b1e2994bdb4b0a" /><Relationship Type="http://schemas.openxmlformats.org/officeDocument/2006/relationships/slide" Target="/ppt/slides/slide50.xml" Id="R256788faffad4790" /><Relationship Type="http://schemas.openxmlformats.org/officeDocument/2006/relationships/slide" Target="/ppt/slides/slide51.xml" Id="R51ceb6491fa44db2" /><Relationship Type="http://schemas.openxmlformats.org/officeDocument/2006/relationships/slide" Target="/ppt/slides/slide52.xml" Id="R60951d037be442ba" /><Relationship Type="http://schemas.openxmlformats.org/officeDocument/2006/relationships/slide" Target="/ppt/slides/slide53.xml" Id="R90f8f25f80e4463e" /><Relationship Type="http://schemas.openxmlformats.org/officeDocument/2006/relationships/slide" Target="/ppt/slides/slide54.xml" Id="Rc0ba9bc0d2bc4d84" /><Relationship Type="http://schemas.openxmlformats.org/officeDocument/2006/relationships/slide" Target="/ppt/slides/slide55.xml" Id="R90104be5cc734466" /><Relationship Type="http://schemas.openxmlformats.org/officeDocument/2006/relationships/slide" Target="/ppt/slides/slide56.xml" Id="R3079000ce74b4cba" /><Relationship Type="http://schemas.openxmlformats.org/officeDocument/2006/relationships/slide" Target="/ppt/slides/slide57.xml" Id="Recf6492298b04f87" /><Relationship Type="http://schemas.openxmlformats.org/officeDocument/2006/relationships/slide" Target="/ppt/slides/slide58.xml" Id="Rbf79f08610d24993" /><Relationship Type="http://schemas.openxmlformats.org/officeDocument/2006/relationships/slide" Target="/ppt/slides/slide59.xml" Id="R95f820d17cbe4a3e" /><Relationship Type="http://schemas.openxmlformats.org/officeDocument/2006/relationships/slide" Target="/ppt/slides/slide60.xml" Id="R9c2e0971f4784ffd" /><Relationship Type="http://schemas.openxmlformats.org/officeDocument/2006/relationships/slide" Target="/ppt/slides/slide61.xml" Id="R5f5b93fbefc143d0" /><Relationship Type="http://schemas.openxmlformats.org/officeDocument/2006/relationships/slide" Target="/ppt/slides/slide62.xml" Id="Rd4e7a1444d9a4f65" /><Relationship Type="http://schemas.openxmlformats.org/officeDocument/2006/relationships/slide" Target="/ppt/slides/slide63.xml" Id="R18615bd61b0e4b20" /><Relationship Type="http://schemas.openxmlformats.org/officeDocument/2006/relationships/slide" Target="/ppt/slides/slide64.xml" Id="R4a532d2df81c4d7a" /><Relationship Type="http://schemas.openxmlformats.org/officeDocument/2006/relationships/slide" Target="/ppt/slides/slide65.xml" Id="Re7bd139f04af44ab" /><Relationship Type="http://schemas.openxmlformats.org/officeDocument/2006/relationships/slide" Target="/ppt/slides/slide66.xml" Id="R0a3c9c32915f466d" /><Relationship Type="http://schemas.openxmlformats.org/officeDocument/2006/relationships/slide" Target="/ppt/slides/slide67.xml" Id="R6e3b5238a3b6484d" /><Relationship Type="http://schemas.openxmlformats.org/officeDocument/2006/relationships/slide" Target="/ppt/slides/slide68.xml" Id="R5b26cd8f7be94ce0" /><Relationship Type="http://schemas.openxmlformats.org/officeDocument/2006/relationships/slide" Target="/ppt/slides/slide69.xml" Id="R196fe23a4ee84b79" /><Relationship Type="http://schemas.openxmlformats.org/officeDocument/2006/relationships/slide" Target="/ppt/slides/slide70.xml" Id="Rad00777cc2b84884" /><Relationship Type="http://schemas.openxmlformats.org/officeDocument/2006/relationships/slide" Target="/ppt/slides/slide71.xml" Id="R9b0874b7a13a46e6" /><Relationship Type="http://schemas.openxmlformats.org/officeDocument/2006/relationships/slide" Target="/ppt/slides/slide72.xml" Id="R445c73ffd3df47bd" /><Relationship Type="http://schemas.openxmlformats.org/officeDocument/2006/relationships/slide" Target="/ppt/slides/slide73.xml" Id="R5866b3fe2dad43ea" /><Relationship Type="http://schemas.openxmlformats.org/officeDocument/2006/relationships/slide" Target="/ppt/slides/slide74.xml" Id="R1e7813d2771c4594" /><Relationship Type="http://schemas.openxmlformats.org/officeDocument/2006/relationships/slide" Target="/ppt/slides/slide75.xml" Id="Rb85ea59dab144c5e" /><Relationship Type="http://schemas.openxmlformats.org/officeDocument/2006/relationships/slide" Target="/ppt/slides/slide76.xml" Id="R43ea824f126f4e45" /><Relationship Type="http://schemas.openxmlformats.org/officeDocument/2006/relationships/slide" Target="/ppt/slides/slide77.xml" Id="R49caf4ca1ac94412" /><Relationship Type="http://schemas.openxmlformats.org/officeDocument/2006/relationships/slide" Target="/ppt/slides/slide78.xml" Id="R80f7016e9b87444a" /><Relationship Type="http://schemas.openxmlformats.org/officeDocument/2006/relationships/slide" Target="/ppt/slides/slide79.xml" Id="Re7f63eb2872a488c" /><Relationship Type="http://schemas.openxmlformats.org/officeDocument/2006/relationships/slide" Target="/ppt/slides/slide80.xml" Id="R30bf8ab38af5409d" /><Relationship Type="http://schemas.openxmlformats.org/officeDocument/2006/relationships/slide" Target="/ppt/slides/slide81.xml" Id="R37e5d76fb0c84c9a" /><Relationship Type="http://schemas.openxmlformats.org/officeDocument/2006/relationships/slide" Target="/ppt/slides/slide82.xml" Id="Re356a8dd58ac44e8" /><Relationship Type="http://schemas.openxmlformats.org/officeDocument/2006/relationships/slide" Target="/ppt/slides/slide83.xml" Id="Rbc6ec4943dcf46ae" /><Relationship Type="http://schemas.openxmlformats.org/officeDocument/2006/relationships/slide" Target="/ppt/slides/slide84.xml" Id="R0f6936fd0b2040e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e6a2bf69fa0475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1670728a675493e" /><Relationship Type="http://schemas.openxmlformats.org/officeDocument/2006/relationships/notesMaster" Target="/ppt/notesMasters/notesMaster1.xml" Id="R11d919ebd2dd4af2" /></Relationships>
</file>

<file path=ppt/notesSlides/_rels/notesSlide2.xml.rels>&#65279;<?xml version="1.0" encoding="utf-8"?><Relationships xmlns="http://schemas.openxmlformats.org/package/2006/relationships"><Relationship Type="http://schemas.openxmlformats.org/officeDocument/2006/relationships/slide" Target="/ppt/slides/slide2.xml" Id="Ra7f868d74afa43d7" /><Relationship Type="http://schemas.openxmlformats.org/officeDocument/2006/relationships/notesMaster" Target="/ppt/notesMasters/notesMaster1.xml" Id="R0ea171b809044a2e" /></Relationships>
</file>

<file path=ppt/notesSlides/_rels/notesSlide3.xml.rels>&#65279;<?xml version="1.0" encoding="utf-8"?><Relationships xmlns="http://schemas.openxmlformats.org/package/2006/relationships"><Relationship Type="http://schemas.openxmlformats.org/officeDocument/2006/relationships/slide" Target="/ppt/slides/slide3.xml" Id="Red8ff9a330b34369" /><Relationship Type="http://schemas.openxmlformats.org/officeDocument/2006/relationships/notesMaster" Target="/ppt/notesMasters/notesMaster1.xml" Id="R311281129f4d4c83" /></Relationships>
</file>

<file path=ppt/notesSlides/_rels/notesSlide4.xml.rels>&#65279;<?xml version="1.0" encoding="utf-8"?><Relationships xmlns="http://schemas.openxmlformats.org/package/2006/relationships"><Relationship Type="http://schemas.openxmlformats.org/officeDocument/2006/relationships/slide" Target="/ppt/slides/slide4.xml" Id="R6969791a579e4b96" /><Relationship Type="http://schemas.openxmlformats.org/officeDocument/2006/relationships/notesMaster" Target="/ppt/notesMasters/notesMaster1.xml" Id="Rf2f64aa4aa294aa3" /></Relationships>
</file>

<file path=ppt/notesSlides/_rels/notesSlide5.xml.rels>&#65279;<?xml version="1.0" encoding="utf-8"?><Relationships xmlns="http://schemas.openxmlformats.org/package/2006/relationships"><Relationship Type="http://schemas.openxmlformats.org/officeDocument/2006/relationships/slide" Target="/ppt/slides/slide5.xml" Id="R7b1cb99922e240a2" /><Relationship Type="http://schemas.openxmlformats.org/officeDocument/2006/relationships/notesMaster" Target="/ppt/notesMasters/notesMaster1.xml" Id="Rc9a5033fbfee4f11" /></Relationships>
</file>

<file path=ppt/notesSlides/_rels/notesSlide6.xml.rels>&#65279;<?xml version="1.0" encoding="utf-8"?><Relationships xmlns="http://schemas.openxmlformats.org/package/2006/relationships"><Relationship Type="http://schemas.openxmlformats.org/officeDocument/2006/relationships/slide" Target="/ppt/slides/slide6.xml" Id="Rd71cbb3eb5cc420b" /><Relationship Type="http://schemas.openxmlformats.org/officeDocument/2006/relationships/notesMaster" Target="/ppt/notesMasters/notesMaster1.xml" Id="Rf59d746785734c52" /></Relationships>
</file>

<file path=ppt/notesSlides/_rels/notesSlide7.xml.rels>&#65279;<?xml version="1.0" encoding="utf-8"?><Relationships xmlns="http://schemas.openxmlformats.org/package/2006/relationships"><Relationship Type="http://schemas.openxmlformats.org/officeDocument/2006/relationships/slide" Target="/ppt/slides/slide7.xml" Id="Re038ab8d0dba41af" /><Relationship Type="http://schemas.openxmlformats.org/officeDocument/2006/relationships/notesMaster" Target="/ppt/notesMasters/notesMaster1.xml" Id="Raa29146a30c741ca" /></Relationships>
</file>

<file path=ppt/notesSlides/_rels/notesSlide8.xml.rels>&#65279;<?xml version="1.0" encoding="utf-8"?><Relationships xmlns="http://schemas.openxmlformats.org/package/2006/relationships"><Relationship Type="http://schemas.openxmlformats.org/officeDocument/2006/relationships/slide" Target="/ppt/slides/slide8.xml" Id="Rf73a38f232e546f5" /><Relationship Type="http://schemas.openxmlformats.org/officeDocument/2006/relationships/notesMaster" Target="/ppt/notesMasters/notesMaster1.xml" Id="R036f57da288449e4" /></Relationships>
</file>

<file path=ppt/notesSlides/_rels/notesSlide9.xml.rels>&#65279;<?xml version="1.0" encoding="utf-8"?><Relationships xmlns="http://schemas.openxmlformats.org/package/2006/relationships"><Relationship Type="http://schemas.openxmlformats.org/officeDocument/2006/relationships/slide" Target="/ppt/slides/slide9.xml" Id="R674e8e45f2c84fe7" /><Relationship Type="http://schemas.openxmlformats.org/officeDocument/2006/relationships/notesMaster" Target="/ppt/notesMasters/notesMaster1.xml" Id="R0795faa06d7242a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c3ca6994c6b40b0" /><Relationship Type="http://schemas.openxmlformats.org/officeDocument/2006/relationships/notesMaster" Target="/ppt/notesMasters/notesMaster1.xml" Id="R6baf147b2a1d40b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be3f31f1eb34695" /><Relationship Type="http://schemas.openxmlformats.org/officeDocument/2006/relationships/notesMaster" Target="/ppt/notesMasters/notesMaster1.xml" Id="Rf9c775076429410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c73b030aa934df4" /><Relationship Type="http://schemas.openxmlformats.org/officeDocument/2006/relationships/notesMaster" Target="/ppt/notesMasters/notesMaster1.xml" Id="Rf6624192157f43b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45fbbd47bf44c56" /><Relationship Type="http://schemas.openxmlformats.org/officeDocument/2006/relationships/notesMaster" Target="/ppt/notesMasters/notesMaster1.xml" Id="Rf32dd7a3cf6347e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df64c0f82ab4ea4" /><Relationship Type="http://schemas.openxmlformats.org/officeDocument/2006/relationships/notesMaster" Target="/ppt/notesMasters/notesMaster1.xml" Id="R0441b0c2716b472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ce230405f2e4262" /><Relationship Type="http://schemas.openxmlformats.org/officeDocument/2006/relationships/notesMaster" Target="/ppt/notesMasters/notesMaster1.xml" Id="Re6762d49698448a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08a674afa584e9d" /><Relationship Type="http://schemas.openxmlformats.org/officeDocument/2006/relationships/notesMaster" Target="/ppt/notesMasters/notesMaster1.xml" Id="R4d14c15a59fb4ae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2d4a718721048de" /><Relationship Type="http://schemas.openxmlformats.org/officeDocument/2006/relationships/notesMaster" Target="/ppt/notesMasters/notesMaster1.xml" Id="Rabc6fb3673674fde"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4700f163cf84658" /><Relationship Type="http://schemas.openxmlformats.org/officeDocument/2006/relationships/notesMaster" Target="/ppt/notesMasters/notesMaster1.xml" Id="R0a240b9c6b3a4b8c"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3ae11cfae72d4483" /><Relationship Type="http://schemas.openxmlformats.org/officeDocument/2006/relationships/notesMaster" Target="/ppt/notesMasters/notesMaster1.xml" Id="Rfffba1765d1c4773"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eed1d2a4ab2642da" /><Relationship Type="http://schemas.openxmlformats.org/officeDocument/2006/relationships/notesMaster" Target="/ppt/notesMasters/notesMaster1.xml" Id="Rc998c78b092f4da1"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4c35dc7d908f4470" /><Relationship Type="http://schemas.openxmlformats.org/officeDocument/2006/relationships/notesMaster" Target="/ppt/notesMasters/notesMaster1.xml" Id="R23838aa697ad4ade"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66e716dbaff548a7" /><Relationship Type="http://schemas.openxmlformats.org/officeDocument/2006/relationships/notesMaster" Target="/ppt/notesMasters/notesMaster1.xml" Id="R377cb198fbc34cec"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facd91fb5e824560" /><Relationship Type="http://schemas.openxmlformats.org/officeDocument/2006/relationships/notesMaster" Target="/ppt/notesMasters/notesMaster1.xml" Id="R89241bd8892f4fe3"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99b8bdbd2d544926" /><Relationship Type="http://schemas.openxmlformats.org/officeDocument/2006/relationships/notesMaster" Target="/ppt/notesMasters/notesMaster1.xml" Id="R844ca7563b414b4a"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7b136ae5d4204ac7" /><Relationship Type="http://schemas.openxmlformats.org/officeDocument/2006/relationships/notesMaster" Target="/ppt/notesMasters/notesMaster1.xml" Id="R9139bf7cd9c347a9"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138489b6c67f4601" /><Relationship Type="http://schemas.openxmlformats.org/officeDocument/2006/relationships/notesMaster" Target="/ppt/notesMasters/notesMaster1.xml" Id="R037c37d0092d4740"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1035ce22906b47ef" /><Relationship Type="http://schemas.openxmlformats.org/officeDocument/2006/relationships/notesMaster" Target="/ppt/notesMasters/notesMaster1.xml" Id="R4a2a926743684ed5"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5bcbea4df2844cb8" /><Relationship Type="http://schemas.openxmlformats.org/officeDocument/2006/relationships/notesMaster" Target="/ppt/notesMasters/notesMaster1.xml" Id="R9640e712964949af"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e11dc4ad4d7c4158" /><Relationship Type="http://schemas.openxmlformats.org/officeDocument/2006/relationships/notesMaster" Target="/ppt/notesMasters/notesMaster1.xml" Id="Rd01268a818884bbd"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d2e8a8dbfb9b4a67" /><Relationship Type="http://schemas.openxmlformats.org/officeDocument/2006/relationships/notesMaster" Target="/ppt/notesMasters/notesMaster1.xml" Id="Rc62f0c23356943a3"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019aaf6c0c22422f" /><Relationship Type="http://schemas.openxmlformats.org/officeDocument/2006/relationships/notesMaster" Target="/ppt/notesMasters/notesMaster1.xml" Id="R911dffd1f913423c"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e370acbcafe94840" /><Relationship Type="http://schemas.openxmlformats.org/officeDocument/2006/relationships/notesMaster" Target="/ppt/notesMasters/notesMaster1.xml" Id="Ra7bd85cd66964258"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7d8421ff547e4a12" /><Relationship Type="http://schemas.openxmlformats.org/officeDocument/2006/relationships/notesMaster" Target="/ppt/notesMasters/notesMaster1.xml" Id="Rd55b4353c64245e9"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255823c3778247ec" /><Relationship Type="http://schemas.openxmlformats.org/officeDocument/2006/relationships/notesMaster" Target="/ppt/notesMasters/notesMaster1.xml" Id="Ree6a1fb988a24bc7"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0511c91f37214700" /><Relationship Type="http://schemas.openxmlformats.org/officeDocument/2006/relationships/notesMaster" Target="/ppt/notesMasters/notesMaster1.xml" Id="R2d8c35fc79ef4d74"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1417c4f377014d61" /><Relationship Type="http://schemas.openxmlformats.org/officeDocument/2006/relationships/notesMaster" Target="/ppt/notesMasters/notesMaster1.xml" Id="Rf9998bb45dc14afa"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75cab94f1d4b4ce8" /><Relationship Type="http://schemas.openxmlformats.org/officeDocument/2006/relationships/notesMaster" Target="/ppt/notesMasters/notesMaster1.xml" Id="R2feebb472e4d4c69"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aa8a157ddf154c44" /><Relationship Type="http://schemas.openxmlformats.org/officeDocument/2006/relationships/notesMaster" Target="/ppt/notesMasters/notesMaster1.xml" Id="Ra6f62b6ac6bc4827"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38bd4cb64c17481b" /><Relationship Type="http://schemas.openxmlformats.org/officeDocument/2006/relationships/notesMaster" Target="/ppt/notesMasters/notesMaster1.xml" Id="R9fe5f1cb1f3246f8"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2430f59eba404dd6" /><Relationship Type="http://schemas.openxmlformats.org/officeDocument/2006/relationships/notesMaster" Target="/ppt/notesMasters/notesMaster1.xml" Id="R17cfa6ea1dcc4338"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187bfff58c31424b" /><Relationship Type="http://schemas.openxmlformats.org/officeDocument/2006/relationships/notesMaster" Target="/ppt/notesMasters/notesMaster1.xml" Id="R29852488acb9474e"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03a6c75a4e3a41a1" /><Relationship Type="http://schemas.openxmlformats.org/officeDocument/2006/relationships/notesMaster" Target="/ppt/notesMasters/notesMaster1.xml" Id="R5c87c2a364ad40fa"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8a0dc8f4f58e4808" /><Relationship Type="http://schemas.openxmlformats.org/officeDocument/2006/relationships/notesMaster" Target="/ppt/notesMasters/notesMaster1.xml" Id="R419203d9031c42e0"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8903a36977c14c0c" /><Relationship Type="http://schemas.openxmlformats.org/officeDocument/2006/relationships/notesMaster" Target="/ppt/notesMasters/notesMaster1.xml" Id="Rab6c0dc7e2e743f4"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3e4d7ec8ae5146f0" /><Relationship Type="http://schemas.openxmlformats.org/officeDocument/2006/relationships/notesMaster" Target="/ppt/notesMasters/notesMaster1.xml" Id="R75fe044e81584b86"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76dd1126d43846ee" /><Relationship Type="http://schemas.openxmlformats.org/officeDocument/2006/relationships/notesMaster" Target="/ppt/notesMasters/notesMaster1.xml" Id="R6f4adc94977249e4"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71eefc2fae9a40e3" /><Relationship Type="http://schemas.openxmlformats.org/officeDocument/2006/relationships/notesMaster" Target="/ppt/notesMasters/notesMaster1.xml" Id="R8b0c5f5b0e984b0f"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7112f508a3934d23" /><Relationship Type="http://schemas.openxmlformats.org/officeDocument/2006/relationships/notesMaster" Target="/ppt/notesMasters/notesMaster1.xml" Id="R31bb2db139184cb0"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b07657dd0b14499a" /><Relationship Type="http://schemas.openxmlformats.org/officeDocument/2006/relationships/notesMaster" Target="/ppt/notesMasters/notesMaster1.xml" Id="Rc385cbc3589c4af4"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19fce7e6cdcb46bf" /><Relationship Type="http://schemas.openxmlformats.org/officeDocument/2006/relationships/notesMaster" Target="/ppt/notesMasters/notesMaster1.xml" Id="Rb8b82242ad9d485f"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9fc08ccb648a41fb" /><Relationship Type="http://schemas.openxmlformats.org/officeDocument/2006/relationships/notesMaster" Target="/ppt/notesMasters/notesMaster1.xml" Id="R25f8f9e880e5438d"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7f6921314ef244de" /><Relationship Type="http://schemas.openxmlformats.org/officeDocument/2006/relationships/notesMaster" Target="/ppt/notesMasters/notesMaster1.xml" Id="R439b5bc2c6b64076"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f9f42ab448444eac" /><Relationship Type="http://schemas.openxmlformats.org/officeDocument/2006/relationships/notesMaster" Target="/ppt/notesMasters/notesMaster1.xml" Id="R4961bd64367b4a3e"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5c71cc6fbcb1401e" /><Relationship Type="http://schemas.openxmlformats.org/officeDocument/2006/relationships/notesMaster" Target="/ppt/notesMasters/notesMaster1.xml" Id="Reb66087c66764e7a"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35dd28a2535b4f12" /><Relationship Type="http://schemas.openxmlformats.org/officeDocument/2006/relationships/notesMaster" Target="/ppt/notesMasters/notesMaster1.xml" Id="R80303e5e689a4554"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d2523ded0f0848c2" /><Relationship Type="http://schemas.openxmlformats.org/officeDocument/2006/relationships/notesMaster" Target="/ppt/notesMasters/notesMaster1.xml" Id="Rbf464a9e773743ce"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ac7e5d3285fb4796" /><Relationship Type="http://schemas.openxmlformats.org/officeDocument/2006/relationships/notesMaster" Target="/ppt/notesMasters/notesMaster1.xml" Id="R4fea0ba834b84812"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b854763596b343bb" /><Relationship Type="http://schemas.openxmlformats.org/officeDocument/2006/relationships/notesMaster" Target="/ppt/notesMasters/notesMaster1.xml" Id="R208613aea3094853"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d31c5179184c4107" /><Relationship Type="http://schemas.openxmlformats.org/officeDocument/2006/relationships/notesMaster" Target="/ppt/notesMasters/notesMaster1.xml" Id="Rc45e742ac2ae4a51"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68ce3d871c1f4932" /><Relationship Type="http://schemas.openxmlformats.org/officeDocument/2006/relationships/notesMaster" Target="/ppt/notesMasters/notesMaster1.xml" Id="R27e24416593b4cc8"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fadd0c34dcc14a3b" /><Relationship Type="http://schemas.openxmlformats.org/officeDocument/2006/relationships/notesMaster" Target="/ppt/notesMasters/notesMaster1.xml" Id="Rc0701e049d024262"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862f90c03b334fdf" /><Relationship Type="http://schemas.openxmlformats.org/officeDocument/2006/relationships/notesMaster" Target="/ppt/notesMasters/notesMaster1.xml" Id="Rce52f79c72dc48bd"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d961a96540be4530" /><Relationship Type="http://schemas.openxmlformats.org/officeDocument/2006/relationships/notesMaster" Target="/ppt/notesMasters/notesMaster1.xml" Id="Rb2c6a996e5ea4512"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c2c5921bc87148e4" /><Relationship Type="http://schemas.openxmlformats.org/officeDocument/2006/relationships/notesMaster" Target="/ppt/notesMasters/notesMaster1.xml" Id="Rda8604bb44ec42fd" /></Relationships>
</file>

<file path=ppt/notesSlides/_rels/notesSlide65.xml.rels>&#65279;<?xml version="1.0" encoding="utf-8"?><Relationships xmlns="http://schemas.openxmlformats.org/package/2006/relationships"><Relationship Type="http://schemas.openxmlformats.org/officeDocument/2006/relationships/slide" Target="/ppt/slides/slide65.xml" Id="R819203318a434eb3" /><Relationship Type="http://schemas.openxmlformats.org/officeDocument/2006/relationships/notesMaster" Target="/ppt/notesMasters/notesMaster1.xml" Id="R58cd9f1123a646a8" /></Relationships>
</file>

<file path=ppt/notesSlides/_rels/notesSlide66.xml.rels>&#65279;<?xml version="1.0" encoding="utf-8"?><Relationships xmlns="http://schemas.openxmlformats.org/package/2006/relationships"><Relationship Type="http://schemas.openxmlformats.org/officeDocument/2006/relationships/slide" Target="/ppt/slides/slide66.xml" Id="R4767c5fd2c7f45cf" /><Relationship Type="http://schemas.openxmlformats.org/officeDocument/2006/relationships/notesMaster" Target="/ppt/notesMasters/notesMaster1.xml" Id="Rec8b9aa4e0464616" /></Relationships>
</file>

<file path=ppt/notesSlides/_rels/notesSlide67.xml.rels>&#65279;<?xml version="1.0" encoding="utf-8"?><Relationships xmlns="http://schemas.openxmlformats.org/package/2006/relationships"><Relationship Type="http://schemas.openxmlformats.org/officeDocument/2006/relationships/slide" Target="/ppt/slides/slide67.xml" Id="Rd963853b4c784b41" /><Relationship Type="http://schemas.openxmlformats.org/officeDocument/2006/relationships/notesMaster" Target="/ppt/notesMasters/notesMaster1.xml" Id="R110deed7dda2490c" /></Relationships>
</file>

<file path=ppt/notesSlides/_rels/notesSlide68.xml.rels>&#65279;<?xml version="1.0" encoding="utf-8"?><Relationships xmlns="http://schemas.openxmlformats.org/package/2006/relationships"><Relationship Type="http://schemas.openxmlformats.org/officeDocument/2006/relationships/slide" Target="/ppt/slides/slide68.xml" Id="R3cf9fb7c906a4139" /><Relationship Type="http://schemas.openxmlformats.org/officeDocument/2006/relationships/notesMaster" Target="/ppt/notesMasters/notesMaster1.xml" Id="R408b8900166d4e83" /></Relationships>
</file>

<file path=ppt/notesSlides/_rels/notesSlide69.xml.rels>&#65279;<?xml version="1.0" encoding="utf-8"?><Relationships xmlns="http://schemas.openxmlformats.org/package/2006/relationships"><Relationship Type="http://schemas.openxmlformats.org/officeDocument/2006/relationships/slide" Target="/ppt/slides/slide69.xml" Id="Rf82a16f6abfd4f0c" /><Relationship Type="http://schemas.openxmlformats.org/officeDocument/2006/relationships/notesMaster" Target="/ppt/notesMasters/notesMaster1.xml" Id="R7dbd01e572e345a9" /></Relationships>
</file>

<file path=ppt/notesSlides/_rels/notesSlide70.xml.rels>&#65279;<?xml version="1.0" encoding="utf-8"?><Relationships xmlns="http://schemas.openxmlformats.org/package/2006/relationships"><Relationship Type="http://schemas.openxmlformats.org/officeDocument/2006/relationships/slide" Target="/ppt/slides/slide70.xml" Id="Ra8d2794099104b27" /><Relationship Type="http://schemas.openxmlformats.org/officeDocument/2006/relationships/notesMaster" Target="/ppt/notesMasters/notesMaster1.xml" Id="Rbd3cb7314bcb4c5b" /></Relationships>
</file>

<file path=ppt/notesSlides/_rels/notesSlide71.xml.rels>&#65279;<?xml version="1.0" encoding="utf-8"?><Relationships xmlns="http://schemas.openxmlformats.org/package/2006/relationships"><Relationship Type="http://schemas.openxmlformats.org/officeDocument/2006/relationships/slide" Target="/ppt/slides/slide71.xml" Id="Rafd89c3614244a37" /><Relationship Type="http://schemas.openxmlformats.org/officeDocument/2006/relationships/notesMaster" Target="/ppt/notesMasters/notesMaster1.xml" Id="R690add6664144a9b" /></Relationships>
</file>

<file path=ppt/notesSlides/_rels/notesSlide72.xml.rels>&#65279;<?xml version="1.0" encoding="utf-8"?><Relationships xmlns="http://schemas.openxmlformats.org/package/2006/relationships"><Relationship Type="http://schemas.openxmlformats.org/officeDocument/2006/relationships/slide" Target="/ppt/slides/slide72.xml" Id="Rfaf8ae48b7aa494f" /><Relationship Type="http://schemas.openxmlformats.org/officeDocument/2006/relationships/notesMaster" Target="/ppt/notesMasters/notesMaster1.xml" Id="R1a1d1e10e8be4044" /></Relationships>
</file>

<file path=ppt/notesSlides/_rels/notesSlide73.xml.rels>&#65279;<?xml version="1.0" encoding="utf-8"?><Relationships xmlns="http://schemas.openxmlformats.org/package/2006/relationships"><Relationship Type="http://schemas.openxmlformats.org/officeDocument/2006/relationships/slide" Target="/ppt/slides/slide73.xml" Id="R412510f80ee8429a" /><Relationship Type="http://schemas.openxmlformats.org/officeDocument/2006/relationships/notesMaster" Target="/ppt/notesMasters/notesMaster1.xml" Id="Rcdd642868a524eb1" /></Relationships>
</file>

<file path=ppt/notesSlides/_rels/notesSlide74.xml.rels>&#65279;<?xml version="1.0" encoding="utf-8"?><Relationships xmlns="http://schemas.openxmlformats.org/package/2006/relationships"><Relationship Type="http://schemas.openxmlformats.org/officeDocument/2006/relationships/slide" Target="/ppt/slides/slide74.xml" Id="R0f486ceafd5b4b8b" /><Relationship Type="http://schemas.openxmlformats.org/officeDocument/2006/relationships/notesMaster" Target="/ppt/notesMasters/notesMaster1.xml" Id="R59e2ae40b47f41fa" /></Relationships>
</file>

<file path=ppt/notesSlides/_rels/notesSlide75.xml.rels>&#65279;<?xml version="1.0" encoding="utf-8"?><Relationships xmlns="http://schemas.openxmlformats.org/package/2006/relationships"><Relationship Type="http://schemas.openxmlformats.org/officeDocument/2006/relationships/slide" Target="/ppt/slides/slide75.xml" Id="R34ad1ad3f8b64b68" /><Relationship Type="http://schemas.openxmlformats.org/officeDocument/2006/relationships/notesMaster" Target="/ppt/notesMasters/notesMaster1.xml" Id="R72269d1564564f49" /></Relationships>
</file>

<file path=ppt/notesSlides/_rels/notesSlide76.xml.rels>&#65279;<?xml version="1.0" encoding="utf-8"?><Relationships xmlns="http://schemas.openxmlformats.org/package/2006/relationships"><Relationship Type="http://schemas.openxmlformats.org/officeDocument/2006/relationships/slide" Target="/ppt/slides/slide76.xml" Id="Raa2a9e9f31174362" /><Relationship Type="http://schemas.openxmlformats.org/officeDocument/2006/relationships/notesMaster" Target="/ppt/notesMasters/notesMaster1.xml" Id="R5578a593f1474dfd" /></Relationships>
</file>

<file path=ppt/notesSlides/_rels/notesSlide77.xml.rels>&#65279;<?xml version="1.0" encoding="utf-8"?><Relationships xmlns="http://schemas.openxmlformats.org/package/2006/relationships"><Relationship Type="http://schemas.openxmlformats.org/officeDocument/2006/relationships/slide" Target="/ppt/slides/slide77.xml" Id="Rd7e48956e2f74f40" /><Relationship Type="http://schemas.openxmlformats.org/officeDocument/2006/relationships/notesMaster" Target="/ppt/notesMasters/notesMaster1.xml" Id="R95f8843211da449e" /></Relationships>
</file>

<file path=ppt/notesSlides/_rels/notesSlide78.xml.rels>&#65279;<?xml version="1.0" encoding="utf-8"?><Relationships xmlns="http://schemas.openxmlformats.org/package/2006/relationships"><Relationship Type="http://schemas.openxmlformats.org/officeDocument/2006/relationships/slide" Target="/ppt/slides/slide78.xml" Id="R733a628c3cf74f4e" /><Relationship Type="http://schemas.openxmlformats.org/officeDocument/2006/relationships/notesMaster" Target="/ppt/notesMasters/notesMaster1.xml" Id="Re9bb179f9a9e4b5c" /></Relationships>
</file>

<file path=ppt/notesSlides/_rels/notesSlide79.xml.rels>&#65279;<?xml version="1.0" encoding="utf-8"?><Relationships xmlns="http://schemas.openxmlformats.org/package/2006/relationships"><Relationship Type="http://schemas.openxmlformats.org/officeDocument/2006/relationships/slide" Target="/ppt/slides/slide79.xml" Id="R22e6a3e72b1a4ce6" /><Relationship Type="http://schemas.openxmlformats.org/officeDocument/2006/relationships/notesMaster" Target="/ppt/notesMasters/notesMaster1.xml" Id="Re74e4f7bfba649d9" /></Relationships>
</file>

<file path=ppt/notesSlides/_rels/notesSlide80.xml.rels>&#65279;<?xml version="1.0" encoding="utf-8"?><Relationships xmlns="http://schemas.openxmlformats.org/package/2006/relationships"><Relationship Type="http://schemas.openxmlformats.org/officeDocument/2006/relationships/slide" Target="/ppt/slides/slide80.xml" Id="R483d32e5b21e43ac" /><Relationship Type="http://schemas.openxmlformats.org/officeDocument/2006/relationships/notesMaster" Target="/ppt/notesMasters/notesMaster1.xml" Id="R0a0c0ba381e34f1d" /></Relationships>
</file>

<file path=ppt/notesSlides/_rels/notesSlide81.xml.rels>&#65279;<?xml version="1.0" encoding="utf-8"?><Relationships xmlns="http://schemas.openxmlformats.org/package/2006/relationships"><Relationship Type="http://schemas.openxmlformats.org/officeDocument/2006/relationships/slide" Target="/ppt/slides/slide81.xml" Id="R98b6b07d757a4afc" /><Relationship Type="http://schemas.openxmlformats.org/officeDocument/2006/relationships/notesMaster" Target="/ppt/notesMasters/notesMaster1.xml" Id="R16d60ed8d1044487" /></Relationships>
</file>

<file path=ppt/notesSlides/_rels/notesSlide82.xml.rels>&#65279;<?xml version="1.0" encoding="utf-8"?><Relationships xmlns="http://schemas.openxmlformats.org/package/2006/relationships"><Relationship Type="http://schemas.openxmlformats.org/officeDocument/2006/relationships/slide" Target="/ppt/slides/slide82.xml" Id="R3f311e18f9144d99" /><Relationship Type="http://schemas.openxmlformats.org/officeDocument/2006/relationships/notesMaster" Target="/ppt/notesMasters/notesMaster1.xml" Id="R706e8e7456ca4124" /></Relationships>
</file>

<file path=ppt/notesSlides/_rels/notesSlide83.xml.rels>&#65279;<?xml version="1.0" encoding="utf-8"?><Relationships xmlns="http://schemas.openxmlformats.org/package/2006/relationships"><Relationship Type="http://schemas.openxmlformats.org/officeDocument/2006/relationships/slide" Target="/ppt/slides/slide83.xml" Id="Raf4d744d74da46b2" /><Relationship Type="http://schemas.openxmlformats.org/officeDocument/2006/relationships/notesMaster" Target="/ppt/notesMasters/notesMaster1.xml" Id="Re98f374e22b54567" /></Relationships>
</file>

<file path=ppt/notesSlides/_rels/notesSlide84.xml.rels>&#65279;<?xml version="1.0" encoding="utf-8"?><Relationships xmlns="http://schemas.openxmlformats.org/package/2006/relationships"><Relationship Type="http://schemas.openxmlformats.org/officeDocument/2006/relationships/slide" Target="/ppt/slides/slide84.xml" Id="R48e282c3726b4699" /><Relationship Type="http://schemas.openxmlformats.org/officeDocument/2006/relationships/notesMaster" Target="/ppt/notesMasters/notesMaster1.xml" Id="R953e1865766a4d2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Operational-user and approver demonstration. Use a 45–50 minute core path and optional detailed canvas sections for a longer workshop. Screenshots contain sample records from multiple dates. The worked shortage case uses the saved Tank Demo run.</a:t>
            </a:r>
          </a:p>
          <a:p xmlns:a="http://schemas.openxmlformats.org/drawingml/2006/main">
            <a:r>
              <a:t/>
            </a:r>
          </a:p>
          <a:p xmlns:a="http://schemas.openxmlformats.org/drawingml/2006/main">
            <a:r>
              <a:t>Demonstration guidance: Screenshots are sample application states. Use approved trial data for live input and publication.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WIDispatch as the complete operating cycle shared by the Desktop planning application and four domain portals. Approved inputs establish the planning basis. Simulation produces a draft for review, and publication hands the agreed decisions to operations. The dispatch cost objective uses variable operating cost, not total lifecycle cost. Transition: the next slide outlines how we will follow that cycle in the demonstration. Sources: WIDispatch Product Profile and Operating Overview, pp. 1–3; existing demonstrated operating workflow.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Core client walkthrough: approximately 45–50 minutes using selected canvas slides. The extended canvas and outage material supports a longer workshop or follow-up questions. Do not read every reference slide in the core session.</a:t>
            </a:r>
          </a:p>
          <a:p xmlns:a="http://schemas.openxmlformats.org/drawingml/2006/main">
            <a:r>
              <a:t/>
            </a:r>
          </a:p>
          <a:p xmlns:a="http://schemas.openxmlformats.org/drawingml/2006/main">
            <a:r>
              <a:t>Demonstration guidance: Screenshots are sample application states. Use approved trial data for live input and publication.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Domain approval and planner approval serve different purposes. A portal approver validates the input. The dispatch planner decides how the combined network should operate. Publication is the explicit handoff to the operating records. The demonstration account is a management account, so individual operator screens may expose fewer controls. Source: BRD pp. 1–3; PRD pp. 1–4; Product Profile pp. 1–3.</a:t>
            </a:r>
          </a:p>
          <a:p xmlns:a="http://schemas.openxmlformats.org/drawingml/2006/main">
            <a:r>
              <a:t/>
            </a:r>
          </a:p>
          <a:p xmlns:a="http://schemas.openxmlformats.org/drawingml/2006/main">
            <a:r>
              <a:t>Demonstration guidance: Screenshots are sample application states. Use approved trial data for live input and publication.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Desktop combines the network and the operational planning basis. It supports asset identity, network topology, reusable systems, emergency scenarios, results review and the final publication step. Portal input approval remains distinct from the planner’s decision review. The asset registry appears first because stable identities connect later inputs, network elements and outputs. Transition: begin with the shared registry, then return to network building and simulation after reviewing the portal workflows. Sources: demonstrated Asset Registry, Network Builder, Simulation Config and Decisions views.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plants, pump stations, tanks and handover points. The live registry shows 141 assets in this snapshot. Counts are sample inventory, not licensed capacity. Use the map for location and the list for exact identity. Source: Desktop Asset Registry, captured 27 September 2026; PRD PR-007.</a:t>
            </a:r>
          </a:p>
          <a:p xmlns:a="http://schemas.openxmlformats.org/drawingml/2006/main">
            <a:r>
              <a:t/>
            </a:r>
          </a:p>
          <a:p xmlns:a="http://schemas.openxmlformats.org/drawingml/2006/main">
            <a:r>
              <a:t>Demonstration guidance: Screenshots are sample application states. Use approved trial data for live input and publication.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difference between a display name and a stable asset reference. Review category, region, operating status and relevant capacity units. A registry correction can affect more than one network. The presentation demonstrates the controls without changing existing master data. Source: Desktop AssetListView and Asset Registry screen.</a:t>
            </a:r>
          </a:p>
          <a:p xmlns:a="http://schemas.openxmlformats.org/drawingml/2006/main">
            <a:r>
              <a:t/>
            </a:r>
          </a:p>
          <a:p xmlns:a="http://schemas.openxmlformats.org/drawingml/2006/main">
            <a:r>
              <a:t>Demonstration guidance: Screenshots are sample application states. Use approved trial data for live input and publication.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Demonstrate the visible New Asset form. Required region, activity and asset type contribute to the generated tagging identifier. Explain plant capacity, pump configuration, tank storage and city-gate intake specifications as category-dependent fields. Do not imply that every required specification appears before the category is selected. Source: Desktop New Asset form; frontend/src/components/AssetForm.jsx.</a:t>
            </a:r>
          </a:p>
          <a:p xmlns:a="http://schemas.openxmlformats.org/drawingml/2006/main">
            <a:r>
              <a:t/>
            </a:r>
          </a:p>
          <a:p xmlns:a="http://schemas.openxmlformats.org/drawingml/2006/main">
            <a:r>
              <a:t>Demonstration guidance: Screenshots are sample application states. Use approved trial data for live input and publication.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Production as the operational source of the supply picture. Maintenance and outage timing can reduce availability, while actual production supports reconciliation after operation. The published requested allocation is different from actual output. Quality and outage records do not necessarily follow the same approval path as production submissions and planned maintenance. Transition: start at the Production dashboard, then open a plant and follow its inputs and approval workflow. Sources: demonstrated Production dashboard, plant records and published allocation view; PRD PR-003.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Production dashboard. Use period filters consistently. Dashboard figures are sample data. This view is shown early so users understand how to enter the input workflow.</a:t>
            </a:r>
          </a:p>
          <a:p xmlns:a="http://schemas.openxmlformats.org/drawingml/2006/main">
            <a:r>
              <a:t/>
            </a:r>
          </a:p>
          <a:p xmlns:a="http://schemas.openxmlformats.org/drawingml/2006/main">
            <a:r>
              <a:t>Demonstration guidance: Screenshots are sample application states. Use approved trial data for live input and publication.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 Amal is the input-workflow example. The later dispatch example uses the Tank Demo assets. State this transition clearly. The overview displays contracted, design and maximum capacity, lifecycle dates and location. Do not treat these three capacity measures as interchangeable. Source: Production Portal plant overview.</a:t>
            </a:r>
          </a:p>
          <a:p xmlns:a="http://schemas.openxmlformats.org/drawingml/2006/main">
            <a:r>
              <a:t/>
            </a:r>
          </a:p>
          <a:p xmlns:a="http://schemas.openxmlformats.org/drawingml/2006/main">
            <a:r>
              <a:t>Demonstration guidance: Screenshots are sample application states. Use approved trial data for live input and publication.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current Production Planning Input screen records actual production by date. This screenshot shows the edit form for 15 August at Tank Demo Plant A; new entry uses the same actual-production and remarks concepts with a date-range selector. Actual and allocated quantities must remain within effective capacity. The modal shown is an input screen, not evidence of a submitted record. Verify dates before entry. Do not overwrite the published requested quantity to make it match actual output. Source: Production Portal Production Planning Input; PRD PR-003.</a:t>
            </a:r>
          </a:p>
          <a:p xmlns:a="http://schemas.openxmlformats.org/drawingml/2006/main">
            <a:r>
              <a:t/>
            </a:r>
          </a:p>
          <a:p xmlns:a="http://schemas.openxmlformats.org/drawingml/2006/main">
            <a:r>
              <a:t>Demonstration guidance: Screenshots are sample application states. Use approved trial data for live input and publication.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maintenance form separates expected daily loss from actual impact. Actual impact becomes available after the maintenance window ends. Explain partial-day work with a concrete example: an eight-hour activity should carry the expected lost volume for that window. Source: Production Schedule Maintenance form; backend/src/simulation/capacity.js.</a:t>
            </a:r>
          </a:p>
          <a:p xmlns:a="http://schemas.openxmlformats.org/drawingml/2006/main">
            <a:r>
              <a:t/>
            </a:r>
          </a:p>
          <a:p xmlns:a="http://schemas.openxmlformats.org/drawingml/2006/main">
            <a:r>
              <a:t>Demonstration guidance: Screenshots are sample application states. Use approved trial data for live input and publication.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Production Outages screen. Existing Tank Demo Plant A events are used. Confirm local time and day boundaries. This is distinct from planned maintenance.</a:t>
            </a:r>
          </a:p>
          <a:p xmlns:a="http://schemas.openxmlformats.org/drawingml/2006/main">
            <a:r>
              <a:t/>
            </a:r>
          </a:p>
          <a:p xmlns:a="http://schemas.openxmlformats.org/drawingml/2006/main">
            <a:r>
              <a:t>Demonstration guidance: Screenshots are sample application states. Use approved trial data for live input and publication.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Production Report Outage dialog. The partial-outage form accepts expected losses by day. Actual loss remains disabled until the event end is in the past. The screenshot is an unsubmitted form. No alert was sent for this presentation.</a:t>
            </a:r>
          </a:p>
          <a:p xmlns:a="http://schemas.openxmlformats.org/drawingml/2006/main">
            <a:r>
              <a:t/>
            </a:r>
          </a:p>
          <a:p xmlns:a="http://schemas.openxmlformats.org/drawingml/2006/main">
            <a:r>
              <a:t>Demonstration guidance: Screenshots are sample application states. Use approved trial data for live input and publication.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frontend/src/components/production/OutageNotificationToast.jsx. Desktop polls every 10 seconds, suppresses already-seen IDs and surfaces recent first-load events from the last five minutes. It routes plant, pump and city-gate events to their respective views. No fresh notification was triggered during capture. The portal form promises urgent management notifications, but email recipient coverage and delivery require deployment-specific verification. Do not promise confirmed email delivery in this demonstration.</a:t>
            </a:r>
          </a:p>
          <a:p xmlns:a="http://schemas.openxmlformats.org/drawingml/2006/main">
            <a:r>
              <a:t/>
            </a:r>
          </a:p>
          <a:p xmlns:a="http://schemas.openxmlformats.org/drawingml/2006/main">
            <a:r>
              <a:t>Demonstration guidance: Screenshots are sample application states. Use approved trial data for live input and publication.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 the current Production role rules, quality and outage records save directly or auto-approve, while production inputs and preventive maintenance require approval. Do not tell users that every record passes through the same queue. Water-quality visibility does not by itself establish a quality-constrained dispatch model. Source: WIDispatch-Production/lib/rbac.ts requiresApproval; PRD PR-003; Desktop capacity.js.</a:t>
            </a:r>
          </a:p>
          <a:p xmlns:a="http://schemas.openxmlformats.org/drawingml/2006/main">
            <a:r>
              <a:t/>
            </a:r>
          </a:p>
          <a:p xmlns:a="http://schemas.openxmlformats.org/drawingml/2006/main">
            <a:r>
              <a:t>Demonstration guidance: Screenshots are sample application states. Use approved trial data for live input and publication.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screenshot shows All Submissions, including existing draft allocation records and historical submissions. For a live approval walkthrough use Pending Review and an eligible submission. Current Production supports selection and bulk action, with individual reasons required for bulk rejection. View opens the plant page. Source: Production Approvals screen and components/approvals/approvals-view.tsx.</a:t>
            </a:r>
          </a:p>
          <a:p xmlns:a="http://schemas.openxmlformats.org/drawingml/2006/main">
            <a:r>
              <a:t/>
            </a:r>
          </a:p>
          <a:p xmlns:a="http://schemas.openxmlformats.org/drawingml/2006/main">
            <a:r>
              <a:t>Demonstration guidance: Screenshots are sample application states. Use approved trial data for live input and publication.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Demand Portal expresses what receiving points need for a defined date range. Keep requested demand, the planner’s allocation and actual received water distinct. The current portal table does not expose every published Desktop decision field, so use Desktop Decisions when reviewing the planner’s approved quantity and comment. Transition: use the Demand dashboard to identify a delivery gap, then open the relevant city gate and its demand entry. Sources: demonstrated Demand dashboard, demand approval and reconciliation views; PRD PR-004 and PR-015.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demand dashboard contains historical sample data. Show the selected date window before interpreting any KPI. Requested volume is the need. The planner’s published quantity is the operating decision. Actual delivered and received quantities support reconciliation after operation. Source: Demand dashboard; PRD PR-004 and PR-015.</a:t>
            </a:r>
          </a:p>
          <a:p xmlns:a="http://schemas.openxmlformats.org/drawingml/2006/main">
            <a:r>
              <a:t/>
            </a:r>
          </a:p>
          <a:p xmlns:a="http://schemas.openxmlformats.org/drawingml/2006/main">
            <a:r>
              <a:t>Demonstration guidance: Screenshots are sample application states. Use approved trial data for live input and publication.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screenshot shows an unsaved example for 28–30 September with 300,000 m³ per day. Selecting a valid range reveals the daily demand grid, initially zero. The form was cancelled after capture, and no request was submitted. Review every day and do not leave unintended zeros. The current form validates against contracted capacity minus maintenance and outage derating. Source: Demand New Demand Input form and demand-input-form implementation.</a:t>
            </a:r>
          </a:p>
          <a:p xmlns:a="http://schemas.openxmlformats.org/drawingml/2006/main">
            <a:r>
              <a:t/>
            </a:r>
          </a:p>
          <a:p xmlns:a="http://schemas.openxmlformats.org/drawingml/2006/main">
            <a:r>
              <a:t>Demonstration guidance: Screenshots are sample application states. Use approved trial data for live input and publication.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screenshot contains pending submissions with View, Approve and Reject controls. No approval is performed by the presentation. For a rejection, describe what should change, for example the date or volume and its supporting basis. Keep the requested demand intact when discussing a later dispatch reduction. Source: Demand Approvals screen; PRD PR-002 and PR-004.</a:t>
            </a:r>
          </a:p>
          <a:p xmlns:a="http://schemas.openxmlformats.org/drawingml/2006/main">
            <a:r>
              <a:t/>
            </a:r>
          </a:p>
          <a:p xmlns:a="http://schemas.openxmlformats.org/drawingml/2006/main">
            <a:r>
              <a:t>Demonstration guidance: Screenshots are sample application states. Use approved trial data for live input and publication.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portal connects the saved system structure with the operating condition of transmission assets and records of water movement. Desktop authors the systems and lines. Explain pump throughput, line capacity and receipt/delivery records as distinct information. Do not add pump and line capacities together to describe system size. Transition: start with the Transmission dashboard, then inspect its systems page before reviewing individual pump stations. Sources: demonstrated Transmission dashboard, systems list/detail, pump availability and reconciliation views.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Transmission dashboard. Do not add pump capacity to logical line capacity when explaining WTS size.</a:t>
            </a:r>
          </a:p>
          <a:p xmlns:a="http://schemas.openxmlformats.org/drawingml/2006/main">
            <a:r>
              <a:t/>
            </a:r>
          </a:p>
          <a:p xmlns:a="http://schemas.openxmlformats.org/drawingml/2006/main">
            <a:r>
              <a:t>Demonstration guidance: Screenshots are sample application states. Use approved trial data for live input and publication.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Transmission systems list. System A is the saved example. Systems and lines originate in Desktop.</a:t>
            </a:r>
          </a:p>
          <a:p xmlns:a="http://schemas.openxmlformats.org/drawingml/2006/main">
            <a:r>
              <a:t/>
            </a:r>
          </a:p>
          <a:p xmlns:a="http://schemas.openxmlformats.org/drawingml/2006/main">
            <a:r>
              <a:t>Demonstration guidance: Screenshots are sample application states. Use approved trial data for live input and publication.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Transmission System A detail. Three registered main lines, four saved nodes and three saved pipes. The displayed system aggregate is not proof of end-to-end deliverable flow. Explain source, pump and receiving-gate constraints separately.</a:t>
            </a:r>
          </a:p>
          <a:p xmlns:a="http://schemas.openxmlformats.org/drawingml/2006/main">
            <a:r>
              <a:t/>
            </a:r>
          </a:p>
          <a:p xmlns:a="http://schemas.openxmlformats.org/drawingml/2006/main">
            <a:r>
              <a:t>Demonstration guidance: Screenshots are sample application states. Use approved trial data for live input and publication.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Pump Asset 1 shows two functional pumps and one standby, each 150,000 m³/day. Explain why normal functional capacity is 300,000 m³/day. The overview plots effective capacity after maintenance and outages. Source: Transmission station overview; Desktop capacity.js stationPumps and activeFunctionalPumps.</a:t>
            </a:r>
          </a:p>
          <a:p xmlns:a="http://schemas.openxmlformats.org/drawingml/2006/main">
            <a:r>
              <a:t/>
            </a:r>
          </a:p>
          <a:p xmlns:a="http://schemas.openxmlformats.org/drawingml/2006/main">
            <a:r>
              <a:t>Demonstration guidance: Screenshots are sample application states. Use approved trial data for live input and publication.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Functional pump maintenance can reduce throughput. Standby maintenance is tracked without directly removing active capacity. A standby substitution can cover lost functional capacity subject to the recorded configuration. This is a separate Transmission form, not the plant daily-loss form. Source: Transmission Schedule Maintenance dialog; PRD PR-005.</a:t>
            </a:r>
          </a:p>
          <a:p xmlns:a="http://schemas.openxmlformats.org/drawingml/2006/main">
            <a:r>
              <a:t/>
            </a:r>
          </a:p>
          <a:p xmlns:a="http://schemas.openxmlformats.org/drawingml/2006/main">
            <a:r>
              <a:t>Demonstration guidance: Screenshots are sample application states. Use approved trial data for live input and publication.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current approval screen exposes three record-type queues. The captured queue is an existing state and may be empty under the selected filter. Receipt and delivered forms accept past dates, yesterday or earlier, and include quantity and quality readings. These actual records belong after execution in the cycle. Source: Transmission Approvals; received-record-form.tsx and delivered-record-form.tsx.</a:t>
            </a:r>
          </a:p>
          <a:p xmlns:a="http://schemas.openxmlformats.org/drawingml/2006/main">
            <a:r>
              <a:t/>
            </a:r>
          </a:p>
          <a:p xmlns:a="http://schemas.openxmlformats.org/drawingml/2006/main">
            <a:r>
              <a:t>Demonstration guidance: Screenshots are sample application states. Use approved trial data for live input and publication.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Emphasize the effective date and approved status of a cost snapshot. The financial records contain several cost categories, while the dispatch calculation uses variable O&amp;M. Publication of a dispatch decision does not rewrite the approved economic snapshot. Transition: open the Economics dashboard, then inspect the financial record and follow a cost proposal through approval. Sources: demonstrated Economics dashboard, Financials, proposals and approvals; PRD PR-006; Product Profile p. 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Economics dashboard. Approved production availability depends on account scope and period. Do not infer missing source data solely from an empty dashboard panel.</a:t>
            </a:r>
          </a:p>
          <a:p xmlns:a="http://schemas.openxmlformats.org/drawingml/2006/main">
            <a:r>
              <a:t/>
            </a:r>
          </a:p>
          <a:p xmlns:a="http://schemas.openxmlformats.org/drawingml/2006/main">
            <a:r>
              <a:t>Demonstration guidance: Screenshots are sample application states. Use approved trial data for live input and publication.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SAR/month for CCR and fixed O&amp;M, SAR/m³ for variable O&amp;M, and SAR for CAPEX. This example shows Al Amal. The later outage scenario uses the separate Tank Demo costs. The dispatch objective uses variable O&amp;M, not a total lifecycle-cost optimization. Source: Economics Financial tab; Product Profile p. 3; PRD PR-006.</a:t>
            </a:r>
          </a:p>
          <a:p xmlns:a="http://schemas.openxmlformats.org/drawingml/2006/main">
            <a:r>
              <a:t/>
            </a:r>
          </a:p>
          <a:p xmlns:a="http://schemas.openxmlformats.org/drawingml/2006/main">
            <a:r>
              <a:t>Demonstration guidance: Screenshots are sample application states. Use approved trial data for live input and publication.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saved proposal does not immediately replace current approved economics. The approval and effective date determine when it applies. Demonstrate a future effective date conceptually, without saving a commercial change. Source: Economics Propose Plant Cost Change dialog.</a:t>
            </a:r>
          </a:p>
          <a:p xmlns:a="http://schemas.openxmlformats.org/drawingml/2006/main">
            <a:r>
              <a:t/>
            </a:r>
          </a:p>
          <a:p xmlns:a="http://schemas.openxmlformats.org/drawingml/2006/main">
            <a:r>
              <a:t>Demonstration guidance: Screenshots are sample application states. Use approved trial data for live input and publication.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screen shows approved snapshots including 1.80, 2.00 and 2.20 SAR/m³ for Tank Demo Plants A, B and C. These are the costs in the worked scenario. Pending records expose action buttons. Rejection and Revision require comments in the current implementation. Source: Economics Approvals screen and approvals-view.tsx.</a:t>
            </a:r>
          </a:p>
          <a:p xmlns:a="http://schemas.openxmlformats.org/drawingml/2006/main">
            <a:r>
              <a:t/>
            </a:r>
          </a:p>
          <a:p xmlns:a="http://schemas.openxmlformats.org/drawingml/2006/main">
            <a:r>
              <a:t>Demonstration guidance: Screenshots are sample application states. Use approved trial data for live input and publication.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screenshot shows an existing demonstration network and the library controls used to build it. Explain Plant, Tank, Pump Station and Handover Point tools. Existing library assets are preferred when demonstrating operational linkage. The six-node example contains three plants, one tank, one station and one city gate. Source: Desktop Network Builder.</a:t>
            </a:r>
          </a:p>
          <a:p xmlns:a="http://schemas.openxmlformats.org/drawingml/2006/main">
            <a:r>
              <a:t/>
            </a:r>
          </a:p>
          <a:p xmlns:a="http://schemas.openxmlformats.org/drawingml/2006/main">
            <a:r>
              <a:t>Demonstration guidance: Screenshots are sample application states. Use approved trial data for live input and publication.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NetworkEntityCreateModal.jsx and observed Add Plant dialog. Required fields vary by type. The form was opened and cancelled during capture. Use Node for a junction. Creating operational master data requires a valid name, type and specifications.</a:t>
            </a:r>
          </a:p>
          <a:p xmlns:a="http://schemas.openxmlformats.org/drawingml/2006/main">
            <a:r>
              <a:t/>
            </a:r>
          </a:p>
          <a:p xmlns:a="http://schemas.openxmlformats.org/drawingml/2006/main">
            <a:r>
              <a:t>Demonstration guidance: Screenshots are sample application states. Use approved trial data for live input and publication.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NetworkPalette and NetworkBuilderPage. The earlier library screenshot shows selection and placement controls. Avoid duplicate registry identities. Positioning changes the drawing, while source records remain in the portals.</a:t>
            </a:r>
          </a:p>
          <a:p xmlns:a="http://schemas.openxmlformats.org/drawingml/2006/main">
            <a:r>
              <a:t/>
            </a:r>
          </a:p>
          <a:p xmlns:a="http://schemas.openxmlformats.org/drawingml/2006/main">
            <a:r>
              <a:t>Demonstration guidance: Screenshots are sample application states. Use approved trial data for live input and publication.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observed Pipeline variables dialog and PipeVariablesModal.jsx. Demonstration System and Main supply line are unsaved form examples. Add pipe creates the new system/line references and adds the connection. Save the network to preserve the reusable geometry. The saved System A shown next illustrates the resulting structure.</a:t>
            </a:r>
          </a:p>
          <a:p xmlns:a="http://schemas.openxmlformats.org/drawingml/2006/main">
            <a:r>
              <a:t/>
            </a:r>
          </a:p>
          <a:p xmlns:a="http://schemas.openxmlformats.org/drawingml/2006/main">
            <a:r>
              <a:t>Demonstration guidance: Screenshots are sample application states. Use approved trial data for live input and publication.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TransmissionLinePicker.jsx and transmissionLines.js. The Group Lines toolbar command is currently a placeholder. Use the implemented system and line fields in pipe forms instead.</a:t>
            </a:r>
          </a:p>
          <a:p xmlns:a="http://schemas.openxmlformats.org/drawingml/2006/main">
            <a:r>
              <a:t/>
            </a:r>
          </a:p>
          <a:p xmlns:a="http://schemas.openxmlformats.org/drawingml/2006/main">
            <a:r>
              <a:t>Demonstration guidance: Screenshots are sample application states. Use approved trial data for live input and publication.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observed Desktop System A. It contains one saved network, three registered lines and three canvas segments. A system name without a saved network bundle does not provide reusable geometry.</a:t>
            </a:r>
          </a:p>
          <a:p xmlns:a="http://schemas.openxmlformats.org/drawingml/2006/main">
            <a:r>
              <a:t/>
            </a:r>
          </a:p>
          <a:p xmlns:a="http://schemas.openxmlformats.org/drawingml/2006/main">
            <a:r>
              <a:t>Demonstration guidance: Screenshots are sample application states. Use approved trial data for live input and publication.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Desktop Systems library. System A has four saved nodes and three saved pipes. The screenshot shows the library before placement.</a:t>
            </a:r>
          </a:p>
          <a:p xmlns:a="http://schemas.openxmlformats.org/drawingml/2006/main">
            <a:r>
              <a:t/>
            </a:r>
          </a:p>
          <a:p xmlns:a="http://schemas.openxmlformats.org/drawingml/2006/main">
            <a:r>
              <a:t>Demonstration guidance: Screenshots are sample application states. Use approved trial data for live input and publication.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live placement of System A into a separate unsaved demonstration network. The action reported four nodes and three pipes and the network rendered after refresh. Review the connections and save under the intended network name. Asset identities remain linked to registered assets.</a:t>
            </a:r>
          </a:p>
          <a:p xmlns:a="http://schemas.openxmlformats.org/drawingml/2006/main">
            <a:r>
              <a:t/>
            </a:r>
          </a:p>
          <a:p xmlns:a="http://schemas.openxmlformats.org/drawingml/2006/main">
            <a:r>
              <a:t>Demonstration guidance: Screenshots are sample application states. Use approved trial data for live input and publication.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observed Qassim City Gate search. To Sel zooms to selected elements. Use Fit to restore the whole-network view.</a:t>
            </a:r>
          </a:p>
          <a:p xmlns:a="http://schemas.openxmlformats.org/drawingml/2006/main">
            <a:r>
              <a:t/>
            </a:r>
          </a:p>
          <a:p xmlns:a="http://schemas.openxmlformats.org/drawingml/2006/main">
            <a:r>
              <a:t>Demonstration guidance: Screenshots are sample application states. Use approved trial data for live input and publication.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observed Qassim City Gate trace. The example finds Pump Asset 1 as the immediate source and two plants as ultimate sources. A reachable path does not guarantee adequate capacity.</a:t>
            </a:r>
          </a:p>
          <a:p xmlns:a="http://schemas.openxmlformats.org/drawingml/2006/main">
            <a:r>
              <a:t/>
            </a:r>
          </a:p>
          <a:p xmlns:a="http://schemas.openxmlformats.org/drawingml/2006/main">
            <a:r>
              <a:t>Demonstration guidance: Screenshots are sample application states. Use approved trial data for live input and publication.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observed Line A isolation in System A. Isolate / Unisolate also works with a canvas selection. Distinguish visibility filtering from active-state and simulation overrides.</a:t>
            </a:r>
          </a:p>
          <a:p xmlns:a="http://schemas.openxmlformats.org/drawingml/2006/main">
            <a:r>
              <a:t/>
            </a:r>
          </a:p>
          <a:p xmlns:a="http://schemas.openxmlformats.org/drawingml/2006/main">
            <a:r>
              <a:t>Demonstration guidance: Screenshots are sample application states. Use approved trial data for live input and publication.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observed midpoint drag and Straighten control, cytoscape/bendEditing.js and NetworkBuilderPage. Double-click an existing bend to remove it. Context actions also add a bend, remove the nearest bend and remove all bends. Recheck direction after editing geometry.</a:t>
            </a:r>
          </a:p>
          <a:p xmlns:a="http://schemas.openxmlformats.org/drawingml/2006/main">
            <a:r>
              <a:t/>
            </a:r>
          </a:p>
          <a:p xmlns:a="http://schemas.openxmlformats.org/drawingml/2006/main">
            <a:r>
              <a:t>Demonstration guidance: Screenshots are sample application states. Use approved trial data for live input and publication.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observed toolbar and selected network. Left, Center H, Right, Top, Center V, Bottom, Dist H and Dist V arrange selections. Hold Alt to bypass snapping while moving. Grid, Circle, Tree and Force are alternate layouts. Use Undo if a layout obscures an important route.</a:t>
            </a:r>
          </a:p>
          <a:p xmlns:a="http://schemas.openxmlformats.org/drawingml/2006/main">
            <a:r>
              <a:t/>
            </a:r>
          </a:p>
          <a:p xmlns:a="http://schemas.openxmlformats.org/drawingml/2006/main">
            <a:r>
              <a:t>Demonstration guidance: Screenshots are sample application states. Use approved trial data for live input and publication.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NetworkBuilderPage and NetworkNodeDetails. Active/Inactive selection tools select matching elements, whereas activation controls change selected pipes. Disconnected finds isolated components. A capacity-free pipe may be treated as unconstrained by dispatch, so inspect its table value before running.</a:t>
            </a:r>
          </a:p>
          <a:p xmlns:a="http://schemas.openxmlformats.org/drawingml/2006/main">
            <a:r>
              <a:t/>
            </a:r>
          </a:p>
          <a:p xmlns:a="http://schemas.openxmlformats.org/drawingml/2006/main">
            <a:r>
              <a:t>Demonstration guidance: Screenshots are sample application states. Use approved trial data for live input and publication.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observed Map view after pinning Al Amal and Qassim as anchors. Existing registered coordinates avoided manual location entry. Additional unanchored points follow the drawing-to-map transform and are not surveyed positions. Draw route is available in the map view. Return through Schematic.</a:t>
            </a:r>
          </a:p>
          <a:p xmlns:a="http://schemas.openxmlformats.org/drawingml/2006/main">
            <a:r>
              <a:t/>
            </a:r>
          </a:p>
          <a:p xmlns:a="http://schemas.openxmlformats.org/drawingml/2006/main">
            <a:r>
              <a:t>Demonstration guidance: Screenshots are sample application states. Use approved trial data for live input and publication.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NetworkBuilderPage buildGeoImportDoc and networkKmz. Imported points become geographic anchors. The browser connection rejected file selection during this capture, so the file-import execution was not verified live. This is a procedure walkthrough, not a successful-import screenshot. Imported geometry does not automatically recreate approved portal identity or every source specification.</a:t>
            </a:r>
          </a:p>
          <a:p xmlns:a="http://schemas.openxmlformats.org/drawingml/2006/main">
            <a:r>
              <a:t/>
            </a:r>
          </a:p>
          <a:p xmlns:a="http://schemas.openxmlformats.org/drawingml/2006/main">
            <a:r>
              <a:t>Demonstration guidance: Screenshots are sample application states. Use approved trial data for live input and publication.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NetworkBuilderPage handleSave, handleExportJSON, handleExportCSV, handleExportKMZ. KMZ requires a valid georeference. JSON and KMZ imports replace the current canvas document, so use a new workspace for demonstration. Exports were not opened in external GIS software during this walkthrough.</a:t>
            </a:r>
          </a:p>
          <a:p xmlns:a="http://schemas.openxmlformats.org/drawingml/2006/main">
            <a:r>
              <a:t/>
            </a:r>
          </a:p>
          <a:p xmlns:a="http://schemas.openxmlformats.org/drawingml/2006/main">
            <a:r>
              <a:t>Demonstration guidance: Screenshots are sample application states. Use approved trial data for live input and publication.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observed shortcut guide and toolbar. Additional tools: Labels, minimap, canvas focus mode, category filters, capacity horizon, largest-asset list, Note with font controls, Group, Copy Sel/All, Paste, Edit and Delete. Insert on Pipe places an asset within a connection and splits it. Run/Clear controls show or clear the builder run overlay. The full simulation workflow is in Simulation Config. Group Lines remains a placeholder.</a:t>
            </a:r>
          </a:p>
          <a:p xmlns:a="http://schemas.openxmlformats.org/drawingml/2006/main">
            <a:r>
              <a:t/>
            </a:r>
          </a:p>
          <a:p xmlns:a="http://schemas.openxmlformats.org/drawingml/2006/main">
            <a:r>
              <a:t>Demonstration guidance: Screenshots are sample application states. Use approved trial data for live input and publication.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the Pipe tool and connect the source node to the destination node. Inspect each pipe’s direction, capacity and active state. The saved example has three 120,000 m³/day plant connections and two 300,000 m³/day downstream connections. Arrange the drawing for readability. Saving a canvas is separate from running a simulation. Source: observed Tank Demo Network and Simulation Configuration pipeline table.</a:t>
            </a:r>
          </a:p>
          <a:p xmlns:a="http://schemas.openxmlformats.org/drawingml/2006/main">
            <a:r>
              <a:t/>
            </a:r>
          </a:p>
          <a:p xmlns:a="http://schemas.openxmlformats.org/drawingml/2006/main">
            <a:r>
              <a:t>Demonstration guidance: Screenshots are sample application states. Use approved trial data for live input and publication.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current canvas reports zero errors, warnings and notes in frontend validation. This is not evidence that the selected operating period has enough water. Some pipes with no capacity are treated as unconstrained by dispatch, so review the configuration table even when drawing validation passes. Confirm the saved network is the one selected by the scenario. Source: Network Validation screen and SimulationTables.</a:t>
            </a:r>
          </a:p>
          <a:p xmlns:a="http://schemas.openxmlformats.org/drawingml/2006/main">
            <a:r>
              <a:t/>
            </a:r>
          </a:p>
          <a:p xmlns:a="http://schemas.openxmlformats.org/drawingml/2006/main">
            <a:r>
              <a:t>Demonstration guidance: Screenshots are sample application states. Use approved trial data for live input and publication.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the saved Tank Demo – Two Plant Outages configuration. Costs are 1.80, 2.00 and 2.20 SAR/m³ for A, B and C. The operational tank uses Ignore reserve with 0% minimum even though a 70% strategic storage setting appears in Setup. Do not imply that 70% applies to this operational tank. Source: observed Simulation Configuration and Results.</a:t>
            </a:r>
          </a:p>
          <a:p xmlns:a="http://schemas.openxmlformats.org/drawingml/2006/main">
            <a:r>
              <a:t/>
            </a:r>
          </a:p>
          <a:p xmlns:a="http://schemas.openxmlformats.org/drawingml/2006/main">
            <a:r>
              <a:t>Demonstration guidance: Screenshots are sample application states. Use approved trial data for live input and publication.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name, description, network, From and To. The example has one override. Configuration fields support capacity, cost, demand and tank-level what-if assumptions. Review cost source alongside the value. An override should be an explicit scenario assumption, not a hidden correction to approved source records. Source: SimulationConfigPage.jsx; PRD PR-009.</a:t>
            </a:r>
          </a:p>
          <a:p xmlns:a="http://schemas.openxmlformats.org/drawingml/2006/main">
            <a:r>
              <a:t/>
            </a:r>
          </a:p>
          <a:p xmlns:a="http://schemas.openxmlformats.org/drawingml/2006/main">
            <a:r>
              <a:t>Demonstration guidance: Screenshots are sample application states. Use approved trial data for live input and publication.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observed Configuration tables. Plant, tank, pump and gate rows offer Include in the dispatch. These are per-scenario assumptions. Pipelines have a separate capacity/direction table. Expand an asset’s daily breakdown to inspect outages and maintenance rather than relying only on the minimum available value.</a:t>
            </a:r>
          </a:p>
          <a:p xmlns:a="http://schemas.openxmlformats.org/drawingml/2006/main">
            <a:r>
              <a:t/>
            </a:r>
          </a:p>
          <a:p xmlns:a="http://schemas.openxmlformats.org/drawingml/2006/main">
            <a:r>
              <a:t>Demonstration guidance: Screenshots are sample application states. Use approved trial data for live input and publication.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observed unsaved example: Plant A capacity 90,000 m³/day and cost 2.10 SAR/m³, Plant C unchecked, gate demand 280,000 m³/day. All edits were discarded by reloading. No new result is claimed for these settings. Enter a scenario description explaining the emergency and compare a fresh result before publication.</a:t>
            </a:r>
          </a:p>
          <a:p xmlns:a="http://schemas.openxmlformats.org/drawingml/2006/main">
            <a:r>
              <a:t/>
            </a:r>
          </a:p>
          <a:p xmlns:a="http://schemas.openxmlformats.org/drawingml/2006/main">
            <a:r>
              <a:t>Demonstration guidance: Screenshots are sample application states. Use approved trial data for live input and publication.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SimulationTables. Tank initial/minimum/maximum overrides and reserve policy differ from the global strategic reserve setting. In the worked scenario the operational tank uses Ignore reserve. A changed cost can alter dispatch order. Configuration edits do not update portal source records.</a:t>
            </a:r>
          </a:p>
          <a:p xmlns:a="http://schemas.openxmlformats.org/drawingml/2006/main">
            <a:r>
              <a:t/>
            </a:r>
          </a:p>
          <a:p xmlns:a="http://schemas.openxmlformats.org/drawingml/2006/main">
            <a:r>
              <a:t>Demonstration guidance: Screenshots are sample application states. Use approved trial data for live input and publication.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configuration tables provide the detailed pre-run review. Expand daily breakdowns when a minimum available capacity is zero to see which day causes it. The solver maximizes feasible delivery before reducing variable operating cost within the configured policy. Existing results in this deck are a saved run. Source: SimulationTables, simulationConfigs.js and Product Profile p. 3.</a:t>
            </a:r>
          </a:p>
          <a:p xmlns:a="http://schemas.openxmlformats.org/drawingml/2006/main">
            <a:r>
              <a:t/>
            </a:r>
          </a:p>
          <a:p xmlns:a="http://schemas.openxmlformats.org/drawingml/2006/main">
            <a:r>
              <a:t>Demonstration guidance: Screenshots are sample application states. Use approved trial data for live input and publication.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Observed KPIs: demand satisfaction 95.556%, shortfall 120,000 m³, plant utilization 97.619%, production variable O&amp;M cost SAR 4,932,000, average SAR 1.91 per delivered m³. These are sample results and do not establish client savings. The zero bottleneck-days KPI does not mean zero shortage: daily shortfalls here are attributed to production capacity. Source: saved Results screen.</a:t>
            </a:r>
          </a:p>
          <a:p xmlns:a="http://schemas.openxmlformats.org/drawingml/2006/main">
            <a:r>
              <a:t/>
            </a:r>
          </a:p>
          <a:p xmlns:a="http://schemas.openxmlformats.org/drawingml/2006/main">
            <a:r>
              <a:t>Demonstration guidance: Screenshots are sample application states. Use approved trial data for live input and publication.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Plant Utilization, Plant Cost, Delivery Point Supply and Daily Tank Behavior. Explain how the selected gate falls below its request on two days, and how tank inventory moves between days. Use the previous Results screen for Supply vs Demand and System Balance. Keep comparisons on the same planning horizon. Source: saved Results charts.</a:t>
            </a:r>
          </a:p>
          <a:p xmlns:a="http://schemas.openxmlformats.org/drawingml/2006/main">
            <a:r>
              <a:t/>
            </a:r>
          </a:p>
          <a:p xmlns:a="http://schemas.openxmlformats.org/drawingml/2006/main">
            <a:r>
              <a:t>Demonstration guidance: Screenshots are sample application states. Use approved trial data for live input and publication.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Short days are 15 and 18 August. Total shortage is 120,000 m³. Tank starting inventory is 120,000 m³, final inventory zero, total inflow 180,000 m³ and total outflow 300,000 m³. Verify where these appear on the visible charts/tables. A planner should assess reserve policy as well as demand satisfaction. Source: saved Results storage, shortfall and daily-driver tables.</a:t>
            </a:r>
          </a:p>
          <a:p xmlns:a="http://schemas.openxmlformats.org/drawingml/2006/main">
            <a:r>
              <a:t/>
            </a:r>
          </a:p>
          <a:p xmlns:a="http://schemas.openxmlformats.org/drawingml/2006/main">
            <a:r>
              <a:t>Demonstration guidance: Screenshots are sample application states. Use approved trial data for live input and publication.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day selector is set to 15 August 2026. Required volume is 300,000 m³, delivered volume is 240,000 m³ and shortage is 60,000 m³. Use the day controls, Flow and Bottlenecks to connect table results to network elements. Source: Desktop Simulation Canvas.</a:t>
            </a:r>
          </a:p>
          <a:p xmlns:a="http://schemas.openxmlformats.org/drawingml/2006/main">
            <a:r>
              <a:t/>
            </a:r>
          </a:p>
          <a:p xmlns:a="http://schemas.openxmlformats.org/drawingml/2006/main">
            <a:r>
              <a:t>Demonstration guidance: Screenshots are sample application states. Use approved trial data for live input and publication.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live Simulation Config Canvas on 15 August 2026. Required 300,000 m³, delivered 240,000 m³, shortage 60,000 m³. Plants A and C each bind at 120,000 m³. High utilization and a binding constraint are different signals. Use the legend rather than interpreting every colored pipe as a bottleneck.</a:t>
            </a:r>
          </a:p>
          <a:p xmlns:a="http://schemas.openxmlformats.org/drawingml/2006/main">
            <a:r>
              <a:t/>
            </a:r>
          </a:p>
          <a:p xmlns:a="http://schemas.openxmlformats.org/drawingml/2006/main">
            <a:r>
              <a:t>Demonstration guidance: Screenshots are sample application states. Use approved trial data for live input and publication.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live selected Tank Demo City Gate trace. Immediate source is Tank Demo Pump Station with 240,000 m³. Four upstream nodes contribute. The side panel and element history help connect a local shortfall to daily operation.</a:t>
            </a:r>
          </a:p>
          <a:p xmlns:a="http://schemas.openxmlformats.org/drawingml/2006/main">
            <a:r>
              <a:t/>
            </a:r>
          </a:p>
          <a:p xmlns:a="http://schemas.openxmlformats.org/drawingml/2006/main">
            <a:r>
              <a:t>Demonstration guidance: Screenshots are sample application states. Use approved trial data for live input and publication.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observed Simulation Canvas and CanvasToolbar. The canvas is a result-inspection surface. Use Configuration for scenario overrides and Network Builder for topology changes. Keep the selected run and day visible when discussing decisions.</a:t>
            </a:r>
          </a:p>
          <a:p xmlns:a="http://schemas.openxmlformats.org/drawingml/2006/main">
            <a:r>
              <a:t/>
            </a:r>
          </a:p>
          <a:p xmlns:a="http://schemas.openxmlformats.org/drawingml/2006/main">
            <a:r>
              <a:t>Demonstration guidance: Screenshots are sample application states. Use approved trial data for live input and publication.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selected draft has zero maintenance decisions awaiting publication. Do not interpret that as zero maintenance impact: Plant B maintenance still derates capacity. Decision eligibility and capacity impact are different concepts. Explain the existing wording Nothing has been written yet as referring to this draft. Source: Decisions screen; writeback.js.</a:t>
            </a:r>
          </a:p>
          <a:p xmlns:a="http://schemas.openxmlformats.org/drawingml/2006/main">
            <a:r>
              <a:t/>
            </a:r>
          </a:p>
          <a:p xmlns:a="http://schemas.openxmlformats.org/drawingml/2006/main">
            <a:r>
              <a:t>Demonstration guidance: Screenshots are sample application states. Use approved trial data for live input and publication.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quantity edit commits on leaving the field. The browser prompt asks for a comment on a reduction. Approved volume must be finite and between zero and requested demand. The tick/cross control toggles full approval versus zero; use the quantity field for partial approval. Changes affect the draft decision, not the saved flow results. Source: DecisionsPanel.jsx DemandVolumeEditor and changeDemand; simulationConfigs.js validation.</a:t>
            </a:r>
          </a:p>
          <a:p xmlns:a="http://schemas.openxmlformats.org/drawingml/2006/main">
            <a:r>
              <a:t/>
            </a:r>
          </a:p>
          <a:p xmlns:a="http://schemas.openxmlformats.org/drawingml/2006/main">
            <a:r>
              <a:t>Demonstration guidance: Screenshots are sample application states. Use approved trial data for live input and publication.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suggested wording, not a comment entered or published to the system. The current comment control opens a browser prompt. Click Add required comment before publishing for an existing reduction, or edit the daily amount and leave the field. Confirm the comment and wait for the draft save to complete. Cancel leaves the decision uncommitted. Source: DecisionsPanel.jsx.</a:t>
            </a:r>
          </a:p>
          <a:p xmlns:a="http://schemas.openxmlformats.org/drawingml/2006/main">
            <a:r>
              <a:t/>
            </a:r>
          </a:p>
          <a:p xmlns:a="http://schemas.openxmlformats.org/drawingml/2006/main">
            <a:r>
              <a:t>Demonstration guidance: Screenshots are sample application states. Use approved trial data for live input and publication.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a scenario containing pending maintenance requests for this part of a live demonstration. The current outage screenshot has no awaiting requests, so this slide explains the supported workflow without inventing a populated table. Expanded maintenance details can expose affected gates and an alternative window. A schedule change requires a revised operating record and rerun. Source: DecisionsPanel.jsx; PRD PR-013; SRD SR-014 and SR-015.</a:t>
            </a:r>
          </a:p>
          <a:p xmlns:a="http://schemas.openxmlformats.org/drawingml/2006/main">
            <a:r>
              <a:t/>
            </a:r>
          </a:p>
          <a:p xmlns:a="http://schemas.openxmlformats.org/drawingml/2006/main">
            <a:r>
              <a:t>Demonstration guidance: Screenshots are sample application states. Use approved trial data for live input and publication.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operational guidance grounded in the separation of immutable run results and editable verdicts. Current decision validation checks volume bounds and comments, not a complete re-optimization of the edited plan. Do not promise an automatic feasibility rerun when the user changes a decision. Source: simulationConfigs.js applyDecisionPatches; DecisionsPanel.jsx; PRD PR-013.</a:t>
            </a:r>
          </a:p>
          <a:p xmlns:a="http://schemas.openxmlformats.org/drawingml/2006/main">
            <a:r>
              <a:t/>
            </a:r>
          </a:p>
          <a:p xmlns:a="http://schemas.openxmlformats.org/drawingml/2006/main">
            <a:r>
              <a:t>Demonstration guidance: Screenshots are sample application states. Use approved trial data for live input and publication.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current UI changes to Published to the portals and disables the publish button and decision editors when a plan is published. Publishing returns counts for production, demand and maintenance updates. A partial failure should be investigated rather than assumed to mean nothing changed. Do not claim transaction or stale-input protections that the requirements describe as targets. Source: DecisionsPanel.jsx; simulationConfigs.js; writeback.js; PRD PR-014.</a:t>
            </a:r>
          </a:p>
          <a:p xmlns:a="http://schemas.openxmlformats.org/drawingml/2006/main">
            <a:r>
              <a:t/>
            </a:r>
          </a:p>
          <a:p xmlns:a="http://schemas.openxmlformats.org/drawingml/2006/main">
            <a:r>
              <a:t>Demonstration guidance: Screenshots are sample application states. Use approved trial data for live input and publication.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Publication writes productionInputs, demandInputs and maintenanceRecords and marks the dispatch plan published. There is no separate financialEntries or receivedRecords/deliveredRecords write in this publication function. Transmission and Economics views display relevant shared records or maintain their own follow-up actuals. Source: backend/src/simulation/writeback.js; PRD PR-015 and SRD SR-017.</a:t>
            </a:r>
          </a:p>
          <a:p xmlns:a="http://schemas.openxmlformats.org/drawingml/2006/main">
            <a:r>
              <a:t/>
            </a:r>
          </a:p>
          <a:p xmlns:a="http://schemas.openxmlformats.org/drawingml/2006/main">
            <a:r>
              <a:t>Demonstration guidance: Screenshots are sample application states. Use approved trial data for live input and publication.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existing historical allocation visible in Production for this demonstration. Do not present it as publication of the draft outage scenario shown earlier. Publication sets required_m3 and marks its source as Desktop simulation while retaining actual_m3 and existing submission metadata. Source: writeback.js and Production record view.</a:t>
            </a:r>
          </a:p>
          <a:p xmlns:a="http://schemas.openxmlformats.org/drawingml/2006/main">
            <a:r>
              <a:t/>
            </a:r>
          </a:p>
          <a:p xmlns:a="http://schemas.openxmlformats.org/drawingml/2006/main">
            <a:r>
              <a:t>Demonstration guidance: Screenshots are sample application states. Use approved trial data for live input and publication.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Publication persists desktop_approved_m3, decision status and comment on demandInputs. The current Demand production-input-table reads required_m3, actual_m3 and received_m3, and does not expose the approved volume or planner comment. This screen is therefore a reconciliation view, not visual proof of the planner verdict. Demonstrate the final decision in Desktop and explain this current display limitation. Source: writeback.js; Demand components/production/production-input-table.tsx lines 187–189; captured Demand portal.</a:t>
            </a:r>
          </a:p>
          <a:p xmlns:a="http://schemas.openxmlformats.org/drawingml/2006/main">
            <a:r>
              <a:t/>
            </a:r>
          </a:p>
          <a:p xmlns:a="http://schemas.openxmlformats.org/drawingml/2006/main">
            <a:r>
              <a:t>Demonstration guidance: Screenshots are sample application states. Use approved trial data for live input and publication.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received-entry form permits strictly past days, yesterday or earlier. It captures received_m3 and quality readings, then submits for approval. Production quantities in this portal are read-only. Source: Transmission received-record-form.tsx; production-input-form.tsx.</a:t>
            </a:r>
          </a:p>
          <a:p xmlns:a="http://schemas.openxmlformats.org/drawingml/2006/main">
            <a:r>
              <a:t/>
            </a:r>
          </a:p>
          <a:p xmlns:a="http://schemas.openxmlformats.org/drawingml/2006/main">
            <a:r>
              <a:t>Demonstration guidance: Screenshots are sample application states. Use approved trial data for live input and publication.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Delivered form accepts a past reporting date and delivered volume with quality readings. Differences may reflect timing, storage movement, measurement or operating events and need investigation. Do not automatically label every difference a network loss. Source: Transmission delivered-record-form.tsx; PRD PR-005 and PR-015.</a:t>
            </a:r>
          </a:p>
          <a:p xmlns:a="http://schemas.openxmlformats.org/drawingml/2006/main">
            <a:r>
              <a:t/>
            </a:r>
          </a:p>
          <a:p xmlns:a="http://schemas.openxmlformats.org/drawingml/2006/main">
            <a:r>
              <a:t>Demonstration guidance: Screenshots are sample application states. Use approved trial data for live input and publication.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available actor, timestamp, action and change details. Published operating records carry dispatch_plan_id, while complete actor auditing across the entire deployment remains an acceptance requirement. Do not claim an immutable complete cross-application audit from the presence of one audit screen. Source: portal Audit Logs; PRD PR-016 and SRD SR-018.</a:t>
            </a:r>
          </a:p>
          <a:p xmlns:a="http://schemas.openxmlformats.org/drawingml/2006/main">
            <a:r>
              <a:t/>
            </a:r>
          </a:p>
          <a:p xmlns:a="http://schemas.openxmlformats.org/drawingml/2006/main">
            <a:r>
              <a:t>Demonstration guidance: Screenshots are sample application states. Use approved trial data for live input and publication.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Return to the Production dashboard as the operational feedback example. Confirm reporting dates and scope. Discuss one under-delivery case and which team owns its correction. This completes the journey from registered asset through approved data and planner publication back to operating evidence. Source: Product Profile p. 3; PRD PR-015.</a:t>
            </a:r>
          </a:p>
          <a:p xmlns:a="http://schemas.openxmlformats.org/drawingml/2006/main">
            <a:r>
              <a:t/>
            </a:r>
          </a:p>
          <a:p xmlns:a="http://schemas.openxmlformats.org/drawingml/2006/main">
            <a:r>
              <a:t>Demonstration guidance: Screenshots are sample application states. Use approved trial data for live input and publication.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with client-specific questions. Ask the users to narrate the workflow rather than just confirm that the screens look familiar. Agree how to handle missing inputs, shortage comments and changed maintenance dates. Commercial and deployment terms remain separate from this operational demonstration.</a:t>
            </a:r>
          </a:p>
          <a:p xmlns:a="http://schemas.openxmlformats.org/drawingml/2006/main">
            <a:r>
              <a:t/>
            </a:r>
          </a:p>
          <a:p xmlns:a="http://schemas.openxmlformats.org/drawingml/2006/main">
            <a:r>
              <a:t>Demonstration guidance: Screenshots are sample application states. Use approved trial data for live input and publication.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appendix for role training or questions. Portal labels are from the captured implementation. Production and Demand approval screens primarily show Approve and Reject, while Economics exposes Revision separately. Source: observed portals and current approval components.</a:t>
            </a:r>
          </a:p>
          <a:p xmlns:a="http://schemas.openxmlformats.org/drawingml/2006/main">
            <a:r>
              <a:t/>
            </a:r>
          </a:p>
          <a:p xmlns:a="http://schemas.openxmlformats.org/drawingml/2006/main">
            <a:r>
              <a:t>Demonstration guidance: Screenshots are sample application states. Use approved trial data for live input and publication.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values are transcribed from the saved Tank Demo – Two Plant Outages run dated 24 September 2026. The calculations reconcile: 2,580,000 / 2,700,000 = 95.5556%; 4,932,000 / 2,580,000 = 1.9116 SAR/m³. Source: captured Results, Configuration and Decisions screens.</a:t>
            </a:r>
          </a:p>
          <a:p xmlns:a="http://schemas.openxmlformats.org/drawingml/2006/main">
            <a:r>
              <a:t/>
            </a:r>
          </a:p>
          <a:p xmlns:a="http://schemas.openxmlformats.org/drawingml/2006/main">
            <a:r>
              <a:t>Demonstration guidance: Screenshots are sample application states. Use approved trial data for live input and publication.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Full sources: C:/Users/mabdu/OneDrive/Desktop/Utility Optimo/WIDispatch/Documentation/WIDispatch_BRD.pdf; WIDispatch_PRD.pdf; WIDispatch_SRD.pdf; WIDispatch_Product_Profile_and_Operating_Overview.pdf. Current behavior also checked against the Desktop, Production, Demand, Transmission and Economics repositories and browser screens. Requirements labeled Target or Proposed are not represented as delivered functionality.</a:t>
            </a:r>
          </a:p>
          <a:p xmlns:a="http://schemas.openxmlformats.org/drawingml/2006/main">
            <a:r>
              <a:t/>
            </a:r>
          </a:p>
          <a:p xmlns:a="http://schemas.openxmlformats.org/drawingml/2006/main">
            <a:r>
              <a:t>Demonstration guidance: Screenshots are sample application states. Use approved trial data for live input and publication.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318e4948451491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0b43c98d40e4887" /><Relationship Type="http://schemas.openxmlformats.org/officeDocument/2006/relationships/slideLayout" Target="/ppt/slideLayouts/slideLayout1.xml" Id="Refc25b1f7d4d47d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fc25b1f7d4d47d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c86b8a83d634857" /><Relationship Type="http://schemas.openxmlformats.org/officeDocument/2006/relationships/notesSlide" Target="/ppt/notesSlides/notesSlide1.xml" Id="R38de5455cff94ed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15b076fedee446c" /><Relationship Type="http://schemas.openxmlformats.org/officeDocument/2006/relationships/notesSlide" Target="/ppt/notesSlides/notesSlide2.xml" Id="Ra0cd67ceef3640e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f6096dbeb5240b3" /><Relationship Type="http://schemas.openxmlformats.org/officeDocument/2006/relationships/notesSlide" Target="/ppt/notesSlides/notesSlide3.xml" Id="R522a1220edb34ef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58cc69fc82b41b2" /><Relationship Type="http://schemas.openxmlformats.org/officeDocument/2006/relationships/notesSlide" Target="/ppt/notesSlides/notesSlide4.xml" Id="R4c8219e22c53460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6f6168343244029" /><Relationship Type="http://schemas.openxmlformats.org/officeDocument/2006/relationships/notesSlide" Target="/ppt/notesSlides/notesSlide5.xml" Id="R789ff936ecb84fa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d03a6dac5d24b23" /><Relationship Type="http://schemas.openxmlformats.org/officeDocument/2006/relationships/image" Target="/ppt/media/image.jpeg" Id="R9b165506319e4dfe" /><Relationship Type="http://schemas.openxmlformats.org/officeDocument/2006/relationships/notesSlide" Target="/ppt/notesSlides/notesSlide6.xml" Id="R82d5d5e33dc24bf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469bb6e1cbc45cf" /><Relationship Type="http://schemas.openxmlformats.org/officeDocument/2006/relationships/image" Target="/ppt/media/image2.jpeg" Id="R64a702be96004265" /><Relationship Type="http://schemas.openxmlformats.org/officeDocument/2006/relationships/notesSlide" Target="/ppt/notesSlides/notesSlide7.xml" Id="R7ac033fcb2b64d0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09b290853784a2f" /><Relationship Type="http://schemas.openxmlformats.org/officeDocument/2006/relationships/image" Target="/ppt/media/image3.jpeg" Id="R8b97f86cefee4858" /><Relationship Type="http://schemas.openxmlformats.org/officeDocument/2006/relationships/notesSlide" Target="/ppt/notesSlides/notesSlide8.xml" Id="R1d077ec334c0410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152d7b595d84acf" /><Relationship Type="http://schemas.openxmlformats.org/officeDocument/2006/relationships/notesSlide" Target="/ppt/notesSlides/notesSlide9.xml" Id="R77c27fc8ff354bf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19d1218ee19446bb" /><Relationship Type="http://schemas.openxmlformats.org/officeDocument/2006/relationships/image" Target="/ppt/media/image4.jpeg" Id="R96ebcf0616334e54" /><Relationship Type="http://schemas.openxmlformats.org/officeDocument/2006/relationships/notesSlide" Target="/ppt/notesSlides/notesSlide10.xml" Id="R36d1e756acec409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7bf53daa962b44f2" /><Relationship Type="http://schemas.openxmlformats.org/officeDocument/2006/relationships/image" Target="/ppt/media/image5.jpeg" Id="R8f64fa78a2094032" /><Relationship Type="http://schemas.openxmlformats.org/officeDocument/2006/relationships/notesSlide" Target="/ppt/notesSlides/notesSlide11.xml" Id="R559ae95445774b9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49aac63e50bf4a66" /><Relationship Type="http://schemas.openxmlformats.org/officeDocument/2006/relationships/image" Target="/ppt/media/image.png" Id="Rdee4b71f3ae4447e" /><Relationship Type="http://schemas.openxmlformats.org/officeDocument/2006/relationships/notesSlide" Target="/ppt/notesSlides/notesSlide12.xml" Id="R4296f990a57f45e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e5ff04ae3b0e41de" /><Relationship Type="http://schemas.openxmlformats.org/officeDocument/2006/relationships/image" Target="/ppt/media/image2.png" Id="R8a568c7455364f1f" /><Relationship Type="http://schemas.openxmlformats.org/officeDocument/2006/relationships/notesSlide" Target="/ppt/notesSlides/notesSlide13.xml" Id="R2de9c41f1c25401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0bfc9987a7544327" /><Relationship Type="http://schemas.openxmlformats.org/officeDocument/2006/relationships/image" Target="/ppt/media/image6.jpeg" Id="Rd8415591b1e94fa7" /><Relationship Type="http://schemas.openxmlformats.org/officeDocument/2006/relationships/notesSlide" Target="/ppt/notesSlides/notesSlide14.xml" Id="Re9d34b5d40ea4fb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a44ce7acd91d4cb7" /><Relationship Type="http://schemas.openxmlformats.org/officeDocument/2006/relationships/image" Target="/ppt/media/image3.png" Id="R5ffa1bbce3d545ec" /><Relationship Type="http://schemas.openxmlformats.org/officeDocument/2006/relationships/notesSlide" Target="/ppt/notesSlides/notesSlide15.xml" Id="Rf8021640f0574dd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0c709bd0086245bf" /><Relationship Type="http://schemas.openxmlformats.org/officeDocument/2006/relationships/notesSlide" Target="/ppt/notesSlides/notesSlide16.xml" Id="R1f51f737ee8b436d"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f2c985e7b7654690" /><Relationship Type="http://schemas.openxmlformats.org/officeDocument/2006/relationships/notesSlide" Target="/ppt/notesSlides/notesSlide17.xml" Id="Re93cb923c72a4c11"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000d8e1819354205" /><Relationship Type="http://schemas.openxmlformats.org/officeDocument/2006/relationships/image" Target="/ppt/media/image7.jpeg" Id="R2653aa377775470d" /><Relationship Type="http://schemas.openxmlformats.org/officeDocument/2006/relationships/notesSlide" Target="/ppt/notesSlides/notesSlide18.xml" Id="Rafff709829b44398"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9f66659904b74b19" /><Relationship Type="http://schemas.openxmlformats.org/officeDocument/2006/relationships/notesSlide" Target="/ppt/notesSlides/notesSlide19.xml" Id="Re184f7217666425b"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cde03d286c5c4e34" /><Relationship Type="http://schemas.openxmlformats.org/officeDocument/2006/relationships/image" Target="/ppt/media/image8.jpeg" Id="Raaf7c8a2a48249fc" /><Relationship Type="http://schemas.openxmlformats.org/officeDocument/2006/relationships/notesSlide" Target="/ppt/notesSlides/notesSlide20.xml" Id="R8ca5f91757c04a51"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9c466456474a4221" /><Relationship Type="http://schemas.openxmlformats.org/officeDocument/2006/relationships/image" Target="/ppt/media/image4.png" Id="R2ef150ed7af24502" /><Relationship Type="http://schemas.openxmlformats.org/officeDocument/2006/relationships/notesSlide" Target="/ppt/notesSlides/notesSlide21.xml" Id="R499ff54ec1ff4cd1"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1fd6d7165ec54425" /><Relationship Type="http://schemas.openxmlformats.org/officeDocument/2006/relationships/image" Target="/ppt/media/image9.jpeg" Id="R6461cd92c0214d2e" /><Relationship Type="http://schemas.openxmlformats.org/officeDocument/2006/relationships/notesSlide" Target="/ppt/notesSlides/notesSlide22.xml" Id="Rb92b61c7036c4f7c"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1e78b2e57e12467f" /><Relationship Type="http://schemas.openxmlformats.org/officeDocument/2006/relationships/notesSlide" Target="/ppt/notesSlides/notesSlide23.xml" Id="Rd7f6a4a652e840b4"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ac90f5efc9d842d4" /><Relationship Type="http://schemas.openxmlformats.org/officeDocument/2006/relationships/image" Target="/ppt/media/image10.jpeg" Id="Reea50ff2c5bc4419" /><Relationship Type="http://schemas.openxmlformats.org/officeDocument/2006/relationships/notesSlide" Target="/ppt/notesSlides/notesSlide24.xml" Id="R9488deb5b1c24d76"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432216707ebf400d" /><Relationship Type="http://schemas.openxmlformats.org/officeDocument/2006/relationships/image" Target="/ppt/media/image11.jpeg" Id="R19ad73e52da0496b" /><Relationship Type="http://schemas.openxmlformats.org/officeDocument/2006/relationships/notesSlide" Target="/ppt/notesSlides/notesSlide25.xml" Id="Rfa9d46e6dfac4a84"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f75a4d1e0fe34dff" /><Relationship Type="http://schemas.openxmlformats.org/officeDocument/2006/relationships/image" Target="/ppt/media/image12.jpeg" Id="R39fca801f8b94ee4" /><Relationship Type="http://schemas.openxmlformats.org/officeDocument/2006/relationships/notesSlide" Target="/ppt/notesSlides/notesSlide26.xml" Id="R8444d8844a6d440b"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458566fcf7914e25" /><Relationship Type="http://schemas.openxmlformats.org/officeDocument/2006/relationships/image" Target="/ppt/media/image13.jpeg" Id="R11f775d75f5e437b" /><Relationship Type="http://schemas.openxmlformats.org/officeDocument/2006/relationships/notesSlide" Target="/ppt/notesSlides/notesSlide27.xml" Id="R3ce50c15a3a44eab"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7fb32d4f1c4b4a5a" /><Relationship Type="http://schemas.openxmlformats.org/officeDocument/2006/relationships/image" Target="/ppt/media/image5.png" Id="R8874a004db5945f9" /><Relationship Type="http://schemas.openxmlformats.org/officeDocument/2006/relationships/notesSlide" Target="/ppt/notesSlides/notesSlide28.xml" Id="R8425aaabbc67465c"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8dfe3bf52dda410f" /><Relationship Type="http://schemas.openxmlformats.org/officeDocument/2006/relationships/image" Target="/ppt/media/image14.jpeg" Id="Rf61f145a506e43a4" /><Relationship Type="http://schemas.openxmlformats.org/officeDocument/2006/relationships/notesSlide" Target="/ppt/notesSlides/notesSlide29.xml" Id="R0a597811ee4d4f89"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81dff70cde0842db" /><Relationship Type="http://schemas.openxmlformats.org/officeDocument/2006/relationships/notesSlide" Target="/ppt/notesSlides/notesSlide30.xml" Id="R775162d90bf94e84"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dfa39c40ddda4534" /><Relationship Type="http://schemas.openxmlformats.org/officeDocument/2006/relationships/image" Target="/ppt/media/image15.jpeg" Id="Rec08c1749ab14138" /><Relationship Type="http://schemas.openxmlformats.org/officeDocument/2006/relationships/notesSlide" Target="/ppt/notesSlides/notesSlide31.xml" Id="R165ebb9854ab49d1"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40913bd87bd24953" /><Relationship Type="http://schemas.openxmlformats.org/officeDocument/2006/relationships/image" Target="/ppt/media/image16.jpeg" Id="R0412bfaa8ea54934" /><Relationship Type="http://schemas.openxmlformats.org/officeDocument/2006/relationships/notesSlide" Target="/ppt/notesSlides/notesSlide32.xml" Id="R8dc4919c6e514ad2"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58b8bf7ac3ed4908" /><Relationship Type="http://schemas.openxmlformats.org/officeDocument/2006/relationships/image" Target="/ppt/media/image6.png" Id="Rbc2ce249b4af40c1" /><Relationship Type="http://schemas.openxmlformats.org/officeDocument/2006/relationships/notesSlide" Target="/ppt/notesSlides/notesSlide33.xml" Id="Re522d1beb4cb4d9f"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b5d6a0f81cd44d29" /><Relationship Type="http://schemas.openxmlformats.org/officeDocument/2006/relationships/image" Target="/ppt/media/image17.jpeg" Id="Rba2787fc52c64f61" /><Relationship Type="http://schemas.openxmlformats.org/officeDocument/2006/relationships/notesSlide" Target="/ppt/notesSlides/notesSlide34.xml" Id="R6239014cacc44238"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8503676b1c00435f" /><Relationship Type="http://schemas.openxmlformats.org/officeDocument/2006/relationships/image" Target="/ppt/media/image18.jpeg" Id="Rc67c47103f764880" /><Relationship Type="http://schemas.openxmlformats.org/officeDocument/2006/relationships/notesSlide" Target="/ppt/notesSlides/notesSlide35.xml" Id="R1d6e4171c3154bc5"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588e6de3814e4acb" /><Relationship Type="http://schemas.openxmlformats.org/officeDocument/2006/relationships/image" Target="/ppt/media/image7.png" Id="Rf2d8edd051a742ff" /><Relationship Type="http://schemas.openxmlformats.org/officeDocument/2006/relationships/notesSlide" Target="/ppt/notesSlides/notesSlide36.xml" Id="Rcd196aba855a4859"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b4656cd9b40d4d44" /><Relationship Type="http://schemas.openxmlformats.org/officeDocument/2006/relationships/notesSlide" Target="/ppt/notesSlides/notesSlide37.xml" Id="R0a4892390d354c2e"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5180dc058a434434" /><Relationship Type="http://schemas.openxmlformats.org/officeDocument/2006/relationships/image" Target="/ppt/media/image8.png" Id="R722a85fcaf0c489c" /><Relationship Type="http://schemas.openxmlformats.org/officeDocument/2006/relationships/notesSlide" Target="/ppt/notesSlides/notesSlide38.xml" Id="Re059d49d7d39427b"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b8c6b430f8ce4640" /><Relationship Type="http://schemas.openxmlformats.org/officeDocument/2006/relationships/notesSlide" Target="/ppt/notesSlides/notesSlide39.xml" Id="Re4900ee443314377"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29faae95a6464a56" /><Relationship Type="http://schemas.openxmlformats.org/officeDocument/2006/relationships/image" Target="/ppt/media/image19.jpeg" Id="Rd0239559928d4111" /><Relationship Type="http://schemas.openxmlformats.org/officeDocument/2006/relationships/notesSlide" Target="/ppt/notesSlides/notesSlide40.xml" Id="R59b0b115d8d54b89"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2215ad22b8154b18" /><Relationship Type="http://schemas.openxmlformats.org/officeDocument/2006/relationships/image" Target="/ppt/media/image20.jpeg" Id="R979554d33f58422d" /><Relationship Type="http://schemas.openxmlformats.org/officeDocument/2006/relationships/notesSlide" Target="/ppt/notesSlides/notesSlide41.xml" Id="R29b8dc427d4940c0"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251edc05d60048cd" /><Relationship Type="http://schemas.openxmlformats.org/officeDocument/2006/relationships/image" Target="/ppt/media/image21.jpeg" Id="R9ea5ca116ef343e4" /><Relationship Type="http://schemas.openxmlformats.org/officeDocument/2006/relationships/notesSlide" Target="/ppt/notesSlides/notesSlide42.xml" Id="Re9c64de8be884b8b"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7798e3f3b14648d3" /><Relationship Type="http://schemas.openxmlformats.org/officeDocument/2006/relationships/image" Target="/ppt/media/image22.jpeg" Id="R06219db9d9c34ba9" /><Relationship Type="http://schemas.openxmlformats.org/officeDocument/2006/relationships/notesSlide" Target="/ppt/notesSlides/notesSlide43.xml" Id="Rc6b2768297a34a63"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5c02dfb13b384944" /><Relationship Type="http://schemas.openxmlformats.org/officeDocument/2006/relationships/image" Target="/ppt/media/image23.jpeg" Id="Rb061468df59c42df" /><Relationship Type="http://schemas.openxmlformats.org/officeDocument/2006/relationships/notesSlide" Target="/ppt/notesSlides/notesSlide44.xml" Id="Rde37b39b37f149bd"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1852c818b547441c" /><Relationship Type="http://schemas.openxmlformats.org/officeDocument/2006/relationships/image" Target="/ppt/media/image24.jpeg" Id="Rb891db869cb9498d" /><Relationship Type="http://schemas.openxmlformats.org/officeDocument/2006/relationships/notesSlide" Target="/ppt/notesSlides/notesSlide45.xml" Id="R96254ef6b48e47ba"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e55b8f33f6bf4dd5" /><Relationship Type="http://schemas.openxmlformats.org/officeDocument/2006/relationships/image" Target="/ppt/media/image25.jpeg" Id="Re762d4db1641468d" /><Relationship Type="http://schemas.openxmlformats.org/officeDocument/2006/relationships/notesSlide" Target="/ppt/notesSlides/notesSlide46.xml" Id="Rd0772a2204234dc4"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56dfbb6cc09141b2" /><Relationship Type="http://schemas.openxmlformats.org/officeDocument/2006/relationships/image" Target="/ppt/media/image26.jpeg" Id="Rca1c53db873e4d8e" /><Relationship Type="http://schemas.openxmlformats.org/officeDocument/2006/relationships/notesSlide" Target="/ppt/notesSlides/notesSlide47.xml" Id="R04d78c5661444d3b"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1dadc25048d94bae" /><Relationship Type="http://schemas.openxmlformats.org/officeDocument/2006/relationships/notesSlide" Target="/ppt/notesSlides/notesSlide48.xml" Id="Rb8ac7b536fcc46d8"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9b3edeba9a8b447c" /><Relationship Type="http://schemas.openxmlformats.org/officeDocument/2006/relationships/image" Target="/ppt/media/image27.jpeg" Id="R8adc1e46939540f8" /><Relationship Type="http://schemas.openxmlformats.org/officeDocument/2006/relationships/notesSlide" Target="/ppt/notesSlides/notesSlide49.xml" Id="R3b980c11192d41bc"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5adad224d0854029" /><Relationship Type="http://schemas.openxmlformats.org/officeDocument/2006/relationships/notesSlide" Target="/ppt/notesSlides/notesSlide50.xml" Id="R20e913d2b8e6477d"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795c10ca573741c3" /><Relationship Type="http://schemas.openxmlformats.org/officeDocument/2006/relationships/notesSlide" Target="/ppt/notesSlides/notesSlide51.xml" Id="R6e4f1ec53f66412c"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bc4ad9b427b44ff8" /><Relationship Type="http://schemas.openxmlformats.org/officeDocument/2006/relationships/image" Target="/ppt/media/image28.jpeg" Id="R929dc74585b34a8b" /><Relationship Type="http://schemas.openxmlformats.org/officeDocument/2006/relationships/notesSlide" Target="/ppt/notesSlides/notesSlide52.xml" Id="Re3a56dae139941ee"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623c9e95906e4168" /><Relationship Type="http://schemas.openxmlformats.org/officeDocument/2006/relationships/image" Target="/ppt/media/image29.jpeg" Id="R9af79eaadbdc49ca" /><Relationship Type="http://schemas.openxmlformats.org/officeDocument/2006/relationships/notesSlide" Target="/ppt/notesSlides/notesSlide53.xml" Id="R1116bcaf7fdf461c"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cd938e7e3dfd473b" /><Relationship Type="http://schemas.openxmlformats.org/officeDocument/2006/relationships/image" Target="/ppt/media/image30.jpeg" Id="R4954573213e44ae7" /><Relationship Type="http://schemas.openxmlformats.org/officeDocument/2006/relationships/notesSlide" Target="/ppt/notesSlides/notesSlide54.xml" Id="Rd713bed89ec64470"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xml" Id="Rbb08eeaf2ae44051" /><Relationship Type="http://schemas.openxmlformats.org/officeDocument/2006/relationships/notesSlide" Target="/ppt/notesSlides/notesSlide55.xml" Id="R7026dcea273c44ad" /></Relationships>
</file>

<file path=ppt/slides/_rels/slide56.xml.rels>&#65279;<?xml version="1.0" encoding="utf-8"?><Relationships xmlns="http://schemas.openxmlformats.org/package/2006/relationships"><Relationship Type="http://schemas.openxmlformats.org/officeDocument/2006/relationships/slideLayout" Target="/ppt/slideLayouts/slideLayout1.xml" Id="R58d81dd7010e497b" /><Relationship Type="http://schemas.openxmlformats.org/officeDocument/2006/relationships/image" Target="/ppt/media/image31.jpeg" Id="R9c7bf694cf5442a8" /><Relationship Type="http://schemas.openxmlformats.org/officeDocument/2006/relationships/notesSlide" Target="/ppt/notesSlides/notesSlide56.xml" Id="Rda401c7c1cb84cec" /></Relationships>
</file>

<file path=ppt/slides/_rels/slide57.xml.rels>&#65279;<?xml version="1.0" encoding="utf-8"?><Relationships xmlns="http://schemas.openxmlformats.org/package/2006/relationships"><Relationship Type="http://schemas.openxmlformats.org/officeDocument/2006/relationships/slideLayout" Target="/ppt/slideLayouts/slideLayout1.xml" Id="Ra6d112efc871476b" /><Relationship Type="http://schemas.openxmlformats.org/officeDocument/2006/relationships/image" Target="/ppt/media/image32.jpeg" Id="R1ac98fa65f394919" /><Relationship Type="http://schemas.openxmlformats.org/officeDocument/2006/relationships/notesSlide" Target="/ppt/notesSlides/notesSlide57.xml" Id="R892a0f73a17c45af" /></Relationships>
</file>

<file path=ppt/slides/_rels/slide58.xml.rels>&#65279;<?xml version="1.0" encoding="utf-8"?><Relationships xmlns="http://schemas.openxmlformats.org/package/2006/relationships"><Relationship Type="http://schemas.openxmlformats.org/officeDocument/2006/relationships/slideLayout" Target="/ppt/slideLayouts/slideLayout1.xml" Id="Re14a6459a8e2414a" /><Relationship Type="http://schemas.openxmlformats.org/officeDocument/2006/relationships/image" Target="/ppt/media/image33.jpeg" Id="R77499e012ed24aa3" /><Relationship Type="http://schemas.openxmlformats.org/officeDocument/2006/relationships/notesSlide" Target="/ppt/notesSlides/notesSlide58.xml" Id="R4c69799516504e37" /></Relationships>
</file>

<file path=ppt/slides/_rels/slide59.xml.rels>&#65279;<?xml version="1.0" encoding="utf-8"?><Relationships xmlns="http://schemas.openxmlformats.org/package/2006/relationships"><Relationship Type="http://schemas.openxmlformats.org/officeDocument/2006/relationships/slideLayout" Target="/ppt/slideLayouts/slideLayout1.xml" Id="R4cadd688a2b74e18" /><Relationship Type="http://schemas.openxmlformats.org/officeDocument/2006/relationships/notesSlide" Target="/ppt/notesSlides/notesSlide59.xml" Id="Rbdf28aedf8ee41e7" /></Relationships>
</file>

<file path=ppt/slides/_rels/slide60.xml.rels>&#65279;<?xml version="1.0" encoding="utf-8"?><Relationships xmlns="http://schemas.openxmlformats.org/package/2006/relationships"><Relationship Type="http://schemas.openxmlformats.org/officeDocument/2006/relationships/slideLayout" Target="/ppt/slideLayouts/slideLayout1.xml" Id="R3d2ca08ab00943ff" /><Relationship Type="http://schemas.openxmlformats.org/officeDocument/2006/relationships/notesSlide" Target="/ppt/notesSlides/notesSlide60.xml" Id="Rd43c2c579f364b9e" /></Relationships>
</file>

<file path=ppt/slides/_rels/slide61.xml.rels>&#65279;<?xml version="1.0" encoding="utf-8"?><Relationships xmlns="http://schemas.openxmlformats.org/package/2006/relationships"><Relationship Type="http://schemas.openxmlformats.org/officeDocument/2006/relationships/slideLayout" Target="/ppt/slideLayouts/slideLayout1.xml" Id="R5f00a3cbb4ba4191" /><Relationship Type="http://schemas.openxmlformats.org/officeDocument/2006/relationships/image" Target="/ppt/media/image34.jpeg" Id="R3eb04d730b064c7e" /><Relationship Type="http://schemas.openxmlformats.org/officeDocument/2006/relationships/notesSlide" Target="/ppt/notesSlides/notesSlide61.xml" Id="R54bb222019344330" /></Relationships>
</file>

<file path=ppt/slides/_rels/slide62.xml.rels>&#65279;<?xml version="1.0" encoding="utf-8"?><Relationships xmlns="http://schemas.openxmlformats.org/package/2006/relationships"><Relationship Type="http://schemas.openxmlformats.org/officeDocument/2006/relationships/slideLayout" Target="/ppt/slideLayouts/slideLayout1.xml" Id="R7bba506c05d64905" /><Relationship Type="http://schemas.openxmlformats.org/officeDocument/2006/relationships/image" Target="/ppt/media/image35.jpeg" Id="R4218bd486a4d4ff4" /><Relationship Type="http://schemas.openxmlformats.org/officeDocument/2006/relationships/notesSlide" Target="/ppt/notesSlides/notesSlide62.xml" Id="R95c72b7f01914917" /></Relationships>
</file>

<file path=ppt/slides/_rels/slide63.xml.rels>&#65279;<?xml version="1.0" encoding="utf-8"?><Relationships xmlns="http://schemas.openxmlformats.org/package/2006/relationships"><Relationship Type="http://schemas.openxmlformats.org/officeDocument/2006/relationships/slideLayout" Target="/ppt/slideLayouts/slideLayout1.xml" Id="Rbb6b740c02194caa" /><Relationship Type="http://schemas.openxmlformats.org/officeDocument/2006/relationships/image" Target="/ppt/media/image36.jpeg" Id="R0215ec896dc844bc" /><Relationship Type="http://schemas.openxmlformats.org/officeDocument/2006/relationships/notesSlide" Target="/ppt/notesSlides/notesSlide63.xml" Id="R78f4ed540e404e57" /></Relationships>
</file>

<file path=ppt/slides/_rels/slide64.xml.rels>&#65279;<?xml version="1.0" encoding="utf-8"?><Relationships xmlns="http://schemas.openxmlformats.org/package/2006/relationships"><Relationship Type="http://schemas.openxmlformats.org/officeDocument/2006/relationships/slideLayout" Target="/ppt/slideLayouts/slideLayout1.xml" Id="Rf71ddd4c0ec746ca" /><Relationship Type="http://schemas.openxmlformats.org/officeDocument/2006/relationships/image" Target="/ppt/media/image37.jpeg" Id="Rc899c7e3d4dc4f16" /><Relationship Type="http://schemas.openxmlformats.org/officeDocument/2006/relationships/notesSlide" Target="/ppt/notesSlides/notesSlide64.xml" Id="R1fd0e474aa714e3b" /></Relationships>
</file>

<file path=ppt/slides/_rels/slide65.xml.rels>&#65279;<?xml version="1.0" encoding="utf-8"?><Relationships xmlns="http://schemas.openxmlformats.org/package/2006/relationships"><Relationship Type="http://schemas.openxmlformats.org/officeDocument/2006/relationships/slideLayout" Target="/ppt/slideLayouts/slideLayout1.xml" Id="Re73f7ae9fde24d21" /><Relationship Type="http://schemas.openxmlformats.org/officeDocument/2006/relationships/image" Target="/ppt/media/image38.jpeg" Id="R017ac215d9514c23" /><Relationship Type="http://schemas.openxmlformats.org/officeDocument/2006/relationships/notesSlide" Target="/ppt/notesSlides/notesSlide65.xml" Id="R98f025dc15f748fc" /></Relationships>
</file>

<file path=ppt/slides/_rels/slide66.xml.rels>&#65279;<?xml version="1.0" encoding="utf-8"?><Relationships xmlns="http://schemas.openxmlformats.org/package/2006/relationships"><Relationship Type="http://schemas.openxmlformats.org/officeDocument/2006/relationships/slideLayout" Target="/ppt/slideLayouts/slideLayout1.xml" Id="R2b6e59bc8056436b" /><Relationship Type="http://schemas.openxmlformats.org/officeDocument/2006/relationships/image" Target="/ppt/media/image39.jpeg" Id="R52c0527fc61240f4" /><Relationship Type="http://schemas.openxmlformats.org/officeDocument/2006/relationships/notesSlide" Target="/ppt/notesSlides/notesSlide66.xml" Id="Raa7fe5dc96e74ff4" /></Relationships>
</file>

<file path=ppt/slides/_rels/slide67.xml.rels>&#65279;<?xml version="1.0" encoding="utf-8"?><Relationships xmlns="http://schemas.openxmlformats.org/package/2006/relationships"><Relationship Type="http://schemas.openxmlformats.org/officeDocument/2006/relationships/slideLayout" Target="/ppt/slideLayouts/slideLayout1.xml" Id="Re3acce8079434199" /><Relationship Type="http://schemas.openxmlformats.org/officeDocument/2006/relationships/notesSlide" Target="/ppt/notesSlides/notesSlide67.xml" Id="Ra70235f49c4745e8" /></Relationships>
</file>

<file path=ppt/slides/_rels/slide68.xml.rels>&#65279;<?xml version="1.0" encoding="utf-8"?><Relationships xmlns="http://schemas.openxmlformats.org/package/2006/relationships"><Relationship Type="http://schemas.openxmlformats.org/officeDocument/2006/relationships/slideLayout" Target="/ppt/slideLayouts/slideLayout1.xml" Id="Rb354f838fb0a40b0" /><Relationship Type="http://schemas.openxmlformats.org/officeDocument/2006/relationships/image" Target="/ppt/media/image40.jpeg" Id="Rd0895af7f96d41be" /><Relationship Type="http://schemas.openxmlformats.org/officeDocument/2006/relationships/notesSlide" Target="/ppt/notesSlides/notesSlide68.xml" Id="Ra87fc6dcb4f14897" /></Relationships>
</file>

<file path=ppt/slides/_rels/slide69.xml.rels>&#65279;<?xml version="1.0" encoding="utf-8"?><Relationships xmlns="http://schemas.openxmlformats.org/package/2006/relationships"><Relationship Type="http://schemas.openxmlformats.org/officeDocument/2006/relationships/slideLayout" Target="/ppt/slideLayouts/slideLayout1.xml" Id="R6bd6e7c89f3c4aad" /><Relationship Type="http://schemas.openxmlformats.org/officeDocument/2006/relationships/image" Target="/ppt/media/image41.jpeg" Id="Rf8b4127b7fcb4ee7" /><Relationship Type="http://schemas.openxmlformats.org/officeDocument/2006/relationships/notesSlide" Target="/ppt/notesSlides/notesSlide69.xml" Id="R0f061c24c5ec4056" /></Relationships>
</file>

<file path=ppt/slides/_rels/slide70.xml.rels>&#65279;<?xml version="1.0" encoding="utf-8"?><Relationships xmlns="http://schemas.openxmlformats.org/package/2006/relationships"><Relationship Type="http://schemas.openxmlformats.org/officeDocument/2006/relationships/slideLayout" Target="/ppt/slideLayouts/slideLayout1.xml" Id="Ra364b75e490044d4" /><Relationship Type="http://schemas.openxmlformats.org/officeDocument/2006/relationships/notesSlide" Target="/ppt/notesSlides/notesSlide70.xml" Id="Rebfc0a0cbbbd4de0" /></Relationships>
</file>

<file path=ppt/slides/_rels/slide71.xml.rels>&#65279;<?xml version="1.0" encoding="utf-8"?><Relationships xmlns="http://schemas.openxmlformats.org/package/2006/relationships"><Relationship Type="http://schemas.openxmlformats.org/officeDocument/2006/relationships/slideLayout" Target="/ppt/slideLayouts/slideLayout1.xml" Id="Rc02a92ee243a489b" /><Relationship Type="http://schemas.openxmlformats.org/officeDocument/2006/relationships/notesSlide" Target="/ppt/notesSlides/notesSlide71.xml" Id="R62dca7d44fd04b92" /></Relationships>
</file>

<file path=ppt/slides/_rels/slide72.xml.rels>&#65279;<?xml version="1.0" encoding="utf-8"?><Relationships xmlns="http://schemas.openxmlformats.org/package/2006/relationships"><Relationship Type="http://schemas.openxmlformats.org/officeDocument/2006/relationships/slideLayout" Target="/ppt/slideLayouts/slideLayout1.xml" Id="R6d10fdd44c244c77" /><Relationship Type="http://schemas.openxmlformats.org/officeDocument/2006/relationships/notesSlide" Target="/ppt/notesSlides/notesSlide72.xml" Id="Rf91cedf0107a4b2a" /></Relationships>
</file>

<file path=ppt/slides/_rels/slide73.xml.rels>&#65279;<?xml version="1.0" encoding="utf-8"?><Relationships xmlns="http://schemas.openxmlformats.org/package/2006/relationships"><Relationship Type="http://schemas.openxmlformats.org/officeDocument/2006/relationships/slideLayout" Target="/ppt/slideLayouts/slideLayout1.xml" Id="Ra0c5204197034b2c" /><Relationship Type="http://schemas.openxmlformats.org/officeDocument/2006/relationships/notesSlide" Target="/ppt/notesSlides/notesSlide73.xml" Id="R5536567476454614" /></Relationships>
</file>

<file path=ppt/slides/_rels/slide74.xml.rels>&#65279;<?xml version="1.0" encoding="utf-8"?><Relationships xmlns="http://schemas.openxmlformats.org/package/2006/relationships"><Relationship Type="http://schemas.openxmlformats.org/officeDocument/2006/relationships/slideLayout" Target="/ppt/slideLayouts/slideLayout1.xml" Id="Red122b51ec8f4e61" /><Relationship Type="http://schemas.openxmlformats.org/officeDocument/2006/relationships/notesSlide" Target="/ppt/notesSlides/notesSlide74.xml" Id="Rcfbdb7d4ff51439a" /></Relationships>
</file>

<file path=ppt/slides/_rels/slide75.xml.rels>&#65279;<?xml version="1.0" encoding="utf-8"?><Relationships xmlns="http://schemas.openxmlformats.org/package/2006/relationships"><Relationship Type="http://schemas.openxmlformats.org/officeDocument/2006/relationships/slideLayout" Target="/ppt/slideLayouts/slideLayout1.xml" Id="Rd3590ad637194b02" /><Relationship Type="http://schemas.openxmlformats.org/officeDocument/2006/relationships/image" Target="/ppt/media/image42.jpeg" Id="Rdfcb9941c8634ec6" /><Relationship Type="http://schemas.openxmlformats.org/officeDocument/2006/relationships/notesSlide" Target="/ppt/notesSlides/notesSlide75.xml" Id="Ra5da9872256d498f" /></Relationships>
</file>

<file path=ppt/slides/_rels/slide76.xml.rels>&#65279;<?xml version="1.0" encoding="utf-8"?><Relationships xmlns="http://schemas.openxmlformats.org/package/2006/relationships"><Relationship Type="http://schemas.openxmlformats.org/officeDocument/2006/relationships/slideLayout" Target="/ppt/slideLayouts/slideLayout1.xml" Id="Rfd174ff8e065473e" /><Relationship Type="http://schemas.openxmlformats.org/officeDocument/2006/relationships/image" Target="/ppt/media/image43.jpeg" Id="Re14bbaa6416e4d30" /><Relationship Type="http://schemas.openxmlformats.org/officeDocument/2006/relationships/notesSlide" Target="/ppt/notesSlides/notesSlide76.xml" Id="R4718aa84b67547d0" /></Relationships>
</file>

<file path=ppt/slides/_rels/slide77.xml.rels>&#65279;<?xml version="1.0" encoding="utf-8"?><Relationships xmlns="http://schemas.openxmlformats.org/package/2006/relationships"><Relationship Type="http://schemas.openxmlformats.org/officeDocument/2006/relationships/slideLayout" Target="/ppt/slideLayouts/slideLayout1.xml" Id="R0e666b6bf2db45ce" /><Relationship Type="http://schemas.openxmlformats.org/officeDocument/2006/relationships/image" Target="/ppt/media/image9.png" Id="R05ca98c2d6484008" /><Relationship Type="http://schemas.openxmlformats.org/officeDocument/2006/relationships/notesSlide" Target="/ppt/notesSlides/notesSlide77.xml" Id="Ra0881fe78fac423e" /></Relationships>
</file>

<file path=ppt/slides/_rels/slide78.xml.rels>&#65279;<?xml version="1.0" encoding="utf-8"?><Relationships xmlns="http://schemas.openxmlformats.org/package/2006/relationships"><Relationship Type="http://schemas.openxmlformats.org/officeDocument/2006/relationships/slideLayout" Target="/ppt/slideLayouts/slideLayout1.xml" Id="R4e97f2e5e15d438b" /><Relationship Type="http://schemas.openxmlformats.org/officeDocument/2006/relationships/image" Target="/ppt/media/image44.jpeg" Id="Ra51fe7fcffb347cc" /><Relationship Type="http://schemas.openxmlformats.org/officeDocument/2006/relationships/notesSlide" Target="/ppt/notesSlides/notesSlide78.xml" Id="R8b731bef722b4a87" /></Relationships>
</file>

<file path=ppt/slides/_rels/slide79.xml.rels>&#65279;<?xml version="1.0" encoding="utf-8"?><Relationships xmlns="http://schemas.openxmlformats.org/package/2006/relationships"><Relationship Type="http://schemas.openxmlformats.org/officeDocument/2006/relationships/slideLayout" Target="/ppt/slideLayouts/slideLayout1.xml" Id="R1793d0b12365447e" /><Relationship Type="http://schemas.openxmlformats.org/officeDocument/2006/relationships/image" Target="/ppt/media/image45.jpeg" Id="R466e29595fa441e1" /><Relationship Type="http://schemas.openxmlformats.org/officeDocument/2006/relationships/notesSlide" Target="/ppt/notesSlides/notesSlide79.xml" Id="Ree85969c7f5d43da" /></Relationships>
</file>

<file path=ppt/slides/_rels/slide80.xml.rels>&#65279;<?xml version="1.0" encoding="utf-8"?><Relationships xmlns="http://schemas.openxmlformats.org/package/2006/relationships"><Relationship Type="http://schemas.openxmlformats.org/officeDocument/2006/relationships/slideLayout" Target="/ppt/slideLayouts/slideLayout1.xml" Id="Rdcaebd54d0e34a6e" /><Relationship Type="http://schemas.openxmlformats.org/officeDocument/2006/relationships/notesSlide" Target="/ppt/notesSlides/notesSlide80.xml" Id="Rb7c6b25328ef41aa" /></Relationships>
</file>

<file path=ppt/slides/_rels/slide81.xml.rels>&#65279;<?xml version="1.0" encoding="utf-8"?><Relationships xmlns="http://schemas.openxmlformats.org/package/2006/relationships"><Relationship Type="http://schemas.openxmlformats.org/officeDocument/2006/relationships/slideLayout" Target="/ppt/slideLayouts/slideLayout1.xml" Id="Rd28120a9ed1e4812" /><Relationship Type="http://schemas.openxmlformats.org/officeDocument/2006/relationships/notesSlide" Target="/ppt/notesSlides/notesSlide81.xml" Id="R5dec3ff48bb043a0" /></Relationships>
</file>

<file path=ppt/slides/_rels/slide82.xml.rels>&#65279;<?xml version="1.0" encoding="utf-8"?><Relationships xmlns="http://schemas.openxmlformats.org/package/2006/relationships"><Relationship Type="http://schemas.openxmlformats.org/officeDocument/2006/relationships/slideLayout" Target="/ppt/slideLayouts/slideLayout1.xml" Id="Re3c2effc61d64990" /><Relationship Type="http://schemas.openxmlformats.org/officeDocument/2006/relationships/notesSlide" Target="/ppt/notesSlides/notesSlide82.xml" Id="R14a0c0dff8da4ad3" /></Relationships>
</file>

<file path=ppt/slides/_rels/slide83.xml.rels>&#65279;<?xml version="1.0" encoding="utf-8"?><Relationships xmlns="http://schemas.openxmlformats.org/package/2006/relationships"><Relationship Type="http://schemas.openxmlformats.org/officeDocument/2006/relationships/slideLayout" Target="/ppt/slideLayouts/slideLayout1.xml" Id="R830db387c74f4c4a" /><Relationship Type="http://schemas.openxmlformats.org/officeDocument/2006/relationships/notesSlide" Target="/ppt/notesSlides/notesSlide83.xml" Id="R6a67fc82471f4733" /></Relationships>
</file>

<file path=ppt/slides/_rels/slide84.xml.rels>&#65279;<?xml version="1.0" encoding="utf-8"?><Relationships xmlns="http://schemas.openxmlformats.org/package/2006/relationships"><Relationship Type="http://schemas.openxmlformats.org/officeDocument/2006/relationships/slideLayout" Target="/ppt/slideLayouts/slideLayout1.xml" Id="Raf0958cbae704d48" /><Relationship Type="http://schemas.openxmlformats.org/officeDocument/2006/relationships/notesSlide" Target="/ppt/notesSlides/notesSlide84.xml" Id="R279880b4df8a4217" /></Relationships>
</file>

<file path=ppt/slides/slide1.xml><?xml version="1.0" encoding="utf-8"?>
<p:sld xmlns:p="http://schemas.openxmlformats.org/presentationml/2006/main">
  <p:cSld>
    <p:bg>
      <p:bgPr>
        <a:solidFill xmlns:a="http://schemas.openxmlformats.org/drawingml/2006/main">
          <a:srgbClr val="12374B"/>
        </a:solidFill>
      </p:bgPr>
    </p:bg>
    <p:spTree>
      <p:nvGrpSpPr>
        <p:cNvPr id="1" name=""/>
        <p:cNvGrpSpPr/>
        <p:nvPr/>
      </p:nvGrpSpPr>
      <p:grpSpPr>
        <a:xfrm xmlns:a="http://schemas.openxmlformats.org/drawingml/2006/main"/>
      </p:grpSpPr>
      <p:sp>
        <p:nvSpPr>
          <p:cNvPr id="6" name="UTILITY OPTIMO">
            <a:extLst xmlns:a="http://schemas.openxmlformats.org/drawingml/2006/main">
              <a:ext uri="{FF2B5EF4-FFF2-40B4-BE49-F238E27FC236}">
                <a16:creationId xmlns:a16="http://schemas.microsoft.com/office/drawing/2014/main" id="{8C722959-547A-42D6-ADF7-98758401AD8C}"/>
              </a:ext>
            </a:extLst>
          </p:cNvPr>
          <p:cNvSpPr>
            <a:spLocks xmlns:a="http://schemas.openxmlformats.org/drawingml/2006/main" noGrp="1"/>
          </p:cNvSpPr>
          <p:nvPr/>
        </p:nvSpPr>
        <p:spPr>
          <a:xfrm xmlns:a="http://schemas.openxmlformats.org/drawingml/2006/main">
            <a:off x="819150" y="857250"/>
            <a:ext cx="13335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00" b="1">
                <a:solidFill>
                  <a:srgbClr val="8AD6DE"/>
                </a:solidFill>
                <a:latin typeface="Arial"/>
                <a:ea typeface="Arial"/>
                <a:cs typeface="Arial"/>
              </a:defRPr>
            </a:pPr>
            <a:r>
              <a:rPr sz="1800" b="1">
                <a:solidFill>
                  <a:srgbClr val="8AD6DE"/>
                </a:solidFill>
                <a:latin typeface="Arial"/>
                <a:ea typeface="Arial"/>
                <a:cs typeface="Arial"/>
              </a:rPr>
              <a:t>UTILITY OPTIMO</a:t>
            </a:r>
          </a:p>
        </p:txBody>
      </p:sp>
      <p:sp>
        <p:nvSpPr>
          <p:cNvPr id="2" name="WIDispatch">
            <a:extLst xmlns:a="http://schemas.openxmlformats.org/drawingml/2006/main">
              <a:ext uri="{FF2B5EF4-FFF2-40B4-BE49-F238E27FC236}">
                <a16:creationId xmlns:a16="http://schemas.microsoft.com/office/drawing/2014/main" id="{2E5B7888-F6F8-40B6-B53B-48627E206958}"/>
              </a:ext>
            </a:extLst>
          </p:cNvPr>
          <p:cNvSpPr>
            <a:spLocks xmlns:a="http://schemas.openxmlformats.org/drawingml/2006/main" noGrp="1"/>
          </p:cNvSpPr>
          <p:nvPr/>
        </p:nvSpPr>
        <p:spPr>
          <a:xfrm xmlns:a="http://schemas.openxmlformats.org/drawingml/2006/main">
            <a:off x="762000" y="2286000"/>
            <a:ext cx="137160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7500" b="1">
                <a:solidFill>
                  <a:srgbClr val="FFFFFF"/>
                </a:solidFill>
                <a:latin typeface="Arial"/>
                <a:ea typeface="Arial"/>
                <a:cs typeface="Arial"/>
              </a:defRPr>
            </a:pPr>
            <a:r>
              <a:rPr sz="7500" b="1">
                <a:solidFill>
                  <a:srgbClr val="FFFFFF"/>
                </a:solidFill>
                <a:latin typeface="Arial"/>
                <a:ea typeface="Arial"/>
                <a:cs typeface="Arial"/>
              </a:rPr>
              <a:t>WIDispatch</a:t>
            </a:r>
          </a:p>
        </p:txBody>
      </p:sp>
      <p:sp>
        <p:nvSpPr>
          <p:cNvPr id="3" name="The complete operating cycle">
            <a:extLst xmlns:a="http://schemas.openxmlformats.org/drawingml/2006/main">
              <a:ext uri="{FF2B5EF4-FFF2-40B4-BE49-F238E27FC236}">
                <a16:creationId xmlns:a16="http://schemas.microsoft.com/office/drawing/2014/main" id="{2BBC9D97-5CB8-4381-BF66-4CABCB9B9275}"/>
              </a:ext>
            </a:extLst>
          </p:cNvPr>
          <p:cNvSpPr>
            <a:spLocks xmlns:a="http://schemas.openxmlformats.org/drawingml/2006/main" noGrp="1"/>
          </p:cNvSpPr>
          <p:nvPr/>
        </p:nvSpPr>
        <p:spPr>
          <a:xfrm xmlns:a="http://schemas.openxmlformats.org/drawingml/2006/main">
            <a:off x="800100" y="3686175"/>
            <a:ext cx="13525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4050" b="0">
                <a:solidFill>
                  <a:srgbClr val="FFFFFF"/>
                </a:solidFill>
                <a:latin typeface="Arial"/>
                <a:ea typeface="Arial"/>
                <a:cs typeface="Arial"/>
              </a:defRPr>
            </a:pPr>
            <a:r>
              <a:rPr sz="4050" b="0">
                <a:solidFill>
                  <a:srgbClr val="FFFFFF"/>
                </a:solidFill>
                <a:latin typeface="Arial"/>
                <a:ea typeface="Arial"/>
                <a:cs typeface="Arial"/>
              </a:rPr>
              <a:t>The complete operating cycle</a:t>
            </a:r>
          </a:p>
        </p:txBody>
      </p:sp>
      <p:sp>
        <p:nvSpPr>
          <p:cNvPr id="4" name="Client demonstration for operational users and approver">
            <a:extLst xmlns:a="http://schemas.openxmlformats.org/drawingml/2006/main">
              <a:ext uri="{FF2B5EF4-FFF2-40B4-BE49-F238E27FC236}">
                <a16:creationId xmlns:a16="http://schemas.microsoft.com/office/drawing/2014/main" id="{BFE04B9A-2E85-4709-BCBE-4F764F11B93F}"/>
              </a:ext>
            </a:extLst>
          </p:cNvPr>
          <p:cNvSpPr>
            <a:spLocks xmlns:a="http://schemas.openxmlformats.org/drawingml/2006/main" noGrp="1"/>
          </p:cNvSpPr>
          <p:nvPr/>
        </p:nvSpPr>
        <p:spPr>
          <a:xfrm xmlns:a="http://schemas.openxmlformats.org/drawingml/2006/main">
            <a:off x="819150" y="5505450"/>
            <a:ext cx="13049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75" b="0">
                <a:solidFill>
                  <a:srgbClr val="C5DDE7"/>
                </a:solidFill>
                <a:latin typeface="Arial"/>
                <a:ea typeface="Arial"/>
                <a:cs typeface="Arial"/>
              </a:defRPr>
            </a:pPr>
            <a:r>
              <a:rPr sz="2175" b="0">
                <a:solidFill>
                  <a:srgbClr val="C5DDE7"/>
                </a:solidFill>
                <a:latin typeface="Arial"/>
                <a:ea typeface="Arial"/>
                <a:cs typeface="Arial"/>
              </a:rPr>
              <a:t>Client demonstration for operational users and approvers</a:t>
            </a:r>
          </a:p>
        </p:txBody>
      </p:sp>
      <p:sp>
        <p:nvSpPr>
          <p:cNvPr id="5" name="Sample-data demonstration   /   September 2026">
            <a:extLst xmlns:a="http://schemas.openxmlformats.org/drawingml/2006/main">
              <a:ext uri="{FF2B5EF4-FFF2-40B4-BE49-F238E27FC236}">
                <a16:creationId xmlns:a16="http://schemas.microsoft.com/office/drawing/2014/main" id="{EB79F2E2-F6A8-4547-9913-10685AEF9ABB}"/>
              </a:ext>
            </a:extLst>
          </p:cNvPr>
          <p:cNvSpPr>
            <a:spLocks xmlns:a="http://schemas.openxmlformats.org/drawingml/2006/main" noGrp="1"/>
          </p:cNvSpPr>
          <p:nvPr/>
        </p:nvSpPr>
        <p:spPr>
          <a:xfrm xmlns:a="http://schemas.openxmlformats.org/drawingml/2006/main">
            <a:off x="819150" y="7486650"/>
            <a:ext cx="13335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9CC1D1"/>
                </a:solidFill>
                <a:latin typeface="Arial"/>
                <a:ea typeface="Arial"/>
                <a:cs typeface="Arial"/>
              </a:defRPr>
            </a:pPr>
            <a:r>
              <a:rPr sz="1650" b="0">
                <a:solidFill>
                  <a:srgbClr val="9CC1D1"/>
                </a:solidFill>
                <a:latin typeface="Arial"/>
                <a:ea typeface="Arial"/>
                <a:cs typeface="Arial"/>
              </a:rPr>
              <a:t>Sample-data demonstration   /   September 2026</a:t>
            </a:r>
          </a:p>
        </p:txBody>
      </p:sp>
    </p:spTree>
    <p:extLst>
      <p:ext uri="{BB962C8B-B14F-4D97-AF65-F5344CB8AC3E}">
        <p14:creationId xmlns:p14="http://schemas.microsoft.com/office/powerpoint/2010/main" val="187799377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WIDispatch: purpose and objectives">
            <a:extLst xmlns:a="http://schemas.openxmlformats.org/drawingml/2006/main">
              <a:ext uri="{FF2B5EF4-FFF2-40B4-BE49-F238E27FC236}">
                <a16:creationId xmlns:a16="http://schemas.microsoft.com/office/drawing/2014/main" id="{0927D57C-B19D-4000-9003-633782AE7DFB}"/>
              </a:ext>
            </a:extLst>
          </p:cNvPr>
          <p:cNvSpPr>
            <a:spLocks xmlns:a="http://schemas.openxmlformats.org/drawingml/2006/main" noGrp="1"/>
          </p:cNvSpPr>
          <p:nvPr/>
        </p:nvSpPr>
        <p:spPr>
          <a:xfrm xmlns:a="http://schemas.openxmlformats.org/drawingml/2006/main">
            <a:off x="571500" y="428625"/>
            <a:ext cx="14097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374B"/>
                </a:solidFill>
                <a:latin typeface="Arial"/>
                <a:ea typeface="Arial"/>
                <a:cs typeface="Arial"/>
              </a:defRPr>
            </a:pPr>
            <a:r>
              <a:rPr sz="3300" b="1">
                <a:solidFill>
                  <a:srgbClr val="12374B"/>
                </a:solidFill>
                <a:latin typeface="Arial"/>
                <a:ea typeface="Arial"/>
                <a:cs typeface="Arial"/>
              </a:rPr>
              <a:t>WIDispatch: purpose and objectives</a:t>
            </a:r>
          </a:p>
        </p:txBody>
      </p:sp>
      <p:sp>
        <p:nvSpPr>
          <p:cNvPr id="2" name="Purpose">
            <a:extLst xmlns:a="http://schemas.openxmlformats.org/drawingml/2006/main">
              <a:ext uri="{FF2B5EF4-FFF2-40B4-BE49-F238E27FC236}">
                <a16:creationId xmlns:a16="http://schemas.microsoft.com/office/drawing/2014/main" id="{B43A9BEA-5FC3-4130-B3BA-4633138F7F5C}"/>
              </a:ext>
            </a:extLst>
          </p:cNvPr>
          <p:cNvSpPr>
            <a:spLocks xmlns:a="http://schemas.openxmlformats.org/drawingml/2006/main" noGrp="1"/>
          </p:cNvSpPr>
          <p:nvPr/>
        </p:nvSpPr>
        <p:spPr>
          <a:xfrm xmlns:a="http://schemas.openxmlformats.org/drawingml/2006/main">
            <a:off x="609600" y="1952625"/>
            <a:ext cx="4267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1">
                <a:solidFill>
                  <a:srgbClr val="007E92"/>
                </a:solidFill>
                <a:latin typeface="Arial"/>
                <a:ea typeface="Arial"/>
                <a:cs typeface="Arial"/>
              </a:defRPr>
            </a:pPr>
            <a:r>
              <a:rPr sz="2400" b="1">
                <a:solidFill>
                  <a:srgbClr val="007E92"/>
                </a:solidFill>
                <a:latin typeface="Arial"/>
                <a:ea typeface="Arial"/>
                <a:cs typeface="Arial"/>
              </a:rPr>
              <a:t>Purpose</a:t>
            </a:r>
          </a:p>
        </p:txBody>
      </p:sp>
      <p:sp>
        <p:nvSpPr>
          <p:cNvPr id="3" name="Support coordinated water dispatch planning across prod">
            <a:extLst xmlns:a="http://schemas.openxmlformats.org/drawingml/2006/main">
              <a:ext uri="{FF2B5EF4-FFF2-40B4-BE49-F238E27FC236}">
                <a16:creationId xmlns:a16="http://schemas.microsoft.com/office/drawing/2014/main" id="{73124A19-DB6E-4DBB-9749-896D8DA5690B}"/>
              </a:ext>
            </a:extLst>
          </p:cNvPr>
          <p:cNvSpPr>
            <a:spLocks xmlns:a="http://schemas.openxmlformats.org/drawingml/2006/main" noGrp="1"/>
          </p:cNvSpPr>
          <p:nvPr/>
        </p:nvSpPr>
        <p:spPr>
          <a:xfrm xmlns:a="http://schemas.openxmlformats.org/drawingml/2006/main">
            <a:off x="609600" y="3067050"/>
            <a:ext cx="4238625"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0">
                <a:solidFill>
                  <a:srgbClr val="18384B"/>
                </a:solidFill>
                <a:latin typeface="Arial"/>
                <a:ea typeface="Arial"/>
                <a:cs typeface="Arial"/>
              </a:defRPr>
            </a:pPr>
            <a:r>
              <a:rPr sz="2325" b="0">
                <a:solidFill>
                  <a:srgbClr val="18384B"/>
                </a:solidFill>
                <a:latin typeface="Arial"/>
                <a:ea typeface="Arial"/>
                <a:cs typeface="Arial"/>
              </a:rPr>
              <a:t>Support coordinated water dispatch planning across production, transmission, storage and demand.</a:t>
            </a:r>
          </a:p>
        </p:txBody>
      </p:sp>
      <p:sp>
        <p:nvSpPr>
          <p:cNvPr id="4" name="What it does">
            <a:extLst xmlns:a="http://schemas.openxmlformats.org/drawingml/2006/main">
              <a:ext uri="{FF2B5EF4-FFF2-40B4-BE49-F238E27FC236}">
                <a16:creationId xmlns:a16="http://schemas.microsoft.com/office/drawing/2014/main" id="{89BC0CBA-83F2-4A10-89C0-03D28F52D950}"/>
              </a:ext>
            </a:extLst>
          </p:cNvPr>
          <p:cNvSpPr>
            <a:spLocks xmlns:a="http://schemas.openxmlformats.org/drawingml/2006/main" noGrp="1"/>
          </p:cNvSpPr>
          <p:nvPr/>
        </p:nvSpPr>
        <p:spPr>
          <a:xfrm xmlns:a="http://schemas.openxmlformats.org/drawingml/2006/main">
            <a:off x="5419725" y="1952625"/>
            <a:ext cx="4267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1">
                <a:solidFill>
                  <a:srgbClr val="007E92"/>
                </a:solidFill>
                <a:latin typeface="Arial"/>
                <a:ea typeface="Arial"/>
                <a:cs typeface="Arial"/>
              </a:defRPr>
            </a:pPr>
            <a:r>
              <a:rPr sz="2400" b="1">
                <a:solidFill>
                  <a:srgbClr val="007E92"/>
                </a:solidFill>
                <a:latin typeface="Arial"/>
                <a:ea typeface="Arial"/>
                <a:cs typeface="Arial"/>
              </a:rPr>
              <a:t>What it does</a:t>
            </a:r>
          </a:p>
        </p:txBody>
      </p:sp>
      <p:sp>
        <p:nvSpPr>
          <p:cNvPr id="5" name="Combine operational inputs and approved costs with a ne">
            <a:extLst xmlns:a="http://schemas.openxmlformats.org/drawingml/2006/main">
              <a:ext uri="{FF2B5EF4-FFF2-40B4-BE49-F238E27FC236}">
                <a16:creationId xmlns:a16="http://schemas.microsoft.com/office/drawing/2014/main" id="{16E5DEF7-5DFF-43D5-8AA1-4FE38C0604B8}"/>
              </a:ext>
            </a:extLst>
          </p:cNvPr>
          <p:cNvSpPr>
            <a:spLocks xmlns:a="http://schemas.openxmlformats.org/drawingml/2006/main" noGrp="1"/>
          </p:cNvSpPr>
          <p:nvPr/>
        </p:nvSpPr>
        <p:spPr>
          <a:xfrm xmlns:a="http://schemas.openxmlformats.org/drawingml/2006/main">
            <a:off x="5419725" y="3067050"/>
            <a:ext cx="4238625"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0">
                <a:solidFill>
                  <a:srgbClr val="18384B"/>
                </a:solidFill>
                <a:latin typeface="Arial"/>
                <a:ea typeface="Arial"/>
                <a:cs typeface="Arial"/>
              </a:defRPr>
            </a:pPr>
            <a:r>
              <a:rPr sz="2325" b="0">
                <a:solidFill>
                  <a:srgbClr val="18384B"/>
                </a:solidFill>
                <a:latin typeface="Arial"/>
                <a:ea typeface="Arial"/>
                <a:cs typeface="Arial"/>
              </a:rPr>
              <a:t>Combine operational inputs and approved costs with a network model to simulate supply, identify constraints, review decisions and publish allocations.</a:t>
            </a:r>
          </a:p>
        </p:txBody>
      </p:sp>
      <p:sp>
        <p:nvSpPr>
          <p:cNvPr id="6" name="Objective">
            <a:extLst xmlns:a="http://schemas.openxmlformats.org/drawingml/2006/main">
              <a:ext uri="{FF2B5EF4-FFF2-40B4-BE49-F238E27FC236}">
                <a16:creationId xmlns:a16="http://schemas.microsoft.com/office/drawing/2014/main" id="{9B20A4EF-E01E-4C2B-80D6-5318B7CD3971}"/>
              </a:ext>
            </a:extLst>
          </p:cNvPr>
          <p:cNvSpPr>
            <a:spLocks xmlns:a="http://schemas.openxmlformats.org/drawingml/2006/main" noGrp="1"/>
          </p:cNvSpPr>
          <p:nvPr/>
        </p:nvSpPr>
        <p:spPr>
          <a:xfrm xmlns:a="http://schemas.openxmlformats.org/drawingml/2006/main">
            <a:off x="10229850" y="1952625"/>
            <a:ext cx="4267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1">
                <a:solidFill>
                  <a:srgbClr val="007E92"/>
                </a:solidFill>
                <a:latin typeface="Arial"/>
                <a:ea typeface="Arial"/>
                <a:cs typeface="Arial"/>
              </a:defRPr>
            </a:pPr>
            <a:r>
              <a:rPr sz="2400" b="1">
                <a:solidFill>
                  <a:srgbClr val="007E92"/>
                </a:solidFill>
                <a:latin typeface="Arial"/>
                <a:ea typeface="Arial"/>
                <a:cs typeface="Arial"/>
              </a:rPr>
              <a:t>Objective</a:t>
            </a:r>
          </a:p>
        </p:txBody>
      </p:sp>
      <p:sp>
        <p:nvSpPr>
          <p:cNvPr id="7" name="Meet demand as far as available capacity allows, manage">
            <a:extLst xmlns:a="http://schemas.openxmlformats.org/drawingml/2006/main">
              <a:ext uri="{FF2B5EF4-FFF2-40B4-BE49-F238E27FC236}">
                <a16:creationId xmlns:a16="http://schemas.microsoft.com/office/drawing/2014/main" id="{72BAAF4A-BC6D-41A8-BA5C-7EA858F87C4A}"/>
              </a:ext>
            </a:extLst>
          </p:cNvPr>
          <p:cNvSpPr>
            <a:spLocks xmlns:a="http://schemas.openxmlformats.org/drawingml/2006/main" noGrp="1"/>
          </p:cNvSpPr>
          <p:nvPr/>
        </p:nvSpPr>
        <p:spPr>
          <a:xfrm xmlns:a="http://schemas.openxmlformats.org/drawingml/2006/main">
            <a:off x="10229850" y="3067050"/>
            <a:ext cx="4238625"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0">
                <a:solidFill>
                  <a:srgbClr val="18384B"/>
                </a:solidFill>
                <a:latin typeface="Arial"/>
                <a:ea typeface="Arial"/>
                <a:cs typeface="Arial"/>
              </a:defRPr>
            </a:pPr>
            <a:r>
              <a:rPr sz="2325" b="0">
                <a:solidFill>
                  <a:srgbClr val="18384B"/>
                </a:solidFill>
                <a:latin typeface="Arial"/>
                <a:ea typeface="Arial"/>
                <a:cs typeface="Arial"/>
              </a:rPr>
              <a:t>Meet demand as far as available capacity allows, manage shortages and assess variable operating cost while preserving decision accountability.</a:t>
            </a:r>
          </a:p>
        </p:txBody>
      </p:sp>
      <p:sp>
        <p:nvSpPr>
          <p:cNvPr id="8" name="WIDispatch   /   Client demonstration">
            <a:extLst xmlns:a="http://schemas.openxmlformats.org/drawingml/2006/main">
              <a:ext uri="{FF2B5EF4-FFF2-40B4-BE49-F238E27FC236}">
                <a16:creationId xmlns:a16="http://schemas.microsoft.com/office/drawing/2014/main" id="{D98E4B63-09D1-438E-9479-DB3DDAABDEC6}"/>
              </a:ext>
            </a:extLst>
          </p:cNvPr>
          <p:cNvSpPr>
            <a:spLocks xmlns:a="http://schemas.openxmlformats.org/drawingml/2006/main" noGrp="1"/>
          </p:cNvSpPr>
          <p:nvPr/>
        </p:nvSpPr>
        <p:spPr>
          <a:xfrm xmlns:a="http://schemas.openxmlformats.org/drawingml/2006/main">
            <a:off x="609600" y="81724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547080"/>
                </a:solidFill>
                <a:latin typeface="Arial"/>
                <a:ea typeface="Arial"/>
                <a:cs typeface="Arial"/>
              </a:defRPr>
            </a:pPr>
            <a:r>
              <a:rPr sz="1275" b="0">
                <a:solidFill>
                  <a:srgbClr val="547080"/>
                </a:solidFill>
                <a:latin typeface="Arial"/>
                <a:ea typeface="Arial"/>
                <a:cs typeface="Arial"/>
              </a:rPr>
              <a:t>WIDispatch   /   Client demonstration</a:t>
            </a:r>
          </a:p>
        </p:txBody>
      </p:sp>
      <p:sp>
        <p:nvSpPr>
          <p:cNvPr id="9" name="00">
            <a:extLst xmlns:a="http://schemas.openxmlformats.org/drawingml/2006/main">
              <a:ext uri="{FF2B5EF4-FFF2-40B4-BE49-F238E27FC236}">
                <a16:creationId xmlns:a16="http://schemas.microsoft.com/office/drawing/2014/main" id="{BB3366A5-0999-4CDC-B865-BDDE23E944C0}"/>
              </a:ext>
            </a:extLst>
          </p:cNvPr>
          <p:cNvSpPr>
            <a:spLocks xmlns:a="http://schemas.openxmlformats.org/drawingml/2006/main" noGrp="1"/>
          </p:cNvSpPr>
          <p:nvPr/>
        </p:nvSpPr>
        <p:spPr>
          <a:xfrm xmlns:a="http://schemas.openxmlformats.org/drawingml/2006/main">
            <a:off x="13906500" y="8115300"/>
            <a:ext cx="723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547080"/>
                </a:solidFill>
                <a:latin typeface="Arial"/>
                <a:ea typeface="Arial"/>
                <a:cs typeface="Arial"/>
              </a:defRPr>
            </a:pPr>
            <a:r>
              <a:rPr sz="1650" b="0">
                <a:solidFill>
                  <a:srgbClr val="547080"/>
                </a:solidFill>
                <a:latin typeface="Arial"/>
                <a:ea typeface="Arial"/>
                <a:cs typeface="Arial"/>
              </a:rPr>
              <a:t>02</a:t>
            </a:r>
          </a:p>
        </p:txBody>
      </p:sp>
    </p:spTree>
    <p:extLst>
      <p:ext uri="{BB962C8B-B14F-4D97-AF65-F5344CB8AC3E}">
        <p14:creationId xmlns:p14="http://schemas.microsoft.com/office/powerpoint/2010/main" val="140680874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oday’s demonstration">
            <a:extLst xmlns:a="http://schemas.openxmlformats.org/drawingml/2006/main">
              <a:ext uri="{FF2B5EF4-FFF2-40B4-BE49-F238E27FC236}">
                <a16:creationId xmlns:a16="http://schemas.microsoft.com/office/drawing/2014/main" id="{4F7E5E36-B78E-4A47-9A71-A76717279A8C}"/>
              </a:ext>
            </a:extLst>
          </p:cNvPr>
          <p:cNvSpPr>
            <a:spLocks xmlns:a="http://schemas.openxmlformats.org/drawingml/2006/main" noGrp="1"/>
          </p:cNvSpPr>
          <p:nvPr/>
        </p:nvSpPr>
        <p:spPr>
          <a:xfrm xmlns:a="http://schemas.openxmlformats.org/drawingml/2006/main">
            <a:off x="571500" y="428625"/>
            <a:ext cx="140970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300" b="1">
                <a:solidFill>
                  <a:srgbClr val="12374B"/>
                </a:solidFill>
                <a:latin typeface="Arial"/>
                <a:ea typeface="Arial"/>
                <a:cs typeface="Arial"/>
              </a:defRPr>
            </a:pPr>
            <a:r>
              <a:rPr sz="3300" b="1">
                <a:solidFill>
                  <a:srgbClr val="12374B"/>
                </a:solidFill>
                <a:latin typeface="Arial"/>
                <a:ea typeface="Arial"/>
                <a:cs typeface="Arial"/>
              </a:rPr>
              <a:t>Today’s demonstration</a:t>
            </a:r>
          </a:p>
        </p:txBody>
      </p:sp>
      <p:sp>
        <p:nvSpPr>
          <p:cNvPr id="2" name="01">
            <a:extLst xmlns:a="http://schemas.openxmlformats.org/drawingml/2006/main">
              <a:ext uri="{FF2B5EF4-FFF2-40B4-BE49-F238E27FC236}">
                <a16:creationId xmlns:a16="http://schemas.microsoft.com/office/drawing/2014/main" id="{A2D65EAC-87E3-4477-B83B-1B65865B0748}"/>
              </a:ext>
            </a:extLst>
          </p:cNvPr>
          <p:cNvSpPr>
            <a:spLocks xmlns:a="http://schemas.openxmlformats.org/drawingml/2006/main" noGrp="1"/>
          </p:cNvSpPr>
          <p:nvPr/>
        </p:nvSpPr>
        <p:spPr>
          <a:xfrm xmlns:a="http://schemas.openxmlformats.org/drawingml/2006/main">
            <a:off x="609600" y="1895475"/>
            <a:ext cx="95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150" b="1">
                <a:solidFill>
                  <a:srgbClr val="007E92"/>
                </a:solidFill>
                <a:latin typeface="Arial"/>
                <a:ea typeface="Arial"/>
                <a:cs typeface="Arial"/>
              </a:defRPr>
            </a:pPr>
            <a:r>
              <a:rPr sz="3150" b="1">
                <a:solidFill>
                  <a:srgbClr val="007E92"/>
                </a:solidFill>
                <a:latin typeface="Arial"/>
                <a:ea typeface="Arial"/>
                <a:cs typeface="Arial"/>
              </a:rPr>
              <a:t>01</a:t>
            </a:r>
          </a:p>
        </p:txBody>
      </p:sp>
      <p:sp>
        <p:nvSpPr>
          <p:cNvPr id="3" name="Assets, portal dashboards, inputs and approvals">
            <a:extLst xmlns:a="http://schemas.openxmlformats.org/drawingml/2006/main">
              <a:ext uri="{FF2B5EF4-FFF2-40B4-BE49-F238E27FC236}">
                <a16:creationId xmlns:a16="http://schemas.microsoft.com/office/drawing/2014/main" id="{EB5C63EA-DEA0-48F2-9A58-152F64DEF1CD}"/>
              </a:ext>
            </a:extLst>
          </p:cNvPr>
          <p:cNvSpPr>
            <a:spLocks xmlns:a="http://schemas.openxmlformats.org/drawingml/2006/main" noGrp="1"/>
          </p:cNvSpPr>
          <p:nvPr/>
        </p:nvSpPr>
        <p:spPr>
          <a:xfrm xmlns:a="http://schemas.openxmlformats.org/drawingml/2006/main">
            <a:off x="1762125" y="1905000"/>
            <a:ext cx="1057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400" b="0">
                <a:solidFill>
                  <a:srgbClr val="18384B"/>
                </a:solidFill>
                <a:latin typeface="Arial"/>
                <a:ea typeface="Arial"/>
                <a:cs typeface="Arial"/>
              </a:defRPr>
            </a:pPr>
            <a:r>
              <a:rPr sz="2400" b="0">
                <a:solidFill>
                  <a:srgbClr val="18384B"/>
                </a:solidFill>
                <a:latin typeface="Arial"/>
                <a:ea typeface="Arial"/>
                <a:cs typeface="Arial"/>
              </a:rPr>
              <a:t>Assets, portal dashboards, inputs and approvals</a:t>
            </a:r>
          </a:p>
        </p:txBody>
      </p:sp>
      <p:sp>
        <p:nvSpPr>
          <p:cNvPr id="4" name="15 minutes">
            <a:extLst xmlns:a="http://schemas.openxmlformats.org/drawingml/2006/main">
              <a:ext uri="{FF2B5EF4-FFF2-40B4-BE49-F238E27FC236}">
                <a16:creationId xmlns:a16="http://schemas.microsoft.com/office/drawing/2014/main" id="{6BCAC707-9421-4D7C-BB46-C142013F08E6}"/>
              </a:ext>
            </a:extLst>
          </p:cNvPr>
          <p:cNvSpPr>
            <a:spLocks xmlns:a="http://schemas.openxmlformats.org/drawingml/2006/main" noGrp="1"/>
          </p:cNvSpPr>
          <p:nvPr/>
        </p:nvSpPr>
        <p:spPr>
          <a:xfrm xmlns:a="http://schemas.openxmlformats.org/drawingml/2006/main">
            <a:off x="12382500" y="1943100"/>
            <a:ext cx="2286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0">
                <a:solidFill>
                  <a:srgbClr val="547080"/>
                </a:solidFill>
                <a:latin typeface="Arial"/>
                <a:ea typeface="Arial"/>
                <a:cs typeface="Arial"/>
              </a:defRPr>
            </a:pPr>
            <a:r>
              <a:rPr sz="1875" b="0">
                <a:solidFill>
                  <a:srgbClr val="547080"/>
                </a:solidFill>
                <a:latin typeface="Arial"/>
                <a:ea typeface="Arial"/>
                <a:cs typeface="Arial"/>
              </a:rPr>
              <a:t>15 minutes</a:t>
            </a:r>
          </a:p>
        </p:txBody>
      </p:sp>
      <p:sp>
        <p:nvSpPr>
          <p:cNvPr id="5" name="02">
            <a:extLst xmlns:a="http://schemas.openxmlformats.org/drawingml/2006/main">
              <a:ext uri="{FF2B5EF4-FFF2-40B4-BE49-F238E27FC236}">
                <a16:creationId xmlns:a16="http://schemas.microsoft.com/office/drawing/2014/main" id="{3599C2A3-29CE-434C-80E6-23BEBA0E6C84}"/>
              </a:ext>
            </a:extLst>
          </p:cNvPr>
          <p:cNvSpPr>
            <a:spLocks xmlns:a="http://schemas.openxmlformats.org/drawingml/2006/main" noGrp="1"/>
          </p:cNvSpPr>
          <p:nvPr/>
        </p:nvSpPr>
        <p:spPr>
          <a:xfrm xmlns:a="http://schemas.openxmlformats.org/drawingml/2006/main">
            <a:off x="609600" y="2895600"/>
            <a:ext cx="95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150" b="1">
                <a:solidFill>
                  <a:srgbClr val="007E92"/>
                </a:solidFill>
                <a:latin typeface="Arial"/>
                <a:ea typeface="Arial"/>
                <a:cs typeface="Arial"/>
              </a:defRPr>
            </a:pPr>
            <a:r>
              <a:rPr sz="3150" b="1">
                <a:solidFill>
                  <a:srgbClr val="007E92"/>
                </a:solidFill>
                <a:latin typeface="Arial"/>
                <a:ea typeface="Arial"/>
                <a:cs typeface="Arial"/>
              </a:rPr>
              <a:t>02</a:t>
            </a:r>
          </a:p>
        </p:txBody>
      </p:sp>
      <p:sp>
        <p:nvSpPr>
          <p:cNvPr id="6" name="Network and transmission system walkthrough">
            <a:extLst xmlns:a="http://schemas.openxmlformats.org/drawingml/2006/main">
              <a:ext uri="{FF2B5EF4-FFF2-40B4-BE49-F238E27FC236}">
                <a16:creationId xmlns:a16="http://schemas.microsoft.com/office/drawing/2014/main" id="{7CD82995-6387-4A7A-BA21-2FF933637534}"/>
              </a:ext>
            </a:extLst>
          </p:cNvPr>
          <p:cNvSpPr>
            <a:spLocks xmlns:a="http://schemas.openxmlformats.org/drawingml/2006/main" noGrp="1"/>
          </p:cNvSpPr>
          <p:nvPr/>
        </p:nvSpPr>
        <p:spPr>
          <a:xfrm xmlns:a="http://schemas.openxmlformats.org/drawingml/2006/main">
            <a:off x="1762125" y="2905125"/>
            <a:ext cx="1057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400" b="0">
                <a:solidFill>
                  <a:srgbClr val="18384B"/>
                </a:solidFill>
                <a:latin typeface="Arial"/>
                <a:ea typeface="Arial"/>
                <a:cs typeface="Arial"/>
              </a:defRPr>
            </a:pPr>
            <a:r>
              <a:rPr sz="2400" b="0">
                <a:solidFill>
                  <a:srgbClr val="18384B"/>
                </a:solidFill>
                <a:latin typeface="Arial"/>
                <a:ea typeface="Arial"/>
                <a:cs typeface="Arial"/>
              </a:rPr>
              <a:t>Network and transmission system walkthrough</a:t>
            </a:r>
          </a:p>
        </p:txBody>
      </p:sp>
      <p:sp>
        <p:nvSpPr>
          <p:cNvPr id="7" name="12 minutes">
            <a:extLst xmlns:a="http://schemas.openxmlformats.org/drawingml/2006/main">
              <a:ext uri="{FF2B5EF4-FFF2-40B4-BE49-F238E27FC236}">
                <a16:creationId xmlns:a16="http://schemas.microsoft.com/office/drawing/2014/main" id="{498CBBF0-C371-4EFC-BB30-9766521C1BD1}"/>
              </a:ext>
            </a:extLst>
          </p:cNvPr>
          <p:cNvSpPr>
            <a:spLocks xmlns:a="http://schemas.openxmlformats.org/drawingml/2006/main" noGrp="1"/>
          </p:cNvSpPr>
          <p:nvPr/>
        </p:nvSpPr>
        <p:spPr>
          <a:xfrm xmlns:a="http://schemas.openxmlformats.org/drawingml/2006/main">
            <a:off x="12382500" y="2943225"/>
            <a:ext cx="2286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0">
                <a:solidFill>
                  <a:srgbClr val="547080"/>
                </a:solidFill>
                <a:latin typeface="Arial"/>
                <a:ea typeface="Arial"/>
                <a:cs typeface="Arial"/>
              </a:defRPr>
            </a:pPr>
            <a:r>
              <a:rPr sz="1875" b="0">
                <a:solidFill>
                  <a:srgbClr val="547080"/>
                </a:solidFill>
                <a:latin typeface="Arial"/>
                <a:ea typeface="Arial"/>
                <a:cs typeface="Arial"/>
              </a:rPr>
              <a:t>12 minutes</a:t>
            </a:r>
          </a:p>
        </p:txBody>
      </p:sp>
      <p:sp>
        <p:nvSpPr>
          <p:cNvPr id="8" name="03">
            <a:extLst xmlns:a="http://schemas.openxmlformats.org/drawingml/2006/main">
              <a:ext uri="{FF2B5EF4-FFF2-40B4-BE49-F238E27FC236}">
                <a16:creationId xmlns:a16="http://schemas.microsoft.com/office/drawing/2014/main" id="{D863D8B8-07B0-4507-886B-9A99A0EAFF13}"/>
              </a:ext>
            </a:extLst>
          </p:cNvPr>
          <p:cNvSpPr>
            <a:spLocks xmlns:a="http://schemas.openxmlformats.org/drawingml/2006/main" noGrp="1"/>
          </p:cNvSpPr>
          <p:nvPr/>
        </p:nvSpPr>
        <p:spPr>
          <a:xfrm xmlns:a="http://schemas.openxmlformats.org/drawingml/2006/main">
            <a:off x="609600" y="3895725"/>
            <a:ext cx="95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150" b="1">
                <a:solidFill>
                  <a:srgbClr val="007E92"/>
                </a:solidFill>
                <a:latin typeface="Arial"/>
                <a:ea typeface="Arial"/>
                <a:cs typeface="Arial"/>
              </a:defRPr>
            </a:pPr>
            <a:r>
              <a:rPr sz="3150" b="1">
                <a:solidFill>
                  <a:srgbClr val="007E92"/>
                </a:solidFill>
                <a:latin typeface="Arial"/>
                <a:ea typeface="Arial"/>
                <a:cs typeface="Arial"/>
              </a:rPr>
              <a:t>03</a:t>
            </a:r>
          </a:p>
        </p:txBody>
      </p:sp>
      <p:sp>
        <p:nvSpPr>
          <p:cNvPr id="9" name="Emergency assumptions and simulation results">
            <a:extLst xmlns:a="http://schemas.openxmlformats.org/drawingml/2006/main">
              <a:ext uri="{FF2B5EF4-FFF2-40B4-BE49-F238E27FC236}">
                <a16:creationId xmlns:a16="http://schemas.microsoft.com/office/drawing/2014/main" id="{D3A1F506-CF18-4C90-BED6-8E2FD9213990}"/>
              </a:ext>
            </a:extLst>
          </p:cNvPr>
          <p:cNvSpPr>
            <a:spLocks xmlns:a="http://schemas.openxmlformats.org/drawingml/2006/main" noGrp="1"/>
          </p:cNvSpPr>
          <p:nvPr/>
        </p:nvSpPr>
        <p:spPr>
          <a:xfrm xmlns:a="http://schemas.openxmlformats.org/drawingml/2006/main">
            <a:off x="1762125" y="3905250"/>
            <a:ext cx="1057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400" b="0">
                <a:solidFill>
                  <a:srgbClr val="18384B"/>
                </a:solidFill>
                <a:latin typeface="Arial"/>
                <a:ea typeface="Arial"/>
                <a:cs typeface="Arial"/>
              </a:defRPr>
            </a:pPr>
            <a:r>
              <a:rPr sz="2400" b="0">
                <a:solidFill>
                  <a:srgbClr val="18384B"/>
                </a:solidFill>
                <a:latin typeface="Arial"/>
                <a:ea typeface="Arial"/>
                <a:cs typeface="Arial"/>
              </a:rPr>
              <a:t>Emergency assumptions and simulation results</a:t>
            </a:r>
          </a:p>
        </p:txBody>
      </p:sp>
      <p:sp>
        <p:nvSpPr>
          <p:cNvPr id="10" name="10 minutes">
            <a:extLst xmlns:a="http://schemas.openxmlformats.org/drawingml/2006/main">
              <a:ext uri="{FF2B5EF4-FFF2-40B4-BE49-F238E27FC236}">
                <a16:creationId xmlns:a16="http://schemas.microsoft.com/office/drawing/2014/main" id="{3F6A9269-FE0F-4FEE-A4E3-B0B5D554ADD5}"/>
              </a:ext>
            </a:extLst>
          </p:cNvPr>
          <p:cNvSpPr>
            <a:spLocks xmlns:a="http://schemas.openxmlformats.org/drawingml/2006/main" noGrp="1"/>
          </p:cNvSpPr>
          <p:nvPr/>
        </p:nvSpPr>
        <p:spPr>
          <a:xfrm xmlns:a="http://schemas.openxmlformats.org/drawingml/2006/main">
            <a:off x="12382500" y="3943350"/>
            <a:ext cx="2286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0">
                <a:solidFill>
                  <a:srgbClr val="547080"/>
                </a:solidFill>
                <a:latin typeface="Arial"/>
                <a:ea typeface="Arial"/>
                <a:cs typeface="Arial"/>
              </a:defRPr>
            </a:pPr>
            <a:r>
              <a:rPr sz="1875" b="0">
                <a:solidFill>
                  <a:srgbClr val="547080"/>
                </a:solidFill>
                <a:latin typeface="Arial"/>
                <a:ea typeface="Arial"/>
                <a:cs typeface="Arial"/>
              </a:rPr>
              <a:t>10 minutes</a:t>
            </a:r>
          </a:p>
        </p:txBody>
      </p:sp>
      <p:sp>
        <p:nvSpPr>
          <p:cNvPr id="11" name="04">
            <a:extLst xmlns:a="http://schemas.openxmlformats.org/drawingml/2006/main">
              <a:ext uri="{FF2B5EF4-FFF2-40B4-BE49-F238E27FC236}">
                <a16:creationId xmlns:a16="http://schemas.microsoft.com/office/drawing/2014/main" id="{15C51FA4-207F-4176-A856-9347CBBDC564}"/>
              </a:ext>
            </a:extLst>
          </p:cNvPr>
          <p:cNvSpPr>
            <a:spLocks xmlns:a="http://schemas.openxmlformats.org/drawingml/2006/main" noGrp="1"/>
          </p:cNvSpPr>
          <p:nvPr/>
        </p:nvSpPr>
        <p:spPr>
          <a:xfrm xmlns:a="http://schemas.openxmlformats.org/drawingml/2006/main">
            <a:off x="609600" y="4895850"/>
            <a:ext cx="95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150" b="1">
                <a:solidFill>
                  <a:srgbClr val="007E92"/>
                </a:solidFill>
                <a:latin typeface="Arial"/>
                <a:ea typeface="Arial"/>
                <a:cs typeface="Arial"/>
              </a:defRPr>
            </a:pPr>
            <a:r>
              <a:rPr sz="3150" b="1">
                <a:solidFill>
                  <a:srgbClr val="007E92"/>
                </a:solidFill>
                <a:latin typeface="Arial"/>
                <a:ea typeface="Arial"/>
                <a:cs typeface="Arial"/>
              </a:rPr>
              <a:t>04</a:t>
            </a:r>
          </a:p>
        </p:txBody>
      </p:sp>
      <p:sp>
        <p:nvSpPr>
          <p:cNvPr id="12" name="Decisions, publication and portal reconciliation">
            <a:extLst xmlns:a="http://schemas.openxmlformats.org/drawingml/2006/main">
              <a:ext uri="{FF2B5EF4-FFF2-40B4-BE49-F238E27FC236}">
                <a16:creationId xmlns:a16="http://schemas.microsoft.com/office/drawing/2014/main" id="{8A745B81-3C76-4F74-920D-AA320205AF79}"/>
              </a:ext>
            </a:extLst>
          </p:cNvPr>
          <p:cNvSpPr>
            <a:spLocks xmlns:a="http://schemas.openxmlformats.org/drawingml/2006/main" noGrp="1"/>
          </p:cNvSpPr>
          <p:nvPr/>
        </p:nvSpPr>
        <p:spPr>
          <a:xfrm xmlns:a="http://schemas.openxmlformats.org/drawingml/2006/main">
            <a:off x="1762125" y="4905375"/>
            <a:ext cx="1057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400" b="0">
                <a:solidFill>
                  <a:srgbClr val="18384B"/>
                </a:solidFill>
                <a:latin typeface="Arial"/>
                <a:ea typeface="Arial"/>
                <a:cs typeface="Arial"/>
              </a:defRPr>
            </a:pPr>
            <a:r>
              <a:rPr sz="2400" b="0">
                <a:solidFill>
                  <a:srgbClr val="18384B"/>
                </a:solidFill>
                <a:latin typeface="Arial"/>
                <a:ea typeface="Arial"/>
                <a:cs typeface="Arial"/>
              </a:rPr>
              <a:t>Decisions, publication and portal reconciliation</a:t>
            </a:r>
          </a:p>
        </p:txBody>
      </p:sp>
      <p:sp>
        <p:nvSpPr>
          <p:cNvPr id="13" name="10 minutes">
            <a:extLst xmlns:a="http://schemas.openxmlformats.org/drawingml/2006/main">
              <a:ext uri="{FF2B5EF4-FFF2-40B4-BE49-F238E27FC236}">
                <a16:creationId xmlns:a16="http://schemas.microsoft.com/office/drawing/2014/main" id="{897FD54C-1D98-41E4-B9E0-44DCFBCA71F8}"/>
              </a:ext>
            </a:extLst>
          </p:cNvPr>
          <p:cNvSpPr>
            <a:spLocks xmlns:a="http://schemas.openxmlformats.org/drawingml/2006/main" noGrp="1"/>
          </p:cNvSpPr>
          <p:nvPr/>
        </p:nvSpPr>
        <p:spPr>
          <a:xfrm xmlns:a="http://schemas.openxmlformats.org/drawingml/2006/main">
            <a:off x="12382500" y="4943475"/>
            <a:ext cx="2286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0">
                <a:solidFill>
                  <a:srgbClr val="547080"/>
                </a:solidFill>
                <a:latin typeface="Arial"/>
                <a:ea typeface="Arial"/>
                <a:cs typeface="Arial"/>
              </a:defRPr>
            </a:pPr>
            <a:r>
              <a:rPr sz="1875" b="0">
                <a:solidFill>
                  <a:srgbClr val="547080"/>
                </a:solidFill>
                <a:latin typeface="Arial"/>
                <a:ea typeface="Arial"/>
                <a:cs typeface="Arial"/>
              </a:rPr>
              <a:t>10 minutes</a:t>
            </a:r>
          </a:p>
        </p:txBody>
      </p:sp>
      <p:sp>
        <p:nvSpPr>
          <p:cNvPr id="14" name="05">
            <a:extLst xmlns:a="http://schemas.openxmlformats.org/drawingml/2006/main">
              <a:ext uri="{FF2B5EF4-FFF2-40B4-BE49-F238E27FC236}">
                <a16:creationId xmlns:a16="http://schemas.microsoft.com/office/drawing/2014/main" id="{22BDE29A-34F7-45BD-8AB0-22DCF1554C89}"/>
              </a:ext>
            </a:extLst>
          </p:cNvPr>
          <p:cNvSpPr>
            <a:spLocks xmlns:a="http://schemas.openxmlformats.org/drawingml/2006/main" noGrp="1"/>
          </p:cNvSpPr>
          <p:nvPr/>
        </p:nvSpPr>
        <p:spPr>
          <a:xfrm xmlns:a="http://schemas.openxmlformats.org/drawingml/2006/main">
            <a:off x="609600" y="5895975"/>
            <a:ext cx="95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150" b="1">
                <a:solidFill>
                  <a:srgbClr val="007E92"/>
                </a:solidFill>
                <a:latin typeface="Arial"/>
                <a:ea typeface="Arial"/>
                <a:cs typeface="Arial"/>
              </a:defRPr>
            </a:pPr>
            <a:r>
              <a:rPr sz="3150" b="1">
                <a:solidFill>
                  <a:srgbClr val="007E92"/>
                </a:solidFill>
                <a:latin typeface="Arial"/>
                <a:ea typeface="Arial"/>
                <a:cs typeface="Arial"/>
              </a:rPr>
              <a:t>05</a:t>
            </a:r>
          </a:p>
        </p:txBody>
      </p:sp>
      <p:sp>
        <p:nvSpPr>
          <p:cNvPr id="15" name="Optional canvas tools and geographic detail">
            <a:extLst xmlns:a="http://schemas.openxmlformats.org/drawingml/2006/main">
              <a:ext uri="{FF2B5EF4-FFF2-40B4-BE49-F238E27FC236}">
                <a16:creationId xmlns:a16="http://schemas.microsoft.com/office/drawing/2014/main" id="{4A3F0B5D-3D26-4BCB-902F-AC0D7A7311BF}"/>
              </a:ext>
            </a:extLst>
          </p:cNvPr>
          <p:cNvSpPr>
            <a:spLocks xmlns:a="http://schemas.openxmlformats.org/drawingml/2006/main" noGrp="1"/>
          </p:cNvSpPr>
          <p:nvPr/>
        </p:nvSpPr>
        <p:spPr>
          <a:xfrm xmlns:a="http://schemas.openxmlformats.org/drawingml/2006/main">
            <a:off x="1762125" y="5905500"/>
            <a:ext cx="1057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400" b="0">
                <a:solidFill>
                  <a:srgbClr val="18384B"/>
                </a:solidFill>
                <a:latin typeface="Arial"/>
                <a:ea typeface="Arial"/>
                <a:cs typeface="Arial"/>
              </a:defRPr>
            </a:pPr>
            <a:r>
              <a:rPr sz="2400" b="0">
                <a:solidFill>
                  <a:srgbClr val="18384B"/>
                </a:solidFill>
                <a:latin typeface="Arial"/>
                <a:ea typeface="Arial"/>
                <a:cs typeface="Arial"/>
              </a:rPr>
              <a:t>Optional canvas tools and geographic detail</a:t>
            </a:r>
          </a:p>
        </p:txBody>
      </p:sp>
      <p:sp>
        <p:nvSpPr>
          <p:cNvPr id="16" name="20–30 min">
            <a:extLst xmlns:a="http://schemas.openxmlformats.org/drawingml/2006/main">
              <a:ext uri="{FF2B5EF4-FFF2-40B4-BE49-F238E27FC236}">
                <a16:creationId xmlns:a16="http://schemas.microsoft.com/office/drawing/2014/main" id="{4F352C2F-53CD-47E4-810A-934050E92A72}"/>
              </a:ext>
            </a:extLst>
          </p:cNvPr>
          <p:cNvSpPr>
            <a:spLocks xmlns:a="http://schemas.openxmlformats.org/drawingml/2006/main" noGrp="1"/>
          </p:cNvSpPr>
          <p:nvPr/>
        </p:nvSpPr>
        <p:spPr>
          <a:xfrm xmlns:a="http://schemas.openxmlformats.org/drawingml/2006/main">
            <a:off x="12382500" y="5943600"/>
            <a:ext cx="2286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0">
                <a:solidFill>
                  <a:srgbClr val="547080"/>
                </a:solidFill>
                <a:latin typeface="Arial"/>
                <a:ea typeface="Arial"/>
                <a:cs typeface="Arial"/>
              </a:defRPr>
            </a:pPr>
            <a:r>
              <a:rPr sz="1875" b="0">
                <a:solidFill>
                  <a:srgbClr val="547080"/>
                </a:solidFill>
                <a:latin typeface="Arial"/>
                <a:ea typeface="Arial"/>
                <a:cs typeface="Arial"/>
              </a:rPr>
              <a:t>20–30 min</a:t>
            </a:r>
          </a:p>
        </p:txBody>
      </p:sp>
      <p:sp>
        <p:nvSpPr>
          <p:cNvPr id="17" name="WIDispatch   /   Client demonstration">
            <a:extLst xmlns:a="http://schemas.openxmlformats.org/drawingml/2006/main">
              <a:ext uri="{FF2B5EF4-FFF2-40B4-BE49-F238E27FC236}">
                <a16:creationId xmlns:a16="http://schemas.microsoft.com/office/drawing/2014/main" id="{19E86602-E7DE-4DF4-85BB-4443BCB845DA}"/>
              </a:ext>
            </a:extLst>
          </p:cNvPr>
          <p:cNvSpPr>
            <a:spLocks xmlns:a="http://schemas.openxmlformats.org/drawingml/2006/main" noGrp="1"/>
          </p:cNvSpPr>
          <p:nvPr/>
        </p:nvSpPr>
        <p:spPr>
          <a:xfrm xmlns:a="http://schemas.openxmlformats.org/drawingml/2006/main">
            <a:off x="609600" y="81724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275" b="0">
                <a:solidFill>
                  <a:srgbClr val="547080"/>
                </a:solidFill>
                <a:latin typeface="Arial"/>
                <a:ea typeface="Arial"/>
                <a:cs typeface="Arial"/>
              </a:defRPr>
            </a:pPr>
            <a:r>
              <a:rPr sz="1275" b="0">
                <a:solidFill>
                  <a:srgbClr val="547080"/>
                </a:solidFill>
                <a:latin typeface="Arial"/>
                <a:ea typeface="Arial"/>
                <a:cs typeface="Arial"/>
              </a:rPr>
              <a:t>WIDispatch   /   Client demonstration</a:t>
            </a:r>
          </a:p>
        </p:txBody>
      </p:sp>
      <p:sp>
        <p:nvSpPr>
          <p:cNvPr id="18" name="02">
            <a:extLst xmlns:a="http://schemas.openxmlformats.org/drawingml/2006/main">
              <a:ext uri="{FF2B5EF4-FFF2-40B4-BE49-F238E27FC236}">
                <a16:creationId xmlns:a16="http://schemas.microsoft.com/office/drawing/2014/main" id="{6BE56037-FC53-4D15-92DB-1579874D4286}"/>
              </a:ext>
            </a:extLst>
          </p:cNvPr>
          <p:cNvSpPr>
            <a:spLocks xmlns:a="http://schemas.openxmlformats.org/drawingml/2006/main" noGrp="1"/>
          </p:cNvSpPr>
          <p:nvPr/>
        </p:nvSpPr>
        <p:spPr>
          <a:xfrm xmlns:a="http://schemas.openxmlformats.org/drawingml/2006/main">
            <a:off x="13906500" y="8115300"/>
            <a:ext cx="723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547080"/>
                </a:solidFill>
                <a:latin typeface="Arial"/>
                <a:ea typeface="Arial"/>
                <a:cs typeface="Arial"/>
              </a:defRPr>
            </a:pPr>
            <a:r>
              <a:rPr sz="1650" b="0">
                <a:solidFill>
                  <a:srgbClr val="547080"/>
                </a:solidFill>
                <a:latin typeface="Arial"/>
                <a:ea typeface="Arial"/>
                <a:cs typeface="Arial"/>
              </a:rPr>
              <a:t>03</a:t>
            </a:r>
          </a:p>
        </p:txBody>
      </p:sp>
    </p:spTree>
    <p:extLst>
      <p:ext uri="{BB962C8B-B14F-4D97-AF65-F5344CB8AC3E}">
        <p14:creationId xmlns:p14="http://schemas.microsoft.com/office/powerpoint/2010/main" val="112074303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One operating cycle, distinct responsibilities">
            <a:extLst xmlns:a="http://schemas.openxmlformats.org/drawingml/2006/main">
              <a:ext uri="{FF2B5EF4-FFF2-40B4-BE49-F238E27FC236}">
                <a16:creationId xmlns:a16="http://schemas.microsoft.com/office/drawing/2014/main" id="{0477DEC4-F61F-4C40-9A37-41B3BB1DBB50}"/>
              </a:ext>
            </a:extLst>
          </p:cNvPr>
          <p:cNvSpPr>
            <a:spLocks xmlns:a="http://schemas.openxmlformats.org/drawingml/2006/main" noGrp="1"/>
          </p:cNvSpPr>
          <p:nvPr/>
        </p:nvSpPr>
        <p:spPr>
          <a:xfrm xmlns:a="http://schemas.openxmlformats.org/drawingml/2006/main">
            <a:off x="571500" y="428625"/>
            <a:ext cx="140970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300" b="1">
                <a:solidFill>
                  <a:srgbClr val="12374B"/>
                </a:solidFill>
                <a:latin typeface="Arial"/>
                <a:ea typeface="Arial"/>
                <a:cs typeface="Arial"/>
              </a:defRPr>
            </a:pPr>
            <a:r>
              <a:rPr sz="3300" b="1">
                <a:solidFill>
                  <a:srgbClr val="12374B"/>
                </a:solidFill>
                <a:latin typeface="Arial"/>
                <a:ea typeface="Arial"/>
                <a:cs typeface="Arial"/>
              </a:rPr>
              <a:t>One operating cycle, distinct responsibilities</a:t>
            </a:r>
          </a:p>
        </p:txBody>
      </p:sp>
      <p:sp>
        <p:nvSpPr>
          <p:cNvPr id="2" name="Domain teams">
            <a:extLst xmlns:a="http://schemas.openxmlformats.org/drawingml/2006/main">
              <a:ext uri="{FF2B5EF4-FFF2-40B4-BE49-F238E27FC236}">
                <a16:creationId xmlns:a16="http://schemas.microsoft.com/office/drawing/2014/main" id="{1ADA6ED8-0CEF-4934-A18A-8C452B4E7754}"/>
              </a:ext>
            </a:extLst>
          </p:cNvPr>
          <p:cNvSpPr>
            <a:spLocks xmlns:a="http://schemas.openxmlformats.org/drawingml/2006/main" noGrp="1"/>
          </p:cNvSpPr>
          <p:nvPr/>
        </p:nvSpPr>
        <p:spPr>
          <a:xfrm xmlns:a="http://schemas.openxmlformats.org/drawingml/2006/main">
            <a:off x="609600" y="1952625"/>
            <a:ext cx="4267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400" b="1">
                <a:solidFill>
                  <a:srgbClr val="007E92"/>
                </a:solidFill>
                <a:latin typeface="Arial"/>
                <a:ea typeface="Arial"/>
                <a:cs typeface="Arial"/>
              </a:defRPr>
            </a:pPr>
            <a:r>
              <a:rPr sz="2400" b="1">
                <a:solidFill>
                  <a:srgbClr val="007E92"/>
                </a:solidFill>
                <a:latin typeface="Arial"/>
                <a:ea typeface="Arial"/>
                <a:cs typeface="Arial"/>
              </a:rPr>
              <a:t>Domain teams</a:t>
            </a:r>
          </a:p>
        </p:txBody>
      </p:sp>
      <p:sp>
        <p:nvSpPr>
          <p:cNvPr id="3" name="Maintain asset-specific operating records. Submit infor">
            <a:extLst xmlns:a="http://schemas.openxmlformats.org/drawingml/2006/main">
              <a:ext uri="{FF2B5EF4-FFF2-40B4-BE49-F238E27FC236}">
                <a16:creationId xmlns:a16="http://schemas.microsoft.com/office/drawing/2014/main" id="{58DDB37A-B9CE-498C-87B9-C9830847CF7A}"/>
              </a:ext>
            </a:extLst>
          </p:cNvPr>
          <p:cNvSpPr>
            <a:spLocks xmlns:a="http://schemas.openxmlformats.org/drawingml/2006/main" noGrp="1"/>
          </p:cNvSpPr>
          <p:nvPr/>
        </p:nvSpPr>
        <p:spPr>
          <a:xfrm xmlns:a="http://schemas.openxmlformats.org/drawingml/2006/main">
            <a:off x="609600" y="3067050"/>
            <a:ext cx="4238625" cy="3200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325" b="0">
                <a:solidFill>
                  <a:srgbClr val="18384B"/>
                </a:solidFill>
                <a:latin typeface="Arial"/>
                <a:ea typeface="Arial"/>
                <a:cs typeface="Arial"/>
              </a:defRPr>
            </a:pPr>
            <a:r>
              <a:rPr sz="2325" b="0">
                <a:solidFill>
                  <a:srgbClr val="18384B"/>
                </a:solidFill>
                <a:latin typeface="Arial"/>
                <a:ea typeface="Arial"/>
                <a:cs typeface="Arial"/>
              </a:rPr>
              <a:t>Maintain asset-specific operating records. Submit information for the applicable approval workflow.</a:t>
            </a:r>
          </a:p>
        </p:txBody>
      </p:sp>
      <p:sp>
        <p:nvSpPr>
          <p:cNvPr id="4" name="Approvers">
            <a:extLst xmlns:a="http://schemas.openxmlformats.org/drawingml/2006/main">
              <a:ext uri="{FF2B5EF4-FFF2-40B4-BE49-F238E27FC236}">
                <a16:creationId xmlns:a16="http://schemas.microsoft.com/office/drawing/2014/main" id="{3BBAB537-9F60-48C2-B44B-B08770A13322}"/>
              </a:ext>
            </a:extLst>
          </p:cNvPr>
          <p:cNvSpPr>
            <a:spLocks xmlns:a="http://schemas.openxmlformats.org/drawingml/2006/main" noGrp="1"/>
          </p:cNvSpPr>
          <p:nvPr/>
        </p:nvSpPr>
        <p:spPr>
          <a:xfrm xmlns:a="http://schemas.openxmlformats.org/drawingml/2006/main">
            <a:off x="5419725" y="1952625"/>
            <a:ext cx="4267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400" b="1">
                <a:solidFill>
                  <a:srgbClr val="007E92"/>
                </a:solidFill>
                <a:latin typeface="Arial"/>
                <a:ea typeface="Arial"/>
                <a:cs typeface="Arial"/>
              </a:defRPr>
            </a:pPr>
            <a:r>
              <a:rPr sz="2400" b="1">
                <a:solidFill>
                  <a:srgbClr val="007E92"/>
                </a:solidFill>
                <a:latin typeface="Arial"/>
                <a:ea typeface="Arial"/>
                <a:cs typeface="Arial"/>
              </a:rPr>
              <a:t>Approvers</a:t>
            </a:r>
          </a:p>
        </p:txBody>
      </p:sp>
      <p:sp>
        <p:nvSpPr>
          <p:cNvPr id="5" name="Check quantities, dates, assumptions and supporting rea">
            <a:extLst xmlns:a="http://schemas.openxmlformats.org/drawingml/2006/main">
              <a:ext uri="{FF2B5EF4-FFF2-40B4-BE49-F238E27FC236}">
                <a16:creationId xmlns:a16="http://schemas.microsoft.com/office/drawing/2014/main" id="{B89D9F4D-35D7-49FF-A504-306C05A4D837}"/>
              </a:ext>
            </a:extLst>
          </p:cNvPr>
          <p:cNvSpPr>
            <a:spLocks xmlns:a="http://schemas.openxmlformats.org/drawingml/2006/main" noGrp="1"/>
          </p:cNvSpPr>
          <p:nvPr/>
        </p:nvSpPr>
        <p:spPr>
          <a:xfrm xmlns:a="http://schemas.openxmlformats.org/drawingml/2006/main">
            <a:off x="5419725" y="3067050"/>
            <a:ext cx="4238625" cy="3200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325" b="0">
                <a:solidFill>
                  <a:srgbClr val="18384B"/>
                </a:solidFill>
                <a:latin typeface="Arial"/>
                <a:ea typeface="Arial"/>
                <a:cs typeface="Arial"/>
              </a:defRPr>
            </a:pPr>
            <a:r>
              <a:rPr sz="2325" b="0">
                <a:solidFill>
                  <a:srgbClr val="18384B"/>
                </a:solidFill>
                <a:latin typeface="Arial"/>
                <a:ea typeface="Arial"/>
                <a:cs typeface="Arial"/>
              </a:rPr>
              <a:t>Check quantities, dates, assumptions and supporting reasons within their permitted scope.</a:t>
            </a:r>
          </a:p>
        </p:txBody>
      </p:sp>
      <p:sp>
        <p:nvSpPr>
          <p:cNvPr id="6" name="Dispatch planners">
            <a:extLst xmlns:a="http://schemas.openxmlformats.org/drawingml/2006/main">
              <a:ext uri="{FF2B5EF4-FFF2-40B4-BE49-F238E27FC236}">
                <a16:creationId xmlns:a16="http://schemas.microsoft.com/office/drawing/2014/main" id="{96CB198E-BEEC-465A-8248-9A02FAE0AD9E}"/>
              </a:ext>
            </a:extLst>
          </p:cNvPr>
          <p:cNvSpPr>
            <a:spLocks xmlns:a="http://schemas.openxmlformats.org/drawingml/2006/main" noGrp="1"/>
          </p:cNvSpPr>
          <p:nvPr/>
        </p:nvSpPr>
        <p:spPr>
          <a:xfrm xmlns:a="http://schemas.openxmlformats.org/drawingml/2006/main">
            <a:off x="10229850" y="1952625"/>
            <a:ext cx="4267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400" b="1">
                <a:solidFill>
                  <a:srgbClr val="007E92"/>
                </a:solidFill>
                <a:latin typeface="Arial"/>
                <a:ea typeface="Arial"/>
                <a:cs typeface="Arial"/>
              </a:defRPr>
            </a:pPr>
            <a:r>
              <a:rPr sz="2400" b="1">
                <a:solidFill>
                  <a:srgbClr val="007E92"/>
                </a:solidFill>
                <a:latin typeface="Arial"/>
                <a:ea typeface="Arial"/>
                <a:cs typeface="Arial"/>
              </a:rPr>
              <a:t>Dispatch planners</a:t>
            </a:r>
          </a:p>
        </p:txBody>
      </p:sp>
      <p:sp>
        <p:nvSpPr>
          <p:cNvPr id="7" name="Build the network, assess feasible supply, review draft">
            <a:extLst xmlns:a="http://schemas.openxmlformats.org/drawingml/2006/main">
              <a:ext uri="{FF2B5EF4-FFF2-40B4-BE49-F238E27FC236}">
                <a16:creationId xmlns:a16="http://schemas.microsoft.com/office/drawing/2014/main" id="{98ED9BEA-2A2A-4A04-A369-E81EA8EBCCE2}"/>
              </a:ext>
            </a:extLst>
          </p:cNvPr>
          <p:cNvSpPr>
            <a:spLocks xmlns:a="http://schemas.openxmlformats.org/drawingml/2006/main" noGrp="1"/>
          </p:cNvSpPr>
          <p:nvPr/>
        </p:nvSpPr>
        <p:spPr>
          <a:xfrm xmlns:a="http://schemas.openxmlformats.org/drawingml/2006/main">
            <a:off x="10229850" y="3067050"/>
            <a:ext cx="4238625" cy="3200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325" b="0">
                <a:solidFill>
                  <a:srgbClr val="18384B"/>
                </a:solidFill>
                <a:latin typeface="Arial"/>
                <a:ea typeface="Arial"/>
                <a:cs typeface="Arial"/>
              </a:defRPr>
            </a:pPr>
            <a:r>
              <a:rPr sz="2325" b="0">
                <a:solidFill>
                  <a:srgbClr val="18384B"/>
                </a:solidFill>
                <a:latin typeface="Arial"/>
                <a:ea typeface="Arial"/>
                <a:cs typeface="Arial"/>
              </a:rPr>
              <a:t>Build the network, assess feasible supply, review draft decisions and publish the agreed plan.</a:t>
            </a:r>
          </a:p>
        </p:txBody>
      </p:sp>
      <p:sp>
        <p:nvSpPr>
          <p:cNvPr id="8" name="Operations teams then record actual outcomes and use th">
            <a:extLst xmlns:a="http://schemas.openxmlformats.org/drawingml/2006/main">
              <a:ext uri="{FF2B5EF4-FFF2-40B4-BE49-F238E27FC236}">
                <a16:creationId xmlns:a16="http://schemas.microsoft.com/office/drawing/2014/main" id="{9047D731-3323-45CB-ADB1-C030FA3D1850}"/>
              </a:ext>
            </a:extLst>
          </p:cNvPr>
          <p:cNvSpPr>
            <a:spLocks xmlns:a="http://schemas.openxmlformats.org/drawingml/2006/main" noGrp="1"/>
          </p:cNvSpPr>
          <p:nvPr/>
        </p:nvSpPr>
        <p:spPr>
          <a:xfrm xmlns:a="http://schemas.openxmlformats.org/drawingml/2006/main">
            <a:off x="609600" y="7448550"/>
            <a:ext cx="1390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Operations teams then record actual outcomes and use the differences to prepare the next cycle.</a:t>
            </a:r>
          </a:p>
        </p:txBody>
      </p:sp>
      <p:sp>
        <p:nvSpPr>
          <p:cNvPr id="9" name="WIDispatch   /   Client demonstration">
            <a:extLst xmlns:a="http://schemas.openxmlformats.org/drawingml/2006/main">
              <a:ext uri="{FF2B5EF4-FFF2-40B4-BE49-F238E27FC236}">
                <a16:creationId xmlns:a16="http://schemas.microsoft.com/office/drawing/2014/main" id="{26C0DE49-DFD8-4591-9F2B-4CAA5CE42F9B}"/>
              </a:ext>
            </a:extLst>
          </p:cNvPr>
          <p:cNvSpPr>
            <a:spLocks xmlns:a="http://schemas.openxmlformats.org/drawingml/2006/main" noGrp="1"/>
          </p:cNvSpPr>
          <p:nvPr/>
        </p:nvSpPr>
        <p:spPr>
          <a:xfrm xmlns:a="http://schemas.openxmlformats.org/drawingml/2006/main">
            <a:off x="609600" y="81724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275" b="0">
                <a:solidFill>
                  <a:srgbClr val="547080"/>
                </a:solidFill>
                <a:latin typeface="Arial"/>
                <a:ea typeface="Arial"/>
                <a:cs typeface="Arial"/>
              </a:defRPr>
            </a:pPr>
            <a:r>
              <a:rPr sz="1275" b="0">
                <a:solidFill>
                  <a:srgbClr val="547080"/>
                </a:solidFill>
                <a:latin typeface="Arial"/>
                <a:ea typeface="Arial"/>
                <a:cs typeface="Arial"/>
              </a:rPr>
              <a:t>WIDispatch   /   Client demonstration</a:t>
            </a:r>
          </a:p>
        </p:txBody>
      </p:sp>
      <p:sp>
        <p:nvSpPr>
          <p:cNvPr id="10" name="03">
            <a:extLst xmlns:a="http://schemas.openxmlformats.org/drawingml/2006/main">
              <a:ext uri="{FF2B5EF4-FFF2-40B4-BE49-F238E27FC236}">
                <a16:creationId xmlns:a16="http://schemas.microsoft.com/office/drawing/2014/main" id="{02A4F156-58C9-48DE-84F6-485407D2A74C}"/>
              </a:ext>
            </a:extLst>
          </p:cNvPr>
          <p:cNvSpPr>
            <a:spLocks xmlns:a="http://schemas.openxmlformats.org/drawingml/2006/main" noGrp="1"/>
          </p:cNvSpPr>
          <p:nvPr/>
        </p:nvSpPr>
        <p:spPr>
          <a:xfrm xmlns:a="http://schemas.openxmlformats.org/drawingml/2006/main">
            <a:off x="13906500" y="8115300"/>
            <a:ext cx="723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547080"/>
                </a:solidFill>
                <a:latin typeface="Arial"/>
                <a:ea typeface="Arial"/>
                <a:cs typeface="Arial"/>
              </a:defRPr>
            </a:pPr>
            <a:r>
              <a:rPr sz="1650" b="0">
                <a:solidFill>
                  <a:srgbClr val="547080"/>
                </a:solidFill>
                <a:latin typeface="Arial"/>
                <a:ea typeface="Arial"/>
                <a:cs typeface="Arial"/>
              </a:rPr>
              <a:t>04</a:t>
            </a:r>
          </a:p>
        </p:txBody>
      </p:sp>
    </p:spTree>
    <p:extLst>
      <p:ext uri="{BB962C8B-B14F-4D97-AF65-F5344CB8AC3E}">
        <p14:creationId xmlns:p14="http://schemas.microsoft.com/office/powerpoint/2010/main" val="199340024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WIDispatch Desktop: planning and dispatch">
            <a:extLst xmlns:a="http://schemas.openxmlformats.org/drawingml/2006/main">
              <a:ext uri="{FF2B5EF4-FFF2-40B4-BE49-F238E27FC236}">
                <a16:creationId xmlns:a16="http://schemas.microsoft.com/office/drawing/2014/main" id="{F2F5ABE3-2EE0-4EBC-A68D-68B511B84E70}"/>
              </a:ext>
            </a:extLst>
          </p:cNvPr>
          <p:cNvSpPr>
            <a:spLocks xmlns:a="http://schemas.openxmlformats.org/drawingml/2006/main" noGrp="1"/>
          </p:cNvSpPr>
          <p:nvPr/>
        </p:nvSpPr>
        <p:spPr>
          <a:xfrm xmlns:a="http://schemas.openxmlformats.org/drawingml/2006/main">
            <a:off x="571500" y="428625"/>
            <a:ext cx="14097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374B"/>
                </a:solidFill>
                <a:latin typeface="Arial"/>
                <a:ea typeface="Arial"/>
                <a:cs typeface="Arial"/>
              </a:defRPr>
            </a:pPr>
            <a:r>
              <a:rPr sz="3300" b="1">
                <a:solidFill>
                  <a:srgbClr val="12374B"/>
                </a:solidFill>
                <a:latin typeface="Arial"/>
                <a:ea typeface="Arial"/>
                <a:cs typeface="Arial"/>
              </a:rPr>
              <a:t>WIDispatch Desktop: planning and dispatch</a:t>
            </a:r>
          </a:p>
        </p:txBody>
      </p:sp>
      <p:sp>
        <p:nvSpPr>
          <p:cNvPr id="2" name="Purpose">
            <a:extLst xmlns:a="http://schemas.openxmlformats.org/drawingml/2006/main">
              <a:ext uri="{FF2B5EF4-FFF2-40B4-BE49-F238E27FC236}">
                <a16:creationId xmlns:a16="http://schemas.microsoft.com/office/drawing/2014/main" id="{280A89EF-B897-4EB1-AC9E-E89ACB0CB52C}"/>
              </a:ext>
            </a:extLst>
          </p:cNvPr>
          <p:cNvSpPr>
            <a:spLocks xmlns:a="http://schemas.openxmlformats.org/drawingml/2006/main" noGrp="1"/>
          </p:cNvSpPr>
          <p:nvPr/>
        </p:nvSpPr>
        <p:spPr>
          <a:xfrm xmlns:a="http://schemas.openxmlformats.org/drawingml/2006/main">
            <a:off x="609600" y="1952625"/>
            <a:ext cx="4267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1">
                <a:solidFill>
                  <a:srgbClr val="007E92"/>
                </a:solidFill>
                <a:latin typeface="Arial"/>
                <a:ea typeface="Arial"/>
                <a:cs typeface="Arial"/>
              </a:defRPr>
            </a:pPr>
            <a:r>
              <a:rPr sz="2400" b="1">
                <a:solidFill>
                  <a:srgbClr val="007E92"/>
                </a:solidFill>
                <a:latin typeface="Arial"/>
                <a:ea typeface="Arial"/>
                <a:cs typeface="Arial"/>
              </a:rPr>
              <a:t>Purpose</a:t>
            </a:r>
          </a:p>
        </p:txBody>
      </p:sp>
      <p:sp>
        <p:nvSpPr>
          <p:cNvPr id="3" name="Provide the planner’s workspace for network modelling a">
            <a:extLst xmlns:a="http://schemas.openxmlformats.org/drawingml/2006/main">
              <a:ext uri="{FF2B5EF4-FFF2-40B4-BE49-F238E27FC236}">
                <a16:creationId xmlns:a16="http://schemas.microsoft.com/office/drawing/2014/main" id="{FD46E522-2E3F-4C19-B5D7-268FFD53DAB5}"/>
              </a:ext>
            </a:extLst>
          </p:cNvPr>
          <p:cNvSpPr>
            <a:spLocks xmlns:a="http://schemas.openxmlformats.org/drawingml/2006/main" noGrp="1"/>
          </p:cNvSpPr>
          <p:nvPr/>
        </p:nvSpPr>
        <p:spPr>
          <a:xfrm xmlns:a="http://schemas.openxmlformats.org/drawingml/2006/main">
            <a:off x="609600" y="3067050"/>
            <a:ext cx="4238625"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0">
                <a:solidFill>
                  <a:srgbClr val="18384B"/>
                </a:solidFill>
                <a:latin typeface="Arial"/>
                <a:ea typeface="Arial"/>
                <a:cs typeface="Arial"/>
              </a:defRPr>
            </a:pPr>
            <a:r>
              <a:rPr sz="2325" b="0">
                <a:solidFill>
                  <a:srgbClr val="18384B"/>
                </a:solidFill>
                <a:latin typeface="Arial"/>
                <a:ea typeface="Arial"/>
                <a:cs typeface="Arial"/>
              </a:rPr>
              <a:t>Provide the planner’s workspace for network modelling and dispatch decisions.</a:t>
            </a:r>
          </a:p>
        </p:txBody>
      </p:sp>
      <p:sp>
        <p:nvSpPr>
          <p:cNvPr id="4" name="What it does">
            <a:extLst xmlns:a="http://schemas.openxmlformats.org/drawingml/2006/main">
              <a:ext uri="{FF2B5EF4-FFF2-40B4-BE49-F238E27FC236}">
                <a16:creationId xmlns:a16="http://schemas.microsoft.com/office/drawing/2014/main" id="{D8829AAF-8372-4934-ADEC-E38259E146FE}"/>
              </a:ext>
            </a:extLst>
          </p:cNvPr>
          <p:cNvSpPr>
            <a:spLocks xmlns:a="http://schemas.openxmlformats.org/drawingml/2006/main" noGrp="1"/>
          </p:cNvSpPr>
          <p:nvPr/>
        </p:nvSpPr>
        <p:spPr>
          <a:xfrm xmlns:a="http://schemas.openxmlformats.org/drawingml/2006/main">
            <a:off x="5419725" y="1952625"/>
            <a:ext cx="4267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1">
                <a:solidFill>
                  <a:srgbClr val="007E92"/>
                </a:solidFill>
                <a:latin typeface="Arial"/>
                <a:ea typeface="Arial"/>
                <a:cs typeface="Arial"/>
              </a:defRPr>
            </a:pPr>
            <a:r>
              <a:rPr sz="2400" b="1">
                <a:solidFill>
                  <a:srgbClr val="007E92"/>
                </a:solidFill>
                <a:latin typeface="Arial"/>
                <a:ea typeface="Arial"/>
                <a:cs typeface="Arial"/>
              </a:rPr>
              <a:t>What it does</a:t>
            </a:r>
          </a:p>
        </p:txBody>
      </p:sp>
      <p:sp>
        <p:nvSpPr>
          <p:cNvPr id="5" name="Maintain the shared asset registry, build networks and ">
            <a:extLst xmlns:a="http://schemas.openxmlformats.org/drawingml/2006/main">
              <a:ext uri="{FF2B5EF4-FFF2-40B4-BE49-F238E27FC236}">
                <a16:creationId xmlns:a16="http://schemas.microsoft.com/office/drawing/2014/main" id="{33249700-E2AD-44FE-8A4C-2A2915DE2AC3}"/>
              </a:ext>
            </a:extLst>
          </p:cNvPr>
          <p:cNvSpPr>
            <a:spLocks xmlns:a="http://schemas.openxmlformats.org/drawingml/2006/main" noGrp="1"/>
          </p:cNvSpPr>
          <p:nvPr/>
        </p:nvSpPr>
        <p:spPr>
          <a:xfrm xmlns:a="http://schemas.openxmlformats.org/drawingml/2006/main">
            <a:off x="5419725" y="3067050"/>
            <a:ext cx="4238625"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0">
                <a:solidFill>
                  <a:srgbClr val="18384B"/>
                </a:solidFill>
                <a:latin typeface="Arial"/>
                <a:ea typeface="Arial"/>
                <a:cs typeface="Arial"/>
              </a:defRPr>
            </a:pPr>
            <a:r>
              <a:rPr sz="2325" b="0">
                <a:solidFill>
                  <a:srgbClr val="18384B"/>
                </a:solidFill>
                <a:latin typeface="Arial"/>
                <a:ea typeface="Arial"/>
                <a:cs typeface="Arial"/>
              </a:rPr>
              <a:t>Maintain the shared asset registry, build networks and transmission systems, apply scenario assumptions, run simulations, explain results and publish reviewed decisions.</a:t>
            </a:r>
          </a:p>
        </p:txBody>
      </p:sp>
      <p:sp>
        <p:nvSpPr>
          <p:cNvPr id="6" name="Objective">
            <a:extLst xmlns:a="http://schemas.openxmlformats.org/drawingml/2006/main">
              <a:ext uri="{FF2B5EF4-FFF2-40B4-BE49-F238E27FC236}">
                <a16:creationId xmlns:a16="http://schemas.microsoft.com/office/drawing/2014/main" id="{C4E06F34-0ADB-414B-83CC-7887F32802A5}"/>
              </a:ext>
            </a:extLst>
          </p:cNvPr>
          <p:cNvSpPr>
            <a:spLocks xmlns:a="http://schemas.openxmlformats.org/drawingml/2006/main" noGrp="1"/>
          </p:cNvSpPr>
          <p:nvPr/>
        </p:nvSpPr>
        <p:spPr>
          <a:xfrm xmlns:a="http://schemas.openxmlformats.org/drawingml/2006/main">
            <a:off x="10229850" y="1952625"/>
            <a:ext cx="4267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1">
                <a:solidFill>
                  <a:srgbClr val="007E92"/>
                </a:solidFill>
                <a:latin typeface="Arial"/>
                <a:ea typeface="Arial"/>
                <a:cs typeface="Arial"/>
              </a:defRPr>
            </a:pPr>
            <a:r>
              <a:rPr sz="2400" b="1">
                <a:solidFill>
                  <a:srgbClr val="007E92"/>
                </a:solidFill>
                <a:latin typeface="Arial"/>
                <a:ea typeface="Arial"/>
                <a:cs typeface="Arial"/>
              </a:rPr>
              <a:t>Objective</a:t>
            </a:r>
          </a:p>
        </p:txBody>
      </p:sp>
      <p:sp>
        <p:nvSpPr>
          <p:cNvPr id="7" name="Produce a feasible, explainable operating plan that ope">
            <a:extLst xmlns:a="http://schemas.openxmlformats.org/drawingml/2006/main">
              <a:ext uri="{FF2B5EF4-FFF2-40B4-BE49-F238E27FC236}">
                <a16:creationId xmlns:a16="http://schemas.microsoft.com/office/drawing/2014/main" id="{AD5EE77A-2766-400E-8EBD-4EC00077B300}"/>
              </a:ext>
            </a:extLst>
          </p:cNvPr>
          <p:cNvSpPr>
            <a:spLocks xmlns:a="http://schemas.openxmlformats.org/drawingml/2006/main" noGrp="1"/>
          </p:cNvSpPr>
          <p:nvPr/>
        </p:nvSpPr>
        <p:spPr>
          <a:xfrm xmlns:a="http://schemas.openxmlformats.org/drawingml/2006/main">
            <a:off x="10229850" y="3067050"/>
            <a:ext cx="4238625"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0">
                <a:solidFill>
                  <a:srgbClr val="18384B"/>
                </a:solidFill>
                <a:latin typeface="Arial"/>
                <a:ea typeface="Arial"/>
                <a:cs typeface="Arial"/>
              </a:defRPr>
            </a:pPr>
            <a:r>
              <a:rPr sz="2325" b="0">
                <a:solidFill>
                  <a:srgbClr val="18384B"/>
                </a:solidFill>
                <a:latin typeface="Arial"/>
                <a:ea typeface="Arial"/>
                <a:cs typeface="Arial"/>
              </a:rPr>
              <a:t>Produce a feasible, explainable operating plan that operational teams can act on.</a:t>
            </a:r>
          </a:p>
        </p:txBody>
      </p:sp>
      <p:sp>
        <p:nvSpPr>
          <p:cNvPr id="8" name="WIDispatch   /   Client demonstration">
            <a:extLst xmlns:a="http://schemas.openxmlformats.org/drawingml/2006/main">
              <a:ext uri="{FF2B5EF4-FFF2-40B4-BE49-F238E27FC236}">
                <a16:creationId xmlns:a16="http://schemas.microsoft.com/office/drawing/2014/main" id="{F923FD04-0BC4-4AD6-ADA4-15DF78E7DEDD}"/>
              </a:ext>
            </a:extLst>
          </p:cNvPr>
          <p:cNvSpPr>
            <a:spLocks xmlns:a="http://schemas.openxmlformats.org/drawingml/2006/main" noGrp="1"/>
          </p:cNvSpPr>
          <p:nvPr/>
        </p:nvSpPr>
        <p:spPr>
          <a:xfrm xmlns:a="http://schemas.openxmlformats.org/drawingml/2006/main">
            <a:off x="609600" y="81724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547080"/>
                </a:solidFill>
                <a:latin typeface="Arial"/>
                <a:ea typeface="Arial"/>
                <a:cs typeface="Arial"/>
              </a:defRPr>
            </a:pPr>
            <a:r>
              <a:rPr sz="1275" b="0">
                <a:solidFill>
                  <a:srgbClr val="547080"/>
                </a:solidFill>
                <a:latin typeface="Arial"/>
                <a:ea typeface="Arial"/>
                <a:cs typeface="Arial"/>
              </a:rPr>
              <a:t>WIDispatch   /   Client demonstration</a:t>
            </a:r>
          </a:p>
        </p:txBody>
      </p:sp>
      <p:sp>
        <p:nvSpPr>
          <p:cNvPr id="9" name="00">
            <a:extLst xmlns:a="http://schemas.openxmlformats.org/drawingml/2006/main">
              <a:ext uri="{FF2B5EF4-FFF2-40B4-BE49-F238E27FC236}">
                <a16:creationId xmlns:a16="http://schemas.microsoft.com/office/drawing/2014/main" id="{A6954B66-905A-4D3D-915C-6AD3A7F95C21}"/>
              </a:ext>
            </a:extLst>
          </p:cNvPr>
          <p:cNvSpPr>
            <a:spLocks xmlns:a="http://schemas.openxmlformats.org/drawingml/2006/main" noGrp="1"/>
          </p:cNvSpPr>
          <p:nvPr/>
        </p:nvSpPr>
        <p:spPr>
          <a:xfrm xmlns:a="http://schemas.openxmlformats.org/drawingml/2006/main">
            <a:off x="13906500" y="8115300"/>
            <a:ext cx="723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547080"/>
                </a:solidFill>
                <a:latin typeface="Arial"/>
                <a:ea typeface="Arial"/>
                <a:cs typeface="Arial"/>
              </a:defRPr>
            </a:pPr>
            <a:r>
              <a:rPr sz="1650" b="0">
                <a:solidFill>
                  <a:srgbClr val="547080"/>
                </a:solidFill>
                <a:latin typeface="Arial"/>
                <a:ea typeface="Arial"/>
                <a:cs typeface="Arial"/>
              </a:rPr>
              <a:t>05</a:t>
            </a:r>
          </a:p>
        </p:txBody>
      </p:sp>
    </p:spTree>
    <p:extLst>
      <p:ext uri="{BB962C8B-B14F-4D97-AF65-F5344CB8AC3E}">
        <p14:creationId xmlns:p14="http://schemas.microsoft.com/office/powerpoint/2010/main" val="35766494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The shared asset registry">
            <a:extLst xmlns:a="http://schemas.openxmlformats.org/drawingml/2006/main">
              <a:ext uri="{FF2B5EF4-FFF2-40B4-BE49-F238E27FC236}">
                <a16:creationId xmlns:a16="http://schemas.microsoft.com/office/drawing/2014/main" id="{37389CD7-25C3-42E4-82C6-235EC9ABA5CC}"/>
              </a:ext>
            </a:extLst>
          </p:cNvPr>
          <p:cNvSpPr>
            <a:spLocks xmlns:a="http://schemas.openxmlformats.org/drawingml/2006/main" noGrp="1"/>
          </p:cNvSpPr>
          <p:nvPr/>
        </p:nvSpPr>
        <p:spPr>
          <a:xfrm xmlns:a="http://schemas.openxmlformats.org/drawingml/2006/main">
            <a:off x="571500" y="428625"/>
            <a:ext cx="140970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300" b="1">
                <a:solidFill>
                  <a:srgbClr val="12374B"/>
                </a:solidFill>
                <a:latin typeface="Arial"/>
                <a:ea typeface="Arial"/>
                <a:cs typeface="Arial"/>
              </a:defRPr>
            </a:pPr>
            <a:r>
              <a:rPr sz="3300" b="1">
                <a:solidFill>
                  <a:srgbClr val="12374B"/>
                </a:solidFill>
                <a:latin typeface="Arial"/>
                <a:ea typeface="Arial"/>
                <a:cs typeface="Arial"/>
              </a:rPr>
              <a:t>The shared asset registry</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9b165506319e4dfe"/>
          <a:stretch xmlns:a="http://schemas.openxmlformats.org/drawingml/2006/main"/>
        </p:blipFill>
        <p:spPr>
          <a:xfrm xmlns:a="http://schemas.openxmlformats.org/drawingml/2006/main">
            <a:off x="476250" y="1831669"/>
            <a:ext cx="10668000" cy="5099661"/>
          </a:xfrm>
          <a:prstGeom xmlns:a="http://schemas.openxmlformats.org/drawingml/2006/main" prst="rect">
            <a:avLst/>
          </a:prstGeom>
        </p:spPr>
      </p:pic>
      <p:sp>
        <p:nvSpPr>
          <p:cNvPr id="3" name="01">
            <a:extLst xmlns:a="http://schemas.openxmlformats.org/drawingml/2006/main">
              <a:ext uri="{FF2B5EF4-FFF2-40B4-BE49-F238E27FC236}">
                <a16:creationId xmlns:a16="http://schemas.microsoft.com/office/drawing/2014/main" id="{A4714C0D-4B6F-48F5-BF1E-35A05B9A544B}"/>
              </a:ext>
            </a:extLst>
          </p:cNvPr>
          <p:cNvSpPr>
            <a:spLocks xmlns:a="http://schemas.openxmlformats.org/drawingml/2006/main" noGrp="1"/>
          </p:cNvSpPr>
          <p:nvPr/>
        </p:nvSpPr>
        <p:spPr>
          <a:xfrm xmlns:a="http://schemas.openxmlformats.org/drawingml/2006/main">
            <a:off x="11525250" y="1771650"/>
            <a:ext cx="95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01</a:t>
            </a:r>
          </a:p>
        </p:txBody>
      </p:sp>
      <p:sp>
        <p:nvSpPr>
          <p:cNvPr id="4" name="Open Asset Registry in Desktop.">
            <a:extLst xmlns:a="http://schemas.openxmlformats.org/drawingml/2006/main">
              <a:ext uri="{FF2B5EF4-FFF2-40B4-BE49-F238E27FC236}">
                <a16:creationId xmlns:a16="http://schemas.microsoft.com/office/drawing/2014/main" id="{AD32D3A0-A77E-45DB-A857-9195D0A79C4A}"/>
              </a:ext>
            </a:extLst>
          </p:cNvPr>
          <p:cNvSpPr>
            <a:spLocks xmlns:a="http://schemas.openxmlformats.org/drawingml/2006/main" noGrp="1"/>
          </p:cNvSpPr>
          <p:nvPr/>
        </p:nvSpPr>
        <p:spPr>
          <a:xfrm xmlns:a="http://schemas.openxmlformats.org/drawingml/2006/main">
            <a:off x="11525250" y="2238375"/>
            <a:ext cx="30765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025" b="0">
                <a:solidFill>
                  <a:srgbClr val="18384B"/>
                </a:solidFill>
                <a:latin typeface="Arial"/>
                <a:ea typeface="Arial"/>
                <a:cs typeface="Arial"/>
              </a:defRPr>
            </a:pPr>
            <a:r>
              <a:rPr sz="2025" b="0">
                <a:solidFill>
                  <a:srgbClr val="18384B"/>
                </a:solidFill>
                <a:latin typeface="Arial"/>
                <a:ea typeface="Arial"/>
                <a:cs typeface="Arial"/>
              </a:rPr>
              <a:t>Open Asset Registry in Desktop.</a:t>
            </a:r>
          </a:p>
        </p:txBody>
      </p:sp>
      <p:sp>
        <p:nvSpPr>
          <p:cNvPr id="5" name="02">
            <a:extLst xmlns:a="http://schemas.openxmlformats.org/drawingml/2006/main">
              <a:ext uri="{FF2B5EF4-FFF2-40B4-BE49-F238E27FC236}">
                <a16:creationId xmlns:a16="http://schemas.microsoft.com/office/drawing/2014/main" id="{EE0047AC-F564-4C6F-A79C-48CE205351B7}"/>
              </a:ext>
            </a:extLst>
          </p:cNvPr>
          <p:cNvSpPr>
            <a:spLocks xmlns:a="http://schemas.openxmlformats.org/drawingml/2006/main" noGrp="1"/>
          </p:cNvSpPr>
          <p:nvPr/>
        </p:nvSpPr>
        <p:spPr>
          <a:xfrm xmlns:a="http://schemas.openxmlformats.org/drawingml/2006/main">
            <a:off x="11525250" y="3429000"/>
            <a:ext cx="95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02</a:t>
            </a:r>
          </a:p>
        </p:txBody>
      </p:sp>
      <p:sp>
        <p:nvSpPr>
          <p:cNvPr id="6" name="Locate the asset by category or map.">
            <a:extLst xmlns:a="http://schemas.openxmlformats.org/drawingml/2006/main">
              <a:ext uri="{FF2B5EF4-FFF2-40B4-BE49-F238E27FC236}">
                <a16:creationId xmlns:a16="http://schemas.microsoft.com/office/drawing/2014/main" id="{8CDFDDBF-9B40-4145-842B-8269CEB69B21}"/>
              </a:ext>
            </a:extLst>
          </p:cNvPr>
          <p:cNvSpPr>
            <a:spLocks xmlns:a="http://schemas.openxmlformats.org/drawingml/2006/main" noGrp="1"/>
          </p:cNvSpPr>
          <p:nvPr/>
        </p:nvSpPr>
        <p:spPr>
          <a:xfrm xmlns:a="http://schemas.openxmlformats.org/drawingml/2006/main">
            <a:off x="11525250" y="3895725"/>
            <a:ext cx="30765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025" b="0">
                <a:solidFill>
                  <a:srgbClr val="18384B"/>
                </a:solidFill>
                <a:latin typeface="Arial"/>
                <a:ea typeface="Arial"/>
                <a:cs typeface="Arial"/>
              </a:defRPr>
            </a:pPr>
            <a:r>
              <a:rPr sz="2025" b="0">
                <a:solidFill>
                  <a:srgbClr val="18384B"/>
                </a:solidFill>
                <a:latin typeface="Arial"/>
                <a:ea typeface="Arial"/>
                <a:cs typeface="Arial"/>
              </a:rPr>
              <a:t>Locate the asset by category or map.</a:t>
            </a:r>
          </a:p>
        </p:txBody>
      </p:sp>
      <p:sp>
        <p:nvSpPr>
          <p:cNvPr id="7" name="03">
            <a:extLst xmlns:a="http://schemas.openxmlformats.org/drawingml/2006/main">
              <a:ext uri="{FF2B5EF4-FFF2-40B4-BE49-F238E27FC236}">
                <a16:creationId xmlns:a16="http://schemas.microsoft.com/office/drawing/2014/main" id="{E1D7D521-8854-42A0-A436-F6928FF20DAA}"/>
              </a:ext>
            </a:extLst>
          </p:cNvPr>
          <p:cNvSpPr>
            <a:spLocks xmlns:a="http://schemas.openxmlformats.org/drawingml/2006/main" noGrp="1"/>
          </p:cNvSpPr>
          <p:nvPr/>
        </p:nvSpPr>
        <p:spPr>
          <a:xfrm xmlns:a="http://schemas.openxmlformats.org/drawingml/2006/main">
            <a:off x="11525250" y="5086350"/>
            <a:ext cx="95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03</a:t>
            </a:r>
          </a:p>
        </p:txBody>
      </p:sp>
      <p:sp>
        <p:nvSpPr>
          <p:cNvPr id="8" name="Confirm the operating status and location.">
            <a:extLst xmlns:a="http://schemas.openxmlformats.org/drawingml/2006/main">
              <a:ext uri="{FF2B5EF4-FFF2-40B4-BE49-F238E27FC236}">
                <a16:creationId xmlns:a16="http://schemas.microsoft.com/office/drawing/2014/main" id="{60D34715-5B5F-4BC2-B78D-D785D61ADA34}"/>
              </a:ext>
            </a:extLst>
          </p:cNvPr>
          <p:cNvSpPr>
            <a:spLocks xmlns:a="http://schemas.openxmlformats.org/drawingml/2006/main" noGrp="1"/>
          </p:cNvSpPr>
          <p:nvPr/>
        </p:nvSpPr>
        <p:spPr>
          <a:xfrm xmlns:a="http://schemas.openxmlformats.org/drawingml/2006/main">
            <a:off x="11525250" y="5553075"/>
            <a:ext cx="30765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025" b="0">
                <a:solidFill>
                  <a:srgbClr val="18384B"/>
                </a:solidFill>
                <a:latin typeface="Arial"/>
                <a:ea typeface="Arial"/>
                <a:cs typeface="Arial"/>
              </a:defRPr>
            </a:pPr>
            <a:r>
              <a:rPr sz="2025" b="0">
                <a:solidFill>
                  <a:srgbClr val="18384B"/>
                </a:solidFill>
                <a:latin typeface="Arial"/>
                <a:ea typeface="Arial"/>
                <a:cs typeface="Arial"/>
              </a:rPr>
              <a:t>Confirm the operating status and location.</a:t>
            </a:r>
          </a:p>
        </p:txBody>
      </p:sp>
      <p:sp>
        <p:nvSpPr>
          <p:cNvPr id="9" name="The same asset identity connects portal records, networ">
            <a:extLst xmlns:a="http://schemas.openxmlformats.org/drawingml/2006/main">
              <a:ext uri="{FF2B5EF4-FFF2-40B4-BE49-F238E27FC236}">
                <a16:creationId xmlns:a16="http://schemas.microsoft.com/office/drawing/2014/main" id="{9F7C3660-03FA-43E6-991C-503D0476398A}"/>
              </a:ext>
            </a:extLst>
          </p:cNvPr>
          <p:cNvSpPr>
            <a:spLocks xmlns:a="http://schemas.openxmlformats.org/drawingml/2006/main" noGrp="1"/>
          </p:cNvSpPr>
          <p:nvPr/>
        </p:nvSpPr>
        <p:spPr>
          <a:xfrm xmlns:a="http://schemas.openxmlformats.org/drawingml/2006/main">
            <a:off x="609600" y="7448550"/>
            <a:ext cx="1390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The same asset identity connects portal records, network elements and dispatch outputs.</a:t>
            </a:r>
          </a:p>
        </p:txBody>
      </p:sp>
      <p:sp>
        <p:nvSpPr>
          <p:cNvPr id="10" name="WIDispatch   /   Client demonstration">
            <a:extLst xmlns:a="http://schemas.openxmlformats.org/drawingml/2006/main">
              <a:ext uri="{FF2B5EF4-FFF2-40B4-BE49-F238E27FC236}">
                <a16:creationId xmlns:a16="http://schemas.microsoft.com/office/drawing/2014/main" id="{1707DA1D-7C25-4B3D-9146-0E273F120454}"/>
              </a:ext>
            </a:extLst>
          </p:cNvPr>
          <p:cNvSpPr>
            <a:spLocks xmlns:a="http://schemas.openxmlformats.org/drawingml/2006/main" noGrp="1"/>
          </p:cNvSpPr>
          <p:nvPr/>
        </p:nvSpPr>
        <p:spPr>
          <a:xfrm xmlns:a="http://schemas.openxmlformats.org/drawingml/2006/main">
            <a:off x="609600" y="81724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275" b="0">
                <a:solidFill>
                  <a:srgbClr val="547080"/>
                </a:solidFill>
                <a:latin typeface="Arial"/>
                <a:ea typeface="Arial"/>
                <a:cs typeface="Arial"/>
              </a:defRPr>
            </a:pPr>
            <a:r>
              <a:rPr sz="1275" b="0">
                <a:solidFill>
                  <a:srgbClr val="547080"/>
                </a:solidFill>
                <a:latin typeface="Arial"/>
                <a:ea typeface="Arial"/>
                <a:cs typeface="Arial"/>
              </a:rPr>
              <a:t>WIDispatch   /   Client demonstration</a:t>
            </a:r>
          </a:p>
        </p:txBody>
      </p:sp>
      <p:sp>
        <p:nvSpPr>
          <p:cNvPr id="11" name="04">
            <a:extLst xmlns:a="http://schemas.openxmlformats.org/drawingml/2006/main">
              <a:ext uri="{FF2B5EF4-FFF2-40B4-BE49-F238E27FC236}">
                <a16:creationId xmlns:a16="http://schemas.microsoft.com/office/drawing/2014/main" id="{46FB0D13-B473-4E74-B6F5-9F2FBF833512}"/>
              </a:ext>
            </a:extLst>
          </p:cNvPr>
          <p:cNvSpPr>
            <a:spLocks xmlns:a="http://schemas.openxmlformats.org/drawingml/2006/main" noGrp="1"/>
          </p:cNvSpPr>
          <p:nvPr/>
        </p:nvSpPr>
        <p:spPr>
          <a:xfrm xmlns:a="http://schemas.openxmlformats.org/drawingml/2006/main">
            <a:off x="13906500" y="8115300"/>
            <a:ext cx="723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547080"/>
                </a:solidFill>
                <a:latin typeface="Arial"/>
                <a:ea typeface="Arial"/>
                <a:cs typeface="Arial"/>
              </a:defRPr>
            </a:pPr>
            <a:r>
              <a:rPr sz="1650" b="0">
                <a:solidFill>
                  <a:srgbClr val="547080"/>
                </a:solidFill>
                <a:latin typeface="Arial"/>
                <a:ea typeface="Arial"/>
                <a:cs typeface="Arial"/>
              </a:rPr>
              <a:t>06</a:t>
            </a:r>
          </a:p>
        </p:txBody>
      </p:sp>
    </p:spTree>
    <p:extLst>
      <p:ext uri="{BB962C8B-B14F-4D97-AF65-F5344CB8AC3E}">
        <p14:creationId xmlns:p14="http://schemas.microsoft.com/office/powerpoint/2010/main" val="77318251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Asset identity and operating specifications">
            <a:extLst xmlns:a="http://schemas.openxmlformats.org/drawingml/2006/main">
              <a:ext uri="{FF2B5EF4-FFF2-40B4-BE49-F238E27FC236}">
                <a16:creationId xmlns:a16="http://schemas.microsoft.com/office/drawing/2014/main" id="{F9AF07DB-20E2-4652-8C44-179B902CD450}"/>
              </a:ext>
            </a:extLst>
          </p:cNvPr>
          <p:cNvSpPr>
            <a:spLocks xmlns:a="http://schemas.openxmlformats.org/drawingml/2006/main" noGrp="1"/>
          </p:cNvSpPr>
          <p:nvPr/>
        </p:nvSpPr>
        <p:spPr>
          <a:xfrm xmlns:a="http://schemas.openxmlformats.org/drawingml/2006/main">
            <a:off x="571500" y="428625"/>
            <a:ext cx="140970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300" b="1">
                <a:solidFill>
                  <a:srgbClr val="12374B"/>
                </a:solidFill>
                <a:latin typeface="Arial"/>
                <a:ea typeface="Arial"/>
                <a:cs typeface="Arial"/>
              </a:defRPr>
            </a:pPr>
            <a:r>
              <a:rPr sz="3300" b="1">
                <a:solidFill>
                  <a:srgbClr val="12374B"/>
                </a:solidFill>
                <a:latin typeface="Arial"/>
                <a:ea typeface="Arial"/>
                <a:cs typeface="Arial"/>
              </a:rPr>
              <a:t>Asset identity and operating specifications</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64a702be96004265"/>
          <a:stretch xmlns:a="http://schemas.openxmlformats.org/drawingml/2006/main"/>
        </p:blipFill>
        <p:spPr>
          <a:xfrm xmlns:a="http://schemas.openxmlformats.org/drawingml/2006/main">
            <a:off x="476250" y="1831669"/>
            <a:ext cx="10668000" cy="5099661"/>
          </a:xfrm>
          <a:prstGeom xmlns:a="http://schemas.openxmlformats.org/drawingml/2006/main" prst="rect">
            <a:avLst/>
          </a:prstGeom>
        </p:spPr>
      </p:pic>
      <p:sp>
        <p:nvSpPr>
          <p:cNvPr id="3" name="01">
            <a:extLst xmlns:a="http://schemas.openxmlformats.org/drawingml/2006/main">
              <a:ext uri="{FF2B5EF4-FFF2-40B4-BE49-F238E27FC236}">
                <a16:creationId xmlns:a16="http://schemas.microsoft.com/office/drawing/2014/main" id="{A90BE851-57A8-472B-92FD-EFFA7D4D5F44}"/>
              </a:ext>
            </a:extLst>
          </p:cNvPr>
          <p:cNvSpPr>
            <a:spLocks xmlns:a="http://schemas.openxmlformats.org/drawingml/2006/main" noGrp="1"/>
          </p:cNvSpPr>
          <p:nvPr/>
        </p:nvSpPr>
        <p:spPr>
          <a:xfrm xmlns:a="http://schemas.openxmlformats.org/drawingml/2006/main">
            <a:off x="11525250" y="1771650"/>
            <a:ext cx="95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01</a:t>
            </a:r>
          </a:p>
        </p:txBody>
      </p:sp>
      <p:sp>
        <p:nvSpPr>
          <p:cNvPr id="4" name="Switch to List and locate the exact asset.">
            <a:extLst xmlns:a="http://schemas.openxmlformats.org/drawingml/2006/main">
              <a:ext uri="{FF2B5EF4-FFF2-40B4-BE49-F238E27FC236}">
                <a16:creationId xmlns:a16="http://schemas.microsoft.com/office/drawing/2014/main" id="{B390C19B-FA48-4B7A-A67E-68AA6431FDCA}"/>
              </a:ext>
            </a:extLst>
          </p:cNvPr>
          <p:cNvSpPr>
            <a:spLocks xmlns:a="http://schemas.openxmlformats.org/drawingml/2006/main" noGrp="1"/>
          </p:cNvSpPr>
          <p:nvPr/>
        </p:nvSpPr>
        <p:spPr>
          <a:xfrm xmlns:a="http://schemas.openxmlformats.org/drawingml/2006/main">
            <a:off x="11525250" y="2238375"/>
            <a:ext cx="30765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025" b="0">
                <a:solidFill>
                  <a:srgbClr val="18384B"/>
                </a:solidFill>
                <a:latin typeface="Arial"/>
                <a:ea typeface="Arial"/>
                <a:cs typeface="Arial"/>
              </a:defRPr>
            </a:pPr>
            <a:r>
              <a:rPr sz="2025" b="0">
                <a:solidFill>
                  <a:srgbClr val="18384B"/>
                </a:solidFill>
                <a:latin typeface="Arial"/>
                <a:ea typeface="Arial"/>
                <a:cs typeface="Arial"/>
              </a:rPr>
              <a:t>Switch to List and locate the exact asset.</a:t>
            </a:r>
          </a:p>
        </p:txBody>
      </p:sp>
      <p:sp>
        <p:nvSpPr>
          <p:cNvPr id="5" name="02">
            <a:extLst xmlns:a="http://schemas.openxmlformats.org/drawingml/2006/main">
              <a:ext uri="{FF2B5EF4-FFF2-40B4-BE49-F238E27FC236}">
                <a16:creationId xmlns:a16="http://schemas.microsoft.com/office/drawing/2014/main" id="{B45DF7E0-BA36-45A3-9E47-E25CE3F7C100}"/>
              </a:ext>
            </a:extLst>
          </p:cNvPr>
          <p:cNvSpPr>
            <a:spLocks xmlns:a="http://schemas.openxmlformats.org/drawingml/2006/main" noGrp="1"/>
          </p:cNvSpPr>
          <p:nvPr/>
        </p:nvSpPr>
        <p:spPr>
          <a:xfrm xmlns:a="http://schemas.openxmlformats.org/drawingml/2006/main">
            <a:off x="11525250" y="3429000"/>
            <a:ext cx="95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02</a:t>
            </a:r>
          </a:p>
        </p:txBody>
      </p:sp>
      <p:sp>
        <p:nvSpPr>
          <p:cNvPr id="6" name="Open View Details to inspect specifications.">
            <a:extLst xmlns:a="http://schemas.openxmlformats.org/drawingml/2006/main">
              <a:ext uri="{FF2B5EF4-FFF2-40B4-BE49-F238E27FC236}">
                <a16:creationId xmlns:a16="http://schemas.microsoft.com/office/drawing/2014/main" id="{99AD3D82-218A-4D91-BFAD-89A1DBEAD76B}"/>
              </a:ext>
            </a:extLst>
          </p:cNvPr>
          <p:cNvSpPr>
            <a:spLocks xmlns:a="http://schemas.openxmlformats.org/drawingml/2006/main" noGrp="1"/>
          </p:cNvSpPr>
          <p:nvPr/>
        </p:nvSpPr>
        <p:spPr>
          <a:xfrm xmlns:a="http://schemas.openxmlformats.org/drawingml/2006/main">
            <a:off x="11525250" y="3895725"/>
            <a:ext cx="30765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025" b="0">
                <a:solidFill>
                  <a:srgbClr val="18384B"/>
                </a:solidFill>
                <a:latin typeface="Arial"/>
                <a:ea typeface="Arial"/>
                <a:cs typeface="Arial"/>
              </a:defRPr>
            </a:pPr>
            <a:r>
              <a:rPr sz="2025" b="0">
                <a:solidFill>
                  <a:srgbClr val="18384B"/>
                </a:solidFill>
                <a:latin typeface="Arial"/>
                <a:ea typeface="Arial"/>
                <a:cs typeface="Arial"/>
              </a:rPr>
              <a:t>Open View Details to inspect specifications.</a:t>
            </a:r>
          </a:p>
        </p:txBody>
      </p:sp>
      <p:sp>
        <p:nvSpPr>
          <p:cNvPr id="7" name="03">
            <a:extLst xmlns:a="http://schemas.openxmlformats.org/drawingml/2006/main">
              <a:ext uri="{FF2B5EF4-FFF2-40B4-BE49-F238E27FC236}">
                <a16:creationId xmlns:a16="http://schemas.microsoft.com/office/drawing/2014/main" id="{1525479E-4BD4-477C-A89D-93452BA96FFC}"/>
              </a:ext>
            </a:extLst>
          </p:cNvPr>
          <p:cNvSpPr>
            <a:spLocks xmlns:a="http://schemas.openxmlformats.org/drawingml/2006/main" noGrp="1"/>
          </p:cNvSpPr>
          <p:nvPr/>
        </p:nvSpPr>
        <p:spPr>
          <a:xfrm xmlns:a="http://schemas.openxmlformats.org/drawingml/2006/main">
            <a:off x="11525250" y="5086350"/>
            <a:ext cx="95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03</a:t>
            </a:r>
          </a:p>
        </p:txBody>
      </p:sp>
      <p:sp>
        <p:nvSpPr>
          <p:cNvPr id="8" name="Use Edit only for an authorized master-data change.">
            <a:extLst xmlns:a="http://schemas.openxmlformats.org/drawingml/2006/main">
              <a:ext uri="{FF2B5EF4-FFF2-40B4-BE49-F238E27FC236}">
                <a16:creationId xmlns:a16="http://schemas.microsoft.com/office/drawing/2014/main" id="{FE726DA3-BF5D-489D-90CD-9CC2D4220ED2}"/>
              </a:ext>
            </a:extLst>
          </p:cNvPr>
          <p:cNvSpPr>
            <a:spLocks xmlns:a="http://schemas.openxmlformats.org/drawingml/2006/main" noGrp="1"/>
          </p:cNvSpPr>
          <p:nvPr/>
        </p:nvSpPr>
        <p:spPr>
          <a:xfrm xmlns:a="http://schemas.openxmlformats.org/drawingml/2006/main">
            <a:off x="11525250" y="5553075"/>
            <a:ext cx="30765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025" b="0">
                <a:solidFill>
                  <a:srgbClr val="18384B"/>
                </a:solidFill>
                <a:latin typeface="Arial"/>
                <a:ea typeface="Arial"/>
                <a:cs typeface="Arial"/>
              </a:defRPr>
            </a:pPr>
            <a:r>
              <a:rPr sz="2025" b="0">
                <a:solidFill>
                  <a:srgbClr val="18384B"/>
                </a:solidFill>
                <a:latin typeface="Arial"/>
                <a:ea typeface="Arial"/>
                <a:cs typeface="Arial"/>
              </a:rPr>
              <a:t>Use Edit only for an authorized master-data change.</a:t>
            </a:r>
          </a:p>
        </p:txBody>
      </p:sp>
      <p:sp>
        <p:nvSpPr>
          <p:cNvPr id="9" name="Check identity before using similarly named assets in a">
            <a:extLst xmlns:a="http://schemas.openxmlformats.org/drawingml/2006/main">
              <a:ext uri="{FF2B5EF4-FFF2-40B4-BE49-F238E27FC236}">
                <a16:creationId xmlns:a16="http://schemas.microsoft.com/office/drawing/2014/main" id="{A2A9A1FF-F773-43A0-BD6C-073918450D9E}"/>
              </a:ext>
            </a:extLst>
          </p:cNvPr>
          <p:cNvSpPr>
            <a:spLocks xmlns:a="http://schemas.openxmlformats.org/drawingml/2006/main" noGrp="1"/>
          </p:cNvSpPr>
          <p:nvPr/>
        </p:nvSpPr>
        <p:spPr>
          <a:xfrm xmlns:a="http://schemas.openxmlformats.org/drawingml/2006/main">
            <a:off x="609600" y="7448550"/>
            <a:ext cx="1390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Check identity before using similarly named assets in a network.</a:t>
            </a:r>
          </a:p>
        </p:txBody>
      </p:sp>
      <p:sp>
        <p:nvSpPr>
          <p:cNvPr id="10" name="WIDispatch   /   Client demonstration">
            <a:extLst xmlns:a="http://schemas.openxmlformats.org/drawingml/2006/main">
              <a:ext uri="{FF2B5EF4-FFF2-40B4-BE49-F238E27FC236}">
                <a16:creationId xmlns:a16="http://schemas.microsoft.com/office/drawing/2014/main" id="{D1A7F4E0-9B5D-42B7-AA56-472B58DD000C}"/>
              </a:ext>
            </a:extLst>
          </p:cNvPr>
          <p:cNvSpPr>
            <a:spLocks xmlns:a="http://schemas.openxmlformats.org/drawingml/2006/main" noGrp="1"/>
          </p:cNvSpPr>
          <p:nvPr/>
        </p:nvSpPr>
        <p:spPr>
          <a:xfrm xmlns:a="http://schemas.openxmlformats.org/drawingml/2006/main">
            <a:off x="609600" y="81724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275" b="0">
                <a:solidFill>
                  <a:srgbClr val="547080"/>
                </a:solidFill>
                <a:latin typeface="Arial"/>
                <a:ea typeface="Arial"/>
                <a:cs typeface="Arial"/>
              </a:defRPr>
            </a:pPr>
            <a:r>
              <a:rPr sz="1275" b="0">
                <a:solidFill>
                  <a:srgbClr val="547080"/>
                </a:solidFill>
                <a:latin typeface="Arial"/>
                <a:ea typeface="Arial"/>
                <a:cs typeface="Arial"/>
              </a:rPr>
              <a:t>WIDispatch   /   Client demonstration</a:t>
            </a:r>
          </a:p>
        </p:txBody>
      </p:sp>
      <p:sp>
        <p:nvSpPr>
          <p:cNvPr id="11" name="05">
            <a:extLst xmlns:a="http://schemas.openxmlformats.org/drawingml/2006/main">
              <a:ext uri="{FF2B5EF4-FFF2-40B4-BE49-F238E27FC236}">
                <a16:creationId xmlns:a16="http://schemas.microsoft.com/office/drawing/2014/main" id="{9C2AA091-3D95-4AF3-B345-95F484F7B555}"/>
              </a:ext>
            </a:extLst>
          </p:cNvPr>
          <p:cNvSpPr>
            <a:spLocks xmlns:a="http://schemas.openxmlformats.org/drawingml/2006/main" noGrp="1"/>
          </p:cNvSpPr>
          <p:nvPr/>
        </p:nvSpPr>
        <p:spPr>
          <a:xfrm xmlns:a="http://schemas.openxmlformats.org/drawingml/2006/main">
            <a:off x="13906500" y="8115300"/>
            <a:ext cx="723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547080"/>
                </a:solidFill>
                <a:latin typeface="Arial"/>
                <a:ea typeface="Arial"/>
                <a:cs typeface="Arial"/>
              </a:defRPr>
            </a:pPr>
            <a:r>
              <a:rPr sz="1650" b="0">
                <a:solidFill>
                  <a:srgbClr val="547080"/>
                </a:solidFill>
                <a:latin typeface="Arial"/>
                <a:ea typeface="Arial"/>
                <a:cs typeface="Arial"/>
              </a:rPr>
              <a:t>07</a:t>
            </a:r>
          </a:p>
        </p:txBody>
      </p:sp>
    </p:spTree>
    <p:extLst>
      <p:ext uri="{BB962C8B-B14F-4D97-AF65-F5344CB8AC3E}">
        <p14:creationId xmlns:p14="http://schemas.microsoft.com/office/powerpoint/2010/main" val="198314966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Creating an asset">
            <a:extLst xmlns:a="http://schemas.openxmlformats.org/drawingml/2006/main">
              <a:ext uri="{FF2B5EF4-FFF2-40B4-BE49-F238E27FC236}">
                <a16:creationId xmlns:a16="http://schemas.microsoft.com/office/drawing/2014/main" id="{D68571D0-27BE-4E7C-9C8E-D12AFEF8ADDC}"/>
              </a:ext>
            </a:extLst>
          </p:cNvPr>
          <p:cNvSpPr>
            <a:spLocks xmlns:a="http://schemas.openxmlformats.org/drawingml/2006/main" noGrp="1"/>
          </p:cNvSpPr>
          <p:nvPr/>
        </p:nvSpPr>
        <p:spPr>
          <a:xfrm xmlns:a="http://schemas.openxmlformats.org/drawingml/2006/main">
            <a:off x="571500" y="428625"/>
            <a:ext cx="140970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300" b="1">
                <a:solidFill>
                  <a:srgbClr val="12374B"/>
                </a:solidFill>
                <a:latin typeface="Arial"/>
                <a:ea typeface="Arial"/>
                <a:cs typeface="Arial"/>
              </a:defRPr>
            </a:pPr>
            <a:r>
              <a:rPr sz="3300" b="1">
                <a:solidFill>
                  <a:srgbClr val="12374B"/>
                </a:solidFill>
                <a:latin typeface="Arial"/>
                <a:ea typeface="Arial"/>
                <a:cs typeface="Arial"/>
              </a:rPr>
              <a:t>Creating an asset</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8b97f86cefee4858"/>
          <a:stretch xmlns:a="http://schemas.openxmlformats.org/drawingml/2006/main"/>
        </p:blipFill>
        <p:spPr>
          <a:xfrm xmlns:a="http://schemas.openxmlformats.org/drawingml/2006/main">
            <a:off x="476250" y="1831669"/>
            <a:ext cx="10668000" cy="5099661"/>
          </a:xfrm>
          <a:prstGeom xmlns:a="http://schemas.openxmlformats.org/drawingml/2006/main" prst="rect">
            <a:avLst/>
          </a:prstGeom>
        </p:spPr>
      </p:pic>
      <p:sp>
        <p:nvSpPr>
          <p:cNvPr id="3" name="01">
            <a:extLst xmlns:a="http://schemas.openxmlformats.org/drawingml/2006/main">
              <a:ext uri="{FF2B5EF4-FFF2-40B4-BE49-F238E27FC236}">
                <a16:creationId xmlns:a16="http://schemas.microsoft.com/office/drawing/2014/main" id="{A5B3323D-56AE-4062-820F-50312B5ED3D2}"/>
              </a:ext>
            </a:extLst>
          </p:cNvPr>
          <p:cNvSpPr>
            <a:spLocks xmlns:a="http://schemas.openxmlformats.org/drawingml/2006/main" noGrp="1"/>
          </p:cNvSpPr>
          <p:nvPr/>
        </p:nvSpPr>
        <p:spPr>
          <a:xfrm xmlns:a="http://schemas.openxmlformats.org/drawingml/2006/main">
            <a:off x="11525250" y="1771650"/>
            <a:ext cx="95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01</a:t>
            </a:r>
          </a:p>
        </p:txBody>
      </p:sp>
      <p:sp>
        <p:nvSpPr>
          <p:cNvPr id="4" name="Choose the category, activity and asset type.">
            <a:extLst xmlns:a="http://schemas.openxmlformats.org/drawingml/2006/main">
              <a:ext uri="{FF2B5EF4-FFF2-40B4-BE49-F238E27FC236}">
                <a16:creationId xmlns:a16="http://schemas.microsoft.com/office/drawing/2014/main" id="{023F36FD-5F45-479F-BA0E-0B0DFB799FFB}"/>
              </a:ext>
            </a:extLst>
          </p:cNvPr>
          <p:cNvSpPr>
            <a:spLocks xmlns:a="http://schemas.openxmlformats.org/drawingml/2006/main" noGrp="1"/>
          </p:cNvSpPr>
          <p:nvPr/>
        </p:nvSpPr>
        <p:spPr>
          <a:xfrm xmlns:a="http://schemas.openxmlformats.org/drawingml/2006/main">
            <a:off x="11525250" y="2238375"/>
            <a:ext cx="30765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025" b="0">
                <a:solidFill>
                  <a:srgbClr val="18384B"/>
                </a:solidFill>
                <a:latin typeface="Arial"/>
                <a:ea typeface="Arial"/>
                <a:cs typeface="Arial"/>
              </a:defRPr>
            </a:pPr>
            <a:r>
              <a:rPr sz="2025" b="0">
                <a:solidFill>
                  <a:srgbClr val="18384B"/>
                </a:solidFill>
                <a:latin typeface="Arial"/>
                <a:ea typeface="Arial"/>
                <a:cs typeface="Arial"/>
              </a:rPr>
              <a:t>Choose the category, activity and asset type.</a:t>
            </a:r>
          </a:p>
        </p:txBody>
      </p:sp>
      <p:sp>
        <p:nvSpPr>
          <p:cNvPr id="5" name="02">
            <a:extLst xmlns:a="http://schemas.openxmlformats.org/drawingml/2006/main">
              <a:ext uri="{FF2B5EF4-FFF2-40B4-BE49-F238E27FC236}">
                <a16:creationId xmlns:a16="http://schemas.microsoft.com/office/drawing/2014/main" id="{16C3EF79-5D90-4ADF-AC86-9076F7058294}"/>
              </a:ext>
            </a:extLst>
          </p:cNvPr>
          <p:cNvSpPr>
            <a:spLocks xmlns:a="http://schemas.openxmlformats.org/drawingml/2006/main" noGrp="1"/>
          </p:cNvSpPr>
          <p:nvPr/>
        </p:nvSpPr>
        <p:spPr>
          <a:xfrm xmlns:a="http://schemas.openxmlformats.org/drawingml/2006/main">
            <a:off x="11525250" y="3429000"/>
            <a:ext cx="95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02</a:t>
            </a:r>
          </a:p>
        </p:txBody>
      </p:sp>
      <p:sp>
        <p:nvSpPr>
          <p:cNvPr id="6" name="Enter the name, region, status and lifecycle dates.">
            <a:extLst xmlns:a="http://schemas.openxmlformats.org/drawingml/2006/main">
              <a:ext uri="{FF2B5EF4-FFF2-40B4-BE49-F238E27FC236}">
                <a16:creationId xmlns:a16="http://schemas.microsoft.com/office/drawing/2014/main" id="{83E6157A-6BBE-4F36-94BD-2842000D7A1F}"/>
              </a:ext>
            </a:extLst>
          </p:cNvPr>
          <p:cNvSpPr>
            <a:spLocks xmlns:a="http://schemas.openxmlformats.org/drawingml/2006/main" noGrp="1"/>
          </p:cNvSpPr>
          <p:nvPr/>
        </p:nvSpPr>
        <p:spPr>
          <a:xfrm xmlns:a="http://schemas.openxmlformats.org/drawingml/2006/main">
            <a:off x="11525250" y="3895725"/>
            <a:ext cx="30765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025" b="0">
                <a:solidFill>
                  <a:srgbClr val="18384B"/>
                </a:solidFill>
                <a:latin typeface="Arial"/>
                <a:ea typeface="Arial"/>
                <a:cs typeface="Arial"/>
              </a:defRPr>
            </a:pPr>
            <a:r>
              <a:rPr sz="2025" b="0">
                <a:solidFill>
                  <a:srgbClr val="18384B"/>
                </a:solidFill>
                <a:latin typeface="Arial"/>
                <a:ea typeface="Arial"/>
                <a:cs typeface="Arial"/>
              </a:rPr>
              <a:t>Enter the name, region, status and lifecycle dates.</a:t>
            </a:r>
          </a:p>
        </p:txBody>
      </p:sp>
      <p:sp>
        <p:nvSpPr>
          <p:cNvPr id="7" name="03">
            <a:extLst xmlns:a="http://schemas.openxmlformats.org/drawingml/2006/main">
              <a:ext uri="{FF2B5EF4-FFF2-40B4-BE49-F238E27FC236}">
                <a16:creationId xmlns:a16="http://schemas.microsoft.com/office/drawing/2014/main" id="{E75664C3-4AD9-4C20-B37B-B54128E07C70}"/>
              </a:ext>
            </a:extLst>
          </p:cNvPr>
          <p:cNvSpPr>
            <a:spLocks xmlns:a="http://schemas.openxmlformats.org/drawingml/2006/main" noGrp="1"/>
          </p:cNvSpPr>
          <p:nvPr/>
        </p:nvSpPr>
        <p:spPr>
          <a:xfrm xmlns:a="http://schemas.openxmlformats.org/drawingml/2006/main">
            <a:off x="11525250" y="5086350"/>
            <a:ext cx="95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03</a:t>
            </a:r>
          </a:p>
        </p:txBody>
      </p:sp>
      <p:sp>
        <p:nvSpPr>
          <p:cNvPr id="8" name="Set coordinates, then complete the relevant specificati">
            <a:extLst xmlns:a="http://schemas.openxmlformats.org/drawingml/2006/main">
              <a:ext uri="{FF2B5EF4-FFF2-40B4-BE49-F238E27FC236}">
                <a16:creationId xmlns:a16="http://schemas.microsoft.com/office/drawing/2014/main" id="{BB93152F-34F1-42C5-997A-CE18838ECF32}"/>
              </a:ext>
            </a:extLst>
          </p:cNvPr>
          <p:cNvSpPr>
            <a:spLocks xmlns:a="http://schemas.openxmlformats.org/drawingml/2006/main" noGrp="1"/>
          </p:cNvSpPr>
          <p:nvPr/>
        </p:nvSpPr>
        <p:spPr>
          <a:xfrm xmlns:a="http://schemas.openxmlformats.org/drawingml/2006/main">
            <a:off x="11525250" y="5553075"/>
            <a:ext cx="30765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025" b="0">
                <a:solidFill>
                  <a:srgbClr val="18384B"/>
                </a:solidFill>
                <a:latin typeface="Arial"/>
                <a:ea typeface="Arial"/>
                <a:cs typeface="Arial"/>
              </a:defRPr>
            </a:pPr>
            <a:r>
              <a:rPr sz="2025" b="0">
                <a:solidFill>
                  <a:srgbClr val="18384B"/>
                </a:solidFill>
                <a:latin typeface="Arial"/>
                <a:ea typeface="Arial"/>
                <a:cs typeface="Arial"/>
              </a:rPr>
              <a:t>Set coordinates, then complete the relevant specifications.</a:t>
            </a:r>
          </a:p>
        </p:txBody>
      </p:sp>
      <p:sp>
        <p:nvSpPr>
          <p:cNvPr id="9" name="Create asset adds the master record that planners can s">
            <a:extLst xmlns:a="http://schemas.openxmlformats.org/drawingml/2006/main">
              <a:ext uri="{FF2B5EF4-FFF2-40B4-BE49-F238E27FC236}">
                <a16:creationId xmlns:a16="http://schemas.microsoft.com/office/drawing/2014/main" id="{20883981-913D-4428-83F9-86DA67A1D62E}"/>
              </a:ext>
            </a:extLst>
          </p:cNvPr>
          <p:cNvSpPr>
            <a:spLocks xmlns:a="http://schemas.openxmlformats.org/drawingml/2006/main" noGrp="1"/>
          </p:cNvSpPr>
          <p:nvPr/>
        </p:nvSpPr>
        <p:spPr>
          <a:xfrm xmlns:a="http://schemas.openxmlformats.org/drawingml/2006/main">
            <a:off x="609600" y="7448550"/>
            <a:ext cx="1390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Create asset adds the master record that planners can select in the library.</a:t>
            </a:r>
          </a:p>
        </p:txBody>
      </p:sp>
      <p:sp>
        <p:nvSpPr>
          <p:cNvPr id="10" name="WIDispatch   /   Client demonstration">
            <a:extLst xmlns:a="http://schemas.openxmlformats.org/drawingml/2006/main">
              <a:ext uri="{FF2B5EF4-FFF2-40B4-BE49-F238E27FC236}">
                <a16:creationId xmlns:a16="http://schemas.microsoft.com/office/drawing/2014/main" id="{0231A960-AC02-4294-8A5D-3992FF1F7575}"/>
              </a:ext>
            </a:extLst>
          </p:cNvPr>
          <p:cNvSpPr>
            <a:spLocks xmlns:a="http://schemas.openxmlformats.org/drawingml/2006/main" noGrp="1"/>
          </p:cNvSpPr>
          <p:nvPr/>
        </p:nvSpPr>
        <p:spPr>
          <a:xfrm xmlns:a="http://schemas.openxmlformats.org/drawingml/2006/main">
            <a:off x="609600" y="81724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275" b="0">
                <a:solidFill>
                  <a:srgbClr val="547080"/>
                </a:solidFill>
                <a:latin typeface="Arial"/>
                <a:ea typeface="Arial"/>
                <a:cs typeface="Arial"/>
              </a:defRPr>
            </a:pPr>
            <a:r>
              <a:rPr sz="1275" b="0">
                <a:solidFill>
                  <a:srgbClr val="547080"/>
                </a:solidFill>
                <a:latin typeface="Arial"/>
                <a:ea typeface="Arial"/>
                <a:cs typeface="Arial"/>
              </a:rPr>
              <a:t>WIDispatch   /   Client demonstration</a:t>
            </a:r>
          </a:p>
        </p:txBody>
      </p:sp>
      <p:sp>
        <p:nvSpPr>
          <p:cNvPr id="11" name="06">
            <a:extLst xmlns:a="http://schemas.openxmlformats.org/drawingml/2006/main">
              <a:ext uri="{FF2B5EF4-FFF2-40B4-BE49-F238E27FC236}">
                <a16:creationId xmlns:a16="http://schemas.microsoft.com/office/drawing/2014/main" id="{1546ECFE-E15E-499C-9F8B-4065DFB837FF}"/>
              </a:ext>
            </a:extLst>
          </p:cNvPr>
          <p:cNvSpPr>
            <a:spLocks xmlns:a="http://schemas.openxmlformats.org/drawingml/2006/main" noGrp="1"/>
          </p:cNvSpPr>
          <p:nvPr/>
        </p:nvSpPr>
        <p:spPr>
          <a:xfrm xmlns:a="http://schemas.openxmlformats.org/drawingml/2006/main">
            <a:off x="13906500" y="8115300"/>
            <a:ext cx="723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547080"/>
                </a:solidFill>
                <a:latin typeface="Arial"/>
                <a:ea typeface="Arial"/>
                <a:cs typeface="Arial"/>
              </a:defRPr>
            </a:pPr>
            <a:r>
              <a:rPr sz="1650" b="0">
                <a:solidFill>
                  <a:srgbClr val="547080"/>
                </a:solidFill>
                <a:latin typeface="Arial"/>
                <a:ea typeface="Arial"/>
                <a:cs typeface="Arial"/>
              </a:rPr>
              <a:t>08</a:t>
            </a:r>
          </a:p>
        </p:txBody>
      </p:sp>
    </p:spTree>
    <p:extLst>
      <p:ext uri="{BB962C8B-B14F-4D97-AF65-F5344CB8AC3E}">
        <p14:creationId xmlns:p14="http://schemas.microsoft.com/office/powerpoint/2010/main" val="88803528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Production Portal: supply availability and reporting">
            <a:extLst xmlns:a="http://schemas.openxmlformats.org/drawingml/2006/main">
              <a:ext uri="{FF2B5EF4-FFF2-40B4-BE49-F238E27FC236}">
                <a16:creationId xmlns:a16="http://schemas.microsoft.com/office/drawing/2014/main" id="{F3D48A75-5CA7-4F36-AA20-5E253B2F757B}"/>
              </a:ext>
            </a:extLst>
          </p:cNvPr>
          <p:cNvSpPr>
            <a:spLocks xmlns:a="http://schemas.openxmlformats.org/drawingml/2006/main" noGrp="1"/>
          </p:cNvSpPr>
          <p:nvPr/>
        </p:nvSpPr>
        <p:spPr>
          <a:xfrm xmlns:a="http://schemas.openxmlformats.org/drawingml/2006/main">
            <a:off x="571500" y="428625"/>
            <a:ext cx="14097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374B"/>
                </a:solidFill>
                <a:latin typeface="Arial"/>
                <a:ea typeface="Arial"/>
                <a:cs typeface="Arial"/>
              </a:defRPr>
            </a:pPr>
            <a:r>
              <a:rPr sz="3300" b="1">
                <a:solidFill>
                  <a:srgbClr val="12374B"/>
                </a:solidFill>
                <a:latin typeface="Arial"/>
                <a:ea typeface="Arial"/>
                <a:cs typeface="Arial"/>
              </a:rPr>
              <a:t>Production Portal: supply availability and reporting</a:t>
            </a:r>
          </a:p>
        </p:txBody>
      </p:sp>
      <p:sp>
        <p:nvSpPr>
          <p:cNvPr id="2" name="Purpose">
            <a:extLst xmlns:a="http://schemas.openxmlformats.org/drawingml/2006/main">
              <a:ext uri="{FF2B5EF4-FFF2-40B4-BE49-F238E27FC236}">
                <a16:creationId xmlns:a16="http://schemas.microsoft.com/office/drawing/2014/main" id="{9AEE1186-DF68-415D-8E04-30B879B1A849}"/>
              </a:ext>
            </a:extLst>
          </p:cNvPr>
          <p:cNvSpPr>
            <a:spLocks xmlns:a="http://schemas.openxmlformats.org/drawingml/2006/main" noGrp="1"/>
          </p:cNvSpPr>
          <p:nvPr/>
        </p:nvSpPr>
        <p:spPr>
          <a:xfrm xmlns:a="http://schemas.openxmlformats.org/drawingml/2006/main">
            <a:off x="609600" y="1952625"/>
            <a:ext cx="4267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1">
                <a:solidFill>
                  <a:srgbClr val="007E92"/>
                </a:solidFill>
                <a:latin typeface="Arial"/>
                <a:ea typeface="Arial"/>
                <a:cs typeface="Arial"/>
              </a:defRPr>
            </a:pPr>
            <a:r>
              <a:rPr sz="2400" b="1">
                <a:solidFill>
                  <a:srgbClr val="007E92"/>
                </a:solidFill>
                <a:latin typeface="Arial"/>
                <a:ea typeface="Arial"/>
                <a:cs typeface="Arial"/>
              </a:rPr>
              <a:t>Purpose</a:t>
            </a:r>
          </a:p>
        </p:txBody>
      </p:sp>
      <p:sp>
        <p:nvSpPr>
          <p:cNvPr id="3" name="Capture the production information needed for dispatch ">
            <a:extLst xmlns:a="http://schemas.openxmlformats.org/drawingml/2006/main">
              <a:ext uri="{FF2B5EF4-FFF2-40B4-BE49-F238E27FC236}">
                <a16:creationId xmlns:a16="http://schemas.microsoft.com/office/drawing/2014/main" id="{9C1D3DBF-CDE0-4FAB-8739-BB3600F5B286}"/>
              </a:ext>
            </a:extLst>
          </p:cNvPr>
          <p:cNvSpPr>
            <a:spLocks xmlns:a="http://schemas.openxmlformats.org/drawingml/2006/main" noGrp="1"/>
          </p:cNvSpPr>
          <p:nvPr/>
        </p:nvSpPr>
        <p:spPr>
          <a:xfrm xmlns:a="http://schemas.openxmlformats.org/drawingml/2006/main">
            <a:off x="609600" y="3067050"/>
            <a:ext cx="4238625"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0">
                <a:solidFill>
                  <a:srgbClr val="18384B"/>
                </a:solidFill>
                <a:latin typeface="Arial"/>
                <a:ea typeface="Arial"/>
                <a:cs typeface="Arial"/>
              </a:defRPr>
            </a:pPr>
            <a:r>
              <a:rPr sz="2325" b="0">
                <a:solidFill>
                  <a:srgbClr val="18384B"/>
                </a:solidFill>
                <a:latin typeface="Arial"/>
                <a:ea typeface="Arial"/>
                <a:cs typeface="Arial"/>
              </a:rPr>
              <a:t>Capture the production information needed for dispatch planning and operational follow-up.</a:t>
            </a:r>
          </a:p>
        </p:txBody>
      </p:sp>
      <p:sp>
        <p:nvSpPr>
          <p:cNvPr id="4" name="What it does">
            <a:extLst xmlns:a="http://schemas.openxmlformats.org/drawingml/2006/main">
              <a:ext uri="{FF2B5EF4-FFF2-40B4-BE49-F238E27FC236}">
                <a16:creationId xmlns:a16="http://schemas.microsoft.com/office/drawing/2014/main" id="{FEFF3F94-7BFE-43E0-B192-F46505DD7CD9}"/>
              </a:ext>
            </a:extLst>
          </p:cNvPr>
          <p:cNvSpPr>
            <a:spLocks xmlns:a="http://schemas.openxmlformats.org/drawingml/2006/main" noGrp="1"/>
          </p:cNvSpPr>
          <p:nvPr/>
        </p:nvSpPr>
        <p:spPr>
          <a:xfrm xmlns:a="http://schemas.openxmlformats.org/drawingml/2006/main">
            <a:off x="5419725" y="1952625"/>
            <a:ext cx="4267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1">
                <a:solidFill>
                  <a:srgbClr val="007E92"/>
                </a:solidFill>
                <a:latin typeface="Arial"/>
                <a:ea typeface="Arial"/>
                <a:cs typeface="Arial"/>
              </a:defRPr>
            </a:pPr>
            <a:r>
              <a:rPr sz="2400" b="1">
                <a:solidFill>
                  <a:srgbClr val="007E92"/>
                </a:solidFill>
                <a:latin typeface="Arial"/>
                <a:ea typeface="Arial"/>
                <a:cs typeface="Arial"/>
              </a:rPr>
              <a:t>What it does</a:t>
            </a:r>
          </a:p>
        </p:txBody>
      </p:sp>
      <p:sp>
        <p:nvSpPr>
          <p:cNvPr id="5" name="Record production, quality, maintenance and outages, wi">
            <a:extLst xmlns:a="http://schemas.openxmlformats.org/drawingml/2006/main">
              <a:ext uri="{FF2B5EF4-FFF2-40B4-BE49-F238E27FC236}">
                <a16:creationId xmlns:a16="http://schemas.microsoft.com/office/drawing/2014/main" id="{81CB558E-7768-4154-8247-4ABFEE389946}"/>
              </a:ext>
            </a:extLst>
          </p:cNvPr>
          <p:cNvSpPr>
            <a:spLocks xmlns:a="http://schemas.openxmlformats.org/drawingml/2006/main" noGrp="1"/>
          </p:cNvSpPr>
          <p:nvPr/>
        </p:nvSpPr>
        <p:spPr>
          <a:xfrm xmlns:a="http://schemas.openxmlformats.org/drawingml/2006/main">
            <a:off x="5419725" y="3067050"/>
            <a:ext cx="4238625"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0">
                <a:solidFill>
                  <a:srgbClr val="18384B"/>
                </a:solidFill>
                <a:latin typeface="Arial"/>
                <a:ea typeface="Arial"/>
                <a:cs typeface="Arial"/>
              </a:defRPr>
            </a:pPr>
            <a:r>
              <a:rPr sz="2325" b="0">
                <a:solidFill>
                  <a:srgbClr val="18384B"/>
                </a:solidFill>
                <a:latin typeface="Arial"/>
                <a:ea typeface="Arial"/>
                <a:cs typeface="Arial"/>
              </a:rPr>
              <a:t>Record production, quality, maintenance and outages, with applicable submission and approval workflows. Display published production requests alongside operating records.</a:t>
            </a:r>
          </a:p>
        </p:txBody>
      </p:sp>
      <p:sp>
        <p:nvSpPr>
          <p:cNvPr id="6" name="Objective">
            <a:extLst xmlns:a="http://schemas.openxmlformats.org/drawingml/2006/main">
              <a:ext uri="{FF2B5EF4-FFF2-40B4-BE49-F238E27FC236}">
                <a16:creationId xmlns:a16="http://schemas.microsoft.com/office/drawing/2014/main" id="{9274B29F-5BC8-4A47-A35E-61A08E4E5536}"/>
              </a:ext>
            </a:extLst>
          </p:cNvPr>
          <p:cNvSpPr>
            <a:spLocks xmlns:a="http://schemas.openxmlformats.org/drawingml/2006/main" noGrp="1"/>
          </p:cNvSpPr>
          <p:nvPr/>
        </p:nvSpPr>
        <p:spPr>
          <a:xfrm xmlns:a="http://schemas.openxmlformats.org/drawingml/2006/main">
            <a:off x="10229850" y="1952625"/>
            <a:ext cx="4267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1">
                <a:solidFill>
                  <a:srgbClr val="007E92"/>
                </a:solidFill>
                <a:latin typeface="Arial"/>
                <a:ea typeface="Arial"/>
                <a:cs typeface="Arial"/>
              </a:defRPr>
            </a:pPr>
            <a:r>
              <a:rPr sz="2400" b="1">
                <a:solidFill>
                  <a:srgbClr val="007E92"/>
                </a:solidFill>
                <a:latin typeface="Arial"/>
                <a:ea typeface="Arial"/>
                <a:cs typeface="Arial"/>
              </a:rPr>
              <a:t>Objective</a:t>
            </a:r>
          </a:p>
        </p:txBody>
      </p:sp>
      <p:sp>
        <p:nvSpPr>
          <p:cNvPr id="7" name="Give planners a dependable view of available supply and">
            <a:extLst xmlns:a="http://schemas.openxmlformats.org/drawingml/2006/main">
              <a:ext uri="{FF2B5EF4-FFF2-40B4-BE49-F238E27FC236}">
                <a16:creationId xmlns:a16="http://schemas.microsoft.com/office/drawing/2014/main" id="{0FCCBC47-2367-4A25-A8DA-4E1E8A504D3C}"/>
              </a:ext>
            </a:extLst>
          </p:cNvPr>
          <p:cNvSpPr>
            <a:spLocks xmlns:a="http://schemas.openxmlformats.org/drawingml/2006/main" noGrp="1"/>
          </p:cNvSpPr>
          <p:nvPr/>
        </p:nvSpPr>
        <p:spPr>
          <a:xfrm xmlns:a="http://schemas.openxmlformats.org/drawingml/2006/main">
            <a:off x="10229850" y="3067050"/>
            <a:ext cx="4238625"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0">
                <a:solidFill>
                  <a:srgbClr val="18384B"/>
                </a:solidFill>
                <a:latin typeface="Arial"/>
                <a:ea typeface="Arial"/>
                <a:cs typeface="Arial"/>
              </a:defRPr>
            </a:pPr>
            <a:r>
              <a:rPr sz="2325" b="0">
                <a:solidFill>
                  <a:srgbClr val="18384B"/>
                </a:solidFill>
                <a:latin typeface="Arial"/>
                <a:ea typeface="Arial"/>
                <a:cs typeface="Arial"/>
              </a:rPr>
              <a:t>Give planners a dependable view of available supply and help operators reconcile actual production with requested output.</a:t>
            </a:r>
          </a:p>
        </p:txBody>
      </p:sp>
      <p:sp>
        <p:nvSpPr>
          <p:cNvPr id="8" name="WIDispatch   /   Client demonstration">
            <a:extLst xmlns:a="http://schemas.openxmlformats.org/drawingml/2006/main">
              <a:ext uri="{FF2B5EF4-FFF2-40B4-BE49-F238E27FC236}">
                <a16:creationId xmlns:a16="http://schemas.microsoft.com/office/drawing/2014/main" id="{11649B4B-4A5C-4239-A7AF-19BB18B83616}"/>
              </a:ext>
            </a:extLst>
          </p:cNvPr>
          <p:cNvSpPr>
            <a:spLocks xmlns:a="http://schemas.openxmlformats.org/drawingml/2006/main" noGrp="1"/>
          </p:cNvSpPr>
          <p:nvPr/>
        </p:nvSpPr>
        <p:spPr>
          <a:xfrm xmlns:a="http://schemas.openxmlformats.org/drawingml/2006/main">
            <a:off x="609600" y="81724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547080"/>
                </a:solidFill>
                <a:latin typeface="Arial"/>
                <a:ea typeface="Arial"/>
                <a:cs typeface="Arial"/>
              </a:defRPr>
            </a:pPr>
            <a:r>
              <a:rPr sz="1275" b="0">
                <a:solidFill>
                  <a:srgbClr val="547080"/>
                </a:solidFill>
                <a:latin typeface="Arial"/>
                <a:ea typeface="Arial"/>
                <a:cs typeface="Arial"/>
              </a:rPr>
              <a:t>WIDispatch   /   Client demonstration</a:t>
            </a:r>
          </a:p>
        </p:txBody>
      </p:sp>
      <p:sp>
        <p:nvSpPr>
          <p:cNvPr id="9" name="00">
            <a:extLst xmlns:a="http://schemas.openxmlformats.org/drawingml/2006/main">
              <a:ext uri="{FF2B5EF4-FFF2-40B4-BE49-F238E27FC236}">
                <a16:creationId xmlns:a16="http://schemas.microsoft.com/office/drawing/2014/main" id="{B7393E2D-BA39-4B41-B538-658A7B67D587}"/>
              </a:ext>
            </a:extLst>
          </p:cNvPr>
          <p:cNvSpPr>
            <a:spLocks xmlns:a="http://schemas.openxmlformats.org/drawingml/2006/main" noGrp="1"/>
          </p:cNvSpPr>
          <p:nvPr/>
        </p:nvSpPr>
        <p:spPr>
          <a:xfrm xmlns:a="http://schemas.openxmlformats.org/drawingml/2006/main">
            <a:off x="13906500" y="8115300"/>
            <a:ext cx="723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547080"/>
                </a:solidFill>
                <a:latin typeface="Arial"/>
                <a:ea typeface="Arial"/>
                <a:cs typeface="Arial"/>
              </a:defRPr>
            </a:pPr>
            <a:r>
              <a:rPr sz="1650" b="0">
                <a:solidFill>
                  <a:srgbClr val="547080"/>
                </a:solidFill>
                <a:latin typeface="Arial"/>
                <a:ea typeface="Arial"/>
                <a:cs typeface="Arial"/>
              </a:rPr>
              <a:t>09</a:t>
            </a:r>
          </a:p>
        </p:txBody>
      </p:sp>
    </p:spTree>
    <p:extLst>
      <p:ext uri="{BB962C8B-B14F-4D97-AF65-F5344CB8AC3E}">
        <p14:creationId xmlns:p14="http://schemas.microsoft.com/office/powerpoint/2010/main" val="62242631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Production dashboard">
            <a:extLst xmlns:a="http://schemas.openxmlformats.org/drawingml/2006/main">
              <a:ext uri="{FF2B5EF4-FFF2-40B4-BE49-F238E27FC236}">
                <a16:creationId xmlns:a16="http://schemas.microsoft.com/office/drawing/2014/main" id="{3B48FCEA-0A7D-4CBA-8620-B921C8B1BDDE}"/>
              </a:ext>
            </a:extLst>
          </p:cNvPr>
          <p:cNvSpPr>
            <a:spLocks xmlns:a="http://schemas.openxmlformats.org/drawingml/2006/main" noGrp="1"/>
          </p:cNvSpPr>
          <p:nvPr/>
        </p:nvSpPr>
        <p:spPr>
          <a:xfrm xmlns:a="http://schemas.openxmlformats.org/drawingml/2006/main">
            <a:off x="571500" y="428625"/>
            <a:ext cx="140970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300" b="1">
                <a:solidFill>
                  <a:srgbClr val="12374B"/>
                </a:solidFill>
                <a:latin typeface="Arial"/>
                <a:ea typeface="Arial"/>
                <a:cs typeface="Arial"/>
              </a:defRPr>
            </a:pPr>
            <a:r>
              <a:rPr sz="3300" b="1">
                <a:solidFill>
                  <a:srgbClr val="12374B"/>
                </a:solidFill>
                <a:latin typeface="Arial"/>
                <a:ea typeface="Arial"/>
                <a:cs typeface="Arial"/>
              </a:rPr>
              <a:t>Production dashboard</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96ebcf0616334e54"/>
          <a:stretch xmlns:a="http://schemas.openxmlformats.org/drawingml/2006/main"/>
        </p:blipFill>
        <p:spPr>
          <a:xfrm xmlns:a="http://schemas.openxmlformats.org/drawingml/2006/main">
            <a:off x="476250" y="1831669"/>
            <a:ext cx="10668000" cy="5099661"/>
          </a:xfrm>
          <a:prstGeom xmlns:a="http://schemas.openxmlformats.org/drawingml/2006/main" prst="rect">
            <a:avLst/>
          </a:prstGeom>
        </p:spPr>
      </p:pic>
      <p:sp>
        <p:nvSpPr>
          <p:cNvPr id="3" name="01">
            <a:extLst xmlns:a="http://schemas.openxmlformats.org/drawingml/2006/main">
              <a:ext uri="{FF2B5EF4-FFF2-40B4-BE49-F238E27FC236}">
                <a16:creationId xmlns:a16="http://schemas.microsoft.com/office/drawing/2014/main" id="{FF803D54-68BC-40C2-8C1A-85AB5094067C}"/>
              </a:ext>
            </a:extLst>
          </p:cNvPr>
          <p:cNvSpPr>
            <a:spLocks xmlns:a="http://schemas.openxmlformats.org/drawingml/2006/main" noGrp="1"/>
          </p:cNvSpPr>
          <p:nvPr/>
        </p:nvSpPr>
        <p:spPr>
          <a:xfrm xmlns:a="http://schemas.openxmlformats.org/drawingml/2006/main">
            <a:off x="11525250" y="1771650"/>
            <a:ext cx="95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01</a:t>
            </a:r>
          </a:p>
        </p:txBody>
      </p:sp>
      <p:sp>
        <p:nvSpPr>
          <p:cNvPr id="4" name="Confirm the role and asset scope.">
            <a:extLst xmlns:a="http://schemas.openxmlformats.org/drawingml/2006/main">
              <a:ext uri="{FF2B5EF4-FFF2-40B4-BE49-F238E27FC236}">
                <a16:creationId xmlns:a16="http://schemas.microsoft.com/office/drawing/2014/main" id="{E04E6AFF-782A-48BE-8CED-50B62F964CE6}"/>
              </a:ext>
            </a:extLst>
          </p:cNvPr>
          <p:cNvSpPr>
            <a:spLocks xmlns:a="http://schemas.openxmlformats.org/drawingml/2006/main" noGrp="1"/>
          </p:cNvSpPr>
          <p:nvPr/>
        </p:nvSpPr>
        <p:spPr>
          <a:xfrm xmlns:a="http://schemas.openxmlformats.org/drawingml/2006/main">
            <a:off x="11525250" y="2238375"/>
            <a:ext cx="30765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025" b="0">
                <a:solidFill>
                  <a:srgbClr val="18384B"/>
                </a:solidFill>
                <a:latin typeface="Arial"/>
                <a:ea typeface="Arial"/>
                <a:cs typeface="Arial"/>
              </a:defRPr>
            </a:pPr>
            <a:r>
              <a:rPr sz="2025" b="0">
                <a:solidFill>
                  <a:srgbClr val="18384B"/>
                </a:solidFill>
                <a:latin typeface="Arial"/>
                <a:ea typeface="Arial"/>
                <a:cs typeface="Arial"/>
              </a:rPr>
              <a:t>Confirm the role and asset scope.</a:t>
            </a:r>
          </a:p>
        </p:txBody>
      </p:sp>
      <p:sp>
        <p:nvSpPr>
          <p:cNvPr id="5" name="02">
            <a:extLst xmlns:a="http://schemas.openxmlformats.org/drawingml/2006/main">
              <a:ext uri="{FF2B5EF4-FFF2-40B4-BE49-F238E27FC236}">
                <a16:creationId xmlns:a16="http://schemas.microsoft.com/office/drawing/2014/main" id="{A69666F6-F2CC-43B1-9FDD-3860F9C92E04}"/>
              </a:ext>
            </a:extLst>
          </p:cNvPr>
          <p:cNvSpPr>
            <a:spLocks xmlns:a="http://schemas.openxmlformats.org/drawingml/2006/main" noGrp="1"/>
          </p:cNvSpPr>
          <p:nvPr/>
        </p:nvSpPr>
        <p:spPr>
          <a:xfrm xmlns:a="http://schemas.openxmlformats.org/drawingml/2006/main">
            <a:off x="11525250" y="3429000"/>
            <a:ext cx="95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02</a:t>
            </a:r>
          </a:p>
        </p:txBody>
      </p:sp>
      <p:sp>
        <p:nvSpPr>
          <p:cNvPr id="6" name="Read availability and loss indicators.">
            <a:extLst xmlns:a="http://schemas.openxmlformats.org/drawingml/2006/main">
              <a:ext uri="{FF2B5EF4-FFF2-40B4-BE49-F238E27FC236}">
                <a16:creationId xmlns:a16="http://schemas.microsoft.com/office/drawing/2014/main" id="{0B2587B9-583B-4E13-9EA1-E7E33FFC2AC8}"/>
              </a:ext>
            </a:extLst>
          </p:cNvPr>
          <p:cNvSpPr>
            <a:spLocks xmlns:a="http://schemas.openxmlformats.org/drawingml/2006/main" noGrp="1"/>
          </p:cNvSpPr>
          <p:nvPr/>
        </p:nvSpPr>
        <p:spPr>
          <a:xfrm xmlns:a="http://schemas.openxmlformats.org/drawingml/2006/main">
            <a:off x="11525250" y="3895725"/>
            <a:ext cx="30765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025" b="0">
                <a:solidFill>
                  <a:srgbClr val="18384B"/>
                </a:solidFill>
                <a:latin typeface="Arial"/>
                <a:ea typeface="Arial"/>
                <a:cs typeface="Arial"/>
              </a:defRPr>
            </a:pPr>
            <a:r>
              <a:rPr sz="2025" b="0">
                <a:solidFill>
                  <a:srgbClr val="18384B"/>
                </a:solidFill>
                <a:latin typeface="Arial"/>
                <a:ea typeface="Arial"/>
                <a:cs typeface="Arial"/>
              </a:rPr>
              <a:t>Read availability and loss indicators.</a:t>
            </a:r>
          </a:p>
        </p:txBody>
      </p:sp>
      <p:sp>
        <p:nvSpPr>
          <p:cNvPr id="7" name="03">
            <a:extLst xmlns:a="http://schemas.openxmlformats.org/drawingml/2006/main">
              <a:ext uri="{FF2B5EF4-FFF2-40B4-BE49-F238E27FC236}">
                <a16:creationId xmlns:a16="http://schemas.microsoft.com/office/drawing/2014/main" id="{AB3CBD21-7407-4932-80BC-8AB8BE3637E4}"/>
              </a:ext>
            </a:extLst>
          </p:cNvPr>
          <p:cNvSpPr>
            <a:spLocks xmlns:a="http://schemas.openxmlformats.org/drawingml/2006/main" noGrp="1"/>
          </p:cNvSpPr>
          <p:nvPr/>
        </p:nvSpPr>
        <p:spPr>
          <a:xfrm xmlns:a="http://schemas.openxmlformats.org/drawingml/2006/main">
            <a:off x="11525250" y="5086350"/>
            <a:ext cx="95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03</a:t>
            </a:r>
          </a:p>
        </p:txBody>
      </p:sp>
      <p:sp>
        <p:nvSpPr>
          <p:cNvPr id="8" name="Open the affected plant for the underlying records.">
            <a:extLst xmlns:a="http://schemas.openxmlformats.org/drawingml/2006/main">
              <a:ext uri="{FF2B5EF4-FFF2-40B4-BE49-F238E27FC236}">
                <a16:creationId xmlns:a16="http://schemas.microsoft.com/office/drawing/2014/main" id="{32B67676-2733-4DC5-82E4-FA4511B8AAD9}"/>
              </a:ext>
            </a:extLst>
          </p:cNvPr>
          <p:cNvSpPr>
            <a:spLocks xmlns:a="http://schemas.openxmlformats.org/drawingml/2006/main" noGrp="1"/>
          </p:cNvSpPr>
          <p:nvPr/>
        </p:nvSpPr>
        <p:spPr>
          <a:xfrm xmlns:a="http://schemas.openxmlformats.org/drawingml/2006/main">
            <a:off x="11525250" y="5553075"/>
            <a:ext cx="30765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025" b="0">
                <a:solidFill>
                  <a:srgbClr val="18384B"/>
                </a:solidFill>
                <a:latin typeface="Arial"/>
                <a:ea typeface="Arial"/>
                <a:cs typeface="Arial"/>
              </a:defRPr>
            </a:pPr>
            <a:r>
              <a:rPr sz="2025" b="0">
                <a:solidFill>
                  <a:srgbClr val="18384B"/>
                </a:solidFill>
                <a:latin typeface="Arial"/>
                <a:ea typeface="Arial"/>
                <a:cs typeface="Arial"/>
              </a:rPr>
              <a:t>Open the affected plant for the underlying records.</a:t>
            </a:r>
          </a:p>
        </p:txBody>
      </p:sp>
      <p:sp>
        <p:nvSpPr>
          <p:cNvPr id="9" name="The dashboard starts the daily review. Plant records ex">
            <a:extLst xmlns:a="http://schemas.openxmlformats.org/drawingml/2006/main">
              <a:ext uri="{FF2B5EF4-FFF2-40B4-BE49-F238E27FC236}">
                <a16:creationId xmlns:a16="http://schemas.microsoft.com/office/drawing/2014/main" id="{6D5580C1-C63B-4EDA-B5C3-148B69563B74}"/>
              </a:ext>
            </a:extLst>
          </p:cNvPr>
          <p:cNvSpPr>
            <a:spLocks xmlns:a="http://schemas.openxmlformats.org/drawingml/2006/main" noGrp="1"/>
          </p:cNvSpPr>
          <p:nvPr/>
        </p:nvSpPr>
        <p:spPr>
          <a:xfrm xmlns:a="http://schemas.openxmlformats.org/drawingml/2006/main">
            <a:off x="609600" y="7448550"/>
            <a:ext cx="1390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The dashboard starts the daily review. Plant records explain the exceptions.</a:t>
            </a:r>
          </a:p>
        </p:txBody>
      </p:sp>
      <p:sp>
        <p:nvSpPr>
          <p:cNvPr id="10" name="WIDispatch   /   Client demonstration">
            <a:extLst xmlns:a="http://schemas.openxmlformats.org/drawingml/2006/main">
              <a:ext uri="{FF2B5EF4-FFF2-40B4-BE49-F238E27FC236}">
                <a16:creationId xmlns:a16="http://schemas.microsoft.com/office/drawing/2014/main" id="{02E2FD97-4FF7-48B8-B0FC-3B1660222A7A}"/>
              </a:ext>
            </a:extLst>
          </p:cNvPr>
          <p:cNvSpPr>
            <a:spLocks xmlns:a="http://schemas.openxmlformats.org/drawingml/2006/main" noGrp="1"/>
          </p:cNvSpPr>
          <p:nvPr/>
        </p:nvSpPr>
        <p:spPr>
          <a:xfrm xmlns:a="http://schemas.openxmlformats.org/drawingml/2006/main">
            <a:off x="609600" y="81724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275" b="0">
                <a:solidFill>
                  <a:srgbClr val="547080"/>
                </a:solidFill>
                <a:latin typeface="Arial"/>
                <a:ea typeface="Arial"/>
                <a:cs typeface="Arial"/>
              </a:defRPr>
            </a:pPr>
            <a:r>
              <a:rPr sz="1275" b="0">
                <a:solidFill>
                  <a:srgbClr val="547080"/>
                </a:solidFill>
                <a:latin typeface="Arial"/>
                <a:ea typeface="Arial"/>
                <a:cs typeface="Arial"/>
              </a:rPr>
              <a:t>WIDispatch   /   Client demonstration</a:t>
            </a:r>
          </a:p>
        </p:txBody>
      </p:sp>
      <p:sp>
        <p:nvSpPr>
          <p:cNvPr id="11" name="07">
            <a:extLst xmlns:a="http://schemas.openxmlformats.org/drawingml/2006/main">
              <a:ext uri="{FF2B5EF4-FFF2-40B4-BE49-F238E27FC236}">
                <a16:creationId xmlns:a16="http://schemas.microsoft.com/office/drawing/2014/main" id="{3250BF49-30A9-414F-B54F-4AD41267759C}"/>
              </a:ext>
            </a:extLst>
          </p:cNvPr>
          <p:cNvSpPr>
            <a:spLocks xmlns:a="http://schemas.openxmlformats.org/drawingml/2006/main" noGrp="1"/>
          </p:cNvSpPr>
          <p:nvPr/>
        </p:nvSpPr>
        <p:spPr>
          <a:xfrm xmlns:a="http://schemas.openxmlformats.org/drawingml/2006/main">
            <a:off x="13906500" y="8115300"/>
            <a:ext cx="723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547080"/>
                </a:solidFill>
                <a:latin typeface="Arial"/>
                <a:ea typeface="Arial"/>
                <a:cs typeface="Arial"/>
              </a:defRPr>
            </a:pPr>
            <a:r>
              <a:rPr sz="1650" b="0">
                <a:solidFill>
                  <a:srgbClr val="547080"/>
                </a:solidFill>
                <a:latin typeface="Arial"/>
                <a:ea typeface="Arial"/>
                <a:cs typeface="Arial"/>
              </a:rPr>
              <a:t>10</a:t>
            </a:r>
          </a:p>
        </p:txBody>
      </p:sp>
    </p:spTree>
    <p:extLst>
      <p:ext uri="{BB962C8B-B14F-4D97-AF65-F5344CB8AC3E}">
        <p14:creationId xmlns:p14="http://schemas.microsoft.com/office/powerpoint/2010/main" val="1085143812"/>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Production starts with the plant">
            <a:extLst xmlns:a="http://schemas.openxmlformats.org/drawingml/2006/main">
              <a:ext uri="{FF2B5EF4-FFF2-40B4-BE49-F238E27FC236}">
                <a16:creationId xmlns:a16="http://schemas.microsoft.com/office/drawing/2014/main" id="{7B6ECB97-B251-4520-B2D8-A89440C61613}"/>
              </a:ext>
            </a:extLst>
          </p:cNvPr>
          <p:cNvSpPr>
            <a:spLocks xmlns:a="http://schemas.openxmlformats.org/drawingml/2006/main" noGrp="1"/>
          </p:cNvSpPr>
          <p:nvPr/>
        </p:nvSpPr>
        <p:spPr>
          <a:xfrm xmlns:a="http://schemas.openxmlformats.org/drawingml/2006/main">
            <a:off x="571500" y="428625"/>
            <a:ext cx="140970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300" b="1">
                <a:solidFill>
                  <a:srgbClr val="12374B"/>
                </a:solidFill>
                <a:latin typeface="Arial"/>
                <a:ea typeface="Arial"/>
                <a:cs typeface="Arial"/>
              </a:defRPr>
            </a:pPr>
            <a:r>
              <a:rPr sz="3300" b="1">
                <a:solidFill>
                  <a:srgbClr val="12374B"/>
                </a:solidFill>
                <a:latin typeface="Arial"/>
                <a:ea typeface="Arial"/>
                <a:cs typeface="Arial"/>
              </a:rPr>
              <a:t>Production starts with the plant</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8f64fa78a2094032"/>
          <a:stretch xmlns:a="http://schemas.openxmlformats.org/drawingml/2006/main"/>
        </p:blipFill>
        <p:spPr>
          <a:xfrm xmlns:a="http://schemas.openxmlformats.org/drawingml/2006/main">
            <a:off x="476250" y="1831669"/>
            <a:ext cx="10668000" cy="5099661"/>
          </a:xfrm>
          <a:prstGeom xmlns:a="http://schemas.openxmlformats.org/drawingml/2006/main" prst="rect">
            <a:avLst/>
          </a:prstGeom>
        </p:spPr>
      </p:pic>
      <p:sp>
        <p:nvSpPr>
          <p:cNvPr id="3" name="01">
            <a:extLst xmlns:a="http://schemas.openxmlformats.org/drawingml/2006/main">
              <a:ext uri="{FF2B5EF4-FFF2-40B4-BE49-F238E27FC236}">
                <a16:creationId xmlns:a16="http://schemas.microsoft.com/office/drawing/2014/main" id="{3FC659B6-6ADF-48D8-8269-22EE28452002}"/>
              </a:ext>
            </a:extLst>
          </p:cNvPr>
          <p:cNvSpPr>
            <a:spLocks xmlns:a="http://schemas.openxmlformats.org/drawingml/2006/main" noGrp="1"/>
          </p:cNvSpPr>
          <p:nvPr/>
        </p:nvSpPr>
        <p:spPr>
          <a:xfrm xmlns:a="http://schemas.openxmlformats.org/drawingml/2006/main">
            <a:off x="11525250" y="1771650"/>
            <a:ext cx="95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01</a:t>
            </a:r>
          </a:p>
        </p:txBody>
      </p:sp>
      <p:sp>
        <p:nvSpPr>
          <p:cNvPr id="4" name="Open Production Portal, then Plants.">
            <a:extLst xmlns:a="http://schemas.openxmlformats.org/drawingml/2006/main">
              <a:ext uri="{FF2B5EF4-FFF2-40B4-BE49-F238E27FC236}">
                <a16:creationId xmlns:a16="http://schemas.microsoft.com/office/drawing/2014/main" id="{171AC635-CB6C-4AA2-A61D-25620F6DD329}"/>
              </a:ext>
            </a:extLst>
          </p:cNvPr>
          <p:cNvSpPr>
            <a:spLocks xmlns:a="http://schemas.openxmlformats.org/drawingml/2006/main" noGrp="1"/>
          </p:cNvSpPr>
          <p:nvPr/>
        </p:nvSpPr>
        <p:spPr>
          <a:xfrm xmlns:a="http://schemas.openxmlformats.org/drawingml/2006/main">
            <a:off x="11525250" y="2238375"/>
            <a:ext cx="30765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025" b="0">
                <a:solidFill>
                  <a:srgbClr val="18384B"/>
                </a:solidFill>
                <a:latin typeface="Arial"/>
                <a:ea typeface="Arial"/>
                <a:cs typeface="Arial"/>
              </a:defRPr>
            </a:pPr>
            <a:r>
              <a:rPr sz="2025" b="0">
                <a:solidFill>
                  <a:srgbClr val="18384B"/>
                </a:solidFill>
                <a:latin typeface="Arial"/>
                <a:ea typeface="Arial"/>
                <a:cs typeface="Arial"/>
              </a:rPr>
              <a:t>Open Production Portal, then Plants.</a:t>
            </a:r>
          </a:p>
        </p:txBody>
      </p:sp>
      <p:sp>
        <p:nvSpPr>
          <p:cNvPr id="5" name="02">
            <a:extLst xmlns:a="http://schemas.openxmlformats.org/drawingml/2006/main">
              <a:ext uri="{FF2B5EF4-FFF2-40B4-BE49-F238E27FC236}">
                <a16:creationId xmlns:a16="http://schemas.microsoft.com/office/drawing/2014/main" id="{10C488D2-22B5-4767-99D4-95C826725049}"/>
              </a:ext>
            </a:extLst>
          </p:cNvPr>
          <p:cNvSpPr>
            <a:spLocks xmlns:a="http://schemas.openxmlformats.org/drawingml/2006/main" noGrp="1"/>
          </p:cNvSpPr>
          <p:nvPr/>
        </p:nvSpPr>
        <p:spPr>
          <a:xfrm xmlns:a="http://schemas.openxmlformats.org/drawingml/2006/main">
            <a:off x="11525250" y="3429000"/>
            <a:ext cx="95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02</a:t>
            </a:r>
          </a:p>
        </p:txBody>
      </p:sp>
      <p:sp>
        <p:nvSpPr>
          <p:cNvPr id="6" name="Select the plant and confirm its capacity basis.">
            <a:extLst xmlns:a="http://schemas.openxmlformats.org/drawingml/2006/main">
              <a:ext uri="{FF2B5EF4-FFF2-40B4-BE49-F238E27FC236}">
                <a16:creationId xmlns:a16="http://schemas.microsoft.com/office/drawing/2014/main" id="{12659F6A-FED6-4160-9C55-9933A026EFD2}"/>
              </a:ext>
            </a:extLst>
          </p:cNvPr>
          <p:cNvSpPr>
            <a:spLocks xmlns:a="http://schemas.openxmlformats.org/drawingml/2006/main" noGrp="1"/>
          </p:cNvSpPr>
          <p:nvPr/>
        </p:nvSpPr>
        <p:spPr>
          <a:xfrm xmlns:a="http://schemas.openxmlformats.org/drawingml/2006/main">
            <a:off x="11525250" y="3895725"/>
            <a:ext cx="30765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025" b="0">
                <a:solidFill>
                  <a:srgbClr val="18384B"/>
                </a:solidFill>
                <a:latin typeface="Arial"/>
                <a:ea typeface="Arial"/>
                <a:cs typeface="Arial"/>
              </a:defRPr>
            </a:pPr>
            <a:r>
              <a:rPr sz="2025" b="0">
                <a:solidFill>
                  <a:srgbClr val="18384B"/>
                </a:solidFill>
                <a:latin typeface="Arial"/>
                <a:ea typeface="Arial"/>
                <a:cs typeface="Arial"/>
              </a:rPr>
              <a:t>Select the plant and confirm its capacity basis.</a:t>
            </a:r>
          </a:p>
        </p:txBody>
      </p:sp>
      <p:sp>
        <p:nvSpPr>
          <p:cNvPr id="7" name="03">
            <a:extLst xmlns:a="http://schemas.openxmlformats.org/drawingml/2006/main">
              <a:ext uri="{FF2B5EF4-FFF2-40B4-BE49-F238E27FC236}">
                <a16:creationId xmlns:a16="http://schemas.microsoft.com/office/drawing/2014/main" id="{F16624B6-EA34-4A6F-B0BE-3CDD32FB3EB8}"/>
              </a:ext>
            </a:extLst>
          </p:cNvPr>
          <p:cNvSpPr>
            <a:spLocks xmlns:a="http://schemas.openxmlformats.org/drawingml/2006/main" noGrp="1"/>
          </p:cNvSpPr>
          <p:nvPr/>
        </p:nvSpPr>
        <p:spPr>
          <a:xfrm xmlns:a="http://schemas.openxmlformats.org/drawingml/2006/main">
            <a:off x="11525250" y="5086350"/>
            <a:ext cx="95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03</a:t>
            </a:r>
          </a:p>
        </p:txBody>
      </p:sp>
      <p:sp>
        <p:nvSpPr>
          <p:cNvPr id="8" name="Review Production, Quality, Maintenance and Outages.">
            <a:extLst xmlns:a="http://schemas.openxmlformats.org/drawingml/2006/main">
              <a:ext uri="{FF2B5EF4-FFF2-40B4-BE49-F238E27FC236}">
                <a16:creationId xmlns:a16="http://schemas.microsoft.com/office/drawing/2014/main" id="{85556C57-64A4-47AA-B9ED-03E81B898488}"/>
              </a:ext>
            </a:extLst>
          </p:cNvPr>
          <p:cNvSpPr>
            <a:spLocks xmlns:a="http://schemas.openxmlformats.org/drawingml/2006/main" noGrp="1"/>
          </p:cNvSpPr>
          <p:nvPr/>
        </p:nvSpPr>
        <p:spPr>
          <a:xfrm xmlns:a="http://schemas.openxmlformats.org/drawingml/2006/main">
            <a:off x="11525250" y="5553075"/>
            <a:ext cx="30765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025" b="0">
                <a:solidFill>
                  <a:srgbClr val="18384B"/>
                </a:solidFill>
                <a:latin typeface="Arial"/>
                <a:ea typeface="Arial"/>
                <a:cs typeface="Arial"/>
              </a:defRPr>
            </a:pPr>
            <a:r>
              <a:rPr sz="2025" b="0">
                <a:solidFill>
                  <a:srgbClr val="18384B"/>
                </a:solidFill>
                <a:latin typeface="Arial"/>
                <a:ea typeface="Arial"/>
                <a:cs typeface="Arial"/>
              </a:rPr>
              <a:t>Review Production, Quality, Maintenance and Outages.</a:t>
            </a:r>
          </a:p>
        </p:txBody>
      </p:sp>
      <p:sp>
        <p:nvSpPr>
          <p:cNvPr id="9" name="Contracted capacity, dates and operating events determi">
            <a:extLst xmlns:a="http://schemas.openxmlformats.org/drawingml/2006/main">
              <a:ext uri="{FF2B5EF4-FFF2-40B4-BE49-F238E27FC236}">
                <a16:creationId xmlns:a16="http://schemas.microsoft.com/office/drawing/2014/main" id="{CD6E1906-3F03-4412-A29F-0983B1B4800D}"/>
              </a:ext>
            </a:extLst>
          </p:cNvPr>
          <p:cNvSpPr>
            <a:spLocks xmlns:a="http://schemas.openxmlformats.org/drawingml/2006/main" noGrp="1"/>
          </p:cNvSpPr>
          <p:nvPr/>
        </p:nvSpPr>
        <p:spPr>
          <a:xfrm xmlns:a="http://schemas.openxmlformats.org/drawingml/2006/main">
            <a:off x="609600" y="7448550"/>
            <a:ext cx="1390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Contracted capacity, dates and operating events determine the planning context.</a:t>
            </a:r>
          </a:p>
        </p:txBody>
      </p:sp>
      <p:sp>
        <p:nvSpPr>
          <p:cNvPr id="10" name="WIDispatch   /   Client demonstration">
            <a:extLst xmlns:a="http://schemas.openxmlformats.org/drawingml/2006/main">
              <a:ext uri="{FF2B5EF4-FFF2-40B4-BE49-F238E27FC236}">
                <a16:creationId xmlns:a16="http://schemas.microsoft.com/office/drawing/2014/main" id="{5B8AB192-9695-4C24-BE33-A1F775098D41}"/>
              </a:ext>
            </a:extLst>
          </p:cNvPr>
          <p:cNvSpPr>
            <a:spLocks xmlns:a="http://schemas.openxmlformats.org/drawingml/2006/main" noGrp="1"/>
          </p:cNvSpPr>
          <p:nvPr/>
        </p:nvSpPr>
        <p:spPr>
          <a:xfrm xmlns:a="http://schemas.openxmlformats.org/drawingml/2006/main">
            <a:off x="609600" y="81724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275" b="0">
                <a:solidFill>
                  <a:srgbClr val="547080"/>
                </a:solidFill>
                <a:latin typeface="Arial"/>
                <a:ea typeface="Arial"/>
                <a:cs typeface="Arial"/>
              </a:defRPr>
            </a:pPr>
            <a:r>
              <a:rPr sz="1275" b="0">
                <a:solidFill>
                  <a:srgbClr val="547080"/>
                </a:solidFill>
                <a:latin typeface="Arial"/>
                <a:ea typeface="Arial"/>
                <a:cs typeface="Arial"/>
              </a:rPr>
              <a:t>WIDispatch   /   Client demonstration</a:t>
            </a:r>
          </a:p>
        </p:txBody>
      </p:sp>
      <p:sp>
        <p:nvSpPr>
          <p:cNvPr id="11" name="08">
            <a:extLst xmlns:a="http://schemas.openxmlformats.org/drawingml/2006/main">
              <a:ext uri="{FF2B5EF4-FFF2-40B4-BE49-F238E27FC236}">
                <a16:creationId xmlns:a16="http://schemas.microsoft.com/office/drawing/2014/main" id="{94F5CC57-1A1A-4674-8367-51DA81707A24}"/>
              </a:ext>
            </a:extLst>
          </p:cNvPr>
          <p:cNvSpPr>
            <a:spLocks xmlns:a="http://schemas.openxmlformats.org/drawingml/2006/main" noGrp="1"/>
          </p:cNvSpPr>
          <p:nvPr/>
        </p:nvSpPr>
        <p:spPr>
          <a:xfrm xmlns:a="http://schemas.openxmlformats.org/drawingml/2006/main">
            <a:off x="13906500" y="8115300"/>
            <a:ext cx="723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547080"/>
                </a:solidFill>
                <a:latin typeface="Arial"/>
                <a:ea typeface="Arial"/>
                <a:cs typeface="Arial"/>
              </a:defRPr>
            </a:pPr>
            <a:r>
              <a:rPr sz="1650" b="0">
                <a:solidFill>
                  <a:srgbClr val="547080"/>
                </a:solidFill>
                <a:latin typeface="Arial"/>
                <a:ea typeface="Arial"/>
                <a:cs typeface="Arial"/>
              </a:rPr>
              <a:t>11</a:t>
            </a:r>
          </a:p>
        </p:txBody>
      </p:sp>
    </p:spTree>
    <p:extLst>
      <p:ext uri="{BB962C8B-B14F-4D97-AF65-F5344CB8AC3E}">
        <p14:creationId xmlns:p14="http://schemas.microsoft.com/office/powerpoint/2010/main" val="244052213"/>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Recording production">
            <a:extLst xmlns:a="http://schemas.openxmlformats.org/drawingml/2006/main">
              <a:ext uri="{FF2B5EF4-FFF2-40B4-BE49-F238E27FC236}">
                <a16:creationId xmlns:a16="http://schemas.microsoft.com/office/drawing/2014/main" id="{277203DD-8735-46DA-836A-BF121F6D754E}"/>
              </a:ext>
            </a:extLst>
          </p:cNvPr>
          <p:cNvSpPr>
            <a:spLocks xmlns:a="http://schemas.openxmlformats.org/drawingml/2006/main" noGrp="1"/>
          </p:cNvSpPr>
          <p:nvPr/>
        </p:nvSpPr>
        <p:spPr>
          <a:xfrm xmlns:a="http://schemas.openxmlformats.org/drawingml/2006/main">
            <a:off x="571500" y="428625"/>
            <a:ext cx="140970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300" b="1">
                <a:solidFill>
                  <a:srgbClr val="12374B"/>
                </a:solidFill>
                <a:latin typeface="Arial"/>
                <a:ea typeface="Arial"/>
                <a:cs typeface="Arial"/>
              </a:defRPr>
            </a:pPr>
            <a:r>
              <a:rPr sz="3300" b="1">
                <a:solidFill>
                  <a:srgbClr val="12374B"/>
                </a:solidFill>
                <a:latin typeface="Arial"/>
                <a:ea typeface="Arial"/>
                <a:cs typeface="Arial"/>
              </a:rPr>
              <a:t>Recording production</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dee4b71f3ae4447e"/>
          <a:stretch xmlns:a="http://schemas.openxmlformats.org/drawingml/2006/main"/>
        </p:blipFill>
        <p:spPr>
          <a:xfrm xmlns:a="http://schemas.openxmlformats.org/drawingml/2006/main">
            <a:off x="1465101" y="1666875"/>
            <a:ext cx="8690297" cy="5429250"/>
          </a:xfrm>
          <a:prstGeom xmlns:a="http://schemas.openxmlformats.org/drawingml/2006/main" prst="rect">
            <a:avLst/>
          </a:prstGeom>
        </p:spPr>
      </p:pic>
      <p:sp>
        <p:nvSpPr>
          <p:cNvPr id="3" name="01">
            <a:extLst xmlns:a="http://schemas.openxmlformats.org/drawingml/2006/main">
              <a:ext uri="{FF2B5EF4-FFF2-40B4-BE49-F238E27FC236}">
                <a16:creationId xmlns:a16="http://schemas.microsoft.com/office/drawing/2014/main" id="{6D7044FE-FD3E-4B86-BB96-FD3BC5F9BBD4}"/>
              </a:ext>
            </a:extLst>
          </p:cNvPr>
          <p:cNvSpPr>
            <a:spLocks xmlns:a="http://schemas.openxmlformats.org/drawingml/2006/main" noGrp="1"/>
          </p:cNvSpPr>
          <p:nvPr/>
        </p:nvSpPr>
        <p:spPr>
          <a:xfrm xmlns:a="http://schemas.openxmlformats.org/drawingml/2006/main">
            <a:off x="11525250" y="1771650"/>
            <a:ext cx="95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01</a:t>
            </a:r>
          </a:p>
        </p:txBody>
      </p:sp>
      <p:sp>
        <p:nvSpPr>
          <p:cNvPr id="4" name="Open Record Production or edit an existing day.">
            <a:extLst xmlns:a="http://schemas.openxmlformats.org/drawingml/2006/main">
              <a:ext uri="{FF2B5EF4-FFF2-40B4-BE49-F238E27FC236}">
                <a16:creationId xmlns:a16="http://schemas.microsoft.com/office/drawing/2014/main" id="{04F97240-F0E2-40A5-84E5-143C08DB23FD}"/>
              </a:ext>
            </a:extLst>
          </p:cNvPr>
          <p:cNvSpPr>
            <a:spLocks xmlns:a="http://schemas.openxmlformats.org/drawingml/2006/main" noGrp="1"/>
          </p:cNvSpPr>
          <p:nvPr/>
        </p:nvSpPr>
        <p:spPr>
          <a:xfrm xmlns:a="http://schemas.openxmlformats.org/drawingml/2006/main">
            <a:off x="11525250" y="2238375"/>
            <a:ext cx="30765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025" b="0">
                <a:solidFill>
                  <a:srgbClr val="18384B"/>
                </a:solidFill>
                <a:latin typeface="Arial"/>
                <a:ea typeface="Arial"/>
                <a:cs typeface="Arial"/>
              </a:defRPr>
            </a:pPr>
            <a:r>
              <a:rPr sz="2025" b="0">
                <a:solidFill>
                  <a:srgbClr val="18384B"/>
                </a:solidFill>
                <a:latin typeface="Arial"/>
                <a:ea typeface="Arial"/>
                <a:cs typeface="Arial"/>
              </a:rPr>
              <a:t>Open Record Production or edit an existing day.</a:t>
            </a:r>
          </a:p>
        </p:txBody>
      </p:sp>
      <p:sp>
        <p:nvSpPr>
          <p:cNvPr id="5" name="02">
            <a:extLst xmlns:a="http://schemas.openxmlformats.org/drawingml/2006/main">
              <a:ext uri="{FF2B5EF4-FFF2-40B4-BE49-F238E27FC236}">
                <a16:creationId xmlns:a16="http://schemas.microsoft.com/office/drawing/2014/main" id="{3487E1FD-F246-4DA0-937C-8479A81503F7}"/>
              </a:ext>
            </a:extLst>
          </p:cNvPr>
          <p:cNvSpPr>
            <a:spLocks xmlns:a="http://schemas.openxmlformats.org/drawingml/2006/main" noGrp="1"/>
          </p:cNvSpPr>
          <p:nvPr/>
        </p:nvSpPr>
        <p:spPr>
          <a:xfrm xmlns:a="http://schemas.openxmlformats.org/drawingml/2006/main">
            <a:off x="11525250" y="3429000"/>
            <a:ext cx="95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02</a:t>
            </a:r>
          </a:p>
        </p:txBody>
      </p:sp>
      <p:sp>
        <p:nvSpPr>
          <p:cNvPr id="6" name="Enter actual production and useful remarks.">
            <a:extLst xmlns:a="http://schemas.openxmlformats.org/drawingml/2006/main">
              <a:ext uri="{FF2B5EF4-FFF2-40B4-BE49-F238E27FC236}">
                <a16:creationId xmlns:a16="http://schemas.microsoft.com/office/drawing/2014/main" id="{2D5315A5-7546-48FA-AC14-DE2742EF9C91}"/>
              </a:ext>
            </a:extLst>
          </p:cNvPr>
          <p:cNvSpPr>
            <a:spLocks xmlns:a="http://schemas.openxmlformats.org/drawingml/2006/main" noGrp="1"/>
          </p:cNvSpPr>
          <p:nvPr/>
        </p:nvSpPr>
        <p:spPr>
          <a:xfrm xmlns:a="http://schemas.openxmlformats.org/drawingml/2006/main">
            <a:off x="11525250" y="3895725"/>
            <a:ext cx="30765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025" b="0">
                <a:solidFill>
                  <a:srgbClr val="18384B"/>
                </a:solidFill>
                <a:latin typeface="Arial"/>
                <a:ea typeface="Arial"/>
                <a:cs typeface="Arial"/>
              </a:defRPr>
            </a:pPr>
            <a:r>
              <a:rPr sz="2025" b="0">
                <a:solidFill>
                  <a:srgbClr val="18384B"/>
                </a:solidFill>
                <a:latin typeface="Arial"/>
                <a:ea typeface="Arial"/>
                <a:cs typeface="Arial"/>
              </a:rPr>
              <a:t>Enter actual production and useful remarks.</a:t>
            </a:r>
          </a:p>
        </p:txBody>
      </p:sp>
      <p:sp>
        <p:nvSpPr>
          <p:cNvPr id="7" name="03">
            <a:extLst xmlns:a="http://schemas.openxmlformats.org/drawingml/2006/main">
              <a:ext uri="{FF2B5EF4-FFF2-40B4-BE49-F238E27FC236}">
                <a16:creationId xmlns:a16="http://schemas.microsoft.com/office/drawing/2014/main" id="{3365E83D-92C2-4AEC-AB18-348929ACB377}"/>
              </a:ext>
            </a:extLst>
          </p:cNvPr>
          <p:cNvSpPr>
            <a:spLocks xmlns:a="http://schemas.openxmlformats.org/drawingml/2006/main" noGrp="1"/>
          </p:cNvSpPr>
          <p:nvPr/>
        </p:nvSpPr>
        <p:spPr>
          <a:xfrm xmlns:a="http://schemas.openxmlformats.org/drawingml/2006/main">
            <a:off x="11525250" y="5086350"/>
            <a:ext cx="95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03</a:t>
            </a:r>
          </a:p>
        </p:txBody>
      </p:sp>
      <p:sp>
        <p:nvSpPr>
          <p:cNvPr id="8" name="Save as Draft or Submit for review.">
            <a:extLst xmlns:a="http://schemas.openxmlformats.org/drawingml/2006/main">
              <a:ext uri="{FF2B5EF4-FFF2-40B4-BE49-F238E27FC236}">
                <a16:creationId xmlns:a16="http://schemas.microsoft.com/office/drawing/2014/main" id="{057704C1-7E06-4293-A0D7-D30932E73197}"/>
              </a:ext>
            </a:extLst>
          </p:cNvPr>
          <p:cNvSpPr>
            <a:spLocks xmlns:a="http://schemas.openxmlformats.org/drawingml/2006/main" noGrp="1"/>
          </p:cNvSpPr>
          <p:nvPr/>
        </p:nvSpPr>
        <p:spPr>
          <a:xfrm xmlns:a="http://schemas.openxmlformats.org/drawingml/2006/main">
            <a:off x="11525250" y="5553075"/>
            <a:ext cx="30765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025" b="0">
                <a:solidFill>
                  <a:srgbClr val="18384B"/>
                </a:solidFill>
                <a:latin typeface="Arial"/>
                <a:ea typeface="Arial"/>
                <a:cs typeface="Arial"/>
              </a:defRPr>
            </a:pPr>
            <a:r>
              <a:rPr sz="2025" b="0">
                <a:solidFill>
                  <a:srgbClr val="18384B"/>
                </a:solidFill>
                <a:latin typeface="Arial"/>
                <a:ea typeface="Arial"/>
                <a:cs typeface="Arial"/>
              </a:rPr>
              <a:t>Save as Draft or Submit for review.</a:t>
            </a:r>
          </a:p>
        </p:txBody>
      </p:sp>
      <p:sp>
        <p:nvSpPr>
          <p:cNvPr id="9" name="Available capacity is derived from contracted capacity ">
            <a:extLst xmlns:a="http://schemas.openxmlformats.org/drawingml/2006/main">
              <a:ext uri="{FF2B5EF4-FFF2-40B4-BE49-F238E27FC236}">
                <a16:creationId xmlns:a16="http://schemas.microsoft.com/office/drawing/2014/main" id="{3A032DAF-C6FC-4B26-B3DE-653BFA2A06AC}"/>
              </a:ext>
            </a:extLst>
          </p:cNvPr>
          <p:cNvSpPr>
            <a:spLocks xmlns:a="http://schemas.openxmlformats.org/drawingml/2006/main" noGrp="1"/>
          </p:cNvSpPr>
          <p:nvPr/>
        </p:nvSpPr>
        <p:spPr>
          <a:xfrm xmlns:a="http://schemas.openxmlformats.org/drawingml/2006/main">
            <a:off x="609600" y="7448550"/>
            <a:ext cx="1390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Available capacity is derived from contracted capacity and recorded losses.</a:t>
            </a:r>
          </a:p>
        </p:txBody>
      </p:sp>
      <p:sp>
        <p:nvSpPr>
          <p:cNvPr id="10" name="WIDispatch   /   Client demonstration">
            <a:extLst xmlns:a="http://schemas.openxmlformats.org/drawingml/2006/main">
              <a:ext uri="{FF2B5EF4-FFF2-40B4-BE49-F238E27FC236}">
                <a16:creationId xmlns:a16="http://schemas.microsoft.com/office/drawing/2014/main" id="{DAA24E58-69EB-4474-AD6D-345A9745D163}"/>
              </a:ext>
            </a:extLst>
          </p:cNvPr>
          <p:cNvSpPr>
            <a:spLocks xmlns:a="http://schemas.openxmlformats.org/drawingml/2006/main" noGrp="1"/>
          </p:cNvSpPr>
          <p:nvPr/>
        </p:nvSpPr>
        <p:spPr>
          <a:xfrm xmlns:a="http://schemas.openxmlformats.org/drawingml/2006/main">
            <a:off x="609600" y="81724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275" b="0">
                <a:solidFill>
                  <a:srgbClr val="547080"/>
                </a:solidFill>
                <a:latin typeface="Arial"/>
                <a:ea typeface="Arial"/>
                <a:cs typeface="Arial"/>
              </a:defRPr>
            </a:pPr>
            <a:r>
              <a:rPr sz="1275" b="0">
                <a:solidFill>
                  <a:srgbClr val="547080"/>
                </a:solidFill>
                <a:latin typeface="Arial"/>
                <a:ea typeface="Arial"/>
                <a:cs typeface="Arial"/>
              </a:rPr>
              <a:t>WIDispatch   /   Client demonstration</a:t>
            </a:r>
          </a:p>
        </p:txBody>
      </p:sp>
      <p:sp>
        <p:nvSpPr>
          <p:cNvPr id="11" name="09">
            <a:extLst xmlns:a="http://schemas.openxmlformats.org/drawingml/2006/main">
              <a:ext uri="{FF2B5EF4-FFF2-40B4-BE49-F238E27FC236}">
                <a16:creationId xmlns:a16="http://schemas.microsoft.com/office/drawing/2014/main" id="{1808A6C2-EB93-4F74-A703-0E94CAFC7008}"/>
              </a:ext>
            </a:extLst>
          </p:cNvPr>
          <p:cNvSpPr>
            <a:spLocks xmlns:a="http://schemas.openxmlformats.org/drawingml/2006/main" noGrp="1"/>
          </p:cNvSpPr>
          <p:nvPr/>
        </p:nvSpPr>
        <p:spPr>
          <a:xfrm xmlns:a="http://schemas.openxmlformats.org/drawingml/2006/main">
            <a:off x="13906500" y="8115300"/>
            <a:ext cx="723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547080"/>
                </a:solidFill>
                <a:latin typeface="Arial"/>
                <a:ea typeface="Arial"/>
                <a:cs typeface="Arial"/>
              </a:defRPr>
            </a:pPr>
            <a:r>
              <a:rPr sz="1650" b="0">
                <a:solidFill>
                  <a:srgbClr val="547080"/>
                </a:solidFill>
                <a:latin typeface="Arial"/>
                <a:ea typeface="Arial"/>
                <a:cs typeface="Arial"/>
              </a:rPr>
              <a:t>12</a:t>
            </a:r>
          </a:p>
        </p:txBody>
      </p:sp>
    </p:spTree>
    <p:extLst>
      <p:ext uri="{BB962C8B-B14F-4D97-AF65-F5344CB8AC3E}">
        <p14:creationId xmlns:p14="http://schemas.microsoft.com/office/powerpoint/2010/main" val="1949882227"/>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Maintenance changes available production">
            <a:extLst xmlns:a="http://schemas.openxmlformats.org/drawingml/2006/main">
              <a:ext uri="{FF2B5EF4-FFF2-40B4-BE49-F238E27FC236}">
                <a16:creationId xmlns:a16="http://schemas.microsoft.com/office/drawing/2014/main" id="{359496B2-C40E-4B83-9D38-C23AE9A8BAC9}"/>
              </a:ext>
            </a:extLst>
          </p:cNvPr>
          <p:cNvSpPr>
            <a:spLocks xmlns:a="http://schemas.openxmlformats.org/drawingml/2006/main" noGrp="1"/>
          </p:cNvSpPr>
          <p:nvPr/>
        </p:nvSpPr>
        <p:spPr>
          <a:xfrm xmlns:a="http://schemas.openxmlformats.org/drawingml/2006/main">
            <a:off x="571500" y="428625"/>
            <a:ext cx="140970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300" b="1">
                <a:solidFill>
                  <a:srgbClr val="12374B"/>
                </a:solidFill>
                <a:latin typeface="Arial"/>
                <a:ea typeface="Arial"/>
                <a:cs typeface="Arial"/>
              </a:defRPr>
            </a:pPr>
            <a:r>
              <a:rPr sz="3300" b="1">
                <a:solidFill>
                  <a:srgbClr val="12374B"/>
                </a:solidFill>
                <a:latin typeface="Arial"/>
                <a:ea typeface="Arial"/>
                <a:cs typeface="Arial"/>
              </a:rPr>
              <a:t>Maintenance changes available production</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8a568c7455364f1f"/>
          <a:stretch xmlns:a="http://schemas.openxmlformats.org/drawingml/2006/main"/>
        </p:blipFill>
        <p:spPr>
          <a:xfrm xmlns:a="http://schemas.openxmlformats.org/drawingml/2006/main">
            <a:off x="2355881" y="1666875"/>
            <a:ext cx="6908737" cy="5429250"/>
          </a:xfrm>
          <a:prstGeom xmlns:a="http://schemas.openxmlformats.org/drawingml/2006/main" prst="rect">
            <a:avLst/>
          </a:prstGeom>
        </p:spPr>
      </p:pic>
      <p:sp>
        <p:nvSpPr>
          <p:cNvPr id="3" name="01">
            <a:extLst xmlns:a="http://schemas.openxmlformats.org/drawingml/2006/main">
              <a:ext uri="{FF2B5EF4-FFF2-40B4-BE49-F238E27FC236}">
                <a16:creationId xmlns:a16="http://schemas.microsoft.com/office/drawing/2014/main" id="{714612BD-56B4-407D-AE77-6356032EB9F9}"/>
              </a:ext>
            </a:extLst>
          </p:cNvPr>
          <p:cNvSpPr>
            <a:spLocks xmlns:a="http://schemas.openxmlformats.org/drawingml/2006/main" noGrp="1"/>
          </p:cNvSpPr>
          <p:nvPr/>
        </p:nvSpPr>
        <p:spPr>
          <a:xfrm xmlns:a="http://schemas.openxmlformats.org/drawingml/2006/main">
            <a:off x="11525250" y="1771650"/>
            <a:ext cx="95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01</a:t>
            </a:r>
          </a:p>
        </p:txBody>
      </p:sp>
      <p:sp>
        <p:nvSpPr>
          <p:cNvPr id="4" name="Describe the work and its start/end window.">
            <a:extLst xmlns:a="http://schemas.openxmlformats.org/drawingml/2006/main">
              <a:ext uri="{FF2B5EF4-FFF2-40B4-BE49-F238E27FC236}">
                <a16:creationId xmlns:a16="http://schemas.microsoft.com/office/drawing/2014/main" id="{E56FACC0-7D75-4067-810D-3F10B137DE5C}"/>
              </a:ext>
            </a:extLst>
          </p:cNvPr>
          <p:cNvSpPr>
            <a:spLocks xmlns:a="http://schemas.openxmlformats.org/drawingml/2006/main" noGrp="1"/>
          </p:cNvSpPr>
          <p:nvPr/>
        </p:nvSpPr>
        <p:spPr>
          <a:xfrm xmlns:a="http://schemas.openxmlformats.org/drawingml/2006/main">
            <a:off x="11525250" y="2238375"/>
            <a:ext cx="30765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025" b="0">
                <a:solidFill>
                  <a:srgbClr val="18384B"/>
                </a:solidFill>
                <a:latin typeface="Arial"/>
                <a:ea typeface="Arial"/>
                <a:cs typeface="Arial"/>
              </a:defRPr>
            </a:pPr>
            <a:r>
              <a:rPr sz="2025" b="0">
                <a:solidFill>
                  <a:srgbClr val="18384B"/>
                </a:solidFill>
                <a:latin typeface="Arial"/>
                <a:ea typeface="Arial"/>
                <a:cs typeface="Arial"/>
              </a:rPr>
              <a:t>Describe the work and its start/end window.</a:t>
            </a:r>
          </a:p>
        </p:txBody>
      </p:sp>
      <p:sp>
        <p:nvSpPr>
          <p:cNvPr id="5" name="02">
            <a:extLst xmlns:a="http://schemas.openxmlformats.org/drawingml/2006/main">
              <a:ext uri="{FF2B5EF4-FFF2-40B4-BE49-F238E27FC236}">
                <a16:creationId xmlns:a16="http://schemas.microsoft.com/office/drawing/2014/main" id="{2B6B5DF0-D912-4727-9CFC-0E372369588B}"/>
              </a:ext>
            </a:extLst>
          </p:cNvPr>
          <p:cNvSpPr>
            <a:spLocks xmlns:a="http://schemas.openxmlformats.org/drawingml/2006/main" noGrp="1"/>
          </p:cNvSpPr>
          <p:nvPr/>
        </p:nvSpPr>
        <p:spPr>
          <a:xfrm xmlns:a="http://schemas.openxmlformats.org/drawingml/2006/main">
            <a:off x="11525250" y="3429000"/>
            <a:ext cx="95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02</a:t>
            </a:r>
          </a:p>
        </p:txBody>
      </p:sp>
      <p:sp>
        <p:nvSpPr>
          <p:cNvPr id="6" name="Enter the expected loss for each affected day.">
            <a:extLst xmlns:a="http://schemas.openxmlformats.org/drawingml/2006/main">
              <a:ext uri="{FF2B5EF4-FFF2-40B4-BE49-F238E27FC236}">
                <a16:creationId xmlns:a16="http://schemas.microsoft.com/office/drawing/2014/main" id="{6FA11970-2F9C-4999-B659-BD8F960C5F33}"/>
              </a:ext>
            </a:extLst>
          </p:cNvPr>
          <p:cNvSpPr>
            <a:spLocks xmlns:a="http://schemas.openxmlformats.org/drawingml/2006/main" noGrp="1"/>
          </p:cNvSpPr>
          <p:nvPr/>
        </p:nvSpPr>
        <p:spPr>
          <a:xfrm xmlns:a="http://schemas.openxmlformats.org/drawingml/2006/main">
            <a:off x="11525250" y="3895725"/>
            <a:ext cx="30765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025" b="0">
                <a:solidFill>
                  <a:srgbClr val="18384B"/>
                </a:solidFill>
                <a:latin typeface="Arial"/>
                <a:ea typeface="Arial"/>
                <a:cs typeface="Arial"/>
              </a:defRPr>
            </a:pPr>
            <a:r>
              <a:rPr sz="2025" b="0">
                <a:solidFill>
                  <a:srgbClr val="18384B"/>
                </a:solidFill>
                <a:latin typeface="Arial"/>
                <a:ea typeface="Arial"/>
                <a:cs typeface="Arial"/>
              </a:rPr>
              <a:t>Enter the expected loss for each affected day.</a:t>
            </a:r>
          </a:p>
        </p:txBody>
      </p:sp>
      <p:sp>
        <p:nvSpPr>
          <p:cNvPr id="7" name="03">
            <a:extLst xmlns:a="http://schemas.openxmlformats.org/drawingml/2006/main">
              <a:ext uri="{FF2B5EF4-FFF2-40B4-BE49-F238E27FC236}">
                <a16:creationId xmlns:a16="http://schemas.microsoft.com/office/drawing/2014/main" id="{B89F36CD-9EB2-4F87-9EAC-9A87ED2EAC95}"/>
              </a:ext>
            </a:extLst>
          </p:cNvPr>
          <p:cNvSpPr>
            <a:spLocks xmlns:a="http://schemas.openxmlformats.org/drawingml/2006/main" noGrp="1"/>
          </p:cNvSpPr>
          <p:nvPr/>
        </p:nvSpPr>
        <p:spPr>
          <a:xfrm xmlns:a="http://schemas.openxmlformats.org/drawingml/2006/main">
            <a:off x="11525250" y="5086350"/>
            <a:ext cx="95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03</a:t>
            </a:r>
          </a:p>
        </p:txBody>
      </p:sp>
      <p:sp>
        <p:nvSpPr>
          <p:cNvPr id="8" name="Submit for Approval after checking the total impact.">
            <a:extLst xmlns:a="http://schemas.openxmlformats.org/drawingml/2006/main">
              <a:ext uri="{FF2B5EF4-FFF2-40B4-BE49-F238E27FC236}">
                <a16:creationId xmlns:a16="http://schemas.microsoft.com/office/drawing/2014/main" id="{76FB1925-74B7-454D-A732-98E985A0DC2E}"/>
              </a:ext>
            </a:extLst>
          </p:cNvPr>
          <p:cNvSpPr>
            <a:spLocks xmlns:a="http://schemas.openxmlformats.org/drawingml/2006/main" noGrp="1"/>
          </p:cNvSpPr>
          <p:nvPr/>
        </p:nvSpPr>
        <p:spPr>
          <a:xfrm xmlns:a="http://schemas.openxmlformats.org/drawingml/2006/main">
            <a:off x="11525250" y="5553075"/>
            <a:ext cx="30765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025" b="0">
                <a:solidFill>
                  <a:srgbClr val="18384B"/>
                </a:solidFill>
                <a:latin typeface="Arial"/>
                <a:ea typeface="Arial"/>
                <a:cs typeface="Arial"/>
              </a:defRPr>
            </a:pPr>
            <a:r>
              <a:rPr sz="2025" b="0">
                <a:solidFill>
                  <a:srgbClr val="18384B"/>
                </a:solidFill>
                <a:latin typeface="Arial"/>
                <a:ea typeface="Arial"/>
                <a:cs typeface="Arial"/>
              </a:rPr>
              <a:t>Submit for Approval after checking the total impact.</a:t>
            </a:r>
          </a:p>
        </p:txBody>
      </p:sp>
      <p:sp>
        <p:nvSpPr>
          <p:cNvPr id="9" name="Daily loss should reflect the affected volume rather th">
            <a:extLst xmlns:a="http://schemas.openxmlformats.org/drawingml/2006/main">
              <a:ext uri="{FF2B5EF4-FFF2-40B4-BE49-F238E27FC236}">
                <a16:creationId xmlns:a16="http://schemas.microsoft.com/office/drawing/2014/main" id="{AFA44444-BF53-4C29-A6A4-6A311603A5A5}"/>
              </a:ext>
            </a:extLst>
          </p:cNvPr>
          <p:cNvSpPr>
            <a:spLocks xmlns:a="http://schemas.openxmlformats.org/drawingml/2006/main" noGrp="1"/>
          </p:cNvSpPr>
          <p:nvPr/>
        </p:nvSpPr>
        <p:spPr>
          <a:xfrm xmlns:a="http://schemas.openxmlformats.org/drawingml/2006/main">
            <a:off x="609600" y="7448550"/>
            <a:ext cx="1390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Daily loss should reflect the affected volume rather than assuming a full-day shutdown.</a:t>
            </a:r>
          </a:p>
        </p:txBody>
      </p:sp>
      <p:sp>
        <p:nvSpPr>
          <p:cNvPr id="10" name="WIDispatch   /   Client demonstration">
            <a:extLst xmlns:a="http://schemas.openxmlformats.org/drawingml/2006/main">
              <a:ext uri="{FF2B5EF4-FFF2-40B4-BE49-F238E27FC236}">
                <a16:creationId xmlns:a16="http://schemas.microsoft.com/office/drawing/2014/main" id="{A73BBE4A-91F0-47EC-B009-A439C5A0B983}"/>
              </a:ext>
            </a:extLst>
          </p:cNvPr>
          <p:cNvSpPr>
            <a:spLocks xmlns:a="http://schemas.openxmlformats.org/drawingml/2006/main" noGrp="1"/>
          </p:cNvSpPr>
          <p:nvPr/>
        </p:nvSpPr>
        <p:spPr>
          <a:xfrm xmlns:a="http://schemas.openxmlformats.org/drawingml/2006/main">
            <a:off x="609600" y="81724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275" b="0">
                <a:solidFill>
                  <a:srgbClr val="547080"/>
                </a:solidFill>
                <a:latin typeface="Arial"/>
                <a:ea typeface="Arial"/>
                <a:cs typeface="Arial"/>
              </a:defRPr>
            </a:pPr>
            <a:r>
              <a:rPr sz="1275" b="0">
                <a:solidFill>
                  <a:srgbClr val="547080"/>
                </a:solidFill>
                <a:latin typeface="Arial"/>
                <a:ea typeface="Arial"/>
                <a:cs typeface="Arial"/>
              </a:rPr>
              <a:t>WIDispatch   /   Client demonstration</a:t>
            </a:r>
          </a:p>
        </p:txBody>
      </p:sp>
      <p:sp>
        <p:nvSpPr>
          <p:cNvPr id="11" name="10">
            <a:extLst xmlns:a="http://schemas.openxmlformats.org/drawingml/2006/main">
              <a:ext uri="{FF2B5EF4-FFF2-40B4-BE49-F238E27FC236}">
                <a16:creationId xmlns:a16="http://schemas.microsoft.com/office/drawing/2014/main" id="{5824033E-11EC-4848-A304-2FC328D8A34D}"/>
              </a:ext>
            </a:extLst>
          </p:cNvPr>
          <p:cNvSpPr>
            <a:spLocks xmlns:a="http://schemas.openxmlformats.org/drawingml/2006/main" noGrp="1"/>
          </p:cNvSpPr>
          <p:nvPr/>
        </p:nvSpPr>
        <p:spPr>
          <a:xfrm xmlns:a="http://schemas.openxmlformats.org/drawingml/2006/main">
            <a:off x="13906500" y="8115300"/>
            <a:ext cx="723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547080"/>
                </a:solidFill>
                <a:latin typeface="Arial"/>
                <a:ea typeface="Arial"/>
                <a:cs typeface="Arial"/>
              </a:defRPr>
            </a:pPr>
            <a:r>
              <a:rPr sz="1650" b="0">
                <a:solidFill>
                  <a:srgbClr val="547080"/>
                </a:solidFill>
                <a:latin typeface="Arial"/>
                <a:ea typeface="Arial"/>
                <a:cs typeface="Arial"/>
              </a:rPr>
              <a:t>13</a:t>
            </a:r>
          </a:p>
        </p:txBody>
      </p:sp>
    </p:spTree>
    <p:extLst>
      <p:ext uri="{BB962C8B-B14F-4D97-AF65-F5344CB8AC3E}">
        <p14:creationId xmlns:p14="http://schemas.microsoft.com/office/powerpoint/2010/main" val="215026924"/>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Outage records and operating impact">
            <a:extLst xmlns:a="http://schemas.openxmlformats.org/drawingml/2006/main">
              <a:ext uri="{FF2B5EF4-FFF2-40B4-BE49-F238E27FC236}">
                <a16:creationId xmlns:a16="http://schemas.microsoft.com/office/drawing/2014/main" id="{F4DB9AEE-C331-4FAC-B968-CB0F315E96A3}"/>
              </a:ext>
            </a:extLst>
          </p:cNvPr>
          <p:cNvSpPr>
            <a:spLocks xmlns:a="http://schemas.openxmlformats.org/drawingml/2006/main" noGrp="1"/>
          </p:cNvSpPr>
          <p:nvPr/>
        </p:nvSpPr>
        <p:spPr>
          <a:xfrm xmlns:a="http://schemas.openxmlformats.org/drawingml/2006/main">
            <a:off x="571500" y="428625"/>
            <a:ext cx="140970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300" b="1">
                <a:solidFill>
                  <a:srgbClr val="12374B"/>
                </a:solidFill>
                <a:latin typeface="Arial"/>
                <a:ea typeface="Arial"/>
                <a:cs typeface="Arial"/>
              </a:defRPr>
            </a:pPr>
            <a:r>
              <a:rPr sz="3300" b="1">
                <a:solidFill>
                  <a:srgbClr val="12374B"/>
                </a:solidFill>
                <a:latin typeface="Arial"/>
                <a:ea typeface="Arial"/>
                <a:cs typeface="Arial"/>
              </a:rPr>
              <a:t>Outage records and operating impact</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d8415591b1e94fa7"/>
          <a:stretch xmlns:a="http://schemas.openxmlformats.org/drawingml/2006/main"/>
        </p:blipFill>
        <p:spPr>
          <a:xfrm xmlns:a="http://schemas.openxmlformats.org/drawingml/2006/main">
            <a:off x="476250" y="1962788"/>
            <a:ext cx="10668000" cy="4837425"/>
          </a:xfrm>
          <a:prstGeom xmlns:a="http://schemas.openxmlformats.org/drawingml/2006/main" prst="rect">
            <a:avLst/>
          </a:prstGeom>
        </p:spPr>
      </p:pic>
      <p:sp>
        <p:nvSpPr>
          <p:cNvPr id="3" name="01">
            <a:extLst xmlns:a="http://schemas.openxmlformats.org/drawingml/2006/main">
              <a:ext uri="{FF2B5EF4-FFF2-40B4-BE49-F238E27FC236}">
                <a16:creationId xmlns:a16="http://schemas.microsoft.com/office/drawing/2014/main" id="{B91FFE3C-4AEB-4A6F-A39C-4C06492A7CC9}"/>
              </a:ext>
            </a:extLst>
          </p:cNvPr>
          <p:cNvSpPr>
            <a:spLocks xmlns:a="http://schemas.openxmlformats.org/drawingml/2006/main" noGrp="1"/>
          </p:cNvSpPr>
          <p:nvPr/>
        </p:nvSpPr>
        <p:spPr>
          <a:xfrm xmlns:a="http://schemas.openxmlformats.org/drawingml/2006/main">
            <a:off x="11525250" y="1771650"/>
            <a:ext cx="95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01</a:t>
            </a:r>
          </a:p>
        </p:txBody>
      </p:sp>
      <p:sp>
        <p:nvSpPr>
          <p:cNvPr id="4" name="Open the asset’s Outages tab.">
            <a:extLst xmlns:a="http://schemas.openxmlformats.org/drawingml/2006/main">
              <a:ext uri="{FF2B5EF4-FFF2-40B4-BE49-F238E27FC236}">
                <a16:creationId xmlns:a16="http://schemas.microsoft.com/office/drawing/2014/main" id="{AD848FB6-E61B-46A9-A79F-9A3BA731E9CE}"/>
              </a:ext>
            </a:extLst>
          </p:cNvPr>
          <p:cNvSpPr>
            <a:spLocks xmlns:a="http://schemas.openxmlformats.org/drawingml/2006/main" noGrp="1"/>
          </p:cNvSpPr>
          <p:nvPr/>
        </p:nvSpPr>
        <p:spPr>
          <a:xfrm xmlns:a="http://schemas.openxmlformats.org/drawingml/2006/main">
            <a:off x="11525250" y="2238375"/>
            <a:ext cx="30765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025" b="0">
                <a:solidFill>
                  <a:srgbClr val="18384B"/>
                </a:solidFill>
                <a:latin typeface="Arial"/>
                <a:ea typeface="Arial"/>
                <a:cs typeface="Arial"/>
              </a:defRPr>
            </a:pPr>
            <a:r>
              <a:rPr sz="2025" b="0">
                <a:solidFill>
                  <a:srgbClr val="18384B"/>
                </a:solidFill>
                <a:latin typeface="Arial"/>
                <a:ea typeface="Arial"/>
                <a:cs typeface="Arial"/>
              </a:rPr>
              <a:t>Open the asset’s Outages tab.</a:t>
            </a:r>
          </a:p>
        </p:txBody>
      </p:sp>
      <p:sp>
        <p:nvSpPr>
          <p:cNvPr id="5" name="02">
            <a:extLst xmlns:a="http://schemas.openxmlformats.org/drawingml/2006/main">
              <a:ext uri="{FF2B5EF4-FFF2-40B4-BE49-F238E27FC236}">
                <a16:creationId xmlns:a16="http://schemas.microsoft.com/office/drawing/2014/main" id="{EF72FF1E-9D78-4E34-84B7-07FCDA4A43A9}"/>
              </a:ext>
            </a:extLst>
          </p:cNvPr>
          <p:cNvSpPr>
            <a:spLocks xmlns:a="http://schemas.openxmlformats.org/drawingml/2006/main" noGrp="1"/>
          </p:cNvSpPr>
          <p:nvPr/>
        </p:nvSpPr>
        <p:spPr>
          <a:xfrm xmlns:a="http://schemas.openxmlformats.org/drawingml/2006/main">
            <a:off x="11525250" y="3429000"/>
            <a:ext cx="95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02</a:t>
            </a:r>
          </a:p>
        </p:txBody>
      </p:sp>
      <p:sp>
        <p:nvSpPr>
          <p:cNvPr id="6" name="Check full or partial scope and the event window.">
            <a:extLst xmlns:a="http://schemas.openxmlformats.org/drawingml/2006/main">
              <a:ext uri="{FF2B5EF4-FFF2-40B4-BE49-F238E27FC236}">
                <a16:creationId xmlns:a16="http://schemas.microsoft.com/office/drawing/2014/main" id="{0D75B96B-66FC-47F2-9C37-CA7389886EA4}"/>
              </a:ext>
            </a:extLst>
          </p:cNvPr>
          <p:cNvSpPr>
            <a:spLocks xmlns:a="http://schemas.openxmlformats.org/drawingml/2006/main" noGrp="1"/>
          </p:cNvSpPr>
          <p:nvPr/>
        </p:nvSpPr>
        <p:spPr>
          <a:xfrm xmlns:a="http://schemas.openxmlformats.org/drawingml/2006/main">
            <a:off x="11525250" y="3895725"/>
            <a:ext cx="30765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025" b="0">
                <a:solidFill>
                  <a:srgbClr val="18384B"/>
                </a:solidFill>
                <a:latin typeface="Arial"/>
                <a:ea typeface="Arial"/>
                <a:cs typeface="Arial"/>
              </a:defRPr>
            </a:pPr>
            <a:r>
              <a:rPr sz="2025" b="0">
                <a:solidFill>
                  <a:srgbClr val="18384B"/>
                </a:solidFill>
                <a:latin typeface="Arial"/>
                <a:ea typeface="Arial"/>
                <a:cs typeface="Arial"/>
              </a:rPr>
              <a:t>Check full or partial scope and the event window.</a:t>
            </a:r>
          </a:p>
        </p:txBody>
      </p:sp>
      <p:sp>
        <p:nvSpPr>
          <p:cNvPr id="7" name="03">
            <a:extLst xmlns:a="http://schemas.openxmlformats.org/drawingml/2006/main">
              <a:ext uri="{FF2B5EF4-FFF2-40B4-BE49-F238E27FC236}">
                <a16:creationId xmlns:a16="http://schemas.microsoft.com/office/drawing/2014/main" id="{4C802BB4-8B33-42D4-997D-B36640FE5653}"/>
              </a:ext>
            </a:extLst>
          </p:cNvPr>
          <p:cNvSpPr>
            <a:spLocks xmlns:a="http://schemas.openxmlformats.org/drawingml/2006/main" noGrp="1"/>
          </p:cNvSpPr>
          <p:nvPr/>
        </p:nvSpPr>
        <p:spPr>
          <a:xfrm xmlns:a="http://schemas.openxmlformats.org/drawingml/2006/main">
            <a:off x="11525250" y="5086350"/>
            <a:ext cx="95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03</a:t>
            </a:r>
          </a:p>
        </p:txBody>
      </p:sp>
      <p:sp>
        <p:nvSpPr>
          <p:cNvPr id="8" name="Review loss and whether the outage is ongoing.">
            <a:extLst xmlns:a="http://schemas.openxmlformats.org/drawingml/2006/main">
              <a:ext uri="{FF2B5EF4-FFF2-40B4-BE49-F238E27FC236}">
                <a16:creationId xmlns:a16="http://schemas.microsoft.com/office/drawing/2014/main" id="{C1599C76-2CF4-464D-8B58-E29D8DA247AF}"/>
              </a:ext>
            </a:extLst>
          </p:cNvPr>
          <p:cNvSpPr>
            <a:spLocks xmlns:a="http://schemas.openxmlformats.org/drawingml/2006/main" noGrp="1"/>
          </p:cNvSpPr>
          <p:nvPr/>
        </p:nvSpPr>
        <p:spPr>
          <a:xfrm xmlns:a="http://schemas.openxmlformats.org/drawingml/2006/main">
            <a:off x="11525250" y="5553075"/>
            <a:ext cx="30765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025" b="0">
                <a:solidFill>
                  <a:srgbClr val="18384B"/>
                </a:solidFill>
                <a:latin typeface="Arial"/>
                <a:ea typeface="Arial"/>
                <a:cs typeface="Arial"/>
              </a:defRPr>
            </a:pPr>
            <a:r>
              <a:rPr sz="2025" b="0">
                <a:solidFill>
                  <a:srgbClr val="18384B"/>
                </a:solidFill>
                <a:latin typeface="Arial"/>
                <a:ea typeface="Arial"/>
                <a:cs typeface="Arial"/>
              </a:rPr>
              <a:t>Review loss and whether the outage is ongoing.</a:t>
            </a:r>
          </a:p>
        </p:txBody>
      </p:sp>
      <p:sp>
        <p:nvSpPr>
          <p:cNvPr id="9" name="Outage timing can change availability on more than one ">
            <a:extLst xmlns:a="http://schemas.openxmlformats.org/drawingml/2006/main">
              <a:ext uri="{FF2B5EF4-FFF2-40B4-BE49-F238E27FC236}">
                <a16:creationId xmlns:a16="http://schemas.microsoft.com/office/drawing/2014/main" id="{96F2DC5D-4F95-4377-AD42-BF80F5BF42A0}"/>
              </a:ext>
            </a:extLst>
          </p:cNvPr>
          <p:cNvSpPr>
            <a:spLocks xmlns:a="http://schemas.openxmlformats.org/drawingml/2006/main" noGrp="1"/>
          </p:cNvSpPr>
          <p:nvPr/>
        </p:nvSpPr>
        <p:spPr>
          <a:xfrm xmlns:a="http://schemas.openxmlformats.org/drawingml/2006/main">
            <a:off x="609600" y="7448550"/>
            <a:ext cx="1390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Outage timing can change availability on more than one planning day.</a:t>
            </a:r>
          </a:p>
        </p:txBody>
      </p:sp>
      <p:sp>
        <p:nvSpPr>
          <p:cNvPr id="10" name="WIDispatch   /   Client demonstration">
            <a:extLst xmlns:a="http://schemas.openxmlformats.org/drawingml/2006/main">
              <a:ext uri="{FF2B5EF4-FFF2-40B4-BE49-F238E27FC236}">
                <a16:creationId xmlns:a16="http://schemas.microsoft.com/office/drawing/2014/main" id="{E84055DE-E1D6-4B27-B136-8FAA8BFB9CA4}"/>
              </a:ext>
            </a:extLst>
          </p:cNvPr>
          <p:cNvSpPr>
            <a:spLocks xmlns:a="http://schemas.openxmlformats.org/drawingml/2006/main" noGrp="1"/>
          </p:cNvSpPr>
          <p:nvPr/>
        </p:nvSpPr>
        <p:spPr>
          <a:xfrm xmlns:a="http://schemas.openxmlformats.org/drawingml/2006/main">
            <a:off x="609600" y="81724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275" b="0">
                <a:solidFill>
                  <a:srgbClr val="547080"/>
                </a:solidFill>
                <a:latin typeface="Arial"/>
                <a:ea typeface="Arial"/>
                <a:cs typeface="Arial"/>
              </a:defRPr>
            </a:pPr>
            <a:r>
              <a:rPr sz="1275" b="0">
                <a:solidFill>
                  <a:srgbClr val="547080"/>
                </a:solidFill>
                <a:latin typeface="Arial"/>
                <a:ea typeface="Arial"/>
                <a:cs typeface="Arial"/>
              </a:rPr>
              <a:t>WIDispatch   /   Client demonstration</a:t>
            </a:r>
          </a:p>
        </p:txBody>
      </p:sp>
      <p:sp>
        <p:nvSpPr>
          <p:cNvPr id="11" name="11">
            <a:extLst xmlns:a="http://schemas.openxmlformats.org/drawingml/2006/main">
              <a:ext uri="{FF2B5EF4-FFF2-40B4-BE49-F238E27FC236}">
                <a16:creationId xmlns:a16="http://schemas.microsoft.com/office/drawing/2014/main" id="{0B0937F3-A3A3-4B5C-ABFE-B0EFBC9EF2BB}"/>
              </a:ext>
            </a:extLst>
          </p:cNvPr>
          <p:cNvSpPr>
            <a:spLocks xmlns:a="http://schemas.openxmlformats.org/drawingml/2006/main" noGrp="1"/>
          </p:cNvSpPr>
          <p:nvPr/>
        </p:nvSpPr>
        <p:spPr>
          <a:xfrm xmlns:a="http://schemas.openxmlformats.org/drawingml/2006/main">
            <a:off x="13906500" y="8115300"/>
            <a:ext cx="723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547080"/>
                </a:solidFill>
                <a:latin typeface="Arial"/>
                <a:ea typeface="Arial"/>
                <a:cs typeface="Arial"/>
              </a:defRPr>
            </a:pPr>
            <a:r>
              <a:rPr sz="1650" b="0">
                <a:solidFill>
                  <a:srgbClr val="547080"/>
                </a:solidFill>
                <a:latin typeface="Arial"/>
                <a:ea typeface="Arial"/>
                <a:cs typeface="Arial"/>
              </a:rPr>
              <a:t>14</a:t>
            </a:r>
          </a:p>
        </p:txBody>
      </p:sp>
    </p:spTree>
    <p:extLst>
      <p:ext uri="{BB962C8B-B14F-4D97-AF65-F5344CB8AC3E}">
        <p14:creationId xmlns:p14="http://schemas.microsoft.com/office/powerpoint/2010/main" val="2021224448"/>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Reporting an outage">
            <a:extLst xmlns:a="http://schemas.openxmlformats.org/drawingml/2006/main">
              <a:ext uri="{FF2B5EF4-FFF2-40B4-BE49-F238E27FC236}">
                <a16:creationId xmlns:a16="http://schemas.microsoft.com/office/drawing/2014/main" id="{F8626F81-B51C-4A2D-B78E-6D389E7CBF6E}"/>
              </a:ext>
            </a:extLst>
          </p:cNvPr>
          <p:cNvSpPr>
            <a:spLocks xmlns:a="http://schemas.openxmlformats.org/drawingml/2006/main" noGrp="1"/>
          </p:cNvSpPr>
          <p:nvPr/>
        </p:nvSpPr>
        <p:spPr>
          <a:xfrm xmlns:a="http://schemas.openxmlformats.org/drawingml/2006/main">
            <a:off x="571500" y="428625"/>
            <a:ext cx="140970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300" b="1">
                <a:solidFill>
                  <a:srgbClr val="12374B"/>
                </a:solidFill>
                <a:latin typeface="Arial"/>
                <a:ea typeface="Arial"/>
                <a:cs typeface="Arial"/>
              </a:defRPr>
            </a:pPr>
            <a:r>
              <a:rPr sz="3300" b="1">
                <a:solidFill>
                  <a:srgbClr val="12374B"/>
                </a:solidFill>
                <a:latin typeface="Arial"/>
                <a:ea typeface="Arial"/>
                <a:cs typeface="Arial"/>
              </a:rPr>
              <a:t>Reporting an outage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5ffa1bbce3d545ec"/>
          <a:stretch xmlns:a="http://schemas.openxmlformats.org/drawingml/2006/main"/>
        </p:blipFill>
        <p:spPr>
          <a:xfrm xmlns:a="http://schemas.openxmlformats.org/drawingml/2006/main">
            <a:off x="3054921" y="1666875"/>
            <a:ext cx="5510657" cy="5429250"/>
          </a:xfrm>
          <a:prstGeom xmlns:a="http://schemas.openxmlformats.org/drawingml/2006/main" prst="rect">
            <a:avLst/>
          </a:prstGeom>
        </p:spPr>
      </p:pic>
      <p:sp>
        <p:nvSpPr>
          <p:cNvPr id="3" name="01">
            <a:extLst xmlns:a="http://schemas.openxmlformats.org/drawingml/2006/main">
              <a:ext uri="{FF2B5EF4-FFF2-40B4-BE49-F238E27FC236}">
                <a16:creationId xmlns:a16="http://schemas.microsoft.com/office/drawing/2014/main" id="{EE28256D-1E2A-40D6-9400-EABE49051578}"/>
              </a:ext>
            </a:extLst>
          </p:cNvPr>
          <p:cNvSpPr>
            <a:spLocks xmlns:a="http://schemas.openxmlformats.org/drawingml/2006/main" noGrp="1"/>
          </p:cNvSpPr>
          <p:nvPr/>
        </p:nvSpPr>
        <p:spPr>
          <a:xfrm xmlns:a="http://schemas.openxmlformats.org/drawingml/2006/main">
            <a:off x="11525250" y="1771650"/>
            <a:ext cx="95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01</a:t>
            </a:r>
          </a:p>
        </p:txBody>
      </p:sp>
      <p:sp>
        <p:nvSpPr>
          <p:cNvPr id="4" name="Choose the failure type and outage scope.">
            <a:extLst xmlns:a="http://schemas.openxmlformats.org/drawingml/2006/main">
              <a:ext uri="{FF2B5EF4-FFF2-40B4-BE49-F238E27FC236}">
                <a16:creationId xmlns:a16="http://schemas.microsoft.com/office/drawing/2014/main" id="{BBF4DA1B-BEE7-4ADD-A04C-CEDC5C800D3A}"/>
              </a:ext>
            </a:extLst>
          </p:cNvPr>
          <p:cNvSpPr>
            <a:spLocks xmlns:a="http://schemas.openxmlformats.org/drawingml/2006/main" noGrp="1"/>
          </p:cNvSpPr>
          <p:nvPr/>
        </p:nvSpPr>
        <p:spPr>
          <a:xfrm xmlns:a="http://schemas.openxmlformats.org/drawingml/2006/main">
            <a:off x="11525250" y="2238375"/>
            <a:ext cx="30765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025" b="0">
                <a:solidFill>
                  <a:srgbClr val="18384B"/>
                </a:solidFill>
                <a:latin typeface="Arial"/>
                <a:ea typeface="Arial"/>
                <a:cs typeface="Arial"/>
              </a:defRPr>
            </a:pPr>
            <a:r>
              <a:rPr sz="2025" b="0">
                <a:solidFill>
                  <a:srgbClr val="18384B"/>
                </a:solidFill>
                <a:latin typeface="Arial"/>
                <a:ea typeface="Arial"/>
                <a:cs typeface="Arial"/>
              </a:rPr>
              <a:t>Choose the failure type and outage scope.</a:t>
            </a:r>
          </a:p>
        </p:txBody>
      </p:sp>
      <p:sp>
        <p:nvSpPr>
          <p:cNvPr id="5" name="02">
            <a:extLst xmlns:a="http://schemas.openxmlformats.org/drawingml/2006/main">
              <a:ext uri="{FF2B5EF4-FFF2-40B4-BE49-F238E27FC236}">
                <a16:creationId xmlns:a16="http://schemas.microsoft.com/office/drawing/2014/main" id="{8A7E5B57-F088-433D-BA56-5B4551C65BC1}"/>
              </a:ext>
            </a:extLst>
          </p:cNvPr>
          <p:cNvSpPr>
            <a:spLocks xmlns:a="http://schemas.openxmlformats.org/drawingml/2006/main" noGrp="1"/>
          </p:cNvSpPr>
          <p:nvPr/>
        </p:nvSpPr>
        <p:spPr>
          <a:xfrm xmlns:a="http://schemas.openxmlformats.org/drawingml/2006/main">
            <a:off x="11525250" y="3429000"/>
            <a:ext cx="95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02</a:t>
            </a:r>
          </a:p>
        </p:txBody>
      </p:sp>
      <p:sp>
        <p:nvSpPr>
          <p:cNvPr id="6" name="Enter timing, cause and expected daily loss.">
            <a:extLst xmlns:a="http://schemas.openxmlformats.org/drawingml/2006/main">
              <a:ext uri="{FF2B5EF4-FFF2-40B4-BE49-F238E27FC236}">
                <a16:creationId xmlns:a16="http://schemas.microsoft.com/office/drawing/2014/main" id="{0707A2DB-DB36-4A8A-975D-7B56B9FE13C7}"/>
              </a:ext>
            </a:extLst>
          </p:cNvPr>
          <p:cNvSpPr>
            <a:spLocks xmlns:a="http://schemas.openxmlformats.org/drawingml/2006/main" noGrp="1"/>
          </p:cNvSpPr>
          <p:nvPr/>
        </p:nvSpPr>
        <p:spPr>
          <a:xfrm xmlns:a="http://schemas.openxmlformats.org/drawingml/2006/main">
            <a:off x="11525250" y="3895725"/>
            <a:ext cx="30765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025" b="0">
                <a:solidFill>
                  <a:srgbClr val="18384B"/>
                </a:solidFill>
                <a:latin typeface="Arial"/>
                <a:ea typeface="Arial"/>
                <a:cs typeface="Arial"/>
              </a:defRPr>
            </a:pPr>
            <a:r>
              <a:rPr sz="2025" b="0">
                <a:solidFill>
                  <a:srgbClr val="18384B"/>
                </a:solidFill>
                <a:latin typeface="Arial"/>
                <a:ea typeface="Arial"/>
                <a:cs typeface="Arial"/>
              </a:rPr>
              <a:t>Enter timing, cause and expected daily loss.</a:t>
            </a:r>
          </a:p>
        </p:txBody>
      </p:sp>
      <p:sp>
        <p:nvSpPr>
          <p:cNvPr id="7" name="03">
            <a:extLst xmlns:a="http://schemas.openxmlformats.org/drawingml/2006/main">
              <a:ext uri="{FF2B5EF4-FFF2-40B4-BE49-F238E27FC236}">
                <a16:creationId xmlns:a16="http://schemas.microsoft.com/office/drawing/2014/main" id="{65E27370-BB12-4B04-8EE1-0833B06EF28B}"/>
              </a:ext>
            </a:extLst>
          </p:cNvPr>
          <p:cNvSpPr>
            <a:spLocks xmlns:a="http://schemas.openxmlformats.org/drawingml/2006/main" noGrp="1"/>
          </p:cNvSpPr>
          <p:nvPr/>
        </p:nvSpPr>
        <p:spPr>
          <a:xfrm xmlns:a="http://schemas.openxmlformats.org/drawingml/2006/main">
            <a:off x="11525250" y="5086350"/>
            <a:ext cx="95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03</a:t>
            </a:r>
          </a:p>
        </p:txBody>
      </p:sp>
      <p:sp>
        <p:nvSpPr>
          <p:cNvPr id="8" name="Report the event and update actual loss after it ends.">
            <a:extLst xmlns:a="http://schemas.openxmlformats.org/drawingml/2006/main">
              <a:ext uri="{FF2B5EF4-FFF2-40B4-BE49-F238E27FC236}">
                <a16:creationId xmlns:a16="http://schemas.microsoft.com/office/drawing/2014/main" id="{51D07A13-F95B-4469-A157-549AA48756BA}"/>
              </a:ext>
            </a:extLst>
          </p:cNvPr>
          <p:cNvSpPr>
            <a:spLocks xmlns:a="http://schemas.openxmlformats.org/drawingml/2006/main" noGrp="1"/>
          </p:cNvSpPr>
          <p:nvPr/>
        </p:nvSpPr>
        <p:spPr>
          <a:xfrm xmlns:a="http://schemas.openxmlformats.org/drawingml/2006/main">
            <a:off x="11525250" y="5553075"/>
            <a:ext cx="30765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025" b="0">
                <a:solidFill>
                  <a:srgbClr val="18384B"/>
                </a:solidFill>
                <a:latin typeface="Arial"/>
                <a:ea typeface="Arial"/>
                <a:cs typeface="Arial"/>
              </a:defRPr>
            </a:pPr>
            <a:r>
              <a:rPr sz="2025" b="0">
                <a:solidFill>
                  <a:srgbClr val="18384B"/>
                </a:solidFill>
                <a:latin typeface="Arial"/>
                <a:ea typeface="Arial"/>
                <a:cs typeface="Arial"/>
              </a:rPr>
              <a:t>Report the event and update actual loss after it ends.</a:t>
            </a:r>
          </a:p>
        </p:txBody>
      </p:sp>
      <p:sp>
        <p:nvSpPr>
          <p:cNvPr id="9" name="An ongoing outage has no confirmed end time. Update it ">
            <a:extLst xmlns:a="http://schemas.openxmlformats.org/drawingml/2006/main">
              <a:ext uri="{FF2B5EF4-FFF2-40B4-BE49-F238E27FC236}">
                <a16:creationId xmlns:a16="http://schemas.microsoft.com/office/drawing/2014/main" id="{D9E9AB2A-4D66-4941-8DF6-C171758C13AB}"/>
              </a:ext>
            </a:extLst>
          </p:cNvPr>
          <p:cNvSpPr>
            <a:spLocks xmlns:a="http://schemas.openxmlformats.org/drawingml/2006/main" noGrp="1"/>
          </p:cNvSpPr>
          <p:nvPr/>
        </p:nvSpPr>
        <p:spPr>
          <a:xfrm xmlns:a="http://schemas.openxmlformats.org/drawingml/2006/main">
            <a:off x="609600" y="7448550"/>
            <a:ext cx="1390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An ongoing outage has no confirmed end time. Update it when recovery is known.</a:t>
            </a:r>
          </a:p>
        </p:txBody>
      </p:sp>
      <p:sp>
        <p:nvSpPr>
          <p:cNvPr id="10" name="WIDispatch   /   Client demonstration">
            <a:extLst xmlns:a="http://schemas.openxmlformats.org/drawingml/2006/main">
              <a:ext uri="{FF2B5EF4-FFF2-40B4-BE49-F238E27FC236}">
                <a16:creationId xmlns:a16="http://schemas.microsoft.com/office/drawing/2014/main" id="{41930871-79D0-4FB0-8096-45925EFE79BF}"/>
              </a:ext>
            </a:extLst>
          </p:cNvPr>
          <p:cNvSpPr>
            <a:spLocks xmlns:a="http://schemas.openxmlformats.org/drawingml/2006/main" noGrp="1"/>
          </p:cNvSpPr>
          <p:nvPr/>
        </p:nvSpPr>
        <p:spPr>
          <a:xfrm xmlns:a="http://schemas.openxmlformats.org/drawingml/2006/main">
            <a:off x="609600" y="81724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275" b="0">
                <a:solidFill>
                  <a:srgbClr val="547080"/>
                </a:solidFill>
                <a:latin typeface="Arial"/>
                <a:ea typeface="Arial"/>
                <a:cs typeface="Arial"/>
              </a:defRPr>
            </a:pPr>
            <a:r>
              <a:rPr sz="1275" b="0">
                <a:solidFill>
                  <a:srgbClr val="547080"/>
                </a:solidFill>
                <a:latin typeface="Arial"/>
                <a:ea typeface="Arial"/>
                <a:cs typeface="Arial"/>
              </a:rPr>
              <a:t>WIDispatch   /   Client demonstration</a:t>
            </a:r>
          </a:p>
        </p:txBody>
      </p:sp>
      <p:sp>
        <p:nvSpPr>
          <p:cNvPr id="11" name="12">
            <a:extLst xmlns:a="http://schemas.openxmlformats.org/drawingml/2006/main">
              <a:ext uri="{FF2B5EF4-FFF2-40B4-BE49-F238E27FC236}">
                <a16:creationId xmlns:a16="http://schemas.microsoft.com/office/drawing/2014/main" id="{8CC03F7D-47C3-4793-AEA7-F67D1F2669BC}"/>
              </a:ext>
            </a:extLst>
          </p:cNvPr>
          <p:cNvSpPr>
            <a:spLocks xmlns:a="http://schemas.openxmlformats.org/drawingml/2006/main" noGrp="1"/>
          </p:cNvSpPr>
          <p:nvPr/>
        </p:nvSpPr>
        <p:spPr>
          <a:xfrm xmlns:a="http://schemas.openxmlformats.org/drawingml/2006/main">
            <a:off x="13906500" y="8115300"/>
            <a:ext cx="723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547080"/>
                </a:solidFill>
                <a:latin typeface="Arial"/>
                <a:ea typeface="Arial"/>
                <a:cs typeface="Arial"/>
              </a:defRPr>
            </a:pPr>
            <a:r>
              <a:rPr sz="1650" b="0">
                <a:solidFill>
                  <a:srgbClr val="547080"/>
                </a:solidFill>
                <a:latin typeface="Arial"/>
                <a:ea typeface="Arial"/>
                <a:cs typeface="Arial"/>
              </a:rPr>
              <a:t>15</a:t>
            </a:r>
          </a:p>
        </p:txBody>
      </p:sp>
    </p:spTree>
    <p:extLst>
      <p:ext uri="{BB962C8B-B14F-4D97-AF65-F5344CB8AC3E}">
        <p14:creationId xmlns:p14="http://schemas.microsoft.com/office/powerpoint/2010/main" val="1068318869"/>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Outage notification and planner response">
            <a:extLst xmlns:a="http://schemas.openxmlformats.org/drawingml/2006/main">
              <a:ext uri="{FF2B5EF4-FFF2-40B4-BE49-F238E27FC236}">
                <a16:creationId xmlns:a16="http://schemas.microsoft.com/office/drawing/2014/main" id="{E0EFDBB5-6344-4D01-8D1C-4B2938B0B51B}"/>
              </a:ext>
            </a:extLst>
          </p:cNvPr>
          <p:cNvSpPr>
            <a:spLocks xmlns:a="http://schemas.openxmlformats.org/drawingml/2006/main" noGrp="1"/>
          </p:cNvSpPr>
          <p:nvPr/>
        </p:nvSpPr>
        <p:spPr>
          <a:xfrm xmlns:a="http://schemas.openxmlformats.org/drawingml/2006/main">
            <a:off x="571500" y="428625"/>
            <a:ext cx="140970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300" b="1">
                <a:solidFill>
                  <a:srgbClr val="12374B"/>
                </a:solidFill>
                <a:latin typeface="Arial"/>
                <a:ea typeface="Arial"/>
                <a:cs typeface="Arial"/>
              </a:defRPr>
            </a:pPr>
            <a:r>
              <a:rPr sz="3300" b="1">
                <a:solidFill>
                  <a:srgbClr val="12374B"/>
                </a:solidFill>
                <a:latin typeface="Arial"/>
                <a:ea typeface="Arial"/>
                <a:cs typeface="Arial"/>
              </a:rPr>
              <a:t>Outage notification and planner response</a:t>
            </a:r>
          </a:p>
        </p:txBody>
      </p:sp>
      <p:sp>
        <p:nvSpPr>
          <p:cNvPr id="2" name="Desktop alert">
            <a:extLst xmlns:a="http://schemas.openxmlformats.org/drawingml/2006/main">
              <a:ext uri="{FF2B5EF4-FFF2-40B4-BE49-F238E27FC236}">
                <a16:creationId xmlns:a16="http://schemas.microsoft.com/office/drawing/2014/main" id="{CF7709CB-D8D8-4762-AEAD-8343B37D78FD}"/>
              </a:ext>
            </a:extLst>
          </p:cNvPr>
          <p:cNvSpPr>
            <a:spLocks xmlns:a="http://schemas.openxmlformats.org/drawingml/2006/main" noGrp="1"/>
          </p:cNvSpPr>
          <p:nvPr/>
        </p:nvSpPr>
        <p:spPr>
          <a:xfrm xmlns:a="http://schemas.openxmlformats.org/drawingml/2006/main">
            <a:off x="609600" y="1952625"/>
            <a:ext cx="4267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400" b="1">
                <a:solidFill>
                  <a:srgbClr val="007E92"/>
                </a:solidFill>
                <a:latin typeface="Arial"/>
                <a:ea typeface="Arial"/>
                <a:cs typeface="Arial"/>
              </a:defRPr>
            </a:pPr>
            <a:r>
              <a:rPr sz="2400" b="1">
                <a:solidFill>
                  <a:srgbClr val="007E92"/>
                </a:solidFill>
                <a:latin typeface="Arial"/>
                <a:ea typeface="Arial"/>
                <a:cs typeface="Arial"/>
              </a:rPr>
              <a:t>Desktop alert</a:t>
            </a:r>
          </a:p>
        </p:txBody>
      </p:sp>
      <p:sp>
        <p:nvSpPr>
          <p:cNvPr id="3" name="A new-event toast identifies the asset and full or part">
            <a:extLst xmlns:a="http://schemas.openxmlformats.org/drawingml/2006/main">
              <a:ext uri="{FF2B5EF4-FFF2-40B4-BE49-F238E27FC236}">
                <a16:creationId xmlns:a16="http://schemas.microsoft.com/office/drawing/2014/main" id="{99A8D656-5116-442C-A9CF-4141F6608C2C}"/>
              </a:ext>
            </a:extLst>
          </p:cNvPr>
          <p:cNvSpPr>
            <a:spLocks xmlns:a="http://schemas.openxmlformats.org/drawingml/2006/main" noGrp="1"/>
          </p:cNvSpPr>
          <p:nvPr/>
        </p:nvSpPr>
        <p:spPr>
          <a:xfrm xmlns:a="http://schemas.openxmlformats.org/drawingml/2006/main">
            <a:off x="609600" y="3067050"/>
            <a:ext cx="4238625" cy="3200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325" b="0">
                <a:solidFill>
                  <a:srgbClr val="18384B"/>
                </a:solidFill>
                <a:latin typeface="Arial"/>
                <a:ea typeface="Arial"/>
                <a:cs typeface="Arial"/>
              </a:defRPr>
            </a:pPr>
            <a:r>
              <a:rPr sz="2325" b="0">
                <a:solidFill>
                  <a:srgbClr val="18384B"/>
                </a:solidFill>
                <a:latin typeface="Arial"/>
                <a:ea typeface="Arial"/>
                <a:cs typeface="Arial"/>
              </a:rPr>
              <a:t>A new-event toast identifies the asset and full or partial outage. Selecting it opens the affected asset’s outage view.</a:t>
            </a:r>
          </a:p>
        </p:txBody>
      </p:sp>
      <p:sp>
        <p:nvSpPr>
          <p:cNvPr id="4" name="Operating review">
            <a:extLst xmlns:a="http://schemas.openxmlformats.org/drawingml/2006/main">
              <a:ext uri="{FF2B5EF4-FFF2-40B4-BE49-F238E27FC236}">
                <a16:creationId xmlns:a16="http://schemas.microsoft.com/office/drawing/2014/main" id="{18B8A4B0-47EC-4567-9472-5BB99E3F43A6}"/>
              </a:ext>
            </a:extLst>
          </p:cNvPr>
          <p:cNvSpPr>
            <a:spLocks xmlns:a="http://schemas.openxmlformats.org/drawingml/2006/main" noGrp="1"/>
          </p:cNvSpPr>
          <p:nvPr/>
        </p:nvSpPr>
        <p:spPr>
          <a:xfrm xmlns:a="http://schemas.openxmlformats.org/drawingml/2006/main">
            <a:off x="5419725" y="1952625"/>
            <a:ext cx="4267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400" b="1">
                <a:solidFill>
                  <a:srgbClr val="007E92"/>
                </a:solidFill>
                <a:latin typeface="Arial"/>
                <a:ea typeface="Arial"/>
                <a:cs typeface="Arial"/>
              </a:defRPr>
            </a:pPr>
            <a:r>
              <a:rPr sz="2400" b="1">
                <a:solidFill>
                  <a:srgbClr val="007E92"/>
                </a:solidFill>
                <a:latin typeface="Arial"/>
                <a:ea typeface="Arial"/>
                <a:cs typeface="Arial"/>
              </a:rPr>
              <a:t>Operating review</a:t>
            </a:r>
          </a:p>
        </p:txBody>
      </p:sp>
      <p:sp>
        <p:nvSpPr>
          <p:cNvPr id="5" name="Inspect the event record, effective capacity and impact">
            <a:extLst xmlns:a="http://schemas.openxmlformats.org/drawingml/2006/main">
              <a:ext uri="{FF2B5EF4-FFF2-40B4-BE49-F238E27FC236}">
                <a16:creationId xmlns:a16="http://schemas.microsoft.com/office/drawing/2014/main" id="{5E7F360B-F73B-4B89-816D-3EEEAF5518A2}"/>
              </a:ext>
            </a:extLst>
          </p:cNvPr>
          <p:cNvSpPr>
            <a:spLocks xmlns:a="http://schemas.openxmlformats.org/drawingml/2006/main" noGrp="1"/>
          </p:cNvSpPr>
          <p:nvPr/>
        </p:nvSpPr>
        <p:spPr>
          <a:xfrm xmlns:a="http://schemas.openxmlformats.org/drawingml/2006/main">
            <a:off x="5419725" y="3067050"/>
            <a:ext cx="4238625" cy="3200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325" b="0">
                <a:solidFill>
                  <a:srgbClr val="18384B"/>
                </a:solidFill>
                <a:latin typeface="Arial"/>
                <a:ea typeface="Arial"/>
                <a:cs typeface="Arial"/>
              </a:defRPr>
            </a:pPr>
            <a:r>
              <a:rPr sz="2325" b="0">
                <a:solidFill>
                  <a:srgbClr val="18384B"/>
                </a:solidFill>
                <a:latin typeface="Arial"/>
                <a:ea typeface="Arial"/>
                <a:cs typeface="Arial"/>
              </a:rPr>
              <a:t>Inspect the event record, effective capacity and impacted days. Confirm whether the event is still ongoing.</a:t>
            </a:r>
          </a:p>
        </p:txBody>
      </p:sp>
      <p:sp>
        <p:nvSpPr>
          <p:cNvPr id="6" name="Planning response">
            <a:extLst xmlns:a="http://schemas.openxmlformats.org/drawingml/2006/main">
              <a:ext uri="{FF2B5EF4-FFF2-40B4-BE49-F238E27FC236}">
                <a16:creationId xmlns:a16="http://schemas.microsoft.com/office/drawing/2014/main" id="{047A623F-AC96-4A9D-804C-D8CA7C58FD73}"/>
              </a:ext>
            </a:extLst>
          </p:cNvPr>
          <p:cNvSpPr>
            <a:spLocks xmlns:a="http://schemas.openxmlformats.org/drawingml/2006/main" noGrp="1"/>
          </p:cNvSpPr>
          <p:nvPr/>
        </p:nvSpPr>
        <p:spPr>
          <a:xfrm xmlns:a="http://schemas.openxmlformats.org/drawingml/2006/main">
            <a:off x="10229850" y="1952625"/>
            <a:ext cx="4267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400" b="1">
                <a:solidFill>
                  <a:srgbClr val="007E92"/>
                </a:solidFill>
                <a:latin typeface="Arial"/>
                <a:ea typeface="Arial"/>
                <a:cs typeface="Arial"/>
              </a:defRPr>
            </a:pPr>
            <a:r>
              <a:rPr sz="2400" b="1">
                <a:solidFill>
                  <a:srgbClr val="007E92"/>
                </a:solidFill>
                <a:latin typeface="Arial"/>
                <a:ea typeface="Arial"/>
                <a:cs typeface="Arial"/>
              </a:rPr>
              <a:t>Planning response</a:t>
            </a:r>
          </a:p>
        </p:txBody>
      </p:sp>
      <p:sp>
        <p:nvSpPr>
          <p:cNvPr id="7" name="Update the scenario assumptions, rerun dispatch and rev">
            <a:extLst xmlns:a="http://schemas.openxmlformats.org/drawingml/2006/main">
              <a:ext uri="{FF2B5EF4-FFF2-40B4-BE49-F238E27FC236}">
                <a16:creationId xmlns:a16="http://schemas.microsoft.com/office/drawing/2014/main" id="{EE7BEA28-BF35-4EDF-9418-1097A6C31ED7}"/>
              </a:ext>
            </a:extLst>
          </p:cNvPr>
          <p:cNvSpPr>
            <a:spLocks xmlns:a="http://schemas.openxmlformats.org/drawingml/2006/main" noGrp="1"/>
          </p:cNvSpPr>
          <p:nvPr/>
        </p:nvSpPr>
        <p:spPr>
          <a:xfrm xmlns:a="http://schemas.openxmlformats.org/drawingml/2006/main">
            <a:off x="10229850" y="3067050"/>
            <a:ext cx="4238625" cy="3200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325" b="0">
                <a:solidFill>
                  <a:srgbClr val="18384B"/>
                </a:solidFill>
                <a:latin typeface="Arial"/>
                <a:ea typeface="Arial"/>
                <a:cs typeface="Arial"/>
              </a:defRPr>
            </a:pPr>
            <a:r>
              <a:rPr sz="2325" b="0">
                <a:solidFill>
                  <a:srgbClr val="18384B"/>
                </a:solidFill>
                <a:latin typeface="Arial"/>
                <a:ea typeface="Arial"/>
                <a:cs typeface="Arial"/>
              </a:rPr>
              <a:t>Update the scenario assumptions, rerun dispatch and review the new shortage before publishing revised decisions.</a:t>
            </a:r>
          </a:p>
        </p:txBody>
      </p:sp>
      <p:sp>
        <p:nvSpPr>
          <p:cNvPr id="8" name="The alert starts the response. The updated run provides">
            <a:extLst xmlns:a="http://schemas.openxmlformats.org/drawingml/2006/main">
              <a:ext uri="{FF2B5EF4-FFF2-40B4-BE49-F238E27FC236}">
                <a16:creationId xmlns:a16="http://schemas.microsoft.com/office/drawing/2014/main" id="{C883FFAF-E575-44F7-AFCB-5C1CF918B7DC}"/>
              </a:ext>
            </a:extLst>
          </p:cNvPr>
          <p:cNvSpPr>
            <a:spLocks xmlns:a="http://schemas.openxmlformats.org/drawingml/2006/main" noGrp="1"/>
          </p:cNvSpPr>
          <p:nvPr/>
        </p:nvSpPr>
        <p:spPr>
          <a:xfrm xmlns:a="http://schemas.openxmlformats.org/drawingml/2006/main">
            <a:off x="609600" y="7448550"/>
            <a:ext cx="1390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The alert starts the response. The updated run provides the decision evidence.</a:t>
            </a:r>
          </a:p>
        </p:txBody>
      </p:sp>
      <p:sp>
        <p:nvSpPr>
          <p:cNvPr id="9" name="WIDispatch   /   Client demonstration">
            <a:extLst xmlns:a="http://schemas.openxmlformats.org/drawingml/2006/main">
              <a:ext uri="{FF2B5EF4-FFF2-40B4-BE49-F238E27FC236}">
                <a16:creationId xmlns:a16="http://schemas.microsoft.com/office/drawing/2014/main" id="{5F79D0FE-801B-4EEF-B962-446AD0F420FE}"/>
              </a:ext>
            </a:extLst>
          </p:cNvPr>
          <p:cNvSpPr>
            <a:spLocks xmlns:a="http://schemas.openxmlformats.org/drawingml/2006/main" noGrp="1"/>
          </p:cNvSpPr>
          <p:nvPr/>
        </p:nvSpPr>
        <p:spPr>
          <a:xfrm xmlns:a="http://schemas.openxmlformats.org/drawingml/2006/main">
            <a:off x="609600" y="81724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275" b="0">
                <a:solidFill>
                  <a:srgbClr val="547080"/>
                </a:solidFill>
                <a:latin typeface="Arial"/>
                <a:ea typeface="Arial"/>
                <a:cs typeface="Arial"/>
              </a:defRPr>
            </a:pPr>
            <a:r>
              <a:rPr sz="1275" b="0">
                <a:solidFill>
                  <a:srgbClr val="547080"/>
                </a:solidFill>
                <a:latin typeface="Arial"/>
                <a:ea typeface="Arial"/>
                <a:cs typeface="Arial"/>
              </a:rPr>
              <a:t>WIDispatch   /   Client demonstration</a:t>
            </a:r>
          </a:p>
        </p:txBody>
      </p:sp>
      <p:sp>
        <p:nvSpPr>
          <p:cNvPr id="10" name="13">
            <a:extLst xmlns:a="http://schemas.openxmlformats.org/drawingml/2006/main">
              <a:ext uri="{FF2B5EF4-FFF2-40B4-BE49-F238E27FC236}">
                <a16:creationId xmlns:a16="http://schemas.microsoft.com/office/drawing/2014/main" id="{E384658C-9265-4025-B225-7C1769D40954}"/>
              </a:ext>
            </a:extLst>
          </p:cNvPr>
          <p:cNvSpPr>
            <a:spLocks xmlns:a="http://schemas.openxmlformats.org/drawingml/2006/main" noGrp="1"/>
          </p:cNvSpPr>
          <p:nvPr/>
        </p:nvSpPr>
        <p:spPr>
          <a:xfrm xmlns:a="http://schemas.openxmlformats.org/drawingml/2006/main">
            <a:off x="13906500" y="8115300"/>
            <a:ext cx="723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547080"/>
                </a:solidFill>
                <a:latin typeface="Arial"/>
                <a:ea typeface="Arial"/>
                <a:cs typeface="Arial"/>
              </a:defRPr>
            </a:pPr>
            <a:r>
              <a:rPr sz="1650" b="0">
                <a:solidFill>
                  <a:srgbClr val="547080"/>
                </a:solidFill>
                <a:latin typeface="Arial"/>
                <a:ea typeface="Arial"/>
                <a:cs typeface="Arial"/>
              </a:rPr>
              <a:t>16</a:t>
            </a:r>
          </a:p>
        </p:txBody>
      </p:sp>
    </p:spTree>
    <p:extLst>
      <p:ext uri="{BB962C8B-B14F-4D97-AF65-F5344CB8AC3E}">
        <p14:creationId xmlns:p14="http://schemas.microsoft.com/office/powerpoint/2010/main" val="1091548685"/>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Quality and outages complete the operating picture">
            <a:extLst xmlns:a="http://schemas.openxmlformats.org/drawingml/2006/main">
              <a:ext uri="{FF2B5EF4-FFF2-40B4-BE49-F238E27FC236}">
                <a16:creationId xmlns:a16="http://schemas.microsoft.com/office/drawing/2014/main" id="{98D04192-4887-4188-B0F1-B52776E30F44}"/>
              </a:ext>
            </a:extLst>
          </p:cNvPr>
          <p:cNvSpPr>
            <a:spLocks xmlns:a="http://schemas.openxmlformats.org/drawingml/2006/main" noGrp="1"/>
          </p:cNvSpPr>
          <p:nvPr/>
        </p:nvSpPr>
        <p:spPr>
          <a:xfrm xmlns:a="http://schemas.openxmlformats.org/drawingml/2006/main">
            <a:off x="571500" y="428625"/>
            <a:ext cx="140970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300" b="1">
                <a:solidFill>
                  <a:srgbClr val="12374B"/>
                </a:solidFill>
                <a:latin typeface="Arial"/>
                <a:ea typeface="Arial"/>
                <a:cs typeface="Arial"/>
              </a:defRPr>
            </a:pPr>
            <a:r>
              <a:rPr sz="3300" b="1">
                <a:solidFill>
                  <a:srgbClr val="12374B"/>
                </a:solidFill>
                <a:latin typeface="Arial"/>
                <a:ea typeface="Arial"/>
                <a:cs typeface="Arial"/>
              </a:rPr>
              <a:t>Quality and outages complete the operating picture</a:t>
            </a:r>
          </a:p>
        </p:txBody>
      </p:sp>
      <p:sp>
        <p:nvSpPr>
          <p:cNvPr id="2" name="Quality records">
            <a:extLst xmlns:a="http://schemas.openxmlformats.org/drawingml/2006/main">
              <a:ext uri="{FF2B5EF4-FFF2-40B4-BE49-F238E27FC236}">
                <a16:creationId xmlns:a16="http://schemas.microsoft.com/office/drawing/2014/main" id="{15E735AF-BFB1-40B3-97B5-0B00ED7CB87E}"/>
              </a:ext>
            </a:extLst>
          </p:cNvPr>
          <p:cNvSpPr>
            <a:spLocks xmlns:a="http://schemas.openxmlformats.org/drawingml/2006/main" noGrp="1"/>
          </p:cNvSpPr>
          <p:nvPr/>
        </p:nvSpPr>
        <p:spPr>
          <a:xfrm xmlns:a="http://schemas.openxmlformats.org/drawingml/2006/main">
            <a:off x="609600" y="1952625"/>
            <a:ext cx="4267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400" b="1">
                <a:solidFill>
                  <a:srgbClr val="007E92"/>
                </a:solidFill>
                <a:latin typeface="Arial"/>
                <a:ea typeface="Arial"/>
                <a:cs typeface="Arial"/>
              </a:defRPr>
            </a:pPr>
            <a:r>
              <a:rPr sz="2400" b="1">
                <a:solidFill>
                  <a:srgbClr val="007E92"/>
                </a:solidFill>
                <a:latin typeface="Arial"/>
                <a:ea typeface="Arial"/>
                <a:cs typeface="Arial"/>
              </a:rPr>
              <a:t>Quality records</a:t>
            </a:r>
          </a:p>
        </p:txBody>
      </p:sp>
      <p:sp>
        <p:nvSpPr>
          <p:cNvPr id="3" name="Record the sample date and parameter readings. Review c">
            <a:extLst xmlns:a="http://schemas.openxmlformats.org/drawingml/2006/main">
              <a:ext uri="{FF2B5EF4-FFF2-40B4-BE49-F238E27FC236}">
                <a16:creationId xmlns:a16="http://schemas.microsoft.com/office/drawing/2014/main" id="{625346CC-DF87-4976-9E86-862868D39830}"/>
              </a:ext>
            </a:extLst>
          </p:cNvPr>
          <p:cNvSpPr>
            <a:spLocks xmlns:a="http://schemas.openxmlformats.org/drawingml/2006/main" noGrp="1"/>
          </p:cNvSpPr>
          <p:nvPr/>
        </p:nvSpPr>
        <p:spPr>
          <a:xfrm xmlns:a="http://schemas.openxmlformats.org/drawingml/2006/main">
            <a:off x="609600" y="3067050"/>
            <a:ext cx="4238625" cy="3200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325" b="0">
                <a:solidFill>
                  <a:srgbClr val="18384B"/>
                </a:solidFill>
                <a:latin typeface="Arial"/>
                <a:ea typeface="Arial"/>
                <a:cs typeface="Arial"/>
              </a:defRPr>
            </a:pPr>
            <a:r>
              <a:rPr sz="2325" b="0">
                <a:solidFill>
                  <a:srgbClr val="18384B"/>
                </a:solidFill>
                <a:latin typeface="Arial"/>
                <a:ea typeface="Arial"/>
                <a:cs typeface="Arial"/>
              </a:rPr>
              <a:t>Record the sample date and parameter readings. Review compliance flags and any supporting remarks.</a:t>
            </a:r>
          </a:p>
        </p:txBody>
      </p:sp>
      <p:sp>
        <p:nvSpPr>
          <p:cNvPr id="4" name="Outage records">
            <a:extLst xmlns:a="http://schemas.openxmlformats.org/drawingml/2006/main">
              <a:ext uri="{FF2B5EF4-FFF2-40B4-BE49-F238E27FC236}">
                <a16:creationId xmlns:a16="http://schemas.microsoft.com/office/drawing/2014/main" id="{19204249-B630-4A3E-840E-AB877285BE1A}"/>
              </a:ext>
            </a:extLst>
          </p:cNvPr>
          <p:cNvSpPr>
            <a:spLocks xmlns:a="http://schemas.openxmlformats.org/drawingml/2006/main" noGrp="1"/>
          </p:cNvSpPr>
          <p:nvPr/>
        </p:nvSpPr>
        <p:spPr>
          <a:xfrm xmlns:a="http://schemas.openxmlformats.org/drawingml/2006/main">
            <a:off x="5419725" y="1952625"/>
            <a:ext cx="4267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400" b="1">
                <a:solidFill>
                  <a:srgbClr val="007E92"/>
                </a:solidFill>
                <a:latin typeface="Arial"/>
                <a:ea typeface="Arial"/>
                <a:cs typeface="Arial"/>
              </a:defRPr>
            </a:pPr>
            <a:r>
              <a:rPr sz="2400" b="1">
                <a:solidFill>
                  <a:srgbClr val="007E92"/>
                </a:solidFill>
                <a:latin typeface="Arial"/>
                <a:ea typeface="Arial"/>
                <a:cs typeface="Arial"/>
              </a:rPr>
              <a:t>Outage records</a:t>
            </a:r>
          </a:p>
        </p:txBody>
      </p:sp>
      <p:sp>
        <p:nvSpPr>
          <p:cNvPr id="5" name="Identify the affected asset, outage scope and timing. R">
            <a:extLst xmlns:a="http://schemas.openxmlformats.org/drawingml/2006/main">
              <a:ext uri="{FF2B5EF4-FFF2-40B4-BE49-F238E27FC236}">
                <a16:creationId xmlns:a16="http://schemas.microsoft.com/office/drawing/2014/main" id="{71F39B13-5F8B-4FFD-89EF-E9E3166C1C75}"/>
              </a:ext>
            </a:extLst>
          </p:cNvPr>
          <p:cNvSpPr>
            <a:spLocks xmlns:a="http://schemas.openxmlformats.org/drawingml/2006/main" noGrp="1"/>
          </p:cNvSpPr>
          <p:nvPr/>
        </p:nvSpPr>
        <p:spPr>
          <a:xfrm xmlns:a="http://schemas.openxmlformats.org/drawingml/2006/main">
            <a:off x="5419725" y="3067050"/>
            <a:ext cx="4238625" cy="3200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325" b="0">
                <a:solidFill>
                  <a:srgbClr val="18384B"/>
                </a:solidFill>
                <a:latin typeface="Arial"/>
                <a:ea typeface="Arial"/>
                <a:cs typeface="Arial"/>
              </a:defRPr>
            </a:pPr>
            <a:r>
              <a:rPr sz="2325" b="0">
                <a:solidFill>
                  <a:srgbClr val="18384B"/>
                </a:solidFill>
                <a:latin typeface="Arial"/>
                <a:ea typeface="Arial"/>
                <a:cs typeface="Arial"/>
              </a:rPr>
              <a:t>Identify the affected asset, outage scope and timing. Record the actual loss or full outage as applicable.</a:t>
            </a:r>
          </a:p>
        </p:txBody>
      </p:sp>
      <p:sp>
        <p:nvSpPr>
          <p:cNvPr id="6" name="Capacity impact">
            <a:extLst xmlns:a="http://schemas.openxmlformats.org/drawingml/2006/main">
              <a:ext uri="{FF2B5EF4-FFF2-40B4-BE49-F238E27FC236}">
                <a16:creationId xmlns:a16="http://schemas.microsoft.com/office/drawing/2014/main" id="{8916B956-A63A-4C08-B100-D79FA3E15010}"/>
              </a:ext>
            </a:extLst>
          </p:cNvPr>
          <p:cNvSpPr>
            <a:spLocks xmlns:a="http://schemas.openxmlformats.org/drawingml/2006/main" noGrp="1"/>
          </p:cNvSpPr>
          <p:nvPr/>
        </p:nvSpPr>
        <p:spPr>
          <a:xfrm xmlns:a="http://schemas.openxmlformats.org/drawingml/2006/main">
            <a:off x="10229850" y="1952625"/>
            <a:ext cx="4267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400" b="1">
                <a:solidFill>
                  <a:srgbClr val="007E92"/>
                </a:solidFill>
                <a:latin typeface="Arial"/>
                <a:ea typeface="Arial"/>
                <a:cs typeface="Arial"/>
              </a:defRPr>
            </a:pPr>
            <a:r>
              <a:rPr sz="2400" b="1">
                <a:solidFill>
                  <a:srgbClr val="007E92"/>
                </a:solidFill>
                <a:latin typeface="Arial"/>
                <a:ea typeface="Arial"/>
                <a:cs typeface="Arial"/>
              </a:rPr>
              <a:t>Capacity impact</a:t>
            </a:r>
          </a:p>
        </p:txBody>
      </p:sp>
      <p:sp>
        <p:nvSpPr>
          <p:cNvPr id="7" name="Check the effective capacity for the same planning day ">
            <a:extLst xmlns:a="http://schemas.openxmlformats.org/drawingml/2006/main">
              <a:ext uri="{FF2B5EF4-FFF2-40B4-BE49-F238E27FC236}">
                <a16:creationId xmlns:a16="http://schemas.microsoft.com/office/drawing/2014/main" id="{F762948E-54DF-4F89-9566-098741AD3DE2}"/>
              </a:ext>
            </a:extLst>
          </p:cNvPr>
          <p:cNvSpPr>
            <a:spLocks xmlns:a="http://schemas.openxmlformats.org/drawingml/2006/main" noGrp="1"/>
          </p:cNvSpPr>
          <p:nvPr/>
        </p:nvSpPr>
        <p:spPr>
          <a:xfrm xmlns:a="http://schemas.openxmlformats.org/drawingml/2006/main">
            <a:off x="10229850" y="3067050"/>
            <a:ext cx="4238625" cy="3200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325" b="0">
                <a:solidFill>
                  <a:srgbClr val="18384B"/>
                </a:solidFill>
                <a:latin typeface="Arial"/>
                <a:ea typeface="Arial"/>
                <a:cs typeface="Arial"/>
              </a:defRPr>
            </a:pPr>
            <a:r>
              <a:rPr sz="2325" b="0">
                <a:solidFill>
                  <a:srgbClr val="18384B"/>
                </a:solidFill>
                <a:latin typeface="Arial"/>
                <a:ea typeface="Arial"/>
                <a:cs typeface="Arial"/>
              </a:rPr>
              <a:t>Check the effective capacity for the same planning day before accepting a dispatch result.</a:t>
            </a:r>
          </a:p>
        </p:txBody>
      </p:sp>
      <p:sp>
        <p:nvSpPr>
          <p:cNvPr id="8" name="Quality and outage entry follow different rules from pr">
            <a:extLst xmlns:a="http://schemas.openxmlformats.org/drawingml/2006/main">
              <a:ext uri="{FF2B5EF4-FFF2-40B4-BE49-F238E27FC236}">
                <a16:creationId xmlns:a16="http://schemas.microsoft.com/office/drawing/2014/main" id="{856044C4-252D-4430-AA38-D71C7DB49F52}"/>
              </a:ext>
            </a:extLst>
          </p:cNvPr>
          <p:cNvSpPr>
            <a:spLocks xmlns:a="http://schemas.openxmlformats.org/drawingml/2006/main" noGrp="1"/>
          </p:cNvSpPr>
          <p:nvPr/>
        </p:nvSpPr>
        <p:spPr>
          <a:xfrm xmlns:a="http://schemas.openxmlformats.org/drawingml/2006/main">
            <a:off x="609600" y="7448550"/>
            <a:ext cx="1390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Quality and outage entry follow different rules from production and preventive-maintenance approval.</a:t>
            </a:r>
          </a:p>
        </p:txBody>
      </p:sp>
      <p:sp>
        <p:nvSpPr>
          <p:cNvPr id="9" name="WIDispatch   /   Client demonstration">
            <a:extLst xmlns:a="http://schemas.openxmlformats.org/drawingml/2006/main">
              <a:ext uri="{FF2B5EF4-FFF2-40B4-BE49-F238E27FC236}">
                <a16:creationId xmlns:a16="http://schemas.microsoft.com/office/drawing/2014/main" id="{F7F0B970-5218-4B76-8BDB-75B6A2665C71}"/>
              </a:ext>
            </a:extLst>
          </p:cNvPr>
          <p:cNvSpPr>
            <a:spLocks xmlns:a="http://schemas.openxmlformats.org/drawingml/2006/main" noGrp="1"/>
          </p:cNvSpPr>
          <p:nvPr/>
        </p:nvSpPr>
        <p:spPr>
          <a:xfrm xmlns:a="http://schemas.openxmlformats.org/drawingml/2006/main">
            <a:off x="609600" y="81724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275" b="0">
                <a:solidFill>
                  <a:srgbClr val="547080"/>
                </a:solidFill>
                <a:latin typeface="Arial"/>
                <a:ea typeface="Arial"/>
                <a:cs typeface="Arial"/>
              </a:defRPr>
            </a:pPr>
            <a:r>
              <a:rPr sz="1275" b="0">
                <a:solidFill>
                  <a:srgbClr val="547080"/>
                </a:solidFill>
                <a:latin typeface="Arial"/>
                <a:ea typeface="Arial"/>
                <a:cs typeface="Arial"/>
              </a:rPr>
              <a:t>WIDispatch   /   Client demonstration</a:t>
            </a:r>
          </a:p>
        </p:txBody>
      </p:sp>
      <p:sp>
        <p:nvSpPr>
          <p:cNvPr id="10" name="14">
            <a:extLst xmlns:a="http://schemas.openxmlformats.org/drawingml/2006/main">
              <a:ext uri="{FF2B5EF4-FFF2-40B4-BE49-F238E27FC236}">
                <a16:creationId xmlns:a16="http://schemas.microsoft.com/office/drawing/2014/main" id="{7AA82285-2964-42C9-A442-D607EC93124D}"/>
              </a:ext>
            </a:extLst>
          </p:cNvPr>
          <p:cNvSpPr>
            <a:spLocks xmlns:a="http://schemas.openxmlformats.org/drawingml/2006/main" noGrp="1"/>
          </p:cNvSpPr>
          <p:nvPr/>
        </p:nvSpPr>
        <p:spPr>
          <a:xfrm xmlns:a="http://schemas.openxmlformats.org/drawingml/2006/main">
            <a:off x="13906500" y="8115300"/>
            <a:ext cx="723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547080"/>
                </a:solidFill>
                <a:latin typeface="Arial"/>
                <a:ea typeface="Arial"/>
                <a:cs typeface="Arial"/>
              </a:defRPr>
            </a:pPr>
            <a:r>
              <a:rPr sz="1650" b="0">
                <a:solidFill>
                  <a:srgbClr val="547080"/>
                </a:solidFill>
                <a:latin typeface="Arial"/>
                <a:ea typeface="Arial"/>
                <a:cs typeface="Arial"/>
              </a:rPr>
              <a:t>17</a:t>
            </a:r>
          </a:p>
        </p:txBody>
      </p:sp>
    </p:spTree>
    <p:extLst>
      <p:ext uri="{BB962C8B-B14F-4D97-AF65-F5344CB8AC3E}">
        <p14:creationId xmlns:p14="http://schemas.microsoft.com/office/powerpoint/2010/main" val="120195827"/>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Production submission approval">
            <a:extLst xmlns:a="http://schemas.openxmlformats.org/drawingml/2006/main">
              <a:ext uri="{FF2B5EF4-FFF2-40B4-BE49-F238E27FC236}">
                <a16:creationId xmlns:a16="http://schemas.microsoft.com/office/drawing/2014/main" id="{A0D2472B-71ED-4E32-ABF4-B6CE50768149}"/>
              </a:ext>
            </a:extLst>
          </p:cNvPr>
          <p:cNvSpPr>
            <a:spLocks xmlns:a="http://schemas.openxmlformats.org/drawingml/2006/main" noGrp="1"/>
          </p:cNvSpPr>
          <p:nvPr/>
        </p:nvSpPr>
        <p:spPr>
          <a:xfrm xmlns:a="http://schemas.openxmlformats.org/drawingml/2006/main">
            <a:off x="571500" y="428625"/>
            <a:ext cx="140970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300" b="1">
                <a:solidFill>
                  <a:srgbClr val="12374B"/>
                </a:solidFill>
                <a:latin typeface="Arial"/>
                <a:ea typeface="Arial"/>
                <a:cs typeface="Arial"/>
              </a:defRPr>
            </a:pPr>
            <a:r>
              <a:rPr sz="3300" b="1">
                <a:solidFill>
                  <a:srgbClr val="12374B"/>
                </a:solidFill>
                <a:latin typeface="Arial"/>
                <a:ea typeface="Arial"/>
                <a:cs typeface="Arial"/>
              </a:rPr>
              <a:t>Production submission approval</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2653aa377775470d"/>
          <a:stretch xmlns:a="http://schemas.openxmlformats.org/drawingml/2006/main"/>
        </p:blipFill>
        <p:spPr>
          <a:xfrm xmlns:a="http://schemas.openxmlformats.org/drawingml/2006/main">
            <a:off x="476250" y="1973947"/>
            <a:ext cx="10668000" cy="4815107"/>
          </a:xfrm>
          <a:prstGeom xmlns:a="http://schemas.openxmlformats.org/drawingml/2006/main" prst="rect">
            <a:avLst/>
          </a:prstGeom>
        </p:spPr>
      </p:pic>
      <p:sp>
        <p:nvSpPr>
          <p:cNvPr id="3" name="01">
            <a:extLst xmlns:a="http://schemas.openxmlformats.org/drawingml/2006/main">
              <a:ext uri="{FF2B5EF4-FFF2-40B4-BE49-F238E27FC236}">
                <a16:creationId xmlns:a16="http://schemas.microsoft.com/office/drawing/2014/main" id="{369BA2C5-8C29-4FDB-A547-2077FA171B33}"/>
              </a:ext>
            </a:extLst>
          </p:cNvPr>
          <p:cNvSpPr>
            <a:spLocks xmlns:a="http://schemas.openxmlformats.org/drawingml/2006/main" noGrp="1"/>
          </p:cNvSpPr>
          <p:nvPr/>
        </p:nvSpPr>
        <p:spPr>
          <a:xfrm xmlns:a="http://schemas.openxmlformats.org/drawingml/2006/main">
            <a:off x="11525250" y="1771650"/>
            <a:ext cx="95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01</a:t>
            </a:r>
          </a:p>
        </p:txBody>
      </p:sp>
      <p:sp>
        <p:nvSpPr>
          <p:cNvPr id="4" name="Open Approvals and choose the record type.">
            <a:extLst xmlns:a="http://schemas.openxmlformats.org/drawingml/2006/main">
              <a:ext uri="{FF2B5EF4-FFF2-40B4-BE49-F238E27FC236}">
                <a16:creationId xmlns:a16="http://schemas.microsoft.com/office/drawing/2014/main" id="{9B78ED71-7105-4EA4-8D65-23068FA71854}"/>
              </a:ext>
            </a:extLst>
          </p:cNvPr>
          <p:cNvSpPr>
            <a:spLocks xmlns:a="http://schemas.openxmlformats.org/drawingml/2006/main" noGrp="1"/>
          </p:cNvSpPr>
          <p:nvPr/>
        </p:nvSpPr>
        <p:spPr>
          <a:xfrm xmlns:a="http://schemas.openxmlformats.org/drawingml/2006/main">
            <a:off x="11525250" y="2238375"/>
            <a:ext cx="30765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025" b="0">
                <a:solidFill>
                  <a:srgbClr val="18384B"/>
                </a:solidFill>
                <a:latin typeface="Arial"/>
                <a:ea typeface="Arial"/>
                <a:cs typeface="Arial"/>
              </a:defRPr>
            </a:pPr>
            <a:r>
              <a:rPr sz="2025" b="0">
                <a:solidFill>
                  <a:srgbClr val="18384B"/>
                </a:solidFill>
                <a:latin typeface="Arial"/>
                <a:ea typeface="Arial"/>
                <a:cs typeface="Arial"/>
              </a:rPr>
              <a:t>Open Approvals and choose the record type.</a:t>
            </a:r>
          </a:p>
        </p:txBody>
      </p:sp>
      <p:sp>
        <p:nvSpPr>
          <p:cNvPr id="5" name="02">
            <a:extLst xmlns:a="http://schemas.openxmlformats.org/drawingml/2006/main">
              <a:ext uri="{FF2B5EF4-FFF2-40B4-BE49-F238E27FC236}">
                <a16:creationId xmlns:a16="http://schemas.microsoft.com/office/drawing/2014/main" id="{9D8DB291-72DB-4ACC-A869-F915E4B4A34C}"/>
              </a:ext>
            </a:extLst>
          </p:cNvPr>
          <p:cNvSpPr>
            <a:spLocks xmlns:a="http://schemas.openxmlformats.org/drawingml/2006/main" noGrp="1"/>
          </p:cNvSpPr>
          <p:nvPr/>
        </p:nvSpPr>
        <p:spPr>
          <a:xfrm xmlns:a="http://schemas.openxmlformats.org/drawingml/2006/main">
            <a:off x="11525250" y="3429000"/>
            <a:ext cx="95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02</a:t>
            </a:r>
          </a:p>
        </p:txBody>
      </p:sp>
      <p:sp>
        <p:nvSpPr>
          <p:cNvPr id="6" name="Review the asset, day, quantity and submitter.">
            <a:extLst xmlns:a="http://schemas.openxmlformats.org/drawingml/2006/main">
              <a:ext uri="{FF2B5EF4-FFF2-40B4-BE49-F238E27FC236}">
                <a16:creationId xmlns:a16="http://schemas.microsoft.com/office/drawing/2014/main" id="{E4598AFB-080D-4AE1-AFDB-050EA2FB74B2}"/>
              </a:ext>
            </a:extLst>
          </p:cNvPr>
          <p:cNvSpPr>
            <a:spLocks xmlns:a="http://schemas.openxmlformats.org/drawingml/2006/main" noGrp="1"/>
          </p:cNvSpPr>
          <p:nvPr/>
        </p:nvSpPr>
        <p:spPr>
          <a:xfrm xmlns:a="http://schemas.openxmlformats.org/drawingml/2006/main">
            <a:off x="11525250" y="3895725"/>
            <a:ext cx="30765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025" b="0">
                <a:solidFill>
                  <a:srgbClr val="18384B"/>
                </a:solidFill>
                <a:latin typeface="Arial"/>
                <a:ea typeface="Arial"/>
                <a:cs typeface="Arial"/>
              </a:defRPr>
            </a:pPr>
            <a:r>
              <a:rPr sz="2025" b="0">
                <a:solidFill>
                  <a:srgbClr val="18384B"/>
                </a:solidFill>
                <a:latin typeface="Arial"/>
                <a:ea typeface="Arial"/>
                <a:cs typeface="Arial"/>
              </a:rPr>
              <a:t>Review the asset, day, quantity and submitter.</a:t>
            </a:r>
          </a:p>
        </p:txBody>
      </p:sp>
      <p:sp>
        <p:nvSpPr>
          <p:cNvPr id="7" name="03">
            <a:extLst xmlns:a="http://schemas.openxmlformats.org/drawingml/2006/main">
              <a:ext uri="{FF2B5EF4-FFF2-40B4-BE49-F238E27FC236}">
                <a16:creationId xmlns:a16="http://schemas.microsoft.com/office/drawing/2014/main" id="{25C563BF-8C50-40D4-A494-3AD08F03E7D4}"/>
              </a:ext>
            </a:extLst>
          </p:cNvPr>
          <p:cNvSpPr>
            <a:spLocks xmlns:a="http://schemas.openxmlformats.org/drawingml/2006/main" noGrp="1"/>
          </p:cNvSpPr>
          <p:nvPr/>
        </p:nvSpPr>
        <p:spPr>
          <a:xfrm xmlns:a="http://schemas.openxmlformats.org/drawingml/2006/main">
            <a:off x="11525250" y="5086350"/>
            <a:ext cx="95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03</a:t>
            </a:r>
          </a:p>
        </p:txBody>
      </p:sp>
      <p:sp>
        <p:nvSpPr>
          <p:cNvPr id="8" name="Approve a valid submission or reject it with a reason.">
            <a:extLst xmlns:a="http://schemas.openxmlformats.org/drawingml/2006/main">
              <a:ext uri="{FF2B5EF4-FFF2-40B4-BE49-F238E27FC236}">
                <a16:creationId xmlns:a16="http://schemas.microsoft.com/office/drawing/2014/main" id="{3570085D-F16D-4A16-B705-D8A1E29F2D24}"/>
              </a:ext>
            </a:extLst>
          </p:cNvPr>
          <p:cNvSpPr>
            <a:spLocks xmlns:a="http://schemas.openxmlformats.org/drawingml/2006/main" noGrp="1"/>
          </p:cNvSpPr>
          <p:nvPr/>
        </p:nvSpPr>
        <p:spPr>
          <a:xfrm xmlns:a="http://schemas.openxmlformats.org/drawingml/2006/main">
            <a:off x="11525250" y="5553075"/>
            <a:ext cx="30765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025" b="0">
                <a:solidFill>
                  <a:srgbClr val="18384B"/>
                </a:solidFill>
                <a:latin typeface="Arial"/>
                <a:ea typeface="Arial"/>
                <a:cs typeface="Arial"/>
              </a:defRPr>
            </a:pPr>
            <a:r>
              <a:rPr sz="2025" b="0">
                <a:solidFill>
                  <a:srgbClr val="18384B"/>
                </a:solidFill>
                <a:latin typeface="Arial"/>
                <a:ea typeface="Arial"/>
                <a:cs typeface="Arial"/>
              </a:rPr>
              <a:t>Approve a valid submission or reject it with a reason.</a:t>
            </a:r>
          </a:p>
        </p:txBody>
      </p:sp>
      <p:sp>
        <p:nvSpPr>
          <p:cNvPr id="9" name="The portal’s submission status remains separate from De">
            <a:extLst xmlns:a="http://schemas.openxmlformats.org/drawingml/2006/main">
              <a:ext uri="{FF2B5EF4-FFF2-40B4-BE49-F238E27FC236}">
                <a16:creationId xmlns:a16="http://schemas.microsoft.com/office/drawing/2014/main" id="{3E620BFB-BE0B-415D-A32A-7709CF8A5E9B}"/>
              </a:ext>
            </a:extLst>
          </p:cNvPr>
          <p:cNvSpPr>
            <a:spLocks xmlns:a="http://schemas.openxmlformats.org/drawingml/2006/main" noGrp="1"/>
          </p:cNvSpPr>
          <p:nvPr/>
        </p:nvSpPr>
        <p:spPr>
          <a:xfrm xmlns:a="http://schemas.openxmlformats.org/drawingml/2006/main">
            <a:off x="609600" y="7448550"/>
            <a:ext cx="1390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The portal’s submission status remains separate from Desktop dispatch allocation.</a:t>
            </a:r>
          </a:p>
        </p:txBody>
      </p:sp>
      <p:sp>
        <p:nvSpPr>
          <p:cNvPr id="10" name="WIDispatch   /   Client demonstration">
            <a:extLst xmlns:a="http://schemas.openxmlformats.org/drawingml/2006/main">
              <a:ext uri="{FF2B5EF4-FFF2-40B4-BE49-F238E27FC236}">
                <a16:creationId xmlns:a16="http://schemas.microsoft.com/office/drawing/2014/main" id="{87876F05-35E1-4E90-8D0B-A8FF33E78A1E}"/>
              </a:ext>
            </a:extLst>
          </p:cNvPr>
          <p:cNvSpPr>
            <a:spLocks xmlns:a="http://schemas.openxmlformats.org/drawingml/2006/main" noGrp="1"/>
          </p:cNvSpPr>
          <p:nvPr/>
        </p:nvSpPr>
        <p:spPr>
          <a:xfrm xmlns:a="http://schemas.openxmlformats.org/drawingml/2006/main">
            <a:off x="609600" y="81724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275" b="0">
                <a:solidFill>
                  <a:srgbClr val="547080"/>
                </a:solidFill>
                <a:latin typeface="Arial"/>
                <a:ea typeface="Arial"/>
                <a:cs typeface="Arial"/>
              </a:defRPr>
            </a:pPr>
            <a:r>
              <a:rPr sz="1275" b="0">
                <a:solidFill>
                  <a:srgbClr val="547080"/>
                </a:solidFill>
                <a:latin typeface="Arial"/>
                <a:ea typeface="Arial"/>
                <a:cs typeface="Arial"/>
              </a:rPr>
              <a:t>WIDispatch   /   Client demonstration</a:t>
            </a:r>
          </a:p>
        </p:txBody>
      </p:sp>
      <p:sp>
        <p:nvSpPr>
          <p:cNvPr id="11" name="15">
            <a:extLst xmlns:a="http://schemas.openxmlformats.org/drawingml/2006/main">
              <a:ext uri="{FF2B5EF4-FFF2-40B4-BE49-F238E27FC236}">
                <a16:creationId xmlns:a16="http://schemas.microsoft.com/office/drawing/2014/main" id="{87270AE2-5CB2-4BDE-928E-13E9F2D8F049}"/>
              </a:ext>
            </a:extLst>
          </p:cNvPr>
          <p:cNvSpPr>
            <a:spLocks xmlns:a="http://schemas.openxmlformats.org/drawingml/2006/main" noGrp="1"/>
          </p:cNvSpPr>
          <p:nvPr/>
        </p:nvSpPr>
        <p:spPr>
          <a:xfrm xmlns:a="http://schemas.openxmlformats.org/drawingml/2006/main">
            <a:off x="13906500" y="8115300"/>
            <a:ext cx="723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547080"/>
                </a:solidFill>
                <a:latin typeface="Arial"/>
                <a:ea typeface="Arial"/>
                <a:cs typeface="Arial"/>
              </a:defRPr>
            </a:pPr>
            <a:r>
              <a:rPr sz="1650" b="0">
                <a:solidFill>
                  <a:srgbClr val="547080"/>
                </a:solidFill>
                <a:latin typeface="Arial"/>
                <a:ea typeface="Arial"/>
                <a:cs typeface="Arial"/>
              </a:rPr>
              <a:t>18</a:t>
            </a:r>
          </a:p>
        </p:txBody>
      </p:sp>
    </p:spTree>
    <p:extLst>
      <p:ext uri="{BB962C8B-B14F-4D97-AF65-F5344CB8AC3E}">
        <p14:creationId xmlns:p14="http://schemas.microsoft.com/office/powerpoint/2010/main" val="13165453"/>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Demand Portal: requirements and reconciliation">
            <a:extLst xmlns:a="http://schemas.openxmlformats.org/drawingml/2006/main">
              <a:ext uri="{FF2B5EF4-FFF2-40B4-BE49-F238E27FC236}">
                <a16:creationId xmlns:a16="http://schemas.microsoft.com/office/drawing/2014/main" id="{E5AB1611-23E7-4AA0-87D1-4138DF2F9EF5}"/>
              </a:ext>
            </a:extLst>
          </p:cNvPr>
          <p:cNvSpPr>
            <a:spLocks xmlns:a="http://schemas.openxmlformats.org/drawingml/2006/main" noGrp="1"/>
          </p:cNvSpPr>
          <p:nvPr/>
        </p:nvSpPr>
        <p:spPr>
          <a:xfrm xmlns:a="http://schemas.openxmlformats.org/drawingml/2006/main">
            <a:off x="571500" y="428625"/>
            <a:ext cx="14097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374B"/>
                </a:solidFill>
                <a:latin typeface="Arial"/>
                <a:ea typeface="Arial"/>
                <a:cs typeface="Arial"/>
              </a:defRPr>
            </a:pPr>
            <a:r>
              <a:rPr sz="3300" b="1">
                <a:solidFill>
                  <a:srgbClr val="12374B"/>
                </a:solidFill>
                <a:latin typeface="Arial"/>
                <a:ea typeface="Arial"/>
                <a:cs typeface="Arial"/>
              </a:rPr>
              <a:t>Demand Portal: requirements and reconciliation</a:t>
            </a:r>
          </a:p>
        </p:txBody>
      </p:sp>
      <p:sp>
        <p:nvSpPr>
          <p:cNvPr id="2" name="Purpose">
            <a:extLst xmlns:a="http://schemas.openxmlformats.org/drawingml/2006/main">
              <a:ext uri="{FF2B5EF4-FFF2-40B4-BE49-F238E27FC236}">
                <a16:creationId xmlns:a16="http://schemas.microsoft.com/office/drawing/2014/main" id="{DF49C304-9E5B-42A8-B2C2-A5883DF112F8}"/>
              </a:ext>
            </a:extLst>
          </p:cNvPr>
          <p:cNvSpPr>
            <a:spLocks xmlns:a="http://schemas.openxmlformats.org/drawingml/2006/main" noGrp="1"/>
          </p:cNvSpPr>
          <p:nvPr/>
        </p:nvSpPr>
        <p:spPr>
          <a:xfrm xmlns:a="http://schemas.openxmlformats.org/drawingml/2006/main">
            <a:off x="609600" y="1952625"/>
            <a:ext cx="4267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1">
                <a:solidFill>
                  <a:srgbClr val="007E92"/>
                </a:solidFill>
                <a:latin typeface="Arial"/>
                <a:ea typeface="Arial"/>
                <a:cs typeface="Arial"/>
              </a:defRPr>
            </a:pPr>
            <a:r>
              <a:rPr sz="2400" b="1">
                <a:solidFill>
                  <a:srgbClr val="007E92"/>
                </a:solidFill>
                <a:latin typeface="Arial"/>
                <a:ea typeface="Arial"/>
                <a:cs typeface="Arial"/>
              </a:rPr>
              <a:t>Purpose</a:t>
            </a:r>
          </a:p>
        </p:txBody>
      </p:sp>
      <p:sp>
        <p:nvSpPr>
          <p:cNvPr id="3" name="Capture water requirements at city gates and support de">
            <a:extLst xmlns:a="http://schemas.openxmlformats.org/drawingml/2006/main">
              <a:ext uri="{FF2B5EF4-FFF2-40B4-BE49-F238E27FC236}">
                <a16:creationId xmlns:a16="http://schemas.microsoft.com/office/drawing/2014/main" id="{184FD992-ECA2-4AE5-A4FD-0D4E529A2692}"/>
              </a:ext>
            </a:extLst>
          </p:cNvPr>
          <p:cNvSpPr>
            <a:spLocks xmlns:a="http://schemas.openxmlformats.org/drawingml/2006/main" noGrp="1"/>
          </p:cNvSpPr>
          <p:nvPr/>
        </p:nvSpPr>
        <p:spPr>
          <a:xfrm xmlns:a="http://schemas.openxmlformats.org/drawingml/2006/main">
            <a:off x="609600" y="3067050"/>
            <a:ext cx="4238625"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0">
                <a:solidFill>
                  <a:srgbClr val="18384B"/>
                </a:solidFill>
                <a:latin typeface="Arial"/>
                <a:ea typeface="Arial"/>
                <a:cs typeface="Arial"/>
              </a:defRPr>
            </a:pPr>
            <a:r>
              <a:rPr sz="2325" b="0">
                <a:solidFill>
                  <a:srgbClr val="18384B"/>
                </a:solidFill>
                <a:latin typeface="Arial"/>
                <a:ea typeface="Arial"/>
                <a:cs typeface="Arial"/>
              </a:rPr>
              <a:t>Capture water requirements at city gates and support delivery reconciliation.</a:t>
            </a:r>
          </a:p>
        </p:txBody>
      </p:sp>
      <p:sp>
        <p:nvSpPr>
          <p:cNvPr id="4" name="What it does">
            <a:extLst xmlns:a="http://schemas.openxmlformats.org/drawingml/2006/main">
              <a:ext uri="{FF2B5EF4-FFF2-40B4-BE49-F238E27FC236}">
                <a16:creationId xmlns:a16="http://schemas.microsoft.com/office/drawing/2014/main" id="{91298DEF-9150-4988-AB0E-1A2CF4323AFB}"/>
              </a:ext>
            </a:extLst>
          </p:cNvPr>
          <p:cNvSpPr>
            <a:spLocks xmlns:a="http://schemas.openxmlformats.org/drawingml/2006/main" noGrp="1"/>
          </p:cNvSpPr>
          <p:nvPr/>
        </p:nvSpPr>
        <p:spPr>
          <a:xfrm xmlns:a="http://schemas.openxmlformats.org/drawingml/2006/main">
            <a:off x="5419725" y="1952625"/>
            <a:ext cx="4267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1">
                <a:solidFill>
                  <a:srgbClr val="007E92"/>
                </a:solidFill>
                <a:latin typeface="Arial"/>
                <a:ea typeface="Arial"/>
                <a:cs typeface="Arial"/>
              </a:defRPr>
            </a:pPr>
            <a:r>
              <a:rPr sz="2400" b="1">
                <a:solidFill>
                  <a:srgbClr val="007E92"/>
                </a:solidFill>
                <a:latin typeface="Arial"/>
                <a:ea typeface="Arial"/>
                <a:cs typeface="Arial"/>
              </a:rPr>
              <a:t>What it does</a:t>
            </a:r>
          </a:p>
        </p:txBody>
      </p:sp>
      <p:sp>
        <p:nvSpPr>
          <p:cNvPr id="5" name="Record demand for approval and maintain receiving-point">
            <a:extLst xmlns:a="http://schemas.openxmlformats.org/drawingml/2006/main">
              <a:ext uri="{FF2B5EF4-FFF2-40B4-BE49-F238E27FC236}">
                <a16:creationId xmlns:a16="http://schemas.microsoft.com/office/drawing/2014/main" id="{2E77E7C2-98E8-4948-A2F5-F74C57612B50}"/>
              </a:ext>
            </a:extLst>
          </p:cNvPr>
          <p:cNvSpPr>
            <a:spLocks xmlns:a="http://schemas.openxmlformats.org/drawingml/2006/main" noGrp="1"/>
          </p:cNvSpPr>
          <p:nvPr/>
        </p:nvSpPr>
        <p:spPr>
          <a:xfrm xmlns:a="http://schemas.openxmlformats.org/drawingml/2006/main">
            <a:off x="5419725" y="3067050"/>
            <a:ext cx="4238625"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0">
                <a:solidFill>
                  <a:srgbClr val="18384B"/>
                </a:solidFill>
                <a:latin typeface="Arial"/>
                <a:ea typeface="Arial"/>
                <a:cs typeface="Arial"/>
              </a:defRPr>
            </a:pPr>
            <a:r>
              <a:rPr sz="2325" b="0">
                <a:solidFill>
                  <a:srgbClr val="18384B"/>
                </a:solidFill>
                <a:latin typeface="Arial"/>
                <a:ea typeface="Arial"/>
                <a:cs typeface="Arial"/>
              </a:rPr>
              <a:t>Record demand for approval and maintain receiving-point operating information and actual receipts.</a:t>
            </a:r>
          </a:p>
        </p:txBody>
      </p:sp>
      <p:sp>
        <p:nvSpPr>
          <p:cNvPr id="6" name="Objective">
            <a:extLst xmlns:a="http://schemas.openxmlformats.org/drawingml/2006/main">
              <a:ext uri="{FF2B5EF4-FFF2-40B4-BE49-F238E27FC236}">
                <a16:creationId xmlns:a16="http://schemas.microsoft.com/office/drawing/2014/main" id="{99B51DF6-DF7D-470D-9DD9-76437EF978B1}"/>
              </a:ext>
            </a:extLst>
          </p:cNvPr>
          <p:cNvSpPr>
            <a:spLocks xmlns:a="http://schemas.openxmlformats.org/drawingml/2006/main" noGrp="1"/>
          </p:cNvSpPr>
          <p:nvPr/>
        </p:nvSpPr>
        <p:spPr>
          <a:xfrm xmlns:a="http://schemas.openxmlformats.org/drawingml/2006/main">
            <a:off x="10229850" y="1952625"/>
            <a:ext cx="4267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1">
                <a:solidFill>
                  <a:srgbClr val="007E92"/>
                </a:solidFill>
                <a:latin typeface="Arial"/>
                <a:ea typeface="Arial"/>
                <a:cs typeface="Arial"/>
              </a:defRPr>
            </a:pPr>
            <a:r>
              <a:rPr sz="2400" b="1">
                <a:solidFill>
                  <a:srgbClr val="007E92"/>
                </a:solidFill>
                <a:latin typeface="Arial"/>
                <a:ea typeface="Arial"/>
                <a:cs typeface="Arial"/>
              </a:rPr>
              <a:t>Objective</a:t>
            </a:r>
          </a:p>
        </p:txBody>
      </p:sp>
      <p:sp>
        <p:nvSpPr>
          <p:cNvPr id="7" name="Establish an approved demand basis and reveal differenc">
            <a:extLst xmlns:a="http://schemas.openxmlformats.org/drawingml/2006/main">
              <a:ext uri="{FF2B5EF4-FFF2-40B4-BE49-F238E27FC236}">
                <a16:creationId xmlns:a16="http://schemas.microsoft.com/office/drawing/2014/main" id="{817FE739-B6EF-4060-83E0-0DB9752DAC14}"/>
              </a:ext>
            </a:extLst>
          </p:cNvPr>
          <p:cNvSpPr>
            <a:spLocks xmlns:a="http://schemas.openxmlformats.org/drawingml/2006/main" noGrp="1"/>
          </p:cNvSpPr>
          <p:nvPr/>
        </p:nvSpPr>
        <p:spPr>
          <a:xfrm xmlns:a="http://schemas.openxmlformats.org/drawingml/2006/main">
            <a:off x="10229850" y="3067050"/>
            <a:ext cx="4238625"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0">
                <a:solidFill>
                  <a:srgbClr val="18384B"/>
                </a:solidFill>
                <a:latin typeface="Arial"/>
                <a:ea typeface="Arial"/>
                <a:cs typeface="Arial"/>
              </a:defRPr>
            </a:pPr>
            <a:r>
              <a:rPr sz="2325" b="0">
                <a:solidFill>
                  <a:srgbClr val="18384B"/>
                </a:solidFill>
                <a:latin typeface="Arial"/>
                <a:ea typeface="Arial"/>
                <a:cs typeface="Arial"/>
              </a:rPr>
              <a:t>Establish an approved demand basis and reveal differences between requirements and operational outcomes.</a:t>
            </a:r>
          </a:p>
        </p:txBody>
      </p:sp>
      <p:sp>
        <p:nvSpPr>
          <p:cNvPr id="8" name="WIDispatch   /   Client demonstration">
            <a:extLst xmlns:a="http://schemas.openxmlformats.org/drawingml/2006/main">
              <a:ext uri="{FF2B5EF4-FFF2-40B4-BE49-F238E27FC236}">
                <a16:creationId xmlns:a16="http://schemas.microsoft.com/office/drawing/2014/main" id="{2A860DE3-DD29-427E-8368-9692F71A557A}"/>
              </a:ext>
            </a:extLst>
          </p:cNvPr>
          <p:cNvSpPr>
            <a:spLocks xmlns:a="http://schemas.openxmlformats.org/drawingml/2006/main" noGrp="1"/>
          </p:cNvSpPr>
          <p:nvPr/>
        </p:nvSpPr>
        <p:spPr>
          <a:xfrm xmlns:a="http://schemas.openxmlformats.org/drawingml/2006/main">
            <a:off x="609600" y="81724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547080"/>
                </a:solidFill>
                <a:latin typeface="Arial"/>
                <a:ea typeface="Arial"/>
                <a:cs typeface="Arial"/>
              </a:defRPr>
            </a:pPr>
            <a:r>
              <a:rPr sz="1275" b="0">
                <a:solidFill>
                  <a:srgbClr val="547080"/>
                </a:solidFill>
                <a:latin typeface="Arial"/>
                <a:ea typeface="Arial"/>
                <a:cs typeface="Arial"/>
              </a:rPr>
              <a:t>WIDispatch   /   Client demonstration</a:t>
            </a:r>
          </a:p>
        </p:txBody>
      </p:sp>
      <p:sp>
        <p:nvSpPr>
          <p:cNvPr id="9" name="00">
            <a:extLst xmlns:a="http://schemas.openxmlformats.org/drawingml/2006/main">
              <a:ext uri="{FF2B5EF4-FFF2-40B4-BE49-F238E27FC236}">
                <a16:creationId xmlns:a16="http://schemas.microsoft.com/office/drawing/2014/main" id="{74C8D487-1DD6-43A4-AC94-5F77A72CE5C1}"/>
              </a:ext>
            </a:extLst>
          </p:cNvPr>
          <p:cNvSpPr>
            <a:spLocks xmlns:a="http://schemas.openxmlformats.org/drawingml/2006/main" noGrp="1"/>
          </p:cNvSpPr>
          <p:nvPr/>
        </p:nvSpPr>
        <p:spPr>
          <a:xfrm xmlns:a="http://schemas.openxmlformats.org/drawingml/2006/main">
            <a:off x="13906500" y="8115300"/>
            <a:ext cx="723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547080"/>
                </a:solidFill>
                <a:latin typeface="Arial"/>
                <a:ea typeface="Arial"/>
                <a:cs typeface="Arial"/>
              </a:defRPr>
            </a:pPr>
            <a:r>
              <a:rPr sz="1650" b="0">
                <a:solidFill>
                  <a:srgbClr val="547080"/>
                </a:solidFill>
                <a:latin typeface="Arial"/>
                <a:ea typeface="Arial"/>
                <a:cs typeface="Arial"/>
              </a:rPr>
              <a:t>19</a:t>
            </a:r>
          </a:p>
        </p:txBody>
      </p:sp>
    </p:spTree>
    <p:extLst>
      <p:ext uri="{BB962C8B-B14F-4D97-AF65-F5344CB8AC3E}">
        <p14:creationId xmlns:p14="http://schemas.microsoft.com/office/powerpoint/2010/main" val="406533968"/>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Demand starts at the city gate">
            <a:extLst xmlns:a="http://schemas.openxmlformats.org/drawingml/2006/main">
              <a:ext uri="{FF2B5EF4-FFF2-40B4-BE49-F238E27FC236}">
                <a16:creationId xmlns:a16="http://schemas.microsoft.com/office/drawing/2014/main" id="{30DEDCDC-D674-4968-B147-C51CDDE84803}"/>
              </a:ext>
            </a:extLst>
          </p:cNvPr>
          <p:cNvSpPr>
            <a:spLocks xmlns:a="http://schemas.openxmlformats.org/drawingml/2006/main" noGrp="1"/>
          </p:cNvSpPr>
          <p:nvPr/>
        </p:nvSpPr>
        <p:spPr>
          <a:xfrm xmlns:a="http://schemas.openxmlformats.org/drawingml/2006/main">
            <a:off x="571500" y="428625"/>
            <a:ext cx="140970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300" b="1">
                <a:solidFill>
                  <a:srgbClr val="12374B"/>
                </a:solidFill>
                <a:latin typeface="Arial"/>
                <a:ea typeface="Arial"/>
                <a:cs typeface="Arial"/>
              </a:defRPr>
            </a:pPr>
            <a:r>
              <a:rPr sz="3300" b="1">
                <a:solidFill>
                  <a:srgbClr val="12374B"/>
                </a:solidFill>
                <a:latin typeface="Arial"/>
                <a:ea typeface="Arial"/>
                <a:cs typeface="Arial"/>
              </a:rPr>
              <a:t>Demand starts at the city gate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aaf7c8a2a48249fc"/>
          <a:stretch xmlns:a="http://schemas.openxmlformats.org/drawingml/2006/main"/>
        </p:blipFill>
        <p:spPr>
          <a:xfrm xmlns:a="http://schemas.openxmlformats.org/drawingml/2006/main">
            <a:off x="476250" y="1831669"/>
            <a:ext cx="10668000" cy="5099661"/>
          </a:xfrm>
          <a:prstGeom xmlns:a="http://schemas.openxmlformats.org/drawingml/2006/main" prst="rect">
            <a:avLst/>
          </a:prstGeom>
        </p:spPr>
      </p:pic>
      <p:sp>
        <p:nvSpPr>
          <p:cNvPr id="3" name="01">
            <a:extLst xmlns:a="http://schemas.openxmlformats.org/drawingml/2006/main">
              <a:ext uri="{FF2B5EF4-FFF2-40B4-BE49-F238E27FC236}">
                <a16:creationId xmlns:a16="http://schemas.microsoft.com/office/drawing/2014/main" id="{D2919354-266C-41EE-80DA-A8141563B832}"/>
              </a:ext>
            </a:extLst>
          </p:cNvPr>
          <p:cNvSpPr>
            <a:spLocks xmlns:a="http://schemas.openxmlformats.org/drawingml/2006/main" noGrp="1"/>
          </p:cNvSpPr>
          <p:nvPr/>
        </p:nvSpPr>
        <p:spPr>
          <a:xfrm xmlns:a="http://schemas.openxmlformats.org/drawingml/2006/main">
            <a:off x="11525250" y="1771650"/>
            <a:ext cx="95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01</a:t>
            </a:r>
          </a:p>
        </p:txBody>
      </p:sp>
      <p:sp>
        <p:nvSpPr>
          <p:cNvPr id="4" name="Use the dashboard to identify delivery gaps.">
            <a:extLst xmlns:a="http://schemas.openxmlformats.org/drawingml/2006/main">
              <a:ext uri="{FF2B5EF4-FFF2-40B4-BE49-F238E27FC236}">
                <a16:creationId xmlns:a16="http://schemas.microsoft.com/office/drawing/2014/main" id="{290D3673-CB30-43EE-84E8-F4E089374425}"/>
              </a:ext>
            </a:extLst>
          </p:cNvPr>
          <p:cNvSpPr>
            <a:spLocks xmlns:a="http://schemas.openxmlformats.org/drawingml/2006/main" noGrp="1"/>
          </p:cNvSpPr>
          <p:nvPr/>
        </p:nvSpPr>
        <p:spPr>
          <a:xfrm xmlns:a="http://schemas.openxmlformats.org/drawingml/2006/main">
            <a:off x="11525250" y="2238375"/>
            <a:ext cx="30765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025" b="0">
                <a:solidFill>
                  <a:srgbClr val="18384B"/>
                </a:solidFill>
                <a:latin typeface="Arial"/>
                <a:ea typeface="Arial"/>
                <a:cs typeface="Arial"/>
              </a:defRPr>
            </a:pPr>
            <a:r>
              <a:rPr sz="2025" b="0">
                <a:solidFill>
                  <a:srgbClr val="18384B"/>
                </a:solidFill>
                <a:latin typeface="Arial"/>
                <a:ea typeface="Arial"/>
                <a:cs typeface="Arial"/>
              </a:rPr>
              <a:t>Use the dashboard to identify delivery gaps.</a:t>
            </a:r>
          </a:p>
        </p:txBody>
      </p:sp>
      <p:sp>
        <p:nvSpPr>
          <p:cNvPr id="5" name="02">
            <a:extLst xmlns:a="http://schemas.openxmlformats.org/drawingml/2006/main">
              <a:ext uri="{FF2B5EF4-FFF2-40B4-BE49-F238E27FC236}">
                <a16:creationId xmlns:a16="http://schemas.microsoft.com/office/drawing/2014/main" id="{7362336E-5426-4CD2-9571-C56C171DE236}"/>
              </a:ext>
            </a:extLst>
          </p:cNvPr>
          <p:cNvSpPr>
            <a:spLocks xmlns:a="http://schemas.openxmlformats.org/drawingml/2006/main" noGrp="1"/>
          </p:cNvSpPr>
          <p:nvPr/>
        </p:nvSpPr>
        <p:spPr>
          <a:xfrm xmlns:a="http://schemas.openxmlformats.org/drawingml/2006/main">
            <a:off x="11525250" y="3429000"/>
            <a:ext cx="95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02</a:t>
            </a:r>
          </a:p>
        </p:txBody>
      </p:sp>
      <p:sp>
        <p:nvSpPr>
          <p:cNvPr id="6" name="Open City Gates and select the delivery point.">
            <a:extLst xmlns:a="http://schemas.openxmlformats.org/drawingml/2006/main">
              <a:ext uri="{FF2B5EF4-FFF2-40B4-BE49-F238E27FC236}">
                <a16:creationId xmlns:a16="http://schemas.microsoft.com/office/drawing/2014/main" id="{D0178CA4-86DE-43D9-B8E0-ADF9233ADF99}"/>
              </a:ext>
            </a:extLst>
          </p:cNvPr>
          <p:cNvSpPr>
            <a:spLocks xmlns:a="http://schemas.openxmlformats.org/drawingml/2006/main" noGrp="1"/>
          </p:cNvSpPr>
          <p:nvPr/>
        </p:nvSpPr>
        <p:spPr>
          <a:xfrm xmlns:a="http://schemas.openxmlformats.org/drawingml/2006/main">
            <a:off x="11525250" y="3895725"/>
            <a:ext cx="30765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025" b="0">
                <a:solidFill>
                  <a:srgbClr val="18384B"/>
                </a:solidFill>
                <a:latin typeface="Arial"/>
                <a:ea typeface="Arial"/>
                <a:cs typeface="Arial"/>
              </a:defRPr>
            </a:pPr>
            <a:r>
              <a:rPr sz="2025" b="0">
                <a:solidFill>
                  <a:srgbClr val="18384B"/>
                </a:solidFill>
                <a:latin typeface="Arial"/>
                <a:ea typeface="Arial"/>
                <a:cs typeface="Arial"/>
              </a:rPr>
              <a:t>Open City Gates and select the delivery point.</a:t>
            </a:r>
          </a:p>
        </p:txBody>
      </p:sp>
      <p:sp>
        <p:nvSpPr>
          <p:cNvPr id="7" name="03">
            <a:extLst xmlns:a="http://schemas.openxmlformats.org/drawingml/2006/main">
              <a:ext uri="{FF2B5EF4-FFF2-40B4-BE49-F238E27FC236}">
                <a16:creationId xmlns:a16="http://schemas.microsoft.com/office/drawing/2014/main" id="{71522D04-5765-49B2-8372-53F2455BAC6F}"/>
              </a:ext>
            </a:extLst>
          </p:cNvPr>
          <p:cNvSpPr>
            <a:spLocks xmlns:a="http://schemas.openxmlformats.org/drawingml/2006/main" noGrp="1"/>
          </p:cNvSpPr>
          <p:nvPr/>
        </p:nvSpPr>
        <p:spPr>
          <a:xfrm xmlns:a="http://schemas.openxmlformats.org/drawingml/2006/main">
            <a:off x="11525250" y="5086350"/>
            <a:ext cx="95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03</a:t>
            </a:r>
          </a:p>
        </p:txBody>
      </p:sp>
      <p:sp>
        <p:nvSpPr>
          <p:cNvPr id="8" name="Check the requested period and capacity context.">
            <a:extLst xmlns:a="http://schemas.openxmlformats.org/drawingml/2006/main">
              <a:ext uri="{FF2B5EF4-FFF2-40B4-BE49-F238E27FC236}">
                <a16:creationId xmlns:a16="http://schemas.microsoft.com/office/drawing/2014/main" id="{515C6E8C-E96F-4BC9-950B-A6AB6E83CD90}"/>
              </a:ext>
            </a:extLst>
          </p:cNvPr>
          <p:cNvSpPr>
            <a:spLocks xmlns:a="http://schemas.openxmlformats.org/drawingml/2006/main" noGrp="1"/>
          </p:cNvSpPr>
          <p:nvPr/>
        </p:nvSpPr>
        <p:spPr>
          <a:xfrm xmlns:a="http://schemas.openxmlformats.org/drawingml/2006/main">
            <a:off x="11525250" y="5553075"/>
            <a:ext cx="30765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025" b="0">
                <a:solidFill>
                  <a:srgbClr val="18384B"/>
                </a:solidFill>
                <a:latin typeface="Arial"/>
                <a:ea typeface="Arial"/>
                <a:cs typeface="Arial"/>
              </a:defRPr>
            </a:pPr>
            <a:r>
              <a:rPr sz="2025" b="0">
                <a:solidFill>
                  <a:srgbClr val="18384B"/>
                </a:solidFill>
                <a:latin typeface="Arial"/>
                <a:ea typeface="Arial"/>
                <a:cs typeface="Arial"/>
              </a:rPr>
              <a:t>Check the requested period and capacity context.</a:t>
            </a:r>
          </a:p>
        </p:txBody>
      </p:sp>
      <p:sp>
        <p:nvSpPr>
          <p:cNvPr id="9" name="Requested demand, approved allocation and actual delive">
            <a:extLst xmlns:a="http://schemas.openxmlformats.org/drawingml/2006/main">
              <a:ext uri="{FF2B5EF4-FFF2-40B4-BE49-F238E27FC236}">
                <a16:creationId xmlns:a16="http://schemas.microsoft.com/office/drawing/2014/main" id="{1A3835D0-BBD1-4F4C-B166-0062A66BB3A0}"/>
              </a:ext>
            </a:extLst>
          </p:cNvPr>
          <p:cNvSpPr>
            <a:spLocks xmlns:a="http://schemas.openxmlformats.org/drawingml/2006/main" noGrp="1"/>
          </p:cNvSpPr>
          <p:nvPr/>
        </p:nvSpPr>
        <p:spPr>
          <a:xfrm xmlns:a="http://schemas.openxmlformats.org/drawingml/2006/main">
            <a:off x="609600" y="7448550"/>
            <a:ext cx="1390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Requested demand, approved allocation and actual delivery answer different questions.</a:t>
            </a:r>
          </a:p>
        </p:txBody>
      </p:sp>
      <p:sp>
        <p:nvSpPr>
          <p:cNvPr id="10" name="WIDispatch   /   Client demonstration">
            <a:extLst xmlns:a="http://schemas.openxmlformats.org/drawingml/2006/main">
              <a:ext uri="{FF2B5EF4-FFF2-40B4-BE49-F238E27FC236}">
                <a16:creationId xmlns:a16="http://schemas.microsoft.com/office/drawing/2014/main" id="{0141AC62-8200-47E7-88A9-40D8AFC5428C}"/>
              </a:ext>
            </a:extLst>
          </p:cNvPr>
          <p:cNvSpPr>
            <a:spLocks xmlns:a="http://schemas.openxmlformats.org/drawingml/2006/main" noGrp="1"/>
          </p:cNvSpPr>
          <p:nvPr/>
        </p:nvSpPr>
        <p:spPr>
          <a:xfrm xmlns:a="http://schemas.openxmlformats.org/drawingml/2006/main">
            <a:off x="609600" y="81724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275" b="0">
                <a:solidFill>
                  <a:srgbClr val="547080"/>
                </a:solidFill>
                <a:latin typeface="Arial"/>
                <a:ea typeface="Arial"/>
                <a:cs typeface="Arial"/>
              </a:defRPr>
            </a:pPr>
            <a:r>
              <a:rPr sz="1275" b="0">
                <a:solidFill>
                  <a:srgbClr val="547080"/>
                </a:solidFill>
                <a:latin typeface="Arial"/>
                <a:ea typeface="Arial"/>
                <a:cs typeface="Arial"/>
              </a:rPr>
              <a:t>WIDispatch   /   Client demonstration</a:t>
            </a:r>
          </a:p>
        </p:txBody>
      </p:sp>
      <p:sp>
        <p:nvSpPr>
          <p:cNvPr id="11" name="16">
            <a:extLst xmlns:a="http://schemas.openxmlformats.org/drawingml/2006/main">
              <a:ext uri="{FF2B5EF4-FFF2-40B4-BE49-F238E27FC236}">
                <a16:creationId xmlns:a16="http://schemas.microsoft.com/office/drawing/2014/main" id="{C9BB66DC-24AC-492C-9F8D-4CA6275B7311}"/>
              </a:ext>
            </a:extLst>
          </p:cNvPr>
          <p:cNvSpPr>
            <a:spLocks xmlns:a="http://schemas.openxmlformats.org/drawingml/2006/main" noGrp="1"/>
          </p:cNvSpPr>
          <p:nvPr/>
        </p:nvSpPr>
        <p:spPr>
          <a:xfrm xmlns:a="http://schemas.openxmlformats.org/drawingml/2006/main">
            <a:off x="13906500" y="8115300"/>
            <a:ext cx="723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547080"/>
                </a:solidFill>
                <a:latin typeface="Arial"/>
                <a:ea typeface="Arial"/>
                <a:cs typeface="Arial"/>
              </a:defRPr>
            </a:pPr>
            <a:r>
              <a:rPr sz="1650" b="0">
                <a:solidFill>
                  <a:srgbClr val="547080"/>
                </a:solidFill>
                <a:latin typeface="Arial"/>
                <a:ea typeface="Arial"/>
                <a:cs typeface="Arial"/>
              </a:rPr>
              <a:t>20</a:t>
            </a:r>
          </a:p>
        </p:txBody>
      </p:sp>
    </p:spTree>
    <p:extLst>
      <p:ext uri="{BB962C8B-B14F-4D97-AF65-F5344CB8AC3E}">
        <p14:creationId xmlns:p14="http://schemas.microsoft.com/office/powerpoint/2010/main" val="1789923454"/>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Entering city-gate demand">
            <a:extLst xmlns:a="http://schemas.openxmlformats.org/drawingml/2006/main">
              <a:ext uri="{FF2B5EF4-FFF2-40B4-BE49-F238E27FC236}">
                <a16:creationId xmlns:a16="http://schemas.microsoft.com/office/drawing/2014/main" id="{15DC3086-EED2-46E2-A115-A27E720E1BA7}"/>
              </a:ext>
            </a:extLst>
          </p:cNvPr>
          <p:cNvSpPr>
            <a:spLocks xmlns:a="http://schemas.openxmlformats.org/drawingml/2006/main" noGrp="1"/>
          </p:cNvSpPr>
          <p:nvPr/>
        </p:nvSpPr>
        <p:spPr>
          <a:xfrm xmlns:a="http://schemas.openxmlformats.org/drawingml/2006/main">
            <a:off x="571500" y="428625"/>
            <a:ext cx="140970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300" b="1">
                <a:solidFill>
                  <a:srgbClr val="12374B"/>
                </a:solidFill>
                <a:latin typeface="Arial"/>
                <a:ea typeface="Arial"/>
                <a:cs typeface="Arial"/>
              </a:defRPr>
            </a:pPr>
            <a:r>
              <a:rPr sz="3300" b="1">
                <a:solidFill>
                  <a:srgbClr val="12374B"/>
                </a:solidFill>
                <a:latin typeface="Arial"/>
                <a:ea typeface="Arial"/>
                <a:cs typeface="Arial"/>
              </a:rPr>
              <a:t>Entering city-gate demand</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2ef150ed7af24502"/>
          <a:stretch xmlns:a="http://schemas.openxmlformats.org/drawingml/2006/main"/>
        </p:blipFill>
        <p:spPr>
          <a:xfrm xmlns:a="http://schemas.openxmlformats.org/drawingml/2006/main">
            <a:off x="2415120" y="1666875"/>
            <a:ext cx="6790261" cy="5429250"/>
          </a:xfrm>
          <a:prstGeom xmlns:a="http://schemas.openxmlformats.org/drawingml/2006/main" prst="rect">
            <a:avLst/>
          </a:prstGeom>
        </p:spPr>
      </p:pic>
      <p:sp>
        <p:nvSpPr>
          <p:cNvPr id="3" name="01">
            <a:extLst xmlns:a="http://schemas.openxmlformats.org/drawingml/2006/main">
              <a:ext uri="{FF2B5EF4-FFF2-40B4-BE49-F238E27FC236}">
                <a16:creationId xmlns:a16="http://schemas.microsoft.com/office/drawing/2014/main" id="{A9AFB6B2-291A-483E-B860-B26D73F38740}"/>
              </a:ext>
            </a:extLst>
          </p:cNvPr>
          <p:cNvSpPr>
            <a:spLocks xmlns:a="http://schemas.openxmlformats.org/drawingml/2006/main" noGrp="1"/>
          </p:cNvSpPr>
          <p:nvPr/>
        </p:nvSpPr>
        <p:spPr>
          <a:xfrm xmlns:a="http://schemas.openxmlformats.org/drawingml/2006/main">
            <a:off x="11525250" y="1771650"/>
            <a:ext cx="95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01</a:t>
            </a:r>
          </a:p>
        </p:txBody>
      </p:sp>
      <p:sp>
        <p:nvSpPr>
          <p:cNvPr id="4" name="Choose a start date and end date.">
            <a:extLst xmlns:a="http://schemas.openxmlformats.org/drawingml/2006/main">
              <a:ext uri="{FF2B5EF4-FFF2-40B4-BE49-F238E27FC236}">
                <a16:creationId xmlns:a16="http://schemas.microsoft.com/office/drawing/2014/main" id="{E03F6DB3-0752-47C5-985C-13B8C2D91942}"/>
              </a:ext>
            </a:extLst>
          </p:cNvPr>
          <p:cNvSpPr>
            <a:spLocks xmlns:a="http://schemas.openxmlformats.org/drawingml/2006/main" noGrp="1"/>
          </p:cNvSpPr>
          <p:nvPr/>
        </p:nvSpPr>
        <p:spPr>
          <a:xfrm xmlns:a="http://schemas.openxmlformats.org/drawingml/2006/main">
            <a:off x="11525250" y="2238375"/>
            <a:ext cx="30765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025" b="0">
                <a:solidFill>
                  <a:srgbClr val="18384B"/>
                </a:solidFill>
                <a:latin typeface="Arial"/>
                <a:ea typeface="Arial"/>
                <a:cs typeface="Arial"/>
              </a:defRPr>
            </a:pPr>
            <a:r>
              <a:rPr sz="2025" b="0">
                <a:solidFill>
                  <a:srgbClr val="18384B"/>
                </a:solidFill>
                <a:latin typeface="Arial"/>
                <a:ea typeface="Arial"/>
                <a:cs typeface="Arial"/>
              </a:rPr>
              <a:t>Choose a start date and end date.</a:t>
            </a:r>
          </a:p>
        </p:txBody>
      </p:sp>
      <p:sp>
        <p:nvSpPr>
          <p:cNvPr id="5" name="02">
            <a:extLst xmlns:a="http://schemas.openxmlformats.org/drawingml/2006/main">
              <a:ext uri="{FF2B5EF4-FFF2-40B4-BE49-F238E27FC236}">
                <a16:creationId xmlns:a16="http://schemas.microsoft.com/office/drawing/2014/main" id="{C3C98267-6231-45FC-BC22-6160C882EEAE}"/>
              </a:ext>
            </a:extLst>
          </p:cNvPr>
          <p:cNvSpPr>
            <a:spLocks xmlns:a="http://schemas.openxmlformats.org/drawingml/2006/main" noGrp="1"/>
          </p:cNvSpPr>
          <p:nvPr/>
        </p:nvSpPr>
        <p:spPr>
          <a:xfrm xmlns:a="http://schemas.openxmlformats.org/drawingml/2006/main">
            <a:off x="11525250" y="3429000"/>
            <a:ext cx="95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02</a:t>
            </a:r>
          </a:p>
        </p:txBody>
      </p:sp>
      <p:sp>
        <p:nvSpPr>
          <p:cNvPr id="6" name="Enter the daily quantities in the generated table.">
            <a:extLst xmlns:a="http://schemas.openxmlformats.org/drawingml/2006/main">
              <a:ext uri="{FF2B5EF4-FFF2-40B4-BE49-F238E27FC236}">
                <a16:creationId xmlns:a16="http://schemas.microsoft.com/office/drawing/2014/main" id="{BE6DEE7C-ACF2-474F-9FD9-185E28F56132}"/>
              </a:ext>
            </a:extLst>
          </p:cNvPr>
          <p:cNvSpPr>
            <a:spLocks xmlns:a="http://schemas.openxmlformats.org/drawingml/2006/main" noGrp="1"/>
          </p:cNvSpPr>
          <p:nvPr/>
        </p:nvSpPr>
        <p:spPr>
          <a:xfrm xmlns:a="http://schemas.openxmlformats.org/drawingml/2006/main">
            <a:off x="11525250" y="3895725"/>
            <a:ext cx="30765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025" b="0">
                <a:solidFill>
                  <a:srgbClr val="18384B"/>
                </a:solidFill>
                <a:latin typeface="Arial"/>
                <a:ea typeface="Arial"/>
                <a:cs typeface="Arial"/>
              </a:defRPr>
            </a:pPr>
            <a:r>
              <a:rPr sz="2025" b="0">
                <a:solidFill>
                  <a:srgbClr val="18384B"/>
                </a:solidFill>
                <a:latin typeface="Arial"/>
                <a:ea typeface="Arial"/>
                <a:cs typeface="Arial"/>
              </a:rPr>
              <a:t>Enter the daily quantities in the generated table.</a:t>
            </a:r>
          </a:p>
        </p:txBody>
      </p:sp>
      <p:sp>
        <p:nvSpPr>
          <p:cNvPr id="7" name="03">
            <a:extLst xmlns:a="http://schemas.openxmlformats.org/drawingml/2006/main">
              <a:ext uri="{FF2B5EF4-FFF2-40B4-BE49-F238E27FC236}">
                <a16:creationId xmlns:a16="http://schemas.microsoft.com/office/drawing/2014/main" id="{FFB936F6-92CC-48F9-BD04-C6AAA0D9C607}"/>
              </a:ext>
            </a:extLst>
          </p:cNvPr>
          <p:cNvSpPr>
            <a:spLocks xmlns:a="http://schemas.openxmlformats.org/drawingml/2006/main" noGrp="1"/>
          </p:cNvSpPr>
          <p:nvPr/>
        </p:nvSpPr>
        <p:spPr>
          <a:xfrm xmlns:a="http://schemas.openxmlformats.org/drawingml/2006/main">
            <a:off x="11525250" y="5086350"/>
            <a:ext cx="95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03</a:t>
            </a:r>
          </a:p>
        </p:txBody>
      </p:sp>
      <p:sp>
        <p:nvSpPr>
          <p:cNvPr id="8" name="Save the draft or submit the completed request.">
            <a:extLst xmlns:a="http://schemas.openxmlformats.org/drawingml/2006/main">
              <a:ext uri="{FF2B5EF4-FFF2-40B4-BE49-F238E27FC236}">
                <a16:creationId xmlns:a16="http://schemas.microsoft.com/office/drawing/2014/main" id="{D0E5DF2C-7D55-4413-B255-CFD396BF5FC7}"/>
              </a:ext>
            </a:extLst>
          </p:cNvPr>
          <p:cNvSpPr>
            <a:spLocks xmlns:a="http://schemas.openxmlformats.org/drawingml/2006/main" noGrp="1"/>
          </p:cNvSpPr>
          <p:nvPr/>
        </p:nvSpPr>
        <p:spPr>
          <a:xfrm xmlns:a="http://schemas.openxmlformats.org/drawingml/2006/main">
            <a:off x="11525250" y="5553075"/>
            <a:ext cx="30765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025" b="0">
                <a:solidFill>
                  <a:srgbClr val="18384B"/>
                </a:solidFill>
                <a:latin typeface="Arial"/>
                <a:ea typeface="Arial"/>
                <a:cs typeface="Arial"/>
              </a:defRPr>
            </a:pPr>
            <a:r>
              <a:rPr sz="2025" b="0">
                <a:solidFill>
                  <a:srgbClr val="18384B"/>
                </a:solidFill>
                <a:latin typeface="Arial"/>
                <a:ea typeface="Arial"/>
                <a:cs typeface="Arial"/>
              </a:rPr>
              <a:t>Save the draft or submit the completed request.</a:t>
            </a:r>
          </a:p>
        </p:txBody>
      </p:sp>
      <p:sp>
        <p:nvSpPr>
          <p:cNvPr id="9" name="Daily demand is checked against effective city-gate cap">
            <a:extLst xmlns:a="http://schemas.openxmlformats.org/drawingml/2006/main">
              <a:ext uri="{FF2B5EF4-FFF2-40B4-BE49-F238E27FC236}">
                <a16:creationId xmlns:a16="http://schemas.microsoft.com/office/drawing/2014/main" id="{D15D1751-3446-46A4-97FC-54D7F4678B40}"/>
              </a:ext>
            </a:extLst>
          </p:cNvPr>
          <p:cNvSpPr>
            <a:spLocks xmlns:a="http://schemas.openxmlformats.org/drawingml/2006/main" noGrp="1"/>
          </p:cNvSpPr>
          <p:nvPr/>
        </p:nvSpPr>
        <p:spPr>
          <a:xfrm xmlns:a="http://schemas.openxmlformats.org/drawingml/2006/main">
            <a:off x="609600" y="7448550"/>
            <a:ext cx="1390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Daily demand is checked against effective city-gate capacity.</a:t>
            </a:r>
          </a:p>
        </p:txBody>
      </p:sp>
      <p:sp>
        <p:nvSpPr>
          <p:cNvPr id="10" name="WIDispatch   /   Client demonstration">
            <a:extLst xmlns:a="http://schemas.openxmlformats.org/drawingml/2006/main">
              <a:ext uri="{FF2B5EF4-FFF2-40B4-BE49-F238E27FC236}">
                <a16:creationId xmlns:a16="http://schemas.microsoft.com/office/drawing/2014/main" id="{900F0F04-0E52-4776-B273-FE831F1F3EEA}"/>
              </a:ext>
            </a:extLst>
          </p:cNvPr>
          <p:cNvSpPr>
            <a:spLocks xmlns:a="http://schemas.openxmlformats.org/drawingml/2006/main" noGrp="1"/>
          </p:cNvSpPr>
          <p:nvPr/>
        </p:nvSpPr>
        <p:spPr>
          <a:xfrm xmlns:a="http://schemas.openxmlformats.org/drawingml/2006/main">
            <a:off x="609600" y="81724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275" b="0">
                <a:solidFill>
                  <a:srgbClr val="547080"/>
                </a:solidFill>
                <a:latin typeface="Arial"/>
                <a:ea typeface="Arial"/>
                <a:cs typeface="Arial"/>
              </a:defRPr>
            </a:pPr>
            <a:r>
              <a:rPr sz="1275" b="0">
                <a:solidFill>
                  <a:srgbClr val="547080"/>
                </a:solidFill>
                <a:latin typeface="Arial"/>
                <a:ea typeface="Arial"/>
                <a:cs typeface="Arial"/>
              </a:rPr>
              <a:t>WIDispatch   /   Client demonstration</a:t>
            </a:r>
          </a:p>
        </p:txBody>
      </p:sp>
      <p:sp>
        <p:nvSpPr>
          <p:cNvPr id="11" name="17">
            <a:extLst xmlns:a="http://schemas.openxmlformats.org/drawingml/2006/main">
              <a:ext uri="{FF2B5EF4-FFF2-40B4-BE49-F238E27FC236}">
                <a16:creationId xmlns:a16="http://schemas.microsoft.com/office/drawing/2014/main" id="{AA5A5DFA-A844-4B35-9BAD-DCC5F2D22706}"/>
              </a:ext>
            </a:extLst>
          </p:cNvPr>
          <p:cNvSpPr>
            <a:spLocks xmlns:a="http://schemas.openxmlformats.org/drawingml/2006/main" noGrp="1"/>
          </p:cNvSpPr>
          <p:nvPr/>
        </p:nvSpPr>
        <p:spPr>
          <a:xfrm xmlns:a="http://schemas.openxmlformats.org/drawingml/2006/main">
            <a:off x="13906500" y="8115300"/>
            <a:ext cx="723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547080"/>
                </a:solidFill>
                <a:latin typeface="Arial"/>
                <a:ea typeface="Arial"/>
                <a:cs typeface="Arial"/>
              </a:defRPr>
            </a:pPr>
            <a:r>
              <a:rPr sz="1650" b="0">
                <a:solidFill>
                  <a:srgbClr val="547080"/>
                </a:solidFill>
                <a:latin typeface="Arial"/>
                <a:ea typeface="Arial"/>
                <a:cs typeface="Arial"/>
              </a:rPr>
              <a:t>21</a:t>
            </a:r>
          </a:p>
        </p:txBody>
      </p:sp>
    </p:spTree>
    <p:extLst>
      <p:ext uri="{BB962C8B-B14F-4D97-AF65-F5344CB8AC3E}">
        <p14:creationId xmlns:p14="http://schemas.microsoft.com/office/powerpoint/2010/main" val="802376153"/>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Demand approval and correction">
            <a:extLst xmlns:a="http://schemas.openxmlformats.org/drawingml/2006/main">
              <a:ext uri="{FF2B5EF4-FFF2-40B4-BE49-F238E27FC236}">
                <a16:creationId xmlns:a16="http://schemas.microsoft.com/office/drawing/2014/main" id="{C97D3B42-F80B-4BB5-AA36-066DC2C1A983}"/>
              </a:ext>
            </a:extLst>
          </p:cNvPr>
          <p:cNvSpPr>
            <a:spLocks xmlns:a="http://schemas.openxmlformats.org/drawingml/2006/main" noGrp="1"/>
          </p:cNvSpPr>
          <p:nvPr/>
        </p:nvSpPr>
        <p:spPr>
          <a:xfrm xmlns:a="http://schemas.openxmlformats.org/drawingml/2006/main">
            <a:off x="571500" y="428625"/>
            <a:ext cx="140970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300" b="1">
                <a:solidFill>
                  <a:srgbClr val="12374B"/>
                </a:solidFill>
                <a:latin typeface="Arial"/>
                <a:ea typeface="Arial"/>
                <a:cs typeface="Arial"/>
              </a:defRPr>
            </a:pPr>
            <a:r>
              <a:rPr sz="3300" b="1">
                <a:solidFill>
                  <a:srgbClr val="12374B"/>
                </a:solidFill>
                <a:latin typeface="Arial"/>
                <a:ea typeface="Arial"/>
                <a:cs typeface="Arial"/>
              </a:rPr>
              <a:t>Demand approval and correction</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6461cd92c0214d2e"/>
          <a:stretch xmlns:a="http://schemas.openxmlformats.org/drawingml/2006/main"/>
        </p:blipFill>
        <p:spPr>
          <a:xfrm xmlns:a="http://schemas.openxmlformats.org/drawingml/2006/main">
            <a:off x="476250" y="1973947"/>
            <a:ext cx="10668000" cy="4815107"/>
          </a:xfrm>
          <a:prstGeom xmlns:a="http://schemas.openxmlformats.org/drawingml/2006/main" prst="rect">
            <a:avLst/>
          </a:prstGeom>
        </p:spPr>
      </p:pic>
      <p:sp>
        <p:nvSpPr>
          <p:cNvPr id="3" name="01">
            <a:extLst xmlns:a="http://schemas.openxmlformats.org/drawingml/2006/main">
              <a:ext uri="{FF2B5EF4-FFF2-40B4-BE49-F238E27FC236}">
                <a16:creationId xmlns:a16="http://schemas.microsoft.com/office/drawing/2014/main" id="{8B544959-2F92-4CA2-AB40-6373AAEA6AC9}"/>
              </a:ext>
            </a:extLst>
          </p:cNvPr>
          <p:cNvSpPr>
            <a:spLocks xmlns:a="http://schemas.openxmlformats.org/drawingml/2006/main" noGrp="1"/>
          </p:cNvSpPr>
          <p:nvPr/>
        </p:nvSpPr>
        <p:spPr>
          <a:xfrm xmlns:a="http://schemas.openxmlformats.org/drawingml/2006/main">
            <a:off x="11525250" y="1771650"/>
            <a:ext cx="95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01</a:t>
            </a:r>
          </a:p>
        </p:txBody>
      </p:sp>
      <p:sp>
        <p:nvSpPr>
          <p:cNvPr id="4" name="Filter Approvals to Pending Review.">
            <a:extLst xmlns:a="http://schemas.openxmlformats.org/drawingml/2006/main">
              <a:ext uri="{FF2B5EF4-FFF2-40B4-BE49-F238E27FC236}">
                <a16:creationId xmlns:a16="http://schemas.microsoft.com/office/drawing/2014/main" id="{92D3025F-5B3C-4792-BD71-022C5537D1CF}"/>
              </a:ext>
            </a:extLst>
          </p:cNvPr>
          <p:cNvSpPr>
            <a:spLocks xmlns:a="http://schemas.openxmlformats.org/drawingml/2006/main" noGrp="1"/>
          </p:cNvSpPr>
          <p:nvPr/>
        </p:nvSpPr>
        <p:spPr>
          <a:xfrm xmlns:a="http://schemas.openxmlformats.org/drawingml/2006/main">
            <a:off x="11525250" y="2238375"/>
            <a:ext cx="30765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025" b="0">
                <a:solidFill>
                  <a:srgbClr val="18384B"/>
                </a:solidFill>
                <a:latin typeface="Arial"/>
                <a:ea typeface="Arial"/>
                <a:cs typeface="Arial"/>
              </a:defRPr>
            </a:pPr>
            <a:r>
              <a:rPr sz="2025" b="0">
                <a:solidFill>
                  <a:srgbClr val="18384B"/>
                </a:solidFill>
                <a:latin typeface="Arial"/>
                <a:ea typeface="Arial"/>
                <a:cs typeface="Arial"/>
              </a:rPr>
              <a:t>Filter Approvals to Pending Review.</a:t>
            </a:r>
          </a:p>
        </p:txBody>
      </p:sp>
      <p:sp>
        <p:nvSpPr>
          <p:cNvPr id="5" name="02">
            <a:extLst xmlns:a="http://schemas.openxmlformats.org/drawingml/2006/main">
              <a:ext uri="{FF2B5EF4-FFF2-40B4-BE49-F238E27FC236}">
                <a16:creationId xmlns:a16="http://schemas.microsoft.com/office/drawing/2014/main" id="{288A5840-9AFB-4044-8186-87175CD3091A}"/>
              </a:ext>
            </a:extLst>
          </p:cNvPr>
          <p:cNvSpPr>
            <a:spLocks xmlns:a="http://schemas.openxmlformats.org/drawingml/2006/main" noGrp="1"/>
          </p:cNvSpPr>
          <p:nvPr/>
        </p:nvSpPr>
        <p:spPr>
          <a:xfrm xmlns:a="http://schemas.openxmlformats.org/drawingml/2006/main">
            <a:off x="11525250" y="3429000"/>
            <a:ext cx="95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02</a:t>
            </a:r>
          </a:p>
        </p:txBody>
      </p:sp>
      <p:sp>
        <p:nvSpPr>
          <p:cNvPr id="6" name="Open the city-gate record and check daily demand.">
            <a:extLst xmlns:a="http://schemas.openxmlformats.org/drawingml/2006/main">
              <a:ext uri="{FF2B5EF4-FFF2-40B4-BE49-F238E27FC236}">
                <a16:creationId xmlns:a16="http://schemas.microsoft.com/office/drawing/2014/main" id="{0D599378-A38F-4DD2-8D32-ECA5379B004B}"/>
              </a:ext>
            </a:extLst>
          </p:cNvPr>
          <p:cNvSpPr>
            <a:spLocks xmlns:a="http://schemas.openxmlformats.org/drawingml/2006/main" noGrp="1"/>
          </p:cNvSpPr>
          <p:nvPr/>
        </p:nvSpPr>
        <p:spPr>
          <a:xfrm xmlns:a="http://schemas.openxmlformats.org/drawingml/2006/main">
            <a:off x="11525250" y="3895725"/>
            <a:ext cx="30765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025" b="0">
                <a:solidFill>
                  <a:srgbClr val="18384B"/>
                </a:solidFill>
                <a:latin typeface="Arial"/>
                <a:ea typeface="Arial"/>
                <a:cs typeface="Arial"/>
              </a:defRPr>
            </a:pPr>
            <a:r>
              <a:rPr sz="2025" b="0">
                <a:solidFill>
                  <a:srgbClr val="18384B"/>
                </a:solidFill>
                <a:latin typeface="Arial"/>
                <a:ea typeface="Arial"/>
                <a:cs typeface="Arial"/>
              </a:rPr>
              <a:t>Open the city-gate record and check daily demand.</a:t>
            </a:r>
          </a:p>
        </p:txBody>
      </p:sp>
      <p:sp>
        <p:nvSpPr>
          <p:cNvPr id="7" name="03">
            <a:extLst xmlns:a="http://schemas.openxmlformats.org/drawingml/2006/main">
              <a:ext uri="{FF2B5EF4-FFF2-40B4-BE49-F238E27FC236}">
                <a16:creationId xmlns:a16="http://schemas.microsoft.com/office/drawing/2014/main" id="{3F439753-896E-48DC-BAF7-4A23E0F1C044}"/>
              </a:ext>
            </a:extLst>
          </p:cNvPr>
          <p:cNvSpPr>
            <a:spLocks xmlns:a="http://schemas.openxmlformats.org/drawingml/2006/main" noGrp="1"/>
          </p:cNvSpPr>
          <p:nvPr/>
        </p:nvSpPr>
        <p:spPr>
          <a:xfrm xmlns:a="http://schemas.openxmlformats.org/drawingml/2006/main">
            <a:off x="11525250" y="5086350"/>
            <a:ext cx="95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03</a:t>
            </a:r>
          </a:p>
        </p:txBody>
      </p:sp>
      <p:sp>
        <p:nvSpPr>
          <p:cNvPr id="8" name="Approve, or reject with a specific correction reason.">
            <a:extLst xmlns:a="http://schemas.openxmlformats.org/drawingml/2006/main">
              <a:ext uri="{FF2B5EF4-FFF2-40B4-BE49-F238E27FC236}">
                <a16:creationId xmlns:a16="http://schemas.microsoft.com/office/drawing/2014/main" id="{722FACA4-8CAF-4135-86A8-BBD56E79066B}"/>
              </a:ext>
            </a:extLst>
          </p:cNvPr>
          <p:cNvSpPr>
            <a:spLocks xmlns:a="http://schemas.openxmlformats.org/drawingml/2006/main" noGrp="1"/>
          </p:cNvSpPr>
          <p:nvPr/>
        </p:nvSpPr>
        <p:spPr>
          <a:xfrm xmlns:a="http://schemas.openxmlformats.org/drawingml/2006/main">
            <a:off x="11525250" y="5553075"/>
            <a:ext cx="30765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025" b="0">
                <a:solidFill>
                  <a:srgbClr val="18384B"/>
                </a:solidFill>
                <a:latin typeface="Arial"/>
                <a:ea typeface="Arial"/>
                <a:cs typeface="Arial"/>
              </a:defRPr>
            </a:pPr>
            <a:r>
              <a:rPr sz="2025" b="0">
                <a:solidFill>
                  <a:srgbClr val="18384B"/>
                </a:solidFill>
                <a:latin typeface="Arial"/>
                <a:ea typeface="Arial"/>
                <a:cs typeface="Arial"/>
              </a:rPr>
              <a:t>Approve, or reject with a specific correction reason.</a:t>
            </a:r>
          </a:p>
        </p:txBody>
      </p:sp>
      <p:sp>
        <p:nvSpPr>
          <p:cNvPr id="9" name="The operator revises the input and resubmits before the">
            <a:extLst xmlns:a="http://schemas.openxmlformats.org/drawingml/2006/main">
              <a:ext uri="{FF2B5EF4-FFF2-40B4-BE49-F238E27FC236}">
                <a16:creationId xmlns:a16="http://schemas.microsoft.com/office/drawing/2014/main" id="{17BC97BA-0258-4319-A64D-7B5DE5CEC175}"/>
              </a:ext>
            </a:extLst>
          </p:cNvPr>
          <p:cNvSpPr>
            <a:spLocks xmlns:a="http://schemas.openxmlformats.org/drawingml/2006/main" noGrp="1"/>
          </p:cNvSpPr>
          <p:nvPr/>
        </p:nvSpPr>
        <p:spPr>
          <a:xfrm xmlns:a="http://schemas.openxmlformats.org/drawingml/2006/main">
            <a:off x="609600" y="7448550"/>
            <a:ext cx="1390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The operator revises the input and resubmits before the planner uses the approved demand.</a:t>
            </a:r>
          </a:p>
        </p:txBody>
      </p:sp>
      <p:sp>
        <p:nvSpPr>
          <p:cNvPr id="10" name="WIDispatch   /   Client demonstration">
            <a:extLst xmlns:a="http://schemas.openxmlformats.org/drawingml/2006/main">
              <a:ext uri="{FF2B5EF4-FFF2-40B4-BE49-F238E27FC236}">
                <a16:creationId xmlns:a16="http://schemas.microsoft.com/office/drawing/2014/main" id="{F533714E-A610-4815-9582-950EA71EF226}"/>
              </a:ext>
            </a:extLst>
          </p:cNvPr>
          <p:cNvSpPr>
            <a:spLocks xmlns:a="http://schemas.openxmlformats.org/drawingml/2006/main" noGrp="1"/>
          </p:cNvSpPr>
          <p:nvPr/>
        </p:nvSpPr>
        <p:spPr>
          <a:xfrm xmlns:a="http://schemas.openxmlformats.org/drawingml/2006/main">
            <a:off x="609600" y="81724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275" b="0">
                <a:solidFill>
                  <a:srgbClr val="547080"/>
                </a:solidFill>
                <a:latin typeface="Arial"/>
                <a:ea typeface="Arial"/>
                <a:cs typeface="Arial"/>
              </a:defRPr>
            </a:pPr>
            <a:r>
              <a:rPr sz="1275" b="0">
                <a:solidFill>
                  <a:srgbClr val="547080"/>
                </a:solidFill>
                <a:latin typeface="Arial"/>
                <a:ea typeface="Arial"/>
                <a:cs typeface="Arial"/>
              </a:rPr>
              <a:t>WIDispatch   /   Client demonstration</a:t>
            </a:r>
          </a:p>
        </p:txBody>
      </p:sp>
      <p:sp>
        <p:nvSpPr>
          <p:cNvPr id="11" name="18">
            <a:extLst xmlns:a="http://schemas.openxmlformats.org/drawingml/2006/main">
              <a:ext uri="{FF2B5EF4-FFF2-40B4-BE49-F238E27FC236}">
                <a16:creationId xmlns:a16="http://schemas.microsoft.com/office/drawing/2014/main" id="{9D16A9CA-1F97-40E8-B81E-53CDFB1E3E5A}"/>
              </a:ext>
            </a:extLst>
          </p:cNvPr>
          <p:cNvSpPr>
            <a:spLocks xmlns:a="http://schemas.openxmlformats.org/drawingml/2006/main" noGrp="1"/>
          </p:cNvSpPr>
          <p:nvPr/>
        </p:nvSpPr>
        <p:spPr>
          <a:xfrm xmlns:a="http://schemas.openxmlformats.org/drawingml/2006/main">
            <a:off x="13906500" y="8115300"/>
            <a:ext cx="723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547080"/>
                </a:solidFill>
                <a:latin typeface="Arial"/>
                <a:ea typeface="Arial"/>
                <a:cs typeface="Arial"/>
              </a:defRPr>
            </a:pPr>
            <a:r>
              <a:rPr sz="1650" b="0">
                <a:solidFill>
                  <a:srgbClr val="547080"/>
                </a:solidFill>
                <a:latin typeface="Arial"/>
                <a:ea typeface="Arial"/>
                <a:cs typeface="Arial"/>
              </a:rPr>
              <a:t>22</a:t>
            </a:r>
          </a:p>
        </p:txBody>
      </p:sp>
    </p:spTree>
    <p:extLst>
      <p:ext uri="{BB962C8B-B14F-4D97-AF65-F5344CB8AC3E}">
        <p14:creationId xmlns:p14="http://schemas.microsoft.com/office/powerpoint/2010/main" val="1037750000"/>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ransmission Portal: network availability and water mov">
            <a:extLst xmlns:a="http://schemas.openxmlformats.org/drawingml/2006/main">
              <a:ext uri="{FF2B5EF4-FFF2-40B4-BE49-F238E27FC236}">
                <a16:creationId xmlns:a16="http://schemas.microsoft.com/office/drawing/2014/main" id="{9899421C-7A40-4A1B-AFE5-3BDBC1D714B9}"/>
              </a:ext>
            </a:extLst>
          </p:cNvPr>
          <p:cNvSpPr>
            <a:spLocks xmlns:a="http://schemas.openxmlformats.org/drawingml/2006/main" noGrp="1"/>
          </p:cNvSpPr>
          <p:nvPr/>
        </p:nvSpPr>
        <p:spPr>
          <a:xfrm xmlns:a="http://schemas.openxmlformats.org/drawingml/2006/main">
            <a:off x="571500" y="428625"/>
            <a:ext cx="14097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374B"/>
                </a:solidFill>
                <a:latin typeface="Arial"/>
                <a:ea typeface="Arial"/>
                <a:cs typeface="Arial"/>
              </a:defRPr>
            </a:pPr>
            <a:r>
              <a:rPr sz="3300" b="1">
                <a:solidFill>
                  <a:srgbClr val="12374B"/>
                </a:solidFill>
                <a:latin typeface="Arial"/>
                <a:ea typeface="Arial"/>
                <a:cs typeface="Arial"/>
              </a:rPr>
              <a:t>Transmission Portal: network availability and water movement</a:t>
            </a:r>
          </a:p>
        </p:txBody>
      </p:sp>
      <p:sp>
        <p:nvSpPr>
          <p:cNvPr id="2" name="Purpose">
            <a:extLst xmlns:a="http://schemas.openxmlformats.org/drawingml/2006/main">
              <a:ext uri="{FF2B5EF4-FFF2-40B4-BE49-F238E27FC236}">
                <a16:creationId xmlns:a16="http://schemas.microsoft.com/office/drawing/2014/main" id="{F335B38D-D55A-407D-ACAB-44FB30550E54}"/>
              </a:ext>
            </a:extLst>
          </p:cNvPr>
          <p:cNvSpPr>
            <a:spLocks xmlns:a="http://schemas.openxmlformats.org/drawingml/2006/main" noGrp="1"/>
          </p:cNvSpPr>
          <p:nvPr/>
        </p:nvSpPr>
        <p:spPr>
          <a:xfrm xmlns:a="http://schemas.openxmlformats.org/drawingml/2006/main">
            <a:off x="609600" y="1952625"/>
            <a:ext cx="4267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1">
                <a:solidFill>
                  <a:srgbClr val="007E92"/>
                </a:solidFill>
                <a:latin typeface="Arial"/>
                <a:ea typeface="Arial"/>
                <a:cs typeface="Arial"/>
              </a:defRPr>
            </a:pPr>
            <a:r>
              <a:rPr sz="2400" b="1">
                <a:solidFill>
                  <a:srgbClr val="007E92"/>
                </a:solidFill>
                <a:latin typeface="Arial"/>
                <a:ea typeface="Arial"/>
                <a:cs typeface="Arial"/>
              </a:rPr>
              <a:t>Purpose</a:t>
            </a:r>
          </a:p>
        </p:txBody>
      </p:sp>
      <p:sp>
        <p:nvSpPr>
          <p:cNvPr id="3" name="Provide operational visibility into the infrastructure ">
            <a:extLst xmlns:a="http://schemas.openxmlformats.org/drawingml/2006/main">
              <a:ext uri="{FF2B5EF4-FFF2-40B4-BE49-F238E27FC236}">
                <a16:creationId xmlns:a16="http://schemas.microsoft.com/office/drawing/2014/main" id="{678160BC-49AE-4062-92F2-0ED91AB0DD91}"/>
              </a:ext>
            </a:extLst>
          </p:cNvPr>
          <p:cNvSpPr>
            <a:spLocks xmlns:a="http://schemas.openxmlformats.org/drawingml/2006/main" noGrp="1"/>
          </p:cNvSpPr>
          <p:nvPr/>
        </p:nvSpPr>
        <p:spPr>
          <a:xfrm xmlns:a="http://schemas.openxmlformats.org/drawingml/2006/main">
            <a:off x="609600" y="3067050"/>
            <a:ext cx="4238625"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0">
                <a:solidFill>
                  <a:srgbClr val="18384B"/>
                </a:solidFill>
                <a:latin typeface="Arial"/>
                <a:ea typeface="Arial"/>
                <a:cs typeface="Arial"/>
              </a:defRPr>
            </a:pPr>
            <a:r>
              <a:rPr sz="2325" b="0">
                <a:solidFill>
                  <a:srgbClr val="18384B"/>
                </a:solidFill>
                <a:latin typeface="Arial"/>
                <a:ea typeface="Arial"/>
                <a:cs typeface="Arial"/>
              </a:rPr>
              <a:t>Provide operational visibility into the infrastructure carrying water between supply and receiving points.</a:t>
            </a:r>
          </a:p>
        </p:txBody>
      </p:sp>
      <p:sp>
        <p:nvSpPr>
          <p:cNvPr id="4" name="What it does">
            <a:extLst xmlns:a="http://schemas.openxmlformats.org/drawingml/2006/main">
              <a:ext uri="{FF2B5EF4-FFF2-40B4-BE49-F238E27FC236}">
                <a16:creationId xmlns:a16="http://schemas.microsoft.com/office/drawing/2014/main" id="{79FEAD16-3E2C-49CD-8D86-54330964850E}"/>
              </a:ext>
            </a:extLst>
          </p:cNvPr>
          <p:cNvSpPr>
            <a:spLocks xmlns:a="http://schemas.openxmlformats.org/drawingml/2006/main" noGrp="1"/>
          </p:cNvSpPr>
          <p:nvPr/>
        </p:nvSpPr>
        <p:spPr>
          <a:xfrm xmlns:a="http://schemas.openxmlformats.org/drawingml/2006/main">
            <a:off x="5419725" y="1952625"/>
            <a:ext cx="4267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1">
                <a:solidFill>
                  <a:srgbClr val="007E92"/>
                </a:solidFill>
                <a:latin typeface="Arial"/>
                <a:ea typeface="Arial"/>
                <a:cs typeface="Arial"/>
              </a:defRPr>
            </a:pPr>
            <a:r>
              <a:rPr sz="2400" b="1">
                <a:solidFill>
                  <a:srgbClr val="007E92"/>
                </a:solidFill>
                <a:latin typeface="Arial"/>
                <a:ea typeface="Arial"/>
                <a:cs typeface="Arial"/>
              </a:rPr>
              <a:t>What it does</a:t>
            </a:r>
          </a:p>
        </p:txBody>
      </p:sp>
      <p:sp>
        <p:nvSpPr>
          <p:cNvPr id="5" name="Display Desktop-authored systems and lines, pump availa">
            <a:extLst xmlns:a="http://schemas.openxmlformats.org/drawingml/2006/main">
              <a:ext uri="{FF2B5EF4-FFF2-40B4-BE49-F238E27FC236}">
                <a16:creationId xmlns:a16="http://schemas.microsoft.com/office/drawing/2014/main" id="{F5855DD7-4A3A-4369-886E-D3872DDFC886}"/>
              </a:ext>
            </a:extLst>
          </p:cNvPr>
          <p:cNvSpPr>
            <a:spLocks xmlns:a="http://schemas.openxmlformats.org/drawingml/2006/main" noGrp="1"/>
          </p:cNvSpPr>
          <p:nvPr/>
        </p:nvSpPr>
        <p:spPr>
          <a:xfrm xmlns:a="http://schemas.openxmlformats.org/drawingml/2006/main">
            <a:off x="5419725" y="3067050"/>
            <a:ext cx="4238625"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0">
                <a:solidFill>
                  <a:srgbClr val="18384B"/>
                </a:solidFill>
                <a:latin typeface="Arial"/>
                <a:ea typeface="Arial"/>
                <a:cs typeface="Arial"/>
              </a:defRPr>
            </a:pPr>
            <a:r>
              <a:rPr sz="2325" b="0">
                <a:solidFill>
                  <a:srgbClr val="18384B"/>
                </a:solidFill>
                <a:latin typeface="Arial"/>
                <a:ea typeface="Arial"/>
                <a:cs typeface="Arial"/>
              </a:rPr>
              <a:t>Display Desktop-authored systems and lines, pump availability, maintenance and outages, and receipt/delivery records.</a:t>
            </a:r>
          </a:p>
        </p:txBody>
      </p:sp>
      <p:sp>
        <p:nvSpPr>
          <p:cNvPr id="6" name="Objective">
            <a:extLst xmlns:a="http://schemas.openxmlformats.org/drawingml/2006/main">
              <a:ext uri="{FF2B5EF4-FFF2-40B4-BE49-F238E27FC236}">
                <a16:creationId xmlns:a16="http://schemas.microsoft.com/office/drawing/2014/main" id="{8A2567DF-EAE9-4ECA-A082-2F568CC68BA4}"/>
              </a:ext>
            </a:extLst>
          </p:cNvPr>
          <p:cNvSpPr>
            <a:spLocks xmlns:a="http://schemas.openxmlformats.org/drawingml/2006/main" noGrp="1"/>
          </p:cNvSpPr>
          <p:nvPr/>
        </p:nvSpPr>
        <p:spPr>
          <a:xfrm xmlns:a="http://schemas.openxmlformats.org/drawingml/2006/main">
            <a:off x="10229850" y="1952625"/>
            <a:ext cx="4267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1">
                <a:solidFill>
                  <a:srgbClr val="007E92"/>
                </a:solidFill>
                <a:latin typeface="Arial"/>
                <a:ea typeface="Arial"/>
                <a:cs typeface="Arial"/>
              </a:defRPr>
            </a:pPr>
            <a:r>
              <a:rPr sz="2400" b="1">
                <a:solidFill>
                  <a:srgbClr val="007E92"/>
                </a:solidFill>
                <a:latin typeface="Arial"/>
                <a:ea typeface="Arial"/>
                <a:cs typeface="Arial"/>
              </a:rPr>
              <a:t>Objective</a:t>
            </a:r>
          </a:p>
        </p:txBody>
      </p:sp>
      <p:sp>
        <p:nvSpPr>
          <p:cNvPr id="7" name="Represent transmission constraints accurately and suppo">
            <a:extLst xmlns:a="http://schemas.openxmlformats.org/drawingml/2006/main">
              <a:ext uri="{FF2B5EF4-FFF2-40B4-BE49-F238E27FC236}">
                <a16:creationId xmlns:a16="http://schemas.microsoft.com/office/drawing/2014/main" id="{B422DEA6-A81B-4C4B-8C67-61CE44C18B91}"/>
              </a:ext>
            </a:extLst>
          </p:cNvPr>
          <p:cNvSpPr>
            <a:spLocks xmlns:a="http://schemas.openxmlformats.org/drawingml/2006/main" noGrp="1"/>
          </p:cNvSpPr>
          <p:nvPr/>
        </p:nvSpPr>
        <p:spPr>
          <a:xfrm xmlns:a="http://schemas.openxmlformats.org/drawingml/2006/main">
            <a:off x="10229850" y="3067050"/>
            <a:ext cx="4238625"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0">
                <a:solidFill>
                  <a:srgbClr val="18384B"/>
                </a:solidFill>
                <a:latin typeface="Arial"/>
                <a:ea typeface="Arial"/>
                <a:cs typeface="Arial"/>
              </a:defRPr>
            </a:pPr>
            <a:r>
              <a:rPr sz="2325" b="0">
                <a:solidFill>
                  <a:srgbClr val="18384B"/>
                </a:solidFill>
                <a:latin typeface="Arial"/>
                <a:ea typeface="Arial"/>
                <a:cs typeface="Arial"/>
              </a:rPr>
              <a:t>Represent transmission constraints accurately and support reconciliation of water movement.</a:t>
            </a:r>
          </a:p>
        </p:txBody>
      </p:sp>
      <p:sp>
        <p:nvSpPr>
          <p:cNvPr id="8" name="WIDispatch   /   Client demonstration">
            <a:extLst xmlns:a="http://schemas.openxmlformats.org/drawingml/2006/main">
              <a:ext uri="{FF2B5EF4-FFF2-40B4-BE49-F238E27FC236}">
                <a16:creationId xmlns:a16="http://schemas.microsoft.com/office/drawing/2014/main" id="{B86782A3-F6AB-4ED9-ACA4-0B3B44062FC2}"/>
              </a:ext>
            </a:extLst>
          </p:cNvPr>
          <p:cNvSpPr>
            <a:spLocks xmlns:a="http://schemas.openxmlformats.org/drawingml/2006/main" noGrp="1"/>
          </p:cNvSpPr>
          <p:nvPr/>
        </p:nvSpPr>
        <p:spPr>
          <a:xfrm xmlns:a="http://schemas.openxmlformats.org/drawingml/2006/main">
            <a:off x="609600" y="81724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547080"/>
                </a:solidFill>
                <a:latin typeface="Arial"/>
                <a:ea typeface="Arial"/>
                <a:cs typeface="Arial"/>
              </a:defRPr>
            </a:pPr>
            <a:r>
              <a:rPr sz="1275" b="0">
                <a:solidFill>
                  <a:srgbClr val="547080"/>
                </a:solidFill>
                <a:latin typeface="Arial"/>
                <a:ea typeface="Arial"/>
                <a:cs typeface="Arial"/>
              </a:rPr>
              <a:t>WIDispatch   /   Client demonstration</a:t>
            </a:r>
          </a:p>
        </p:txBody>
      </p:sp>
      <p:sp>
        <p:nvSpPr>
          <p:cNvPr id="9" name="00">
            <a:extLst xmlns:a="http://schemas.openxmlformats.org/drawingml/2006/main">
              <a:ext uri="{FF2B5EF4-FFF2-40B4-BE49-F238E27FC236}">
                <a16:creationId xmlns:a16="http://schemas.microsoft.com/office/drawing/2014/main" id="{8781DA14-1949-4AC0-A368-23B8D8C9C052}"/>
              </a:ext>
            </a:extLst>
          </p:cNvPr>
          <p:cNvSpPr>
            <a:spLocks xmlns:a="http://schemas.openxmlformats.org/drawingml/2006/main" noGrp="1"/>
          </p:cNvSpPr>
          <p:nvPr/>
        </p:nvSpPr>
        <p:spPr>
          <a:xfrm xmlns:a="http://schemas.openxmlformats.org/drawingml/2006/main">
            <a:off x="13906500" y="8115300"/>
            <a:ext cx="723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547080"/>
                </a:solidFill>
                <a:latin typeface="Arial"/>
                <a:ea typeface="Arial"/>
                <a:cs typeface="Arial"/>
              </a:defRPr>
            </a:pPr>
            <a:r>
              <a:rPr sz="1650" b="0">
                <a:solidFill>
                  <a:srgbClr val="547080"/>
                </a:solidFill>
                <a:latin typeface="Arial"/>
                <a:ea typeface="Arial"/>
                <a:cs typeface="Arial"/>
              </a:rPr>
              <a:t>23</a:t>
            </a:r>
          </a:p>
        </p:txBody>
      </p:sp>
    </p:spTree>
    <p:extLst>
      <p:ext uri="{BB962C8B-B14F-4D97-AF65-F5344CB8AC3E}">
        <p14:creationId xmlns:p14="http://schemas.microsoft.com/office/powerpoint/2010/main" val="532752709"/>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Transmission dashboard">
            <a:extLst xmlns:a="http://schemas.openxmlformats.org/drawingml/2006/main">
              <a:ext uri="{FF2B5EF4-FFF2-40B4-BE49-F238E27FC236}">
                <a16:creationId xmlns:a16="http://schemas.microsoft.com/office/drawing/2014/main" id="{F9A0917E-802D-481F-9EB8-AE4554054C9B}"/>
              </a:ext>
            </a:extLst>
          </p:cNvPr>
          <p:cNvSpPr>
            <a:spLocks xmlns:a="http://schemas.openxmlformats.org/drawingml/2006/main" noGrp="1"/>
          </p:cNvSpPr>
          <p:nvPr/>
        </p:nvSpPr>
        <p:spPr>
          <a:xfrm xmlns:a="http://schemas.openxmlformats.org/drawingml/2006/main">
            <a:off x="571500" y="428625"/>
            <a:ext cx="140970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300" b="1">
                <a:solidFill>
                  <a:srgbClr val="12374B"/>
                </a:solidFill>
                <a:latin typeface="Arial"/>
                <a:ea typeface="Arial"/>
                <a:cs typeface="Arial"/>
              </a:defRPr>
            </a:pPr>
            <a:r>
              <a:rPr sz="3300" b="1">
                <a:solidFill>
                  <a:srgbClr val="12374B"/>
                </a:solidFill>
                <a:latin typeface="Arial"/>
                <a:ea typeface="Arial"/>
                <a:cs typeface="Arial"/>
              </a:rPr>
              <a:t>Transmission dashboard</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eea50ff2c5bc4419"/>
          <a:stretch xmlns:a="http://schemas.openxmlformats.org/drawingml/2006/main"/>
        </p:blipFill>
        <p:spPr>
          <a:xfrm xmlns:a="http://schemas.openxmlformats.org/drawingml/2006/main">
            <a:off x="476250" y="1973947"/>
            <a:ext cx="10668000" cy="4815107"/>
          </a:xfrm>
          <a:prstGeom xmlns:a="http://schemas.openxmlformats.org/drawingml/2006/main" prst="rect">
            <a:avLst/>
          </a:prstGeom>
        </p:spPr>
      </p:pic>
      <p:sp>
        <p:nvSpPr>
          <p:cNvPr id="3" name="01">
            <a:extLst xmlns:a="http://schemas.openxmlformats.org/drawingml/2006/main">
              <a:ext uri="{FF2B5EF4-FFF2-40B4-BE49-F238E27FC236}">
                <a16:creationId xmlns:a16="http://schemas.microsoft.com/office/drawing/2014/main" id="{D0416DBC-6A3F-45C8-B61F-5622C0FBBEF4}"/>
              </a:ext>
            </a:extLst>
          </p:cNvPr>
          <p:cNvSpPr>
            <a:spLocks xmlns:a="http://schemas.openxmlformats.org/drawingml/2006/main" noGrp="1"/>
          </p:cNvSpPr>
          <p:nvPr/>
        </p:nvSpPr>
        <p:spPr>
          <a:xfrm xmlns:a="http://schemas.openxmlformats.org/drawingml/2006/main">
            <a:off x="11525250" y="1771650"/>
            <a:ext cx="95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01</a:t>
            </a:r>
          </a:p>
        </p:txBody>
      </p:sp>
      <p:sp>
        <p:nvSpPr>
          <p:cNvPr id="4" name="Review capacity and operating exceptions.">
            <a:extLst xmlns:a="http://schemas.openxmlformats.org/drawingml/2006/main">
              <a:ext uri="{FF2B5EF4-FFF2-40B4-BE49-F238E27FC236}">
                <a16:creationId xmlns:a16="http://schemas.microsoft.com/office/drawing/2014/main" id="{E065CF8B-89CC-49B9-8954-55CFF72EBFAA}"/>
              </a:ext>
            </a:extLst>
          </p:cNvPr>
          <p:cNvSpPr>
            <a:spLocks xmlns:a="http://schemas.openxmlformats.org/drawingml/2006/main" noGrp="1"/>
          </p:cNvSpPr>
          <p:nvPr/>
        </p:nvSpPr>
        <p:spPr>
          <a:xfrm xmlns:a="http://schemas.openxmlformats.org/drawingml/2006/main">
            <a:off x="11525250" y="2238375"/>
            <a:ext cx="30765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025" b="0">
                <a:solidFill>
                  <a:srgbClr val="18384B"/>
                </a:solidFill>
                <a:latin typeface="Arial"/>
                <a:ea typeface="Arial"/>
                <a:cs typeface="Arial"/>
              </a:defRPr>
            </a:pPr>
            <a:r>
              <a:rPr sz="2025" b="0">
                <a:solidFill>
                  <a:srgbClr val="18384B"/>
                </a:solidFill>
                <a:latin typeface="Arial"/>
                <a:ea typeface="Arial"/>
                <a:cs typeface="Arial"/>
              </a:rPr>
              <a:t>Review capacity and operating exceptions.</a:t>
            </a:r>
          </a:p>
        </p:txBody>
      </p:sp>
      <p:sp>
        <p:nvSpPr>
          <p:cNvPr id="5" name="02">
            <a:extLst xmlns:a="http://schemas.openxmlformats.org/drawingml/2006/main">
              <a:ext uri="{FF2B5EF4-FFF2-40B4-BE49-F238E27FC236}">
                <a16:creationId xmlns:a16="http://schemas.microsoft.com/office/drawing/2014/main" id="{BCE40605-7A00-4D4E-B18D-C50501B5C349}"/>
              </a:ext>
            </a:extLst>
          </p:cNvPr>
          <p:cNvSpPr>
            <a:spLocks xmlns:a="http://schemas.openxmlformats.org/drawingml/2006/main" noGrp="1"/>
          </p:cNvSpPr>
          <p:nvPr/>
        </p:nvSpPr>
        <p:spPr>
          <a:xfrm xmlns:a="http://schemas.openxmlformats.org/drawingml/2006/main">
            <a:off x="11525250" y="3429000"/>
            <a:ext cx="95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02</a:t>
            </a:r>
          </a:p>
        </p:txBody>
      </p:sp>
      <p:sp>
        <p:nvSpPr>
          <p:cNvPr id="6" name="Check the date range and system context.">
            <a:extLst xmlns:a="http://schemas.openxmlformats.org/drawingml/2006/main">
              <a:ext uri="{FF2B5EF4-FFF2-40B4-BE49-F238E27FC236}">
                <a16:creationId xmlns:a16="http://schemas.microsoft.com/office/drawing/2014/main" id="{9E4F9901-2F8B-488C-BD71-F8D09429EA87}"/>
              </a:ext>
            </a:extLst>
          </p:cNvPr>
          <p:cNvSpPr>
            <a:spLocks xmlns:a="http://schemas.openxmlformats.org/drawingml/2006/main" noGrp="1"/>
          </p:cNvSpPr>
          <p:nvPr/>
        </p:nvSpPr>
        <p:spPr>
          <a:xfrm xmlns:a="http://schemas.openxmlformats.org/drawingml/2006/main">
            <a:off x="11525250" y="3895725"/>
            <a:ext cx="30765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025" b="0">
                <a:solidFill>
                  <a:srgbClr val="18384B"/>
                </a:solidFill>
                <a:latin typeface="Arial"/>
                <a:ea typeface="Arial"/>
                <a:cs typeface="Arial"/>
              </a:defRPr>
            </a:pPr>
            <a:r>
              <a:rPr sz="2025" b="0">
                <a:solidFill>
                  <a:srgbClr val="18384B"/>
                </a:solidFill>
                <a:latin typeface="Arial"/>
                <a:ea typeface="Arial"/>
                <a:cs typeface="Arial"/>
              </a:rPr>
              <a:t>Check the date range and system context.</a:t>
            </a:r>
          </a:p>
        </p:txBody>
      </p:sp>
      <p:sp>
        <p:nvSpPr>
          <p:cNvPr id="7" name="03">
            <a:extLst xmlns:a="http://schemas.openxmlformats.org/drawingml/2006/main">
              <a:ext uri="{FF2B5EF4-FFF2-40B4-BE49-F238E27FC236}">
                <a16:creationId xmlns:a16="http://schemas.microsoft.com/office/drawing/2014/main" id="{01DAFC06-BAF0-4875-B79F-73F337CFDCD0}"/>
              </a:ext>
            </a:extLst>
          </p:cNvPr>
          <p:cNvSpPr>
            <a:spLocks xmlns:a="http://schemas.openxmlformats.org/drawingml/2006/main" noGrp="1"/>
          </p:cNvSpPr>
          <p:nvPr/>
        </p:nvSpPr>
        <p:spPr>
          <a:xfrm xmlns:a="http://schemas.openxmlformats.org/drawingml/2006/main">
            <a:off x="11525250" y="5086350"/>
            <a:ext cx="95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03</a:t>
            </a:r>
          </a:p>
        </p:txBody>
      </p:sp>
      <p:sp>
        <p:nvSpPr>
          <p:cNvPr id="8" name="Continue into systems or individual pump stations.">
            <a:extLst xmlns:a="http://schemas.openxmlformats.org/drawingml/2006/main">
              <a:ext uri="{FF2B5EF4-FFF2-40B4-BE49-F238E27FC236}">
                <a16:creationId xmlns:a16="http://schemas.microsoft.com/office/drawing/2014/main" id="{02670633-DD17-418A-A527-739E42773964}"/>
              </a:ext>
            </a:extLst>
          </p:cNvPr>
          <p:cNvSpPr>
            <a:spLocks xmlns:a="http://schemas.openxmlformats.org/drawingml/2006/main" noGrp="1"/>
          </p:cNvSpPr>
          <p:nvPr/>
        </p:nvSpPr>
        <p:spPr>
          <a:xfrm xmlns:a="http://schemas.openxmlformats.org/drawingml/2006/main">
            <a:off x="11525250" y="5553075"/>
            <a:ext cx="30765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025" b="0">
                <a:solidFill>
                  <a:srgbClr val="18384B"/>
                </a:solidFill>
                <a:latin typeface="Arial"/>
                <a:ea typeface="Arial"/>
                <a:cs typeface="Arial"/>
              </a:defRPr>
            </a:pPr>
            <a:r>
              <a:rPr sz="2025" b="0">
                <a:solidFill>
                  <a:srgbClr val="18384B"/>
                </a:solidFill>
                <a:latin typeface="Arial"/>
                <a:ea typeface="Arial"/>
                <a:cs typeface="Arial"/>
              </a:rPr>
              <a:t>Continue into systems or individual pump stations.</a:t>
            </a:r>
          </a:p>
        </p:txBody>
      </p:sp>
      <p:sp>
        <p:nvSpPr>
          <p:cNvPr id="9" name="System capacity and pump availability describe differen">
            <a:extLst xmlns:a="http://schemas.openxmlformats.org/drawingml/2006/main">
              <a:ext uri="{FF2B5EF4-FFF2-40B4-BE49-F238E27FC236}">
                <a16:creationId xmlns:a16="http://schemas.microsoft.com/office/drawing/2014/main" id="{4BFD4FAD-5003-4A39-92C5-5ED60B488A29}"/>
              </a:ext>
            </a:extLst>
          </p:cNvPr>
          <p:cNvSpPr>
            <a:spLocks xmlns:a="http://schemas.openxmlformats.org/drawingml/2006/main" noGrp="1"/>
          </p:cNvSpPr>
          <p:nvPr/>
        </p:nvSpPr>
        <p:spPr>
          <a:xfrm xmlns:a="http://schemas.openxmlformats.org/drawingml/2006/main">
            <a:off x="609600" y="7448550"/>
            <a:ext cx="1390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System capacity and pump availability describe different constraints.</a:t>
            </a:r>
          </a:p>
        </p:txBody>
      </p:sp>
      <p:sp>
        <p:nvSpPr>
          <p:cNvPr id="10" name="WIDispatch   /   Client demonstration">
            <a:extLst xmlns:a="http://schemas.openxmlformats.org/drawingml/2006/main">
              <a:ext uri="{FF2B5EF4-FFF2-40B4-BE49-F238E27FC236}">
                <a16:creationId xmlns:a16="http://schemas.microsoft.com/office/drawing/2014/main" id="{5190A589-54CD-4EF3-967C-DC430B593AA4}"/>
              </a:ext>
            </a:extLst>
          </p:cNvPr>
          <p:cNvSpPr>
            <a:spLocks xmlns:a="http://schemas.openxmlformats.org/drawingml/2006/main" noGrp="1"/>
          </p:cNvSpPr>
          <p:nvPr/>
        </p:nvSpPr>
        <p:spPr>
          <a:xfrm xmlns:a="http://schemas.openxmlformats.org/drawingml/2006/main">
            <a:off x="609600" y="81724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275" b="0">
                <a:solidFill>
                  <a:srgbClr val="547080"/>
                </a:solidFill>
                <a:latin typeface="Arial"/>
                <a:ea typeface="Arial"/>
                <a:cs typeface="Arial"/>
              </a:defRPr>
            </a:pPr>
            <a:r>
              <a:rPr sz="1275" b="0">
                <a:solidFill>
                  <a:srgbClr val="547080"/>
                </a:solidFill>
                <a:latin typeface="Arial"/>
                <a:ea typeface="Arial"/>
                <a:cs typeface="Arial"/>
              </a:rPr>
              <a:t>WIDispatch   /   Client demonstration</a:t>
            </a:r>
          </a:p>
        </p:txBody>
      </p:sp>
      <p:sp>
        <p:nvSpPr>
          <p:cNvPr id="11" name="19">
            <a:extLst xmlns:a="http://schemas.openxmlformats.org/drawingml/2006/main">
              <a:ext uri="{FF2B5EF4-FFF2-40B4-BE49-F238E27FC236}">
                <a16:creationId xmlns:a16="http://schemas.microsoft.com/office/drawing/2014/main" id="{928F17D0-9FE3-4F7B-8C14-DA3A94250629}"/>
              </a:ext>
            </a:extLst>
          </p:cNvPr>
          <p:cNvSpPr>
            <a:spLocks xmlns:a="http://schemas.openxmlformats.org/drawingml/2006/main" noGrp="1"/>
          </p:cNvSpPr>
          <p:nvPr/>
        </p:nvSpPr>
        <p:spPr>
          <a:xfrm xmlns:a="http://schemas.openxmlformats.org/drawingml/2006/main">
            <a:off x="13906500" y="8115300"/>
            <a:ext cx="723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547080"/>
                </a:solidFill>
                <a:latin typeface="Arial"/>
                <a:ea typeface="Arial"/>
                <a:cs typeface="Arial"/>
              </a:defRPr>
            </a:pPr>
            <a:r>
              <a:rPr sz="1650" b="0">
                <a:solidFill>
                  <a:srgbClr val="547080"/>
                </a:solidFill>
                <a:latin typeface="Arial"/>
                <a:ea typeface="Arial"/>
                <a:cs typeface="Arial"/>
              </a:rPr>
              <a:t>24</a:t>
            </a:r>
          </a:p>
        </p:txBody>
      </p:sp>
    </p:spTree>
    <p:extLst>
      <p:ext uri="{BB962C8B-B14F-4D97-AF65-F5344CB8AC3E}">
        <p14:creationId xmlns:p14="http://schemas.microsoft.com/office/powerpoint/2010/main" val="2003497161"/>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Transmission systems in the portal">
            <a:extLst xmlns:a="http://schemas.openxmlformats.org/drawingml/2006/main">
              <a:ext uri="{FF2B5EF4-FFF2-40B4-BE49-F238E27FC236}">
                <a16:creationId xmlns:a16="http://schemas.microsoft.com/office/drawing/2014/main" id="{FD5F8664-FD23-4C11-A37D-9783BAE22462}"/>
              </a:ext>
            </a:extLst>
          </p:cNvPr>
          <p:cNvSpPr>
            <a:spLocks xmlns:a="http://schemas.openxmlformats.org/drawingml/2006/main" noGrp="1"/>
          </p:cNvSpPr>
          <p:nvPr/>
        </p:nvSpPr>
        <p:spPr>
          <a:xfrm xmlns:a="http://schemas.openxmlformats.org/drawingml/2006/main">
            <a:off x="571500" y="428625"/>
            <a:ext cx="140970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300" b="1">
                <a:solidFill>
                  <a:srgbClr val="12374B"/>
                </a:solidFill>
                <a:latin typeface="Arial"/>
                <a:ea typeface="Arial"/>
                <a:cs typeface="Arial"/>
              </a:defRPr>
            </a:pPr>
            <a:r>
              <a:rPr sz="3300" b="1">
                <a:solidFill>
                  <a:srgbClr val="12374B"/>
                </a:solidFill>
                <a:latin typeface="Arial"/>
                <a:ea typeface="Arial"/>
                <a:cs typeface="Arial"/>
              </a:rPr>
              <a:t>Transmission systems in the portal</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19ad73e52da0496b"/>
          <a:stretch xmlns:a="http://schemas.openxmlformats.org/drawingml/2006/main"/>
        </p:blipFill>
        <p:spPr>
          <a:xfrm xmlns:a="http://schemas.openxmlformats.org/drawingml/2006/main">
            <a:off x="476250" y="1973947"/>
            <a:ext cx="10668000" cy="4815107"/>
          </a:xfrm>
          <a:prstGeom xmlns:a="http://schemas.openxmlformats.org/drawingml/2006/main" prst="rect">
            <a:avLst/>
          </a:prstGeom>
        </p:spPr>
      </p:pic>
      <p:sp>
        <p:nvSpPr>
          <p:cNvPr id="3" name="01">
            <a:extLst xmlns:a="http://schemas.openxmlformats.org/drawingml/2006/main">
              <a:ext uri="{FF2B5EF4-FFF2-40B4-BE49-F238E27FC236}">
                <a16:creationId xmlns:a16="http://schemas.microsoft.com/office/drawing/2014/main" id="{979E4954-956A-4286-BE99-4FF92FC329EA}"/>
              </a:ext>
            </a:extLst>
          </p:cNvPr>
          <p:cNvSpPr>
            <a:spLocks xmlns:a="http://schemas.openxmlformats.org/drawingml/2006/main" noGrp="1"/>
          </p:cNvSpPr>
          <p:nvPr/>
        </p:nvSpPr>
        <p:spPr>
          <a:xfrm xmlns:a="http://schemas.openxmlformats.org/drawingml/2006/main">
            <a:off x="11525250" y="1771650"/>
            <a:ext cx="95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01</a:t>
            </a:r>
          </a:p>
        </p:txBody>
      </p:sp>
      <p:sp>
        <p:nvSpPr>
          <p:cNvPr id="4" name="Open Transmission Systems.">
            <a:extLst xmlns:a="http://schemas.openxmlformats.org/drawingml/2006/main">
              <a:ext uri="{FF2B5EF4-FFF2-40B4-BE49-F238E27FC236}">
                <a16:creationId xmlns:a16="http://schemas.microsoft.com/office/drawing/2014/main" id="{D355118E-EF29-4E46-8A31-43099FA561D5}"/>
              </a:ext>
            </a:extLst>
          </p:cNvPr>
          <p:cNvSpPr>
            <a:spLocks xmlns:a="http://schemas.openxmlformats.org/drawingml/2006/main" noGrp="1"/>
          </p:cNvSpPr>
          <p:nvPr/>
        </p:nvSpPr>
        <p:spPr>
          <a:xfrm xmlns:a="http://schemas.openxmlformats.org/drawingml/2006/main">
            <a:off x="11525250" y="2238375"/>
            <a:ext cx="30765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025" b="0">
                <a:solidFill>
                  <a:srgbClr val="18384B"/>
                </a:solidFill>
                <a:latin typeface="Arial"/>
                <a:ea typeface="Arial"/>
                <a:cs typeface="Arial"/>
              </a:defRPr>
            </a:pPr>
            <a:r>
              <a:rPr sz="2025" b="0">
                <a:solidFill>
                  <a:srgbClr val="18384B"/>
                </a:solidFill>
                <a:latin typeface="Arial"/>
                <a:ea typeface="Arial"/>
                <a:cs typeface="Arial"/>
              </a:rPr>
              <a:t>Open Transmission Systems.</a:t>
            </a:r>
          </a:p>
        </p:txBody>
      </p:sp>
      <p:sp>
        <p:nvSpPr>
          <p:cNvPr id="5" name="02">
            <a:extLst xmlns:a="http://schemas.openxmlformats.org/drawingml/2006/main">
              <a:ext uri="{FF2B5EF4-FFF2-40B4-BE49-F238E27FC236}">
                <a16:creationId xmlns:a16="http://schemas.microsoft.com/office/drawing/2014/main" id="{FC18D522-7E55-47E3-969F-333B314E05C9}"/>
              </a:ext>
            </a:extLst>
          </p:cNvPr>
          <p:cNvSpPr>
            <a:spLocks xmlns:a="http://schemas.openxmlformats.org/drawingml/2006/main" noGrp="1"/>
          </p:cNvSpPr>
          <p:nvPr/>
        </p:nvSpPr>
        <p:spPr>
          <a:xfrm xmlns:a="http://schemas.openxmlformats.org/drawingml/2006/main">
            <a:off x="11525250" y="3429000"/>
            <a:ext cx="95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02</a:t>
            </a:r>
          </a:p>
        </p:txBody>
      </p:sp>
      <p:sp>
        <p:nvSpPr>
          <p:cNvPr id="6" name="Find the Desktop-authored system.">
            <a:extLst xmlns:a="http://schemas.openxmlformats.org/drawingml/2006/main">
              <a:ext uri="{FF2B5EF4-FFF2-40B4-BE49-F238E27FC236}">
                <a16:creationId xmlns:a16="http://schemas.microsoft.com/office/drawing/2014/main" id="{213428EB-981A-4672-A6F2-BD3050B8773D}"/>
              </a:ext>
            </a:extLst>
          </p:cNvPr>
          <p:cNvSpPr>
            <a:spLocks xmlns:a="http://schemas.openxmlformats.org/drawingml/2006/main" noGrp="1"/>
          </p:cNvSpPr>
          <p:nvPr/>
        </p:nvSpPr>
        <p:spPr>
          <a:xfrm xmlns:a="http://schemas.openxmlformats.org/drawingml/2006/main">
            <a:off x="11525250" y="3895725"/>
            <a:ext cx="30765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025" b="0">
                <a:solidFill>
                  <a:srgbClr val="18384B"/>
                </a:solidFill>
                <a:latin typeface="Arial"/>
                <a:ea typeface="Arial"/>
                <a:cs typeface="Arial"/>
              </a:defRPr>
            </a:pPr>
            <a:r>
              <a:rPr sz="2025" b="0">
                <a:solidFill>
                  <a:srgbClr val="18384B"/>
                </a:solidFill>
                <a:latin typeface="Arial"/>
                <a:ea typeface="Arial"/>
                <a:cs typeface="Arial"/>
              </a:rPr>
              <a:t>Find the Desktop-authored system.</a:t>
            </a:r>
          </a:p>
        </p:txBody>
      </p:sp>
      <p:sp>
        <p:nvSpPr>
          <p:cNvPr id="7" name="03">
            <a:extLst xmlns:a="http://schemas.openxmlformats.org/drawingml/2006/main">
              <a:ext uri="{FF2B5EF4-FFF2-40B4-BE49-F238E27FC236}">
                <a16:creationId xmlns:a16="http://schemas.microsoft.com/office/drawing/2014/main" id="{8FCC285D-C785-4BA7-AB2B-3EBF848ADFFA}"/>
              </a:ext>
            </a:extLst>
          </p:cNvPr>
          <p:cNvSpPr>
            <a:spLocks xmlns:a="http://schemas.openxmlformats.org/drawingml/2006/main" noGrp="1"/>
          </p:cNvSpPr>
          <p:nvPr/>
        </p:nvSpPr>
        <p:spPr>
          <a:xfrm xmlns:a="http://schemas.openxmlformats.org/drawingml/2006/main">
            <a:off x="11525250" y="5086350"/>
            <a:ext cx="95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03</a:t>
            </a:r>
          </a:p>
        </p:txBody>
      </p:sp>
      <p:sp>
        <p:nvSpPr>
          <p:cNvPr id="8" name="Select it to review lines and connected assets.">
            <a:extLst xmlns:a="http://schemas.openxmlformats.org/drawingml/2006/main">
              <a:ext uri="{FF2B5EF4-FFF2-40B4-BE49-F238E27FC236}">
                <a16:creationId xmlns:a16="http://schemas.microsoft.com/office/drawing/2014/main" id="{BC064CEB-7A30-41E9-8EFF-45D6AF1B7D3B}"/>
              </a:ext>
            </a:extLst>
          </p:cNvPr>
          <p:cNvSpPr>
            <a:spLocks xmlns:a="http://schemas.openxmlformats.org/drawingml/2006/main" noGrp="1"/>
          </p:cNvSpPr>
          <p:nvPr/>
        </p:nvSpPr>
        <p:spPr>
          <a:xfrm xmlns:a="http://schemas.openxmlformats.org/drawingml/2006/main">
            <a:off x="11525250" y="5553075"/>
            <a:ext cx="30765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025" b="0">
                <a:solidFill>
                  <a:srgbClr val="18384B"/>
                </a:solidFill>
                <a:latin typeface="Arial"/>
                <a:ea typeface="Arial"/>
                <a:cs typeface="Arial"/>
              </a:defRPr>
            </a:pPr>
            <a:r>
              <a:rPr sz="2025" b="0">
                <a:solidFill>
                  <a:srgbClr val="18384B"/>
                </a:solidFill>
                <a:latin typeface="Arial"/>
                <a:ea typeface="Arial"/>
                <a:cs typeface="Arial"/>
              </a:rPr>
              <a:t>Select it to review lines and connected assets.</a:t>
            </a:r>
          </a:p>
        </p:txBody>
      </p:sp>
      <p:sp>
        <p:nvSpPr>
          <p:cNvPr id="9" name="The portal provides the operating view of the saved net">
            <a:extLst xmlns:a="http://schemas.openxmlformats.org/drawingml/2006/main">
              <a:ext uri="{FF2B5EF4-FFF2-40B4-BE49-F238E27FC236}">
                <a16:creationId xmlns:a16="http://schemas.microsoft.com/office/drawing/2014/main" id="{6F4E9DD2-220D-4CE1-8A30-78D28A79B87B}"/>
              </a:ext>
            </a:extLst>
          </p:cNvPr>
          <p:cNvSpPr>
            <a:spLocks xmlns:a="http://schemas.openxmlformats.org/drawingml/2006/main" noGrp="1"/>
          </p:cNvSpPr>
          <p:nvPr/>
        </p:nvSpPr>
        <p:spPr>
          <a:xfrm xmlns:a="http://schemas.openxmlformats.org/drawingml/2006/main">
            <a:off x="609600" y="7448550"/>
            <a:ext cx="1390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The portal provides the operating view of the saved network structure.</a:t>
            </a:r>
          </a:p>
        </p:txBody>
      </p:sp>
      <p:sp>
        <p:nvSpPr>
          <p:cNvPr id="10" name="WIDispatch   /   Client demonstration">
            <a:extLst xmlns:a="http://schemas.openxmlformats.org/drawingml/2006/main">
              <a:ext uri="{FF2B5EF4-FFF2-40B4-BE49-F238E27FC236}">
                <a16:creationId xmlns:a16="http://schemas.microsoft.com/office/drawing/2014/main" id="{3EB518BF-5F27-49DE-80FF-33CEAE4E422D}"/>
              </a:ext>
            </a:extLst>
          </p:cNvPr>
          <p:cNvSpPr>
            <a:spLocks xmlns:a="http://schemas.openxmlformats.org/drawingml/2006/main" noGrp="1"/>
          </p:cNvSpPr>
          <p:nvPr/>
        </p:nvSpPr>
        <p:spPr>
          <a:xfrm xmlns:a="http://schemas.openxmlformats.org/drawingml/2006/main">
            <a:off x="609600" y="81724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275" b="0">
                <a:solidFill>
                  <a:srgbClr val="547080"/>
                </a:solidFill>
                <a:latin typeface="Arial"/>
                <a:ea typeface="Arial"/>
                <a:cs typeface="Arial"/>
              </a:defRPr>
            </a:pPr>
            <a:r>
              <a:rPr sz="1275" b="0">
                <a:solidFill>
                  <a:srgbClr val="547080"/>
                </a:solidFill>
                <a:latin typeface="Arial"/>
                <a:ea typeface="Arial"/>
                <a:cs typeface="Arial"/>
              </a:rPr>
              <a:t>WIDispatch   /   Client demonstration</a:t>
            </a:r>
          </a:p>
        </p:txBody>
      </p:sp>
      <p:sp>
        <p:nvSpPr>
          <p:cNvPr id="11" name="20">
            <a:extLst xmlns:a="http://schemas.openxmlformats.org/drawingml/2006/main">
              <a:ext uri="{FF2B5EF4-FFF2-40B4-BE49-F238E27FC236}">
                <a16:creationId xmlns:a16="http://schemas.microsoft.com/office/drawing/2014/main" id="{2D838259-CF0A-4E8D-87FF-824B447A9B81}"/>
              </a:ext>
            </a:extLst>
          </p:cNvPr>
          <p:cNvSpPr>
            <a:spLocks xmlns:a="http://schemas.openxmlformats.org/drawingml/2006/main" noGrp="1"/>
          </p:cNvSpPr>
          <p:nvPr/>
        </p:nvSpPr>
        <p:spPr>
          <a:xfrm xmlns:a="http://schemas.openxmlformats.org/drawingml/2006/main">
            <a:off x="13906500" y="8115300"/>
            <a:ext cx="723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547080"/>
                </a:solidFill>
                <a:latin typeface="Arial"/>
                <a:ea typeface="Arial"/>
                <a:cs typeface="Arial"/>
              </a:defRPr>
            </a:pPr>
            <a:r>
              <a:rPr sz="1650" b="0">
                <a:solidFill>
                  <a:srgbClr val="547080"/>
                </a:solidFill>
                <a:latin typeface="Arial"/>
                <a:ea typeface="Arial"/>
                <a:cs typeface="Arial"/>
              </a:rPr>
              <a:t>25</a:t>
            </a:r>
          </a:p>
        </p:txBody>
      </p:sp>
    </p:spTree>
    <p:extLst>
      <p:ext uri="{BB962C8B-B14F-4D97-AF65-F5344CB8AC3E}">
        <p14:creationId xmlns:p14="http://schemas.microsoft.com/office/powerpoint/2010/main" val="927568379"/>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he system schematic and line details">
            <a:extLst xmlns:a="http://schemas.openxmlformats.org/drawingml/2006/main">
              <a:ext uri="{FF2B5EF4-FFF2-40B4-BE49-F238E27FC236}">
                <a16:creationId xmlns:a16="http://schemas.microsoft.com/office/drawing/2014/main" id="{CAC82606-4C56-4642-BF44-1BEC7B9C962E}"/>
              </a:ext>
            </a:extLst>
          </p:cNvPr>
          <p:cNvSpPr>
            <a:spLocks xmlns:a="http://schemas.openxmlformats.org/drawingml/2006/main" noGrp="1"/>
          </p:cNvSpPr>
          <p:nvPr/>
        </p:nvSpPr>
        <p:spPr>
          <a:xfrm xmlns:a="http://schemas.openxmlformats.org/drawingml/2006/main">
            <a:off x="571500" y="428625"/>
            <a:ext cx="140970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300" b="1">
                <a:solidFill>
                  <a:srgbClr val="12374B"/>
                </a:solidFill>
                <a:latin typeface="Arial"/>
                <a:ea typeface="Arial"/>
                <a:cs typeface="Arial"/>
              </a:defRPr>
            </a:pPr>
            <a:r>
              <a:rPr sz="3300" b="1">
                <a:solidFill>
                  <a:srgbClr val="12374B"/>
                </a:solidFill>
                <a:latin typeface="Arial"/>
                <a:ea typeface="Arial"/>
                <a:cs typeface="Arial"/>
              </a:rPr>
              <a:t>The system schematic and line details</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39fca801f8b94ee4"/>
          <a:stretch xmlns:a="http://schemas.openxmlformats.org/drawingml/2006/main"/>
        </p:blipFill>
        <p:spPr>
          <a:xfrm xmlns:a="http://schemas.openxmlformats.org/drawingml/2006/main">
            <a:off x="1225822" y="1524000"/>
            <a:ext cx="12788356" cy="5772150"/>
          </a:xfrm>
          <a:prstGeom xmlns:a="http://schemas.openxmlformats.org/drawingml/2006/main" prst="rect">
            <a:avLst/>
          </a:prstGeom>
        </p:spPr>
      </p:pic>
      <p:sp>
        <p:nvSpPr>
          <p:cNvPr id="3" name="A system view connects its schematic to registered line">
            <a:extLst xmlns:a="http://schemas.openxmlformats.org/drawingml/2006/main">
              <a:ext uri="{FF2B5EF4-FFF2-40B4-BE49-F238E27FC236}">
                <a16:creationId xmlns:a16="http://schemas.microsoft.com/office/drawing/2014/main" id="{3BEB29C0-C7D3-4F02-B2E2-11EFD9390F33}"/>
              </a:ext>
            </a:extLst>
          </p:cNvPr>
          <p:cNvSpPr>
            <a:spLocks xmlns:a="http://schemas.openxmlformats.org/drawingml/2006/main" noGrp="1"/>
          </p:cNvSpPr>
          <p:nvPr/>
        </p:nvSpPr>
        <p:spPr>
          <a:xfrm xmlns:a="http://schemas.openxmlformats.org/drawingml/2006/main">
            <a:off x="609600" y="7448550"/>
            <a:ext cx="1390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A system view connects its schematic to registered lines and supplying assets.</a:t>
            </a:r>
          </a:p>
        </p:txBody>
      </p:sp>
      <p:sp>
        <p:nvSpPr>
          <p:cNvPr id="4" name="WIDispatch   /   Client demonstration">
            <a:extLst xmlns:a="http://schemas.openxmlformats.org/drawingml/2006/main">
              <a:ext uri="{FF2B5EF4-FFF2-40B4-BE49-F238E27FC236}">
                <a16:creationId xmlns:a16="http://schemas.microsoft.com/office/drawing/2014/main" id="{9747A40C-A2E1-47C0-9DDF-CC933C6C1810}"/>
              </a:ext>
            </a:extLst>
          </p:cNvPr>
          <p:cNvSpPr>
            <a:spLocks xmlns:a="http://schemas.openxmlformats.org/drawingml/2006/main" noGrp="1"/>
          </p:cNvSpPr>
          <p:nvPr/>
        </p:nvSpPr>
        <p:spPr>
          <a:xfrm xmlns:a="http://schemas.openxmlformats.org/drawingml/2006/main">
            <a:off x="609600" y="81724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275" b="0">
                <a:solidFill>
                  <a:srgbClr val="547080"/>
                </a:solidFill>
                <a:latin typeface="Arial"/>
                <a:ea typeface="Arial"/>
                <a:cs typeface="Arial"/>
              </a:defRPr>
            </a:pPr>
            <a:r>
              <a:rPr sz="1275" b="0">
                <a:solidFill>
                  <a:srgbClr val="547080"/>
                </a:solidFill>
                <a:latin typeface="Arial"/>
                <a:ea typeface="Arial"/>
                <a:cs typeface="Arial"/>
              </a:rPr>
              <a:t>WIDispatch   /   Client demonstration</a:t>
            </a:r>
          </a:p>
        </p:txBody>
      </p:sp>
      <p:sp>
        <p:nvSpPr>
          <p:cNvPr id="5" name="21">
            <a:extLst xmlns:a="http://schemas.openxmlformats.org/drawingml/2006/main">
              <a:ext uri="{FF2B5EF4-FFF2-40B4-BE49-F238E27FC236}">
                <a16:creationId xmlns:a16="http://schemas.microsoft.com/office/drawing/2014/main" id="{7916C0C0-9947-4A0F-963A-B839AAED41FF}"/>
              </a:ext>
            </a:extLst>
          </p:cNvPr>
          <p:cNvSpPr>
            <a:spLocks xmlns:a="http://schemas.openxmlformats.org/drawingml/2006/main" noGrp="1"/>
          </p:cNvSpPr>
          <p:nvPr/>
        </p:nvSpPr>
        <p:spPr>
          <a:xfrm xmlns:a="http://schemas.openxmlformats.org/drawingml/2006/main">
            <a:off x="13906500" y="8115300"/>
            <a:ext cx="723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547080"/>
                </a:solidFill>
                <a:latin typeface="Arial"/>
                <a:ea typeface="Arial"/>
                <a:cs typeface="Arial"/>
              </a:defRPr>
            </a:pPr>
            <a:r>
              <a:rPr sz="1650" b="0">
                <a:solidFill>
                  <a:srgbClr val="547080"/>
                </a:solidFill>
                <a:latin typeface="Arial"/>
                <a:ea typeface="Arial"/>
                <a:cs typeface="Arial"/>
              </a:rPr>
              <a:t>26</a:t>
            </a:r>
          </a:p>
        </p:txBody>
      </p:sp>
    </p:spTree>
    <p:extLst>
      <p:ext uri="{BB962C8B-B14F-4D97-AF65-F5344CB8AC3E}">
        <p14:creationId xmlns:p14="http://schemas.microsoft.com/office/powerpoint/2010/main" val="1476111407"/>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Transmission availability at pump level">
            <a:extLst xmlns:a="http://schemas.openxmlformats.org/drawingml/2006/main">
              <a:ext uri="{FF2B5EF4-FFF2-40B4-BE49-F238E27FC236}">
                <a16:creationId xmlns:a16="http://schemas.microsoft.com/office/drawing/2014/main" id="{76C4A152-9DCA-414B-A89A-BD6FE3C818D5}"/>
              </a:ext>
            </a:extLst>
          </p:cNvPr>
          <p:cNvSpPr>
            <a:spLocks xmlns:a="http://schemas.openxmlformats.org/drawingml/2006/main" noGrp="1"/>
          </p:cNvSpPr>
          <p:nvPr/>
        </p:nvSpPr>
        <p:spPr>
          <a:xfrm xmlns:a="http://schemas.openxmlformats.org/drawingml/2006/main">
            <a:off x="571500" y="428625"/>
            <a:ext cx="140970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300" b="1">
                <a:solidFill>
                  <a:srgbClr val="12374B"/>
                </a:solidFill>
                <a:latin typeface="Arial"/>
                <a:ea typeface="Arial"/>
                <a:cs typeface="Arial"/>
              </a:defRPr>
            </a:pPr>
            <a:r>
              <a:rPr sz="3300" b="1">
                <a:solidFill>
                  <a:srgbClr val="12374B"/>
                </a:solidFill>
                <a:latin typeface="Arial"/>
                <a:ea typeface="Arial"/>
                <a:cs typeface="Arial"/>
              </a:rPr>
              <a:t>Transmission availability at pump level</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11f775d75f5e437b"/>
          <a:stretch xmlns:a="http://schemas.openxmlformats.org/drawingml/2006/main"/>
        </p:blipFill>
        <p:spPr>
          <a:xfrm xmlns:a="http://schemas.openxmlformats.org/drawingml/2006/main">
            <a:off x="476250" y="1973947"/>
            <a:ext cx="10668000" cy="4815107"/>
          </a:xfrm>
          <a:prstGeom xmlns:a="http://schemas.openxmlformats.org/drawingml/2006/main" prst="rect">
            <a:avLst/>
          </a:prstGeom>
        </p:spPr>
      </p:pic>
      <p:sp>
        <p:nvSpPr>
          <p:cNvPr id="3" name="01">
            <a:extLst xmlns:a="http://schemas.openxmlformats.org/drawingml/2006/main">
              <a:ext uri="{FF2B5EF4-FFF2-40B4-BE49-F238E27FC236}">
                <a16:creationId xmlns:a16="http://schemas.microsoft.com/office/drawing/2014/main" id="{9578B184-89EA-477A-9536-2D116FF4549F}"/>
              </a:ext>
            </a:extLst>
          </p:cNvPr>
          <p:cNvSpPr>
            <a:spLocks xmlns:a="http://schemas.openxmlformats.org/drawingml/2006/main" noGrp="1"/>
          </p:cNvSpPr>
          <p:nvPr/>
        </p:nvSpPr>
        <p:spPr>
          <a:xfrm xmlns:a="http://schemas.openxmlformats.org/drawingml/2006/main">
            <a:off x="11525250" y="1771650"/>
            <a:ext cx="95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01</a:t>
            </a:r>
          </a:p>
        </p:txBody>
      </p:sp>
      <p:sp>
        <p:nvSpPr>
          <p:cNvPr id="4" name="Open Pump Stations and select the station.">
            <a:extLst xmlns:a="http://schemas.openxmlformats.org/drawingml/2006/main">
              <a:ext uri="{FF2B5EF4-FFF2-40B4-BE49-F238E27FC236}">
                <a16:creationId xmlns:a16="http://schemas.microsoft.com/office/drawing/2014/main" id="{2105DFDF-BC88-4816-9EDD-02B5F3C38BAC}"/>
              </a:ext>
            </a:extLst>
          </p:cNvPr>
          <p:cNvSpPr>
            <a:spLocks xmlns:a="http://schemas.openxmlformats.org/drawingml/2006/main" noGrp="1"/>
          </p:cNvSpPr>
          <p:nvPr/>
        </p:nvSpPr>
        <p:spPr>
          <a:xfrm xmlns:a="http://schemas.openxmlformats.org/drawingml/2006/main">
            <a:off x="11525250" y="2238375"/>
            <a:ext cx="30765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025" b="0">
                <a:solidFill>
                  <a:srgbClr val="18384B"/>
                </a:solidFill>
                <a:latin typeface="Arial"/>
                <a:ea typeface="Arial"/>
                <a:cs typeface="Arial"/>
              </a:defRPr>
            </a:pPr>
            <a:r>
              <a:rPr sz="2025" b="0">
                <a:solidFill>
                  <a:srgbClr val="18384B"/>
                </a:solidFill>
                <a:latin typeface="Arial"/>
                <a:ea typeface="Arial"/>
                <a:cs typeface="Arial"/>
              </a:rPr>
              <a:t>Open Pump Stations and select the station.</a:t>
            </a:r>
          </a:p>
        </p:txBody>
      </p:sp>
      <p:sp>
        <p:nvSpPr>
          <p:cNvPr id="5" name="02">
            <a:extLst xmlns:a="http://schemas.openxmlformats.org/drawingml/2006/main">
              <a:ext uri="{FF2B5EF4-FFF2-40B4-BE49-F238E27FC236}">
                <a16:creationId xmlns:a16="http://schemas.microsoft.com/office/drawing/2014/main" id="{0E9D21B9-3D48-4DBE-9597-7A37C4406B18}"/>
              </a:ext>
            </a:extLst>
          </p:cNvPr>
          <p:cNvSpPr>
            <a:spLocks xmlns:a="http://schemas.openxmlformats.org/drawingml/2006/main" noGrp="1"/>
          </p:cNvSpPr>
          <p:nvPr/>
        </p:nvSpPr>
        <p:spPr>
          <a:xfrm xmlns:a="http://schemas.openxmlformats.org/drawingml/2006/main">
            <a:off x="11525250" y="3429000"/>
            <a:ext cx="95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02</a:t>
            </a:r>
          </a:p>
        </p:txBody>
      </p:sp>
      <p:sp>
        <p:nvSpPr>
          <p:cNvPr id="6" name="Review functional and standby pumps.">
            <a:extLst xmlns:a="http://schemas.openxmlformats.org/drawingml/2006/main">
              <a:ext uri="{FF2B5EF4-FFF2-40B4-BE49-F238E27FC236}">
                <a16:creationId xmlns:a16="http://schemas.microsoft.com/office/drawing/2014/main" id="{8744073A-FB93-4792-ADA6-5273D776EA01}"/>
              </a:ext>
            </a:extLst>
          </p:cNvPr>
          <p:cNvSpPr>
            <a:spLocks xmlns:a="http://schemas.openxmlformats.org/drawingml/2006/main" noGrp="1"/>
          </p:cNvSpPr>
          <p:nvPr/>
        </p:nvSpPr>
        <p:spPr>
          <a:xfrm xmlns:a="http://schemas.openxmlformats.org/drawingml/2006/main">
            <a:off x="11525250" y="3895725"/>
            <a:ext cx="30765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025" b="0">
                <a:solidFill>
                  <a:srgbClr val="18384B"/>
                </a:solidFill>
                <a:latin typeface="Arial"/>
                <a:ea typeface="Arial"/>
                <a:cs typeface="Arial"/>
              </a:defRPr>
            </a:pPr>
            <a:r>
              <a:rPr sz="2025" b="0">
                <a:solidFill>
                  <a:srgbClr val="18384B"/>
                </a:solidFill>
                <a:latin typeface="Arial"/>
                <a:ea typeface="Arial"/>
                <a:cs typeface="Arial"/>
              </a:rPr>
              <a:t>Review functional and standby pumps.</a:t>
            </a:r>
          </a:p>
        </p:txBody>
      </p:sp>
      <p:sp>
        <p:nvSpPr>
          <p:cNvPr id="7" name="03">
            <a:extLst xmlns:a="http://schemas.openxmlformats.org/drawingml/2006/main">
              <a:ext uri="{FF2B5EF4-FFF2-40B4-BE49-F238E27FC236}">
                <a16:creationId xmlns:a16="http://schemas.microsoft.com/office/drawing/2014/main" id="{B64747D9-7E43-4EF6-B947-4C7EBEFE575A}"/>
              </a:ext>
            </a:extLst>
          </p:cNvPr>
          <p:cNvSpPr>
            <a:spLocks xmlns:a="http://schemas.openxmlformats.org/drawingml/2006/main" noGrp="1"/>
          </p:cNvSpPr>
          <p:nvPr/>
        </p:nvSpPr>
        <p:spPr>
          <a:xfrm xmlns:a="http://schemas.openxmlformats.org/drawingml/2006/main">
            <a:off x="11525250" y="5086350"/>
            <a:ext cx="95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03</a:t>
            </a:r>
          </a:p>
        </p:txBody>
      </p:sp>
      <p:sp>
        <p:nvSpPr>
          <p:cNvPr id="8" name="Confirm effective capacity across the planning window.">
            <a:extLst xmlns:a="http://schemas.openxmlformats.org/drawingml/2006/main">
              <a:ext uri="{FF2B5EF4-FFF2-40B4-BE49-F238E27FC236}">
                <a16:creationId xmlns:a16="http://schemas.microsoft.com/office/drawing/2014/main" id="{A4FB4D82-5462-44F4-86CA-FAF30A420D06}"/>
              </a:ext>
            </a:extLst>
          </p:cNvPr>
          <p:cNvSpPr>
            <a:spLocks xmlns:a="http://schemas.openxmlformats.org/drawingml/2006/main" noGrp="1"/>
          </p:cNvSpPr>
          <p:nvPr/>
        </p:nvSpPr>
        <p:spPr>
          <a:xfrm xmlns:a="http://schemas.openxmlformats.org/drawingml/2006/main">
            <a:off x="11525250" y="5553075"/>
            <a:ext cx="30765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025" b="0">
                <a:solidFill>
                  <a:srgbClr val="18384B"/>
                </a:solidFill>
                <a:latin typeface="Arial"/>
                <a:ea typeface="Arial"/>
                <a:cs typeface="Arial"/>
              </a:defRPr>
            </a:pPr>
            <a:r>
              <a:rPr sz="2025" b="0">
                <a:solidFill>
                  <a:srgbClr val="18384B"/>
                </a:solidFill>
                <a:latin typeface="Arial"/>
                <a:ea typeface="Arial"/>
                <a:cs typeface="Arial"/>
              </a:rPr>
              <a:t>Confirm effective capacity across the planning window.</a:t>
            </a:r>
          </a:p>
        </p:txBody>
      </p:sp>
      <p:sp>
        <p:nvSpPr>
          <p:cNvPr id="9" name="A standby pump contributes through a valid substitution">
            <a:extLst xmlns:a="http://schemas.openxmlformats.org/drawingml/2006/main">
              <a:ext uri="{FF2B5EF4-FFF2-40B4-BE49-F238E27FC236}">
                <a16:creationId xmlns:a16="http://schemas.microsoft.com/office/drawing/2014/main" id="{3063BF63-257F-43D6-B612-A9FD95432433}"/>
              </a:ext>
            </a:extLst>
          </p:cNvPr>
          <p:cNvSpPr>
            <a:spLocks xmlns:a="http://schemas.openxmlformats.org/drawingml/2006/main" noGrp="1"/>
          </p:cNvSpPr>
          <p:nvPr/>
        </p:nvSpPr>
        <p:spPr>
          <a:xfrm xmlns:a="http://schemas.openxmlformats.org/drawingml/2006/main">
            <a:off x="609600" y="7448550"/>
            <a:ext cx="1390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A standby pump contributes through a valid substitution, not merely because it exists.</a:t>
            </a:r>
          </a:p>
        </p:txBody>
      </p:sp>
      <p:sp>
        <p:nvSpPr>
          <p:cNvPr id="10" name="WIDispatch   /   Client demonstration">
            <a:extLst xmlns:a="http://schemas.openxmlformats.org/drawingml/2006/main">
              <a:ext uri="{FF2B5EF4-FFF2-40B4-BE49-F238E27FC236}">
                <a16:creationId xmlns:a16="http://schemas.microsoft.com/office/drawing/2014/main" id="{C60A826A-E163-4E8F-8677-7A9D7F79104F}"/>
              </a:ext>
            </a:extLst>
          </p:cNvPr>
          <p:cNvSpPr>
            <a:spLocks xmlns:a="http://schemas.openxmlformats.org/drawingml/2006/main" noGrp="1"/>
          </p:cNvSpPr>
          <p:nvPr/>
        </p:nvSpPr>
        <p:spPr>
          <a:xfrm xmlns:a="http://schemas.openxmlformats.org/drawingml/2006/main">
            <a:off x="609600" y="81724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275" b="0">
                <a:solidFill>
                  <a:srgbClr val="547080"/>
                </a:solidFill>
                <a:latin typeface="Arial"/>
                <a:ea typeface="Arial"/>
                <a:cs typeface="Arial"/>
              </a:defRPr>
            </a:pPr>
            <a:r>
              <a:rPr sz="1275" b="0">
                <a:solidFill>
                  <a:srgbClr val="547080"/>
                </a:solidFill>
                <a:latin typeface="Arial"/>
                <a:ea typeface="Arial"/>
                <a:cs typeface="Arial"/>
              </a:rPr>
              <a:t>WIDispatch   /   Client demonstration</a:t>
            </a:r>
          </a:p>
        </p:txBody>
      </p:sp>
      <p:sp>
        <p:nvSpPr>
          <p:cNvPr id="11" name="22">
            <a:extLst xmlns:a="http://schemas.openxmlformats.org/drawingml/2006/main">
              <a:ext uri="{FF2B5EF4-FFF2-40B4-BE49-F238E27FC236}">
                <a16:creationId xmlns:a16="http://schemas.microsoft.com/office/drawing/2014/main" id="{8A83610C-D997-4EEE-AD5C-C9CB4BAD2871}"/>
              </a:ext>
            </a:extLst>
          </p:cNvPr>
          <p:cNvSpPr>
            <a:spLocks xmlns:a="http://schemas.openxmlformats.org/drawingml/2006/main" noGrp="1"/>
          </p:cNvSpPr>
          <p:nvPr/>
        </p:nvSpPr>
        <p:spPr>
          <a:xfrm xmlns:a="http://schemas.openxmlformats.org/drawingml/2006/main">
            <a:off x="13906500" y="8115300"/>
            <a:ext cx="723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547080"/>
                </a:solidFill>
                <a:latin typeface="Arial"/>
                <a:ea typeface="Arial"/>
                <a:cs typeface="Arial"/>
              </a:defRPr>
            </a:pPr>
            <a:r>
              <a:rPr sz="1650" b="0">
                <a:solidFill>
                  <a:srgbClr val="547080"/>
                </a:solidFill>
                <a:latin typeface="Arial"/>
                <a:ea typeface="Arial"/>
                <a:cs typeface="Arial"/>
              </a:rPr>
              <a:t>27</a:t>
            </a:r>
          </a:p>
        </p:txBody>
      </p:sp>
    </p:spTree>
    <p:extLst>
      <p:ext uri="{BB962C8B-B14F-4D97-AF65-F5344CB8AC3E}">
        <p14:creationId xmlns:p14="http://schemas.microsoft.com/office/powerpoint/2010/main" val="989518260"/>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Pump maintenance and standby substitution">
            <a:extLst xmlns:a="http://schemas.openxmlformats.org/drawingml/2006/main">
              <a:ext uri="{FF2B5EF4-FFF2-40B4-BE49-F238E27FC236}">
                <a16:creationId xmlns:a16="http://schemas.microsoft.com/office/drawing/2014/main" id="{57C34C56-2D7D-409C-AF5B-981E2765F5B1}"/>
              </a:ext>
            </a:extLst>
          </p:cNvPr>
          <p:cNvSpPr>
            <a:spLocks xmlns:a="http://schemas.openxmlformats.org/drawingml/2006/main" noGrp="1"/>
          </p:cNvSpPr>
          <p:nvPr/>
        </p:nvSpPr>
        <p:spPr>
          <a:xfrm xmlns:a="http://schemas.openxmlformats.org/drawingml/2006/main">
            <a:off x="571500" y="428625"/>
            <a:ext cx="140970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300" b="1">
                <a:solidFill>
                  <a:srgbClr val="12374B"/>
                </a:solidFill>
                <a:latin typeface="Arial"/>
                <a:ea typeface="Arial"/>
                <a:cs typeface="Arial"/>
              </a:defRPr>
            </a:pPr>
            <a:r>
              <a:rPr sz="3300" b="1">
                <a:solidFill>
                  <a:srgbClr val="12374B"/>
                </a:solidFill>
                <a:latin typeface="Arial"/>
                <a:ea typeface="Arial"/>
                <a:cs typeface="Arial"/>
              </a:rPr>
              <a:t>Pump maintenance and standby substitution</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8874a004db5945f9"/>
          <a:stretch xmlns:a="http://schemas.openxmlformats.org/drawingml/2006/main"/>
        </p:blipFill>
        <p:spPr>
          <a:xfrm xmlns:a="http://schemas.openxmlformats.org/drawingml/2006/main">
            <a:off x="2298942" y="1666875"/>
            <a:ext cx="7022617" cy="5429250"/>
          </a:xfrm>
          <a:prstGeom xmlns:a="http://schemas.openxmlformats.org/drawingml/2006/main" prst="rect">
            <a:avLst/>
          </a:prstGeom>
        </p:spPr>
      </p:pic>
      <p:sp>
        <p:nvSpPr>
          <p:cNvPr id="3" name="01">
            <a:extLst xmlns:a="http://schemas.openxmlformats.org/drawingml/2006/main">
              <a:ext uri="{FF2B5EF4-FFF2-40B4-BE49-F238E27FC236}">
                <a16:creationId xmlns:a16="http://schemas.microsoft.com/office/drawing/2014/main" id="{2FAEF4C4-DE61-4C70-A406-B5B088EF030F}"/>
              </a:ext>
            </a:extLst>
          </p:cNvPr>
          <p:cNvSpPr>
            <a:spLocks xmlns:a="http://schemas.openxmlformats.org/drawingml/2006/main" noGrp="1"/>
          </p:cNvSpPr>
          <p:nvPr/>
        </p:nvSpPr>
        <p:spPr>
          <a:xfrm xmlns:a="http://schemas.openxmlformats.org/drawingml/2006/main">
            <a:off x="11525250" y="1771650"/>
            <a:ext cx="95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01</a:t>
            </a:r>
          </a:p>
        </p:txBody>
      </p:sp>
      <p:sp>
        <p:nvSpPr>
          <p:cNvPr id="4" name="Select the pumps that will be unavailable.">
            <a:extLst xmlns:a="http://schemas.openxmlformats.org/drawingml/2006/main">
              <a:ext uri="{FF2B5EF4-FFF2-40B4-BE49-F238E27FC236}">
                <a16:creationId xmlns:a16="http://schemas.microsoft.com/office/drawing/2014/main" id="{BAC2158B-0F12-46EC-8159-3B7CD860D3C6}"/>
              </a:ext>
            </a:extLst>
          </p:cNvPr>
          <p:cNvSpPr>
            <a:spLocks xmlns:a="http://schemas.openxmlformats.org/drawingml/2006/main" noGrp="1"/>
          </p:cNvSpPr>
          <p:nvPr/>
        </p:nvSpPr>
        <p:spPr>
          <a:xfrm xmlns:a="http://schemas.openxmlformats.org/drawingml/2006/main">
            <a:off x="11525250" y="2238375"/>
            <a:ext cx="30765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025" b="0">
                <a:solidFill>
                  <a:srgbClr val="18384B"/>
                </a:solidFill>
                <a:latin typeface="Arial"/>
                <a:ea typeface="Arial"/>
                <a:cs typeface="Arial"/>
              </a:defRPr>
            </a:pPr>
            <a:r>
              <a:rPr sz="2025" b="0">
                <a:solidFill>
                  <a:srgbClr val="18384B"/>
                </a:solidFill>
                <a:latin typeface="Arial"/>
                <a:ea typeface="Arial"/>
                <a:cs typeface="Arial"/>
              </a:rPr>
              <a:t>Select the pumps that will be unavailable.</a:t>
            </a:r>
          </a:p>
        </p:txBody>
      </p:sp>
      <p:sp>
        <p:nvSpPr>
          <p:cNvPr id="5" name="02">
            <a:extLst xmlns:a="http://schemas.openxmlformats.org/drawingml/2006/main">
              <a:ext uri="{FF2B5EF4-FFF2-40B4-BE49-F238E27FC236}">
                <a16:creationId xmlns:a16="http://schemas.microsoft.com/office/drawing/2014/main" id="{E04BBF99-6857-48A6-9088-E49644EC7A57}"/>
              </a:ext>
            </a:extLst>
          </p:cNvPr>
          <p:cNvSpPr>
            <a:spLocks xmlns:a="http://schemas.openxmlformats.org/drawingml/2006/main" noGrp="1"/>
          </p:cNvSpPr>
          <p:nvPr/>
        </p:nvSpPr>
        <p:spPr>
          <a:xfrm xmlns:a="http://schemas.openxmlformats.org/drawingml/2006/main">
            <a:off x="11525250" y="3429000"/>
            <a:ext cx="95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02</a:t>
            </a:r>
          </a:p>
        </p:txBody>
      </p:sp>
      <p:sp>
        <p:nvSpPr>
          <p:cNvPr id="6" name="Assign an available standby where appropriate.">
            <a:extLst xmlns:a="http://schemas.openxmlformats.org/drawingml/2006/main">
              <a:ext uri="{FF2B5EF4-FFF2-40B4-BE49-F238E27FC236}">
                <a16:creationId xmlns:a16="http://schemas.microsoft.com/office/drawing/2014/main" id="{41F4C7CF-8421-4993-A6E5-78738A68FB16}"/>
              </a:ext>
            </a:extLst>
          </p:cNvPr>
          <p:cNvSpPr>
            <a:spLocks xmlns:a="http://schemas.openxmlformats.org/drawingml/2006/main" noGrp="1"/>
          </p:cNvSpPr>
          <p:nvPr/>
        </p:nvSpPr>
        <p:spPr>
          <a:xfrm xmlns:a="http://schemas.openxmlformats.org/drawingml/2006/main">
            <a:off x="11525250" y="3895725"/>
            <a:ext cx="30765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025" b="0">
                <a:solidFill>
                  <a:srgbClr val="18384B"/>
                </a:solidFill>
                <a:latin typeface="Arial"/>
                <a:ea typeface="Arial"/>
                <a:cs typeface="Arial"/>
              </a:defRPr>
            </a:pPr>
            <a:r>
              <a:rPr sz="2025" b="0">
                <a:solidFill>
                  <a:srgbClr val="18384B"/>
                </a:solidFill>
                <a:latin typeface="Arial"/>
                <a:ea typeface="Arial"/>
                <a:cs typeface="Arial"/>
              </a:rPr>
              <a:t>Assign an available standby where appropriate.</a:t>
            </a:r>
          </a:p>
        </p:txBody>
      </p:sp>
      <p:sp>
        <p:nvSpPr>
          <p:cNvPr id="7" name="03">
            <a:extLst xmlns:a="http://schemas.openxmlformats.org/drawingml/2006/main">
              <a:ext uri="{FF2B5EF4-FFF2-40B4-BE49-F238E27FC236}">
                <a16:creationId xmlns:a16="http://schemas.microsoft.com/office/drawing/2014/main" id="{69F05C7C-B09A-4CED-A786-522EB7E55FEF}"/>
              </a:ext>
            </a:extLst>
          </p:cNvPr>
          <p:cNvSpPr>
            <a:spLocks xmlns:a="http://schemas.openxmlformats.org/drawingml/2006/main" noGrp="1"/>
          </p:cNvSpPr>
          <p:nvPr/>
        </p:nvSpPr>
        <p:spPr>
          <a:xfrm xmlns:a="http://schemas.openxmlformats.org/drawingml/2006/main">
            <a:off x="11525250" y="5086350"/>
            <a:ext cx="95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03</a:t>
            </a:r>
          </a:p>
        </p:txBody>
      </p:sp>
      <p:sp>
        <p:nvSpPr>
          <p:cNvPr id="8" name="Check capacity reduction and submit the maintenance.">
            <a:extLst xmlns:a="http://schemas.openxmlformats.org/drawingml/2006/main">
              <a:ext uri="{FF2B5EF4-FFF2-40B4-BE49-F238E27FC236}">
                <a16:creationId xmlns:a16="http://schemas.microsoft.com/office/drawing/2014/main" id="{A1C413B0-83E2-4B78-98AD-113CEEE0CBEA}"/>
              </a:ext>
            </a:extLst>
          </p:cNvPr>
          <p:cNvSpPr>
            <a:spLocks xmlns:a="http://schemas.openxmlformats.org/drawingml/2006/main" noGrp="1"/>
          </p:cNvSpPr>
          <p:nvPr/>
        </p:nvSpPr>
        <p:spPr>
          <a:xfrm xmlns:a="http://schemas.openxmlformats.org/drawingml/2006/main">
            <a:off x="11525250" y="5553075"/>
            <a:ext cx="30765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025" b="0">
                <a:solidFill>
                  <a:srgbClr val="18384B"/>
                </a:solidFill>
                <a:latin typeface="Arial"/>
                <a:ea typeface="Arial"/>
                <a:cs typeface="Arial"/>
              </a:defRPr>
            </a:pPr>
            <a:r>
              <a:rPr sz="2025" b="0">
                <a:solidFill>
                  <a:srgbClr val="18384B"/>
                </a:solidFill>
                <a:latin typeface="Arial"/>
                <a:ea typeface="Arial"/>
                <a:cs typeface="Arial"/>
              </a:rPr>
              <a:t>Check capacity reduction and submit the maintenance.</a:t>
            </a:r>
          </a:p>
        </p:txBody>
      </p:sp>
      <p:sp>
        <p:nvSpPr>
          <p:cNvPr id="9" name="The form shows the effect on station capacity before su">
            <a:extLst xmlns:a="http://schemas.openxmlformats.org/drawingml/2006/main">
              <a:ext uri="{FF2B5EF4-FFF2-40B4-BE49-F238E27FC236}">
                <a16:creationId xmlns:a16="http://schemas.microsoft.com/office/drawing/2014/main" id="{568080FC-858A-4E26-BD89-42A44C325EAB}"/>
              </a:ext>
            </a:extLst>
          </p:cNvPr>
          <p:cNvSpPr>
            <a:spLocks xmlns:a="http://schemas.openxmlformats.org/drawingml/2006/main" noGrp="1"/>
          </p:cNvSpPr>
          <p:nvPr/>
        </p:nvSpPr>
        <p:spPr>
          <a:xfrm xmlns:a="http://schemas.openxmlformats.org/drawingml/2006/main">
            <a:off x="609600" y="7448550"/>
            <a:ext cx="1390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The form shows the effect on station capacity before submission.</a:t>
            </a:r>
          </a:p>
        </p:txBody>
      </p:sp>
      <p:sp>
        <p:nvSpPr>
          <p:cNvPr id="10" name="WIDispatch   /   Client demonstration">
            <a:extLst xmlns:a="http://schemas.openxmlformats.org/drawingml/2006/main">
              <a:ext uri="{FF2B5EF4-FFF2-40B4-BE49-F238E27FC236}">
                <a16:creationId xmlns:a16="http://schemas.microsoft.com/office/drawing/2014/main" id="{C64FDCCB-10D2-4043-981D-FEAEBA97C3AD}"/>
              </a:ext>
            </a:extLst>
          </p:cNvPr>
          <p:cNvSpPr>
            <a:spLocks xmlns:a="http://schemas.openxmlformats.org/drawingml/2006/main" noGrp="1"/>
          </p:cNvSpPr>
          <p:nvPr/>
        </p:nvSpPr>
        <p:spPr>
          <a:xfrm xmlns:a="http://schemas.openxmlformats.org/drawingml/2006/main">
            <a:off x="609600" y="81724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275" b="0">
                <a:solidFill>
                  <a:srgbClr val="547080"/>
                </a:solidFill>
                <a:latin typeface="Arial"/>
                <a:ea typeface="Arial"/>
                <a:cs typeface="Arial"/>
              </a:defRPr>
            </a:pPr>
            <a:r>
              <a:rPr sz="1275" b="0">
                <a:solidFill>
                  <a:srgbClr val="547080"/>
                </a:solidFill>
                <a:latin typeface="Arial"/>
                <a:ea typeface="Arial"/>
                <a:cs typeface="Arial"/>
              </a:rPr>
              <a:t>WIDispatch   /   Client demonstration</a:t>
            </a:r>
          </a:p>
        </p:txBody>
      </p:sp>
      <p:sp>
        <p:nvSpPr>
          <p:cNvPr id="11" name="23">
            <a:extLst xmlns:a="http://schemas.openxmlformats.org/drawingml/2006/main">
              <a:ext uri="{FF2B5EF4-FFF2-40B4-BE49-F238E27FC236}">
                <a16:creationId xmlns:a16="http://schemas.microsoft.com/office/drawing/2014/main" id="{12A60D82-E5F5-43DB-8A5A-1CD726FFAE32}"/>
              </a:ext>
            </a:extLst>
          </p:cNvPr>
          <p:cNvSpPr>
            <a:spLocks xmlns:a="http://schemas.openxmlformats.org/drawingml/2006/main" noGrp="1"/>
          </p:cNvSpPr>
          <p:nvPr/>
        </p:nvSpPr>
        <p:spPr>
          <a:xfrm xmlns:a="http://schemas.openxmlformats.org/drawingml/2006/main">
            <a:off x="13906500" y="8115300"/>
            <a:ext cx="723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547080"/>
                </a:solidFill>
                <a:latin typeface="Arial"/>
                <a:ea typeface="Arial"/>
                <a:cs typeface="Arial"/>
              </a:defRPr>
            </a:pPr>
            <a:r>
              <a:rPr sz="1650" b="0">
                <a:solidFill>
                  <a:srgbClr val="547080"/>
                </a:solidFill>
                <a:latin typeface="Arial"/>
                <a:ea typeface="Arial"/>
                <a:cs typeface="Arial"/>
              </a:rPr>
              <a:t>28</a:t>
            </a:r>
          </a:p>
        </p:txBody>
      </p:sp>
    </p:spTree>
    <p:extLst>
      <p:ext uri="{BB962C8B-B14F-4D97-AF65-F5344CB8AC3E}">
        <p14:creationId xmlns:p14="http://schemas.microsoft.com/office/powerpoint/2010/main" val="1280369730"/>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Transmission approvals">
            <a:extLst xmlns:a="http://schemas.openxmlformats.org/drawingml/2006/main">
              <a:ext uri="{FF2B5EF4-FFF2-40B4-BE49-F238E27FC236}">
                <a16:creationId xmlns:a16="http://schemas.microsoft.com/office/drawing/2014/main" id="{D312AF51-D128-4A62-B4BF-D183FA388AC9}"/>
              </a:ext>
            </a:extLst>
          </p:cNvPr>
          <p:cNvSpPr>
            <a:spLocks xmlns:a="http://schemas.openxmlformats.org/drawingml/2006/main" noGrp="1"/>
          </p:cNvSpPr>
          <p:nvPr/>
        </p:nvSpPr>
        <p:spPr>
          <a:xfrm xmlns:a="http://schemas.openxmlformats.org/drawingml/2006/main">
            <a:off x="571500" y="428625"/>
            <a:ext cx="140970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300" b="1">
                <a:solidFill>
                  <a:srgbClr val="12374B"/>
                </a:solidFill>
                <a:latin typeface="Arial"/>
                <a:ea typeface="Arial"/>
                <a:cs typeface="Arial"/>
              </a:defRPr>
            </a:pPr>
            <a:r>
              <a:rPr sz="3300" b="1">
                <a:solidFill>
                  <a:srgbClr val="12374B"/>
                </a:solidFill>
                <a:latin typeface="Arial"/>
                <a:ea typeface="Arial"/>
                <a:cs typeface="Arial"/>
              </a:rPr>
              <a:t>Transmission approvals</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f61f145a506e43a4"/>
          <a:stretch xmlns:a="http://schemas.openxmlformats.org/drawingml/2006/main"/>
        </p:blipFill>
        <p:spPr>
          <a:xfrm xmlns:a="http://schemas.openxmlformats.org/drawingml/2006/main">
            <a:off x="476250" y="1973947"/>
            <a:ext cx="10668000" cy="4815107"/>
          </a:xfrm>
          <a:prstGeom xmlns:a="http://schemas.openxmlformats.org/drawingml/2006/main" prst="rect">
            <a:avLst/>
          </a:prstGeom>
        </p:spPr>
      </p:pic>
      <p:sp>
        <p:nvSpPr>
          <p:cNvPr id="3" name="01">
            <a:extLst xmlns:a="http://schemas.openxmlformats.org/drawingml/2006/main">
              <a:ext uri="{FF2B5EF4-FFF2-40B4-BE49-F238E27FC236}">
                <a16:creationId xmlns:a16="http://schemas.microsoft.com/office/drawing/2014/main" id="{FCCD4521-8C82-4F87-9CA0-0BF31EA24CFE}"/>
              </a:ext>
            </a:extLst>
          </p:cNvPr>
          <p:cNvSpPr>
            <a:spLocks xmlns:a="http://schemas.openxmlformats.org/drawingml/2006/main" noGrp="1"/>
          </p:cNvSpPr>
          <p:nvPr/>
        </p:nvSpPr>
        <p:spPr>
          <a:xfrm xmlns:a="http://schemas.openxmlformats.org/drawingml/2006/main">
            <a:off x="11525250" y="1771650"/>
            <a:ext cx="95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01</a:t>
            </a:r>
          </a:p>
        </p:txBody>
      </p:sp>
      <p:sp>
        <p:nvSpPr>
          <p:cNvPr id="4" name="Review Maintenance, Water Received or City Gate Deliver">
            <a:extLst xmlns:a="http://schemas.openxmlformats.org/drawingml/2006/main">
              <a:ext uri="{FF2B5EF4-FFF2-40B4-BE49-F238E27FC236}">
                <a16:creationId xmlns:a16="http://schemas.microsoft.com/office/drawing/2014/main" id="{7F6B555E-9A1D-47DD-AE53-3314A6E4D89B}"/>
              </a:ext>
            </a:extLst>
          </p:cNvPr>
          <p:cNvSpPr>
            <a:spLocks xmlns:a="http://schemas.openxmlformats.org/drawingml/2006/main" noGrp="1"/>
          </p:cNvSpPr>
          <p:nvPr/>
        </p:nvSpPr>
        <p:spPr>
          <a:xfrm xmlns:a="http://schemas.openxmlformats.org/drawingml/2006/main">
            <a:off x="11525250" y="2238375"/>
            <a:ext cx="30765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025" b="0">
                <a:solidFill>
                  <a:srgbClr val="18384B"/>
                </a:solidFill>
                <a:latin typeface="Arial"/>
                <a:ea typeface="Arial"/>
                <a:cs typeface="Arial"/>
              </a:defRPr>
            </a:pPr>
            <a:r>
              <a:rPr sz="2025" b="0">
                <a:solidFill>
                  <a:srgbClr val="18384B"/>
                </a:solidFill>
                <a:latin typeface="Arial"/>
                <a:ea typeface="Arial"/>
                <a:cs typeface="Arial"/>
              </a:rPr>
              <a:t>Review Maintenance, Water Received or City Gate Delivered.</a:t>
            </a:r>
          </a:p>
        </p:txBody>
      </p:sp>
      <p:sp>
        <p:nvSpPr>
          <p:cNvPr id="5" name="02">
            <a:extLst xmlns:a="http://schemas.openxmlformats.org/drawingml/2006/main">
              <a:ext uri="{FF2B5EF4-FFF2-40B4-BE49-F238E27FC236}">
                <a16:creationId xmlns:a16="http://schemas.microsoft.com/office/drawing/2014/main" id="{691E50AA-37E5-42C8-A561-F53312D62703}"/>
              </a:ext>
            </a:extLst>
          </p:cNvPr>
          <p:cNvSpPr>
            <a:spLocks xmlns:a="http://schemas.openxmlformats.org/drawingml/2006/main" noGrp="1"/>
          </p:cNvSpPr>
          <p:nvPr/>
        </p:nvSpPr>
        <p:spPr>
          <a:xfrm xmlns:a="http://schemas.openxmlformats.org/drawingml/2006/main">
            <a:off x="11525250" y="3429000"/>
            <a:ext cx="95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02</a:t>
            </a:r>
          </a:p>
        </p:txBody>
      </p:sp>
      <p:sp>
        <p:nvSpPr>
          <p:cNvPr id="6" name="Check the correct asset and reporting date.">
            <a:extLst xmlns:a="http://schemas.openxmlformats.org/drawingml/2006/main">
              <a:ext uri="{FF2B5EF4-FFF2-40B4-BE49-F238E27FC236}">
                <a16:creationId xmlns:a16="http://schemas.microsoft.com/office/drawing/2014/main" id="{25AE63E4-E249-459F-AE61-E2AE9A2A704A}"/>
              </a:ext>
            </a:extLst>
          </p:cNvPr>
          <p:cNvSpPr>
            <a:spLocks xmlns:a="http://schemas.openxmlformats.org/drawingml/2006/main" noGrp="1"/>
          </p:cNvSpPr>
          <p:nvPr/>
        </p:nvSpPr>
        <p:spPr>
          <a:xfrm xmlns:a="http://schemas.openxmlformats.org/drawingml/2006/main">
            <a:off x="11525250" y="3895725"/>
            <a:ext cx="30765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025" b="0">
                <a:solidFill>
                  <a:srgbClr val="18384B"/>
                </a:solidFill>
                <a:latin typeface="Arial"/>
                <a:ea typeface="Arial"/>
                <a:cs typeface="Arial"/>
              </a:defRPr>
            </a:pPr>
            <a:r>
              <a:rPr sz="2025" b="0">
                <a:solidFill>
                  <a:srgbClr val="18384B"/>
                </a:solidFill>
                <a:latin typeface="Arial"/>
                <a:ea typeface="Arial"/>
                <a:cs typeface="Arial"/>
              </a:rPr>
              <a:t>Check the correct asset and reporting date.</a:t>
            </a:r>
          </a:p>
        </p:txBody>
      </p:sp>
      <p:sp>
        <p:nvSpPr>
          <p:cNvPr id="7" name="03">
            <a:extLst xmlns:a="http://schemas.openxmlformats.org/drawingml/2006/main">
              <a:ext uri="{FF2B5EF4-FFF2-40B4-BE49-F238E27FC236}">
                <a16:creationId xmlns:a16="http://schemas.microsoft.com/office/drawing/2014/main" id="{69A59429-AF5B-46F9-AC76-F27FBB1BF789}"/>
              </a:ext>
            </a:extLst>
          </p:cNvPr>
          <p:cNvSpPr>
            <a:spLocks xmlns:a="http://schemas.openxmlformats.org/drawingml/2006/main" noGrp="1"/>
          </p:cNvSpPr>
          <p:nvPr/>
        </p:nvSpPr>
        <p:spPr>
          <a:xfrm xmlns:a="http://schemas.openxmlformats.org/drawingml/2006/main">
            <a:off x="11525250" y="5086350"/>
            <a:ext cx="95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03</a:t>
            </a:r>
          </a:p>
        </p:txBody>
      </p:sp>
      <p:sp>
        <p:nvSpPr>
          <p:cNvPr id="8" name="Approve or return an invalid submission with a clear re">
            <a:extLst xmlns:a="http://schemas.openxmlformats.org/drawingml/2006/main">
              <a:ext uri="{FF2B5EF4-FFF2-40B4-BE49-F238E27FC236}">
                <a16:creationId xmlns:a16="http://schemas.microsoft.com/office/drawing/2014/main" id="{2B595E28-4E24-4ACA-B738-CAAFFBA0F52D}"/>
              </a:ext>
            </a:extLst>
          </p:cNvPr>
          <p:cNvSpPr>
            <a:spLocks xmlns:a="http://schemas.openxmlformats.org/drawingml/2006/main" noGrp="1"/>
          </p:cNvSpPr>
          <p:nvPr/>
        </p:nvSpPr>
        <p:spPr>
          <a:xfrm xmlns:a="http://schemas.openxmlformats.org/drawingml/2006/main">
            <a:off x="11525250" y="5553075"/>
            <a:ext cx="30765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025" b="0">
                <a:solidFill>
                  <a:srgbClr val="18384B"/>
                </a:solidFill>
                <a:latin typeface="Arial"/>
                <a:ea typeface="Arial"/>
                <a:cs typeface="Arial"/>
              </a:defRPr>
            </a:pPr>
            <a:r>
              <a:rPr sz="2025" b="0">
                <a:solidFill>
                  <a:srgbClr val="18384B"/>
                </a:solidFill>
                <a:latin typeface="Arial"/>
                <a:ea typeface="Arial"/>
                <a:cs typeface="Arial"/>
              </a:rPr>
              <a:t>Approve or return an invalid submission with a clear reason.</a:t>
            </a:r>
          </a:p>
        </p:txBody>
      </p:sp>
      <p:sp>
        <p:nvSpPr>
          <p:cNvPr id="9" name="Receipts and deliveries are operational evidence for re">
            <a:extLst xmlns:a="http://schemas.openxmlformats.org/drawingml/2006/main">
              <a:ext uri="{FF2B5EF4-FFF2-40B4-BE49-F238E27FC236}">
                <a16:creationId xmlns:a16="http://schemas.microsoft.com/office/drawing/2014/main" id="{F10DA79B-E413-4CEC-8C51-E3710412B886}"/>
              </a:ext>
            </a:extLst>
          </p:cNvPr>
          <p:cNvSpPr>
            <a:spLocks xmlns:a="http://schemas.openxmlformats.org/drawingml/2006/main" noGrp="1"/>
          </p:cNvSpPr>
          <p:nvPr/>
        </p:nvSpPr>
        <p:spPr>
          <a:xfrm xmlns:a="http://schemas.openxmlformats.org/drawingml/2006/main">
            <a:off x="609600" y="7448550"/>
            <a:ext cx="1390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Receipts and deliveries are operational evidence for reconciliation.</a:t>
            </a:r>
          </a:p>
        </p:txBody>
      </p:sp>
      <p:sp>
        <p:nvSpPr>
          <p:cNvPr id="10" name="WIDispatch   /   Client demonstration">
            <a:extLst xmlns:a="http://schemas.openxmlformats.org/drawingml/2006/main">
              <a:ext uri="{FF2B5EF4-FFF2-40B4-BE49-F238E27FC236}">
                <a16:creationId xmlns:a16="http://schemas.microsoft.com/office/drawing/2014/main" id="{9DFE6019-76D4-40D9-BADB-6818B7CA3A66}"/>
              </a:ext>
            </a:extLst>
          </p:cNvPr>
          <p:cNvSpPr>
            <a:spLocks xmlns:a="http://schemas.openxmlformats.org/drawingml/2006/main" noGrp="1"/>
          </p:cNvSpPr>
          <p:nvPr/>
        </p:nvSpPr>
        <p:spPr>
          <a:xfrm xmlns:a="http://schemas.openxmlformats.org/drawingml/2006/main">
            <a:off x="609600" y="81724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275" b="0">
                <a:solidFill>
                  <a:srgbClr val="547080"/>
                </a:solidFill>
                <a:latin typeface="Arial"/>
                <a:ea typeface="Arial"/>
                <a:cs typeface="Arial"/>
              </a:defRPr>
            </a:pPr>
            <a:r>
              <a:rPr sz="1275" b="0">
                <a:solidFill>
                  <a:srgbClr val="547080"/>
                </a:solidFill>
                <a:latin typeface="Arial"/>
                <a:ea typeface="Arial"/>
                <a:cs typeface="Arial"/>
              </a:rPr>
              <a:t>WIDispatch   /   Client demonstration</a:t>
            </a:r>
          </a:p>
        </p:txBody>
      </p:sp>
      <p:sp>
        <p:nvSpPr>
          <p:cNvPr id="11" name="24">
            <a:extLst xmlns:a="http://schemas.openxmlformats.org/drawingml/2006/main">
              <a:ext uri="{FF2B5EF4-FFF2-40B4-BE49-F238E27FC236}">
                <a16:creationId xmlns:a16="http://schemas.microsoft.com/office/drawing/2014/main" id="{3961C56A-D4D7-4DCE-A312-95C78048E898}"/>
              </a:ext>
            </a:extLst>
          </p:cNvPr>
          <p:cNvSpPr>
            <a:spLocks xmlns:a="http://schemas.openxmlformats.org/drawingml/2006/main" noGrp="1"/>
          </p:cNvSpPr>
          <p:nvPr/>
        </p:nvSpPr>
        <p:spPr>
          <a:xfrm xmlns:a="http://schemas.openxmlformats.org/drawingml/2006/main">
            <a:off x="13906500" y="8115300"/>
            <a:ext cx="723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547080"/>
                </a:solidFill>
                <a:latin typeface="Arial"/>
                <a:ea typeface="Arial"/>
                <a:cs typeface="Arial"/>
              </a:defRPr>
            </a:pPr>
            <a:r>
              <a:rPr sz="1650" b="0">
                <a:solidFill>
                  <a:srgbClr val="547080"/>
                </a:solidFill>
                <a:latin typeface="Arial"/>
                <a:ea typeface="Arial"/>
                <a:cs typeface="Arial"/>
              </a:rPr>
              <a:t>29</a:t>
            </a:r>
          </a:p>
        </p:txBody>
      </p:sp>
    </p:spTree>
    <p:extLst>
      <p:ext uri="{BB962C8B-B14F-4D97-AF65-F5344CB8AC3E}">
        <p14:creationId xmlns:p14="http://schemas.microsoft.com/office/powerpoint/2010/main" val="1408869705"/>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Economics Portal: approved cost assumptions">
            <a:extLst xmlns:a="http://schemas.openxmlformats.org/drawingml/2006/main">
              <a:ext uri="{FF2B5EF4-FFF2-40B4-BE49-F238E27FC236}">
                <a16:creationId xmlns:a16="http://schemas.microsoft.com/office/drawing/2014/main" id="{A37779EF-2CB1-4BEE-A729-47CD3410F3ED}"/>
              </a:ext>
            </a:extLst>
          </p:cNvPr>
          <p:cNvSpPr>
            <a:spLocks xmlns:a="http://schemas.openxmlformats.org/drawingml/2006/main" noGrp="1"/>
          </p:cNvSpPr>
          <p:nvPr/>
        </p:nvSpPr>
        <p:spPr>
          <a:xfrm xmlns:a="http://schemas.openxmlformats.org/drawingml/2006/main">
            <a:off x="571500" y="428625"/>
            <a:ext cx="14097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374B"/>
                </a:solidFill>
                <a:latin typeface="Arial"/>
                <a:ea typeface="Arial"/>
                <a:cs typeface="Arial"/>
              </a:defRPr>
            </a:pPr>
            <a:r>
              <a:rPr sz="3300" b="1">
                <a:solidFill>
                  <a:srgbClr val="12374B"/>
                </a:solidFill>
                <a:latin typeface="Arial"/>
                <a:ea typeface="Arial"/>
                <a:cs typeface="Arial"/>
              </a:rPr>
              <a:t>Economics Portal: approved cost assumptions</a:t>
            </a:r>
          </a:p>
        </p:txBody>
      </p:sp>
      <p:sp>
        <p:nvSpPr>
          <p:cNvPr id="2" name="Purpose">
            <a:extLst xmlns:a="http://schemas.openxmlformats.org/drawingml/2006/main">
              <a:ext uri="{FF2B5EF4-FFF2-40B4-BE49-F238E27FC236}">
                <a16:creationId xmlns:a16="http://schemas.microsoft.com/office/drawing/2014/main" id="{691FF0C3-5342-4065-BFB1-20410C2EE50F}"/>
              </a:ext>
            </a:extLst>
          </p:cNvPr>
          <p:cNvSpPr>
            <a:spLocks xmlns:a="http://schemas.openxmlformats.org/drawingml/2006/main" noGrp="1"/>
          </p:cNvSpPr>
          <p:nvPr/>
        </p:nvSpPr>
        <p:spPr>
          <a:xfrm xmlns:a="http://schemas.openxmlformats.org/drawingml/2006/main">
            <a:off x="609600" y="1952625"/>
            <a:ext cx="4267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1">
                <a:solidFill>
                  <a:srgbClr val="007E92"/>
                </a:solidFill>
                <a:latin typeface="Arial"/>
                <a:ea typeface="Arial"/>
                <a:cs typeface="Arial"/>
              </a:defRPr>
            </a:pPr>
            <a:r>
              <a:rPr sz="2400" b="1">
                <a:solidFill>
                  <a:srgbClr val="007E92"/>
                </a:solidFill>
                <a:latin typeface="Arial"/>
                <a:ea typeface="Arial"/>
                <a:cs typeface="Arial"/>
              </a:rPr>
              <a:t>Purpose</a:t>
            </a:r>
          </a:p>
        </p:txBody>
      </p:sp>
      <p:sp>
        <p:nvSpPr>
          <p:cNvPr id="3" name="Maintain the approved, effective-dated cost information">
            <a:extLst xmlns:a="http://schemas.openxmlformats.org/drawingml/2006/main">
              <a:ext uri="{FF2B5EF4-FFF2-40B4-BE49-F238E27FC236}">
                <a16:creationId xmlns:a16="http://schemas.microsoft.com/office/drawing/2014/main" id="{0F3DD505-1DA2-460B-B794-0D86EF95C005}"/>
              </a:ext>
            </a:extLst>
          </p:cNvPr>
          <p:cNvSpPr>
            <a:spLocks xmlns:a="http://schemas.openxmlformats.org/drawingml/2006/main" noGrp="1"/>
          </p:cNvSpPr>
          <p:nvPr/>
        </p:nvSpPr>
        <p:spPr>
          <a:xfrm xmlns:a="http://schemas.openxmlformats.org/drawingml/2006/main">
            <a:off x="609600" y="3067050"/>
            <a:ext cx="4238625"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0">
                <a:solidFill>
                  <a:srgbClr val="18384B"/>
                </a:solidFill>
                <a:latin typeface="Arial"/>
                <a:ea typeface="Arial"/>
                <a:cs typeface="Arial"/>
              </a:defRPr>
            </a:pPr>
            <a:r>
              <a:rPr sz="2325" b="0">
                <a:solidFill>
                  <a:srgbClr val="18384B"/>
                </a:solidFill>
                <a:latin typeface="Arial"/>
                <a:ea typeface="Arial"/>
                <a:cs typeface="Arial"/>
              </a:rPr>
              <a:t>Maintain the approved, effective-dated cost information used in planning and financial review.</a:t>
            </a:r>
          </a:p>
        </p:txBody>
      </p:sp>
      <p:sp>
        <p:nvSpPr>
          <p:cNvPr id="4" name="What it does">
            <a:extLst xmlns:a="http://schemas.openxmlformats.org/drawingml/2006/main">
              <a:ext uri="{FF2B5EF4-FFF2-40B4-BE49-F238E27FC236}">
                <a16:creationId xmlns:a16="http://schemas.microsoft.com/office/drawing/2014/main" id="{38740D8B-C677-468A-96B9-C1E479BCAB31}"/>
              </a:ext>
            </a:extLst>
          </p:cNvPr>
          <p:cNvSpPr>
            <a:spLocks xmlns:a="http://schemas.openxmlformats.org/drawingml/2006/main" noGrp="1"/>
          </p:cNvSpPr>
          <p:nvPr/>
        </p:nvSpPr>
        <p:spPr>
          <a:xfrm xmlns:a="http://schemas.openxmlformats.org/drawingml/2006/main">
            <a:off x="5419725" y="1952625"/>
            <a:ext cx="4267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1">
                <a:solidFill>
                  <a:srgbClr val="007E92"/>
                </a:solidFill>
                <a:latin typeface="Arial"/>
                <a:ea typeface="Arial"/>
                <a:cs typeface="Arial"/>
              </a:defRPr>
            </a:pPr>
            <a:r>
              <a:rPr sz="2400" b="1">
                <a:solidFill>
                  <a:srgbClr val="007E92"/>
                </a:solidFill>
                <a:latin typeface="Arial"/>
                <a:ea typeface="Arial"/>
                <a:cs typeface="Arial"/>
              </a:rPr>
              <a:t>What it does</a:t>
            </a:r>
          </a:p>
        </p:txBody>
      </p:sp>
      <p:sp>
        <p:nvSpPr>
          <p:cNvPr id="5" name="Support cost proposals and approvals, including variabl">
            <a:extLst xmlns:a="http://schemas.openxmlformats.org/drawingml/2006/main">
              <a:ext uri="{FF2B5EF4-FFF2-40B4-BE49-F238E27FC236}">
                <a16:creationId xmlns:a16="http://schemas.microsoft.com/office/drawing/2014/main" id="{415DFFC9-B98F-4BC1-A7E8-315D751DE7A7}"/>
              </a:ext>
            </a:extLst>
          </p:cNvPr>
          <p:cNvSpPr>
            <a:spLocks xmlns:a="http://schemas.openxmlformats.org/drawingml/2006/main" noGrp="1"/>
          </p:cNvSpPr>
          <p:nvPr/>
        </p:nvSpPr>
        <p:spPr>
          <a:xfrm xmlns:a="http://schemas.openxmlformats.org/drawingml/2006/main">
            <a:off x="5419725" y="3067050"/>
            <a:ext cx="4238625"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0">
                <a:solidFill>
                  <a:srgbClr val="18384B"/>
                </a:solidFill>
                <a:latin typeface="Arial"/>
                <a:ea typeface="Arial"/>
                <a:cs typeface="Arial"/>
              </a:defRPr>
            </a:pPr>
            <a:r>
              <a:rPr sz="2325" b="0">
                <a:solidFill>
                  <a:srgbClr val="18384B"/>
                </a:solidFill>
                <a:latin typeface="Arial"/>
                <a:ea typeface="Arial"/>
                <a:cs typeface="Arial"/>
              </a:rPr>
              <a:t>Support cost proposals and approvals, including variable O&amp;M, fixed costs and capital information.</a:t>
            </a:r>
          </a:p>
        </p:txBody>
      </p:sp>
      <p:sp>
        <p:nvSpPr>
          <p:cNvPr id="6" name="Objective">
            <a:extLst xmlns:a="http://schemas.openxmlformats.org/drawingml/2006/main">
              <a:ext uri="{FF2B5EF4-FFF2-40B4-BE49-F238E27FC236}">
                <a16:creationId xmlns:a16="http://schemas.microsoft.com/office/drawing/2014/main" id="{F5BA2D17-89B6-47BC-9037-6CD9C960630C}"/>
              </a:ext>
            </a:extLst>
          </p:cNvPr>
          <p:cNvSpPr>
            <a:spLocks xmlns:a="http://schemas.openxmlformats.org/drawingml/2006/main" noGrp="1"/>
          </p:cNvSpPr>
          <p:nvPr/>
        </p:nvSpPr>
        <p:spPr>
          <a:xfrm xmlns:a="http://schemas.openxmlformats.org/drawingml/2006/main">
            <a:off x="10229850" y="1952625"/>
            <a:ext cx="4267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1">
                <a:solidFill>
                  <a:srgbClr val="007E92"/>
                </a:solidFill>
                <a:latin typeface="Arial"/>
                <a:ea typeface="Arial"/>
                <a:cs typeface="Arial"/>
              </a:defRPr>
            </a:pPr>
            <a:r>
              <a:rPr sz="2400" b="1">
                <a:solidFill>
                  <a:srgbClr val="007E92"/>
                </a:solidFill>
                <a:latin typeface="Arial"/>
                <a:ea typeface="Arial"/>
                <a:cs typeface="Arial"/>
              </a:rPr>
              <a:t>Objective</a:t>
            </a:r>
          </a:p>
        </p:txBody>
      </p:sp>
      <p:sp>
        <p:nvSpPr>
          <p:cNvPr id="7" name="Give dispatch a traceable variable operating-cost basis">
            <a:extLst xmlns:a="http://schemas.openxmlformats.org/drawingml/2006/main">
              <a:ext uri="{FF2B5EF4-FFF2-40B4-BE49-F238E27FC236}">
                <a16:creationId xmlns:a16="http://schemas.microsoft.com/office/drawing/2014/main" id="{EACC2B26-A436-4157-989D-43C5440EAA48}"/>
              </a:ext>
            </a:extLst>
          </p:cNvPr>
          <p:cNvSpPr>
            <a:spLocks xmlns:a="http://schemas.openxmlformats.org/drawingml/2006/main" noGrp="1"/>
          </p:cNvSpPr>
          <p:nvPr/>
        </p:nvSpPr>
        <p:spPr>
          <a:xfrm xmlns:a="http://schemas.openxmlformats.org/drawingml/2006/main">
            <a:off x="10229850" y="3067050"/>
            <a:ext cx="4238625"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0">
                <a:solidFill>
                  <a:srgbClr val="18384B"/>
                </a:solidFill>
                <a:latin typeface="Arial"/>
                <a:ea typeface="Arial"/>
                <a:cs typeface="Arial"/>
              </a:defRPr>
            </a:pPr>
            <a:r>
              <a:rPr sz="2325" b="0">
                <a:solidFill>
                  <a:srgbClr val="18384B"/>
                </a:solidFill>
                <a:latin typeface="Arial"/>
                <a:ea typeface="Arial"/>
                <a:cs typeface="Arial"/>
              </a:rPr>
              <a:t>Give dispatch a traceable variable operating-cost basis and support review of operating outcomes.</a:t>
            </a:r>
          </a:p>
        </p:txBody>
      </p:sp>
      <p:sp>
        <p:nvSpPr>
          <p:cNvPr id="8" name="WIDispatch   /   Client demonstration">
            <a:extLst xmlns:a="http://schemas.openxmlformats.org/drawingml/2006/main">
              <a:ext uri="{FF2B5EF4-FFF2-40B4-BE49-F238E27FC236}">
                <a16:creationId xmlns:a16="http://schemas.microsoft.com/office/drawing/2014/main" id="{A0A290CC-DA93-4DA8-8312-709E021946D6}"/>
              </a:ext>
            </a:extLst>
          </p:cNvPr>
          <p:cNvSpPr>
            <a:spLocks xmlns:a="http://schemas.openxmlformats.org/drawingml/2006/main" noGrp="1"/>
          </p:cNvSpPr>
          <p:nvPr/>
        </p:nvSpPr>
        <p:spPr>
          <a:xfrm xmlns:a="http://schemas.openxmlformats.org/drawingml/2006/main">
            <a:off x="609600" y="81724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547080"/>
                </a:solidFill>
                <a:latin typeface="Arial"/>
                <a:ea typeface="Arial"/>
                <a:cs typeface="Arial"/>
              </a:defRPr>
            </a:pPr>
            <a:r>
              <a:rPr sz="1275" b="0">
                <a:solidFill>
                  <a:srgbClr val="547080"/>
                </a:solidFill>
                <a:latin typeface="Arial"/>
                <a:ea typeface="Arial"/>
                <a:cs typeface="Arial"/>
              </a:rPr>
              <a:t>WIDispatch   /   Client demonstration</a:t>
            </a:r>
          </a:p>
        </p:txBody>
      </p:sp>
      <p:sp>
        <p:nvSpPr>
          <p:cNvPr id="9" name="00">
            <a:extLst xmlns:a="http://schemas.openxmlformats.org/drawingml/2006/main">
              <a:ext uri="{FF2B5EF4-FFF2-40B4-BE49-F238E27FC236}">
                <a16:creationId xmlns:a16="http://schemas.microsoft.com/office/drawing/2014/main" id="{912C2EB7-A09A-45DE-A49E-594599D1907D}"/>
              </a:ext>
            </a:extLst>
          </p:cNvPr>
          <p:cNvSpPr>
            <a:spLocks xmlns:a="http://schemas.openxmlformats.org/drawingml/2006/main" noGrp="1"/>
          </p:cNvSpPr>
          <p:nvPr/>
        </p:nvSpPr>
        <p:spPr>
          <a:xfrm xmlns:a="http://schemas.openxmlformats.org/drawingml/2006/main">
            <a:off x="13906500" y="8115300"/>
            <a:ext cx="723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547080"/>
                </a:solidFill>
                <a:latin typeface="Arial"/>
                <a:ea typeface="Arial"/>
                <a:cs typeface="Arial"/>
              </a:defRPr>
            </a:pPr>
            <a:r>
              <a:rPr sz="1650" b="0">
                <a:solidFill>
                  <a:srgbClr val="547080"/>
                </a:solidFill>
                <a:latin typeface="Arial"/>
                <a:ea typeface="Arial"/>
                <a:cs typeface="Arial"/>
              </a:rPr>
              <a:t>30</a:t>
            </a:r>
          </a:p>
        </p:txBody>
      </p:sp>
    </p:spTree>
    <p:extLst>
      <p:ext uri="{BB962C8B-B14F-4D97-AF65-F5344CB8AC3E}">
        <p14:creationId xmlns:p14="http://schemas.microsoft.com/office/powerpoint/2010/main" val="938837087"/>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Economics dashboard">
            <a:extLst xmlns:a="http://schemas.openxmlformats.org/drawingml/2006/main">
              <a:ext uri="{FF2B5EF4-FFF2-40B4-BE49-F238E27FC236}">
                <a16:creationId xmlns:a16="http://schemas.microsoft.com/office/drawing/2014/main" id="{5A78AEB8-FC85-483C-89DF-F83525D29D5F}"/>
              </a:ext>
            </a:extLst>
          </p:cNvPr>
          <p:cNvSpPr>
            <a:spLocks xmlns:a="http://schemas.openxmlformats.org/drawingml/2006/main" noGrp="1"/>
          </p:cNvSpPr>
          <p:nvPr/>
        </p:nvSpPr>
        <p:spPr>
          <a:xfrm xmlns:a="http://schemas.openxmlformats.org/drawingml/2006/main">
            <a:off x="571500" y="428625"/>
            <a:ext cx="140970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300" b="1">
                <a:solidFill>
                  <a:srgbClr val="12374B"/>
                </a:solidFill>
                <a:latin typeface="Arial"/>
                <a:ea typeface="Arial"/>
                <a:cs typeface="Arial"/>
              </a:defRPr>
            </a:pPr>
            <a:r>
              <a:rPr sz="3300" b="1">
                <a:solidFill>
                  <a:srgbClr val="12374B"/>
                </a:solidFill>
                <a:latin typeface="Arial"/>
                <a:ea typeface="Arial"/>
                <a:cs typeface="Arial"/>
              </a:rPr>
              <a:t>Economics dashboard</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ec08c1749ab14138"/>
          <a:stretch xmlns:a="http://schemas.openxmlformats.org/drawingml/2006/main"/>
        </p:blipFill>
        <p:spPr>
          <a:xfrm xmlns:a="http://schemas.openxmlformats.org/drawingml/2006/main">
            <a:off x="476250" y="1831669"/>
            <a:ext cx="10668000" cy="5099661"/>
          </a:xfrm>
          <a:prstGeom xmlns:a="http://schemas.openxmlformats.org/drawingml/2006/main" prst="rect">
            <a:avLst/>
          </a:prstGeom>
        </p:spPr>
      </p:pic>
      <p:sp>
        <p:nvSpPr>
          <p:cNvPr id="3" name="01">
            <a:extLst xmlns:a="http://schemas.openxmlformats.org/drawingml/2006/main">
              <a:ext uri="{FF2B5EF4-FFF2-40B4-BE49-F238E27FC236}">
                <a16:creationId xmlns:a16="http://schemas.microsoft.com/office/drawing/2014/main" id="{0B434C79-6B38-4B3F-914B-01B5AC675046}"/>
              </a:ext>
            </a:extLst>
          </p:cNvPr>
          <p:cNvSpPr>
            <a:spLocks xmlns:a="http://schemas.openxmlformats.org/drawingml/2006/main" noGrp="1"/>
          </p:cNvSpPr>
          <p:nvPr/>
        </p:nvSpPr>
        <p:spPr>
          <a:xfrm xmlns:a="http://schemas.openxmlformats.org/drawingml/2006/main">
            <a:off x="11525250" y="1771650"/>
            <a:ext cx="95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01</a:t>
            </a:r>
          </a:p>
        </p:txBody>
      </p:sp>
      <p:sp>
        <p:nvSpPr>
          <p:cNvPr id="4" name="Check the operating period and accessible plants.">
            <a:extLst xmlns:a="http://schemas.openxmlformats.org/drawingml/2006/main">
              <a:ext uri="{FF2B5EF4-FFF2-40B4-BE49-F238E27FC236}">
                <a16:creationId xmlns:a16="http://schemas.microsoft.com/office/drawing/2014/main" id="{54EFF4C8-95D3-4FB0-9890-82FE2E6972F2}"/>
              </a:ext>
            </a:extLst>
          </p:cNvPr>
          <p:cNvSpPr>
            <a:spLocks xmlns:a="http://schemas.openxmlformats.org/drawingml/2006/main" noGrp="1"/>
          </p:cNvSpPr>
          <p:nvPr/>
        </p:nvSpPr>
        <p:spPr>
          <a:xfrm xmlns:a="http://schemas.openxmlformats.org/drawingml/2006/main">
            <a:off x="11525250" y="2238375"/>
            <a:ext cx="30765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025" b="0">
                <a:solidFill>
                  <a:srgbClr val="18384B"/>
                </a:solidFill>
                <a:latin typeface="Arial"/>
                <a:ea typeface="Arial"/>
                <a:cs typeface="Arial"/>
              </a:defRPr>
            </a:pPr>
            <a:r>
              <a:rPr sz="2025" b="0">
                <a:solidFill>
                  <a:srgbClr val="18384B"/>
                </a:solidFill>
                <a:latin typeface="Arial"/>
                <a:ea typeface="Arial"/>
                <a:cs typeface="Arial"/>
              </a:rPr>
              <a:t>Check the operating period and accessible plants.</a:t>
            </a:r>
          </a:p>
        </p:txBody>
      </p:sp>
      <p:sp>
        <p:nvSpPr>
          <p:cNvPr id="5" name="02">
            <a:extLst xmlns:a="http://schemas.openxmlformats.org/drawingml/2006/main">
              <a:ext uri="{FF2B5EF4-FFF2-40B4-BE49-F238E27FC236}">
                <a16:creationId xmlns:a16="http://schemas.microsoft.com/office/drawing/2014/main" id="{A9F22FE7-1A58-40AF-9446-850D92BED210}"/>
              </a:ext>
            </a:extLst>
          </p:cNvPr>
          <p:cNvSpPr>
            <a:spLocks xmlns:a="http://schemas.openxmlformats.org/drawingml/2006/main" noGrp="1"/>
          </p:cNvSpPr>
          <p:nvPr/>
        </p:nvSpPr>
        <p:spPr>
          <a:xfrm xmlns:a="http://schemas.openxmlformats.org/drawingml/2006/main">
            <a:off x="11525250" y="3429000"/>
            <a:ext cx="95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02</a:t>
            </a:r>
          </a:p>
        </p:txBody>
      </p:sp>
      <p:sp>
        <p:nvSpPr>
          <p:cNvPr id="6" name="Review the cost and production context.">
            <a:extLst xmlns:a="http://schemas.openxmlformats.org/drawingml/2006/main">
              <a:ext uri="{FF2B5EF4-FFF2-40B4-BE49-F238E27FC236}">
                <a16:creationId xmlns:a16="http://schemas.microsoft.com/office/drawing/2014/main" id="{C31B0969-6024-4B2C-9610-F31BAB279021}"/>
              </a:ext>
            </a:extLst>
          </p:cNvPr>
          <p:cNvSpPr>
            <a:spLocks xmlns:a="http://schemas.openxmlformats.org/drawingml/2006/main" noGrp="1"/>
          </p:cNvSpPr>
          <p:nvPr/>
        </p:nvSpPr>
        <p:spPr>
          <a:xfrm xmlns:a="http://schemas.openxmlformats.org/drawingml/2006/main">
            <a:off x="11525250" y="3895725"/>
            <a:ext cx="30765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025" b="0">
                <a:solidFill>
                  <a:srgbClr val="18384B"/>
                </a:solidFill>
                <a:latin typeface="Arial"/>
                <a:ea typeface="Arial"/>
                <a:cs typeface="Arial"/>
              </a:defRPr>
            </a:pPr>
            <a:r>
              <a:rPr sz="2025" b="0">
                <a:solidFill>
                  <a:srgbClr val="18384B"/>
                </a:solidFill>
                <a:latin typeface="Arial"/>
                <a:ea typeface="Arial"/>
                <a:cs typeface="Arial"/>
              </a:rPr>
              <a:t>Review the cost and production context.</a:t>
            </a:r>
          </a:p>
        </p:txBody>
      </p:sp>
      <p:sp>
        <p:nvSpPr>
          <p:cNvPr id="7" name="03">
            <a:extLst xmlns:a="http://schemas.openxmlformats.org/drawingml/2006/main">
              <a:ext uri="{FF2B5EF4-FFF2-40B4-BE49-F238E27FC236}">
                <a16:creationId xmlns:a16="http://schemas.microsoft.com/office/drawing/2014/main" id="{3738EADB-18DA-4297-B3C0-CFFC4812C4A5}"/>
              </a:ext>
            </a:extLst>
          </p:cNvPr>
          <p:cNvSpPr>
            <a:spLocks xmlns:a="http://schemas.openxmlformats.org/drawingml/2006/main" noGrp="1"/>
          </p:cNvSpPr>
          <p:nvPr/>
        </p:nvSpPr>
        <p:spPr>
          <a:xfrm xmlns:a="http://schemas.openxmlformats.org/drawingml/2006/main">
            <a:off x="11525250" y="5086350"/>
            <a:ext cx="95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03</a:t>
            </a:r>
          </a:p>
        </p:txBody>
      </p:sp>
      <p:sp>
        <p:nvSpPr>
          <p:cNvPr id="8" name="Open Financials for the effective cost records.">
            <a:extLst xmlns:a="http://schemas.openxmlformats.org/drawingml/2006/main">
              <a:ext uri="{FF2B5EF4-FFF2-40B4-BE49-F238E27FC236}">
                <a16:creationId xmlns:a16="http://schemas.microsoft.com/office/drawing/2014/main" id="{025DABE2-E25F-4896-BBFA-B67DBC4B32BE}"/>
              </a:ext>
            </a:extLst>
          </p:cNvPr>
          <p:cNvSpPr>
            <a:spLocks xmlns:a="http://schemas.openxmlformats.org/drawingml/2006/main" noGrp="1"/>
          </p:cNvSpPr>
          <p:nvPr/>
        </p:nvSpPr>
        <p:spPr>
          <a:xfrm xmlns:a="http://schemas.openxmlformats.org/drawingml/2006/main">
            <a:off x="11525250" y="5553075"/>
            <a:ext cx="30765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025" b="0">
                <a:solidFill>
                  <a:srgbClr val="18384B"/>
                </a:solidFill>
                <a:latin typeface="Arial"/>
                <a:ea typeface="Arial"/>
                <a:cs typeface="Arial"/>
              </a:defRPr>
            </a:pPr>
            <a:r>
              <a:rPr sz="2025" b="0">
                <a:solidFill>
                  <a:srgbClr val="18384B"/>
                </a:solidFill>
                <a:latin typeface="Arial"/>
                <a:ea typeface="Arial"/>
                <a:cs typeface="Arial"/>
              </a:rPr>
              <a:t>Open Financials for the effective cost records.</a:t>
            </a:r>
          </a:p>
        </p:txBody>
      </p:sp>
      <p:sp>
        <p:nvSpPr>
          <p:cNvPr id="9" name="The cost basis must match the dispatch period.">
            <a:extLst xmlns:a="http://schemas.openxmlformats.org/drawingml/2006/main">
              <a:ext uri="{FF2B5EF4-FFF2-40B4-BE49-F238E27FC236}">
                <a16:creationId xmlns:a16="http://schemas.microsoft.com/office/drawing/2014/main" id="{2AE9A559-A951-4657-A2F2-C40755485215}"/>
              </a:ext>
            </a:extLst>
          </p:cNvPr>
          <p:cNvSpPr>
            <a:spLocks xmlns:a="http://schemas.openxmlformats.org/drawingml/2006/main" noGrp="1"/>
          </p:cNvSpPr>
          <p:nvPr/>
        </p:nvSpPr>
        <p:spPr>
          <a:xfrm xmlns:a="http://schemas.openxmlformats.org/drawingml/2006/main">
            <a:off x="609600" y="7448550"/>
            <a:ext cx="1390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The cost basis must match the dispatch period.</a:t>
            </a:r>
          </a:p>
        </p:txBody>
      </p:sp>
      <p:sp>
        <p:nvSpPr>
          <p:cNvPr id="10" name="WIDispatch   /   Client demonstration">
            <a:extLst xmlns:a="http://schemas.openxmlformats.org/drawingml/2006/main">
              <a:ext uri="{FF2B5EF4-FFF2-40B4-BE49-F238E27FC236}">
                <a16:creationId xmlns:a16="http://schemas.microsoft.com/office/drawing/2014/main" id="{7164ED9A-922C-43EA-BB66-2654621548BD}"/>
              </a:ext>
            </a:extLst>
          </p:cNvPr>
          <p:cNvSpPr>
            <a:spLocks xmlns:a="http://schemas.openxmlformats.org/drawingml/2006/main" noGrp="1"/>
          </p:cNvSpPr>
          <p:nvPr/>
        </p:nvSpPr>
        <p:spPr>
          <a:xfrm xmlns:a="http://schemas.openxmlformats.org/drawingml/2006/main">
            <a:off x="609600" y="81724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275" b="0">
                <a:solidFill>
                  <a:srgbClr val="547080"/>
                </a:solidFill>
                <a:latin typeface="Arial"/>
                <a:ea typeface="Arial"/>
                <a:cs typeface="Arial"/>
              </a:defRPr>
            </a:pPr>
            <a:r>
              <a:rPr sz="1275" b="0">
                <a:solidFill>
                  <a:srgbClr val="547080"/>
                </a:solidFill>
                <a:latin typeface="Arial"/>
                <a:ea typeface="Arial"/>
                <a:cs typeface="Arial"/>
              </a:rPr>
              <a:t>WIDispatch   /   Client demonstration</a:t>
            </a:r>
          </a:p>
        </p:txBody>
      </p:sp>
      <p:sp>
        <p:nvSpPr>
          <p:cNvPr id="11" name="25">
            <a:extLst xmlns:a="http://schemas.openxmlformats.org/drawingml/2006/main">
              <a:ext uri="{FF2B5EF4-FFF2-40B4-BE49-F238E27FC236}">
                <a16:creationId xmlns:a16="http://schemas.microsoft.com/office/drawing/2014/main" id="{2C3C49F2-EE6D-4854-8DF2-A3D284542B02}"/>
              </a:ext>
            </a:extLst>
          </p:cNvPr>
          <p:cNvSpPr>
            <a:spLocks xmlns:a="http://schemas.openxmlformats.org/drawingml/2006/main" noGrp="1"/>
          </p:cNvSpPr>
          <p:nvPr/>
        </p:nvSpPr>
        <p:spPr>
          <a:xfrm xmlns:a="http://schemas.openxmlformats.org/drawingml/2006/main">
            <a:off x="13906500" y="8115300"/>
            <a:ext cx="723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547080"/>
                </a:solidFill>
                <a:latin typeface="Arial"/>
                <a:ea typeface="Arial"/>
                <a:cs typeface="Arial"/>
              </a:defRPr>
            </a:pPr>
            <a:r>
              <a:rPr sz="1650" b="0">
                <a:solidFill>
                  <a:srgbClr val="547080"/>
                </a:solidFill>
                <a:latin typeface="Arial"/>
                <a:ea typeface="Arial"/>
                <a:cs typeface="Arial"/>
              </a:rPr>
              <a:t>31</a:t>
            </a:r>
          </a:p>
        </p:txBody>
      </p:sp>
    </p:spTree>
    <p:extLst>
      <p:ext uri="{BB962C8B-B14F-4D97-AF65-F5344CB8AC3E}">
        <p14:creationId xmlns:p14="http://schemas.microsoft.com/office/powerpoint/2010/main" val="1912753370"/>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Economics uses effective cost snapshots">
            <a:extLst xmlns:a="http://schemas.openxmlformats.org/drawingml/2006/main">
              <a:ext uri="{FF2B5EF4-FFF2-40B4-BE49-F238E27FC236}">
                <a16:creationId xmlns:a16="http://schemas.microsoft.com/office/drawing/2014/main" id="{795D24D7-DD93-41EB-AE82-A0E938BE10BF}"/>
              </a:ext>
            </a:extLst>
          </p:cNvPr>
          <p:cNvSpPr>
            <a:spLocks xmlns:a="http://schemas.openxmlformats.org/drawingml/2006/main" noGrp="1"/>
          </p:cNvSpPr>
          <p:nvPr/>
        </p:nvSpPr>
        <p:spPr>
          <a:xfrm xmlns:a="http://schemas.openxmlformats.org/drawingml/2006/main">
            <a:off x="571500" y="428625"/>
            <a:ext cx="140970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300" b="1">
                <a:solidFill>
                  <a:srgbClr val="12374B"/>
                </a:solidFill>
                <a:latin typeface="Arial"/>
                <a:ea typeface="Arial"/>
                <a:cs typeface="Arial"/>
              </a:defRPr>
            </a:pPr>
            <a:r>
              <a:rPr sz="3300" b="1">
                <a:solidFill>
                  <a:srgbClr val="12374B"/>
                </a:solidFill>
                <a:latin typeface="Arial"/>
                <a:ea typeface="Arial"/>
                <a:cs typeface="Arial"/>
              </a:rPr>
              <a:t>Economics uses effective cost snapshots</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0412bfaa8ea54934"/>
          <a:stretch xmlns:a="http://schemas.openxmlformats.org/drawingml/2006/main"/>
        </p:blipFill>
        <p:spPr>
          <a:xfrm xmlns:a="http://schemas.openxmlformats.org/drawingml/2006/main">
            <a:off x="476250" y="1973947"/>
            <a:ext cx="10668000" cy="4815107"/>
          </a:xfrm>
          <a:prstGeom xmlns:a="http://schemas.openxmlformats.org/drawingml/2006/main" prst="rect">
            <a:avLst/>
          </a:prstGeom>
        </p:spPr>
      </p:pic>
      <p:sp>
        <p:nvSpPr>
          <p:cNvPr id="3" name="01">
            <a:extLst xmlns:a="http://schemas.openxmlformats.org/drawingml/2006/main">
              <a:ext uri="{FF2B5EF4-FFF2-40B4-BE49-F238E27FC236}">
                <a16:creationId xmlns:a16="http://schemas.microsoft.com/office/drawing/2014/main" id="{D75FE2FD-552D-4CDE-BCC6-5EC582DBC378}"/>
              </a:ext>
            </a:extLst>
          </p:cNvPr>
          <p:cNvSpPr>
            <a:spLocks xmlns:a="http://schemas.openxmlformats.org/drawingml/2006/main" noGrp="1"/>
          </p:cNvSpPr>
          <p:nvPr/>
        </p:nvSpPr>
        <p:spPr>
          <a:xfrm xmlns:a="http://schemas.openxmlformats.org/drawingml/2006/main">
            <a:off x="11525250" y="1771650"/>
            <a:ext cx="95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01</a:t>
            </a:r>
          </a:p>
        </p:txBody>
      </p:sp>
      <p:sp>
        <p:nvSpPr>
          <p:cNvPr id="4" name="Open the plant’s Financial tab.">
            <a:extLst xmlns:a="http://schemas.openxmlformats.org/drawingml/2006/main">
              <a:ext uri="{FF2B5EF4-FFF2-40B4-BE49-F238E27FC236}">
                <a16:creationId xmlns:a16="http://schemas.microsoft.com/office/drawing/2014/main" id="{131F5780-C8D3-47F3-9EED-53C9E1ADDD81}"/>
              </a:ext>
            </a:extLst>
          </p:cNvPr>
          <p:cNvSpPr>
            <a:spLocks xmlns:a="http://schemas.openxmlformats.org/drawingml/2006/main" noGrp="1"/>
          </p:cNvSpPr>
          <p:nvPr/>
        </p:nvSpPr>
        <p:spPr>
          <a:xfrm xmlns:a="http://schemas.openxmlformats.org/drawingml/2006/main">
            <a:off x="11525250" y="2238375"/>
            <a:ext cx="30765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025" b="0">
                <a:solidFill>
                  <a:srgbClr val="18384B"/>
                </a:solidFill>
                <a:latin typeface="Arial"/>
                <a:ea typeface="Arial"/>
                <a:cs typeface="Arial"/>
              </a:defRPr>
            </a:pPr>
            <a:r>
              <a:rPr sz="2025" b="0">
                <a:solidFill>
                  <a:srgbClr val="18384B"/>
                </a:solidFill>
                <a:latin typeface="Arial"/>
                <a:ea typeface="Arial"/>
                <a:cs typeface="Arial"/>
              </a:rPr>
              <a:t>Open the plant’s Financial tab.</a:t>
            </a:r>
          </a:p>
        </p:txBody>
      </p:sp>
      <p:sp>
        <p:nvSpPr>
          <p:cNvPr id="5" name="02">
            <a:extLst xmlns:a="http://schemas.openxmlformats.org/drawingml/2006/main">
              <a:ext uri="{FF2B5EF4-FFF2-40B4-BE49-F238E27FC236}">
                <a16:creationId xmlns:a16="http://schemas.microsoft.com/office/drawing/2014/main" id="{17277992-1E51-4599-8CE6-C8CA553FB250}"/>
              </a:ext>
            </a:extLst>
          </p:cNvPr>
          <p:cNvSpPr>
            <a:spLocks xmlns:a="http://schemas.openxmlformats.org/drawingml/2006/main" noGrp="1"/>
          </p:cNvSpPr>
          <p:nvPr/>
        </p:nvSpPr>
        <p:spPr>
          <a:xfrm xmlns:a="http://schemas.openxmlformats.org/drawingml/2006/main">
            <a:off x="11525250" y="3429000"/>
            <a:ext cx="95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02</a:t>
            </a:r>
          </a:p>
        </p:txBody>
      </p:sp>
      <p:sp>
        <p:nvSpPr>
          <p:cNvPr id="6" name="Check the current approved snapshot and effective date.">
            <a:extLst xmlns:a="http://schemas.openxmlformats.org/drawingml/2006/main">
              <a:ext uri="{FF2B5EF4-FFF2-40B4-BE49-F238E27FC236}">
                <a16:creationId xmlns:a16="http://schemas.microsoft.com/office/drawing/2014/main" id="{57AFA88A-639B-47A3-A661-BD493ABFE3A2}"/>
              </a:ext>
            </a:extLst>
          </p:cNvPr>
          <p:cNvSpPr>
            <a:spLocks xmlns:a="http://schemas.openxmlformats.org/drawingml/2006/main" noGrp="1"/>
          </p:cNvSpPr>
          <p:nvPr/>
        </p:nvSpPr>
        <p:spPr>
          <a:xfrm xmlns:a="http://schemas.openxmlformats.org/drawingml/2006/main">
            <a:off x="11525250" y="3895725"/>
            <a:ext cx="30765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025" b="0">
                <a:solidFill>
                  <a:srgbClr val="18384B"/>
                </a:solidFill>
                <a:latin typeface="Arial"/>
                <a:ea typeface="Arial"/>
                <a:cs typeface="Arial"/>
              </a:defRPr>
            </a:pPr>
            <a:r>
              <a:rPr sz="2025" b="0">
                <a:solidFill>
                  <a:srgbClr val="18384B"/>
                </a:solidFill>
                <a:latin typeface="Arial"/>
                <a:ea typeface="Arial"/>
                <a:cs typeface="Arial"/>
              </a:rPr>
              <a:t>Check the current approved snapshot and effective date.</a:t>
            </a:r>
          </a:p>
        </p:txBody>
      </p:sp>
      <p:sp>
        <p:nvSpPr>
          <p:cNvPr id="7" name="03">
            <a:extLst xmlns:a="http://schemas.openxmlformats.org/drawingml/2006/main">
              <a:ext uri="{FF2B5EF4-FFF2-40B4-BE49-F238E27FC236}">
                <a16:creationId xmlns:a16="http://schemas.microsoft.com/office/drawing/2014/main" id="{8050FC77-D6B2-4431-9B5A-80E303E2B55E}"/>
              </a:ext>
            </a:extLst>
          </p:cNvPr>
          <p:cNvSpPr>
            <a:spLocks xmlns:a="http://schemas.openxmlformats.org/drawingml/2006/main" noGrp="1"/>
          </p:cNvSpPr>
          <p:nvPr/>
        </p:nvSpPr>
        <p:spPr>
          <a:xfrm xmlns:a="http://schemas.openxmlformats.org/drawingml/2006/main">
            <a:off x="11525250" y="5086350"/>
            <a:ext cx="95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03</a:t>
            </a:r>
          </a:p>
        </p:txBody>
      </p:sp>
      <p:sp>
        <p:nvSpPr>
          <p:cNvPr id="8" name="Review variable O&amp;M separately from fixed cost and CAPE">
            <a:extLst xmlns:a="http://schemas.openxmlformats.org/drawingml/2006/main">
              <a:ext uri="{FF2B5EF4-FFF2-40B4-BE49-F238E27FC236}">
                <a16:creationId xmlns:a16="http://schemas.microsoft.com/office/drawing/2014/main" id="{6DFB5BCD-8046-4EB7-937B-CDF788AA34B9}"/>
              </a:ext>
            </a:extLst>
          </p:cNvPr>
          <p:cNvSpPr>
            <a:spLocks xmlns:a="http://schemas.openxmlformats.org/drawingml/2006/main" noGrp="1"/>
          </p:cNvSpPr>
          <p:nvPr/>
        </p:nvSpPr>
        <p:spPr>
          <a:xfrm xmlns:a="http://schemas.openxmlformats.org/drawingml/2006/main">
            <a:off x="11525250" y="5553075"/>
            <a:ext cx="30765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025" b="0">
                <a:solidFill>
                  <a:srgbClr val="18384B"/>
                </a:solidFill>
                <a:latin typeface="Arial"/>
                <a:ea typeface="Arial"/>
                <a:cs typeface="Arial"/>
              </a:defRPr>
            </a:pPr>
            <a:r>
              <a:rPr sz="2025" b="0">
                <a:solidFill>
                  <a:srgbClr val="18384B"/>
                </a:solidFill>
                <a:latin typeface="Arial"/>
                <a:ea typeface="Arial"/>
                <a:cs typeface="Arial"/>
              </a:rPr>
              <a:t>Review variable O&amp;M separately from fixed cost and CAPEX.</a:t>
            </a:r>
          </a:p>
        </p:txBody>
      </p:sp>
      <p:sp>
        <p:nvSpPr>
          <p:cNvPr id="9" name="The approved snapshot remains active until a newer appr">
            <a:extLst xmlns:a="http://schemas.openxmlformats.org/drawingml/2006/main">
              <a:ext uri="{FF2B5EF4-FFF2-40B4-BE49-F238E27FC236}">
                <a16:creationId xmlns:a16="http://schemas.microsoft.com/office/drawing/2014/main" id="{ED7376D5-8EA3-4A4A-8DB3-5696EB36EE9D}"/>
              </a:ext>
            </a:extLst>
          </p:cNvPr>
          <p:cNvSpPr>
            <a:spLocks xmlns:a="http://schemas.openxmlformats.org/drawingml/2006/main" noGrp="1"/>
          </p:cNvSpPr>
          <p:nvPr/>
        </p:nvSpPr>
        <p:spPr>
          <a:xfrm xmlns:a="http://schemas.openxmlformats.org/drawingml/2006/main">
            <a:off x="609600" y="7448550"/>
            <a:ext cx="1390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The approved snapshot remains active until a newer approved snapshot becomes effective.</a:t>
            </a:r>
          </a:p>
        </p:txBody>
      </p:sp>
      <p:sp>
        <p:nvSpPr>
          <p:cNvPr id="10" name="WIDispatch   /   Client demonstration">
            <a:extLst xmlns:a="http://schemas.openxmlformats.org/drawingml/2006/main">
              <a:ext uri="{FF2B5EF4-FFF2-40B4-BE49-F238E27FC236}">
                <a16:creationId xmlns:a16="http://schemas.microsoft.com/office/drawing/2014/main" id="{B081F8F6-1311-4A5D-ABC9-FDBA925ECC3C}"/>
              </a:ext>
            </a:extLst>
          </p:cNvPr>
          <p:cNvSpPr>
            <a:spLocks xmlns:a="http://schemas.openxmlformats.org/drawingml/2006/main" noGrp="1"/>
          </p:cNvSpPr>
          <p:nvPr/>
        </p:nvSpPr>
        <p:spPr>
          <a:xfrm xmlns:a="http://schemas.openxmlformats.org/drawingml/2006/main">
            <a:off x="609600" y="81724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275" b="0">
                <a:solidFill>
                  <a:srgbClr val="547080"/>
                </a:solidFill>
                <a:latin typeface="Arial"/>
                <a:ea typeface="Arial"/>
                <a:cs typeface="Arial"/>
              </a:defRPr>
            </a:pPr>
            <a:r>
              <a:rPr sz="1275" b="0">
                <a:solidFill>
                  <a:srgbClr val="547080"/>
                </a:solidFill>
                <a:latin typeface="Arial"/>
                <a:ea typeface="Arial"/>
                <a:cs typeface="Arial"/>
              </a:rPr>
              <a:t>WIDispatch   /   Client demonstration</a:t>
            </a:r>
          </a:p>
        </p:txBody>
      </p:sp>
      <p:sp>
        <p:nvSpPr>
          <p:cNvPr id="11" name="26">
            <a:extLst xmlns:a="http://schemas.openxmlformats.org/drawingml/2006/main">
              <a:ext uri="{FF2B5EF4-FFF2-40B4-BE49-F238E27FC236}">
                <a16:creationId xmlns:a16="http://schemas.microsoft.com/office/drawing/2014/main" id="{4331C853-9708-42B8-89FE-F4ED018CB98D}"/>
              </a:ext>
            </a:extLst>
          </p:cNvPr>
          <p:cNvSpPr>
            <a:spLocks xmlns:a="http://schemas.openxmlformats.org/drawingml/2006/main" noGrp="1"/>
          </p:cNvSpPr>
          <p:nvPr/>
        </p:nvSpPr>
        <p:spPr>
          <a:xfrm xmlns:a="http://schemas.openxmlformats.org/drawingml/2006/main">
            <a:off x="13906500" y="8115300"/>
            <a:ext cx="723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547080"/>
                </a:solidFill>
                <a:latin typeface="Arial"/>
                <a:ea typeface="Arial"/>
                <a:cs typeface="Arial"/>
              </a:defRPr>
            </a:pPr>
            <a:r>
              <a:rPr sz="1650" b="0">
                <a:solidFill>
                  <a:srgbClr val="547080"/>
                </a:solidFill>
                <a:latin typeface="Arial"/>
                <a:ea typeface="Arial"/>
                <a:cs typeface="Arial"/>
              </a:rPr>
              <a:t>32</a:t>
            </a:r>
          </a:p>
        </p:txBody>
      </p:sp>
    </p:spTree>
    <p:extLst>
      <p:ext uri="{BB962C8B-B14F-4D97-AF65-F5344CB8AC3E}">
        <p14:creationId xmlns:p14="http://schemas.microsoft.com/office/powerpoint/2010/main" val="828493088"/>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Proposing a cost change">
            <a:extLst xmlns:a="http://schemas.openxmlformats.org/drawingml/2006/main">
              <a:ext uri="{FF2B5EF4-FFF2-40B4-BE49-F238E27FC236}">
                <a16:creationId xmlns:a16="http://schemas.microsoft.com/office/drawing/2014/main" id="{BA120AC9-2BD3-4510-AD55-910F9145E342}"/>
              </a:ext>
            </a:extLst>
          </p:cNvPr>
          <p:cNvSpPr>
            <a:spLocks xmlns:a="http://schemas.openxmlformats.org/drawingml/2006/main" noGrp="1"/>
          </p:cNvSpPr>
          <p:nvPr/>
        </p:nvSpPr>
        <p:spPr>
          <a:xfrm xmlns:a="http://schemas.openxmlformats.org/drawingml/2006/main">
            <a:off x="571500" y="428625"/>
            <a:ext cx="140970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300" b="1">
                <a:solidFill>
                  <a:srgbClr val="12374B"/>
                </a:solidFill>
                <a:latin typeface="Arial"/>
                <a:ea typeface="Arial"/>
                <a:cs typeface="Arial"/>
              </a:defRPr>
            </a:pPr>
            <a:r>
              <a:rPr sz="3300" b="1">
                <a:solidFill>
                  <a:srgbClr val="12374B"/>
                </a:solidFill>
                <a:latin typeface="Arial"/>
                <a:ea typeface="Arial"/>
                <a:cs typeface="Arial"/>
              </a:rPr>
              <a:t>Proposing a cost change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bc2ce249b4af40c1"/>
          <a:stretch xmlns:a="http://schemas.openxmlformats.org/drawingml/2006/main"/>
        </p:blipFill>
        <p:spPr>
          <a:xfrm xmlns:a="http://schemas.openxmlformats.org/drawingml/2006/main">
            <a:off x="1240115" y="1666875"/>
            <a:ext cx="9140271" cy="5429250"/>
          </a:xfrm>
          <a:prstGeom xmlns:a="http://schemas.openxmlformats.org/drawingml/2006/main" prst="rect">
            <a:avLst/>
          </a:prstGeom>
        </p:spPr>
      </p:pic>
      <p:sp>
        <p:nvSpPr>
          <p:cNvPr id="3" name="01">
            <a:extLst xmlns:a="http://schemas.openxmlformats.org/drawingml/2006/main">
              <a:ext uri="{FF2B5EF4-FFF2-40B4-BE49-F238E27FC236}">
                <a16:creationId xmlns:a16="http://schemas.microsoft.com/office/drawing/2014/main" id="{E220E704-255D-4B2D-82B5-0E0D74823F14}"/>
              </a:ext>
            </a:extLst>
          </p:cNvPr>
          <p:cNvSpPr>
            <a:spLocks xmlns:a="http://schemas.openxmlformats.org/drawingml/2006/main" noGrp="1"/>
          </p:cNvSpPr>
          <p:nvPr/>
        </p:nvSpPr>
        <p:spPr>
          <a:xfrm xmlns:a="http://schemas.openxmlformats.org/drawingml/2006/main">
            <a:off x="11525250" y="1771650"/>
            <a:ext cx="95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01</a:t>
            </a:r>
          </a:p>
        </p:txBody>
      </p:sp>
      <p:sp>
        <p:nvSpPr>
          <p:cNvPr id="4" name="Choose Propose Cost Change.">
            <a:extLst xmlns:a="http://schemas.openxmlformats.org/drawingml/2006/main">
              <a:ext uri="{FF2B5EF4-FFF2-40B4-BE49-F238E27FC236}">
                <a16:creationId xmlns:a16="http://schemas.microsoft.com/office/drawing/2014/main" id="{30D56006-40CC-4390-8E04-74213561B803}"/>
              </a:ext>
            </a:extLst>
          </p:cNvPr>
          <p:cNvSpPr>
            <a:spLocks xmlns:a="http://schemas.openxmlformats.org/drawingml/2006/main" noGrp="1"/>
          </p:cNvSpPr>
          <p:nvPr/>
        </p:nvSpPr>
        <p:spPr>
          <a:xfrm xmlns:a="http://schemas.openxmlformats.org/drawingml/2006/main">
            <a:off x="11525250" y="2238375"/>
            <a:ext cx="30765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025" b="0">
                <a:solidFill>
                  <a:srgbClr val="18384B"/>
                </a:solidFill>
                <a:latin typeface="Arial"/>
                <a:ea typeface="Arial"/>
                <a:cs typeface="Arial"/>
              </a:defRPr>
            </a:pPr>
            <a:r>
              <a:rPr sz="2025" b="0">
                <a:solidFill>
                  <a:srgbClr val="18384B"/>
                </a:solidFill>
                <a:latin typeface="Arial"/>
                <a:ea typeface="Arial"/>
                <a:cs typeface="Arial"/>
              </a:rPr>
              <a:t>Choose Propose Cost Change.</a:t>
            </a:r>
          </a:p>
        </p:txBody>
      </p:sp>
      <p:sp>
        <p:nvSpPr>
          <p:cNvPr id="5" name="02">
            <a:extLst xmlns:a="http://schemas.openxmlformats.org/drawingml/2006/main">
              <a:ext uri="{FF2B5EF4-FFF2-40B4-BE49-F238E27FC236}">
                <a16:creationId xmlns:a16="http://schemas.microsoft.com/office/drawing/2014/main" id="{D5199583-5FF1-4D35-935F-25D2E1F6F313}"/>
              </a:ext>
            </a:extLst>
          </p:cNvPr>
          <p:cNvSpPr>
            <a:spLocks xmlns:a="http://schemas.openxmlformats.org/drawingml/2006/main" noGrp="1"/>
          </p:cNvSpPr>
          <p:nvPr/>
        </p:nvSpPr>
        <p:spPr>
          <a:xfrm xmlns:a="http://schemas.openxmlformats.org/drawingml/2006/main">
            <a:off x="11525250" y="3429000"/>
            <a:ext cx="95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02</a:t>
            </a:r>
          </a:p>
        </p:txBody>
      </p:sp>
      <p:sp>
        <p:nvSpPr>
          <p:cNvPr id="6" name="Set the effective start and revise the relevant values.">
            <a:extLst xmlns:a="http://schemas.openxmlformats.org/drawingml/2006/main">
              <a:ext uri="{FF2B5EF4-FFF2-40B4-BE49-F238E27FC236}">
                <a16:creationId xmlns:a16="http://schemas.microsoft.com/office/drawing/2014/main" id="{14D28F26-D6CE-40D5-B0AC-D557AAFB43F2}"/>
              </a:ext>
            </a:extLst>
          </p:cNvPr>
          <p:cNvSpPr>
            <a:spLocks xmlns:a="http://schemas.openxmlformats.org/drawingml/2006/main" noGrp="1"/>
          </p:cNvSpPr>
          <p:nvPr/>
        </p:nvSpPr>
        <p:spPr>
          <a:xfrm xmlns:a="http://schemas.openxmlformats.org/drawingml/2006/main">
            <a:off x="11525250" y="3895725"/>
            <a:ext cx="30765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025" b="0">
                <a:solidFill>
                  <a:srgbClr val="18384B"/>
                </a:solidFill>
                <a:latin typeface="Arial"/>
                <a:ea typeface="Arial"/>
                <a:cs typeface="Arial"/>
              </a:defRPr>
            </a:pPr>
            <a:r>
              <a:rPr sz="2025" b="0">
                <a:solidFill>
                  <a:srgbClr val="18384B"/>
                </a:solidFill>
                <a:latin typeface="Arial"/>
                <a:ea typeface="Arial"/>
                <a:cs typeface="Arial"/>
              </a:rPr>
              <a:t>Set the effective start and revise the relevant values.</a:t>
            </a:r>
          </a:p>
        </p:txBody>
      </p:sp>
      <p:sp>
        <p:nvSpPr>
          <p:cNvPr id="7" name="03">
            <a:extLst xmlns:a="http://schemas.openxmlformats.org/drawingml/2006/main">
              <a:ext uri="{FF2B5EF4-FFF2-40B4-BE49-F238E27FC236}">
                <a16:creationId xmlns:a16="http://schemas.microsoft.com/office/drawing/2014/main" id="{664B939F-8520-4F06-9F6B-5DEF84C98F1F}"/>
              </a:ext>
            </a:extLst>
          </p:cNvPr>
          <p:cNvSpPr>
            <a:spLocks xmlns:a="http://schemas.openxmlformats.org/drawingml/2006/main" noGrp="1"/>
          </p:cNvSpPr>
          <p:nvPr/>
        </p:nvSpPr>
        <p:spPr>
          <a:xfrm xmlns:a="http://schemas.openxmlformats.org/drawingml/2006/main">
            <a:off x="11525250" y="5086350"/>
            <a:ext cx="95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03</a:t>
            </a:r>
          </a:p>
        </p:txBody>
      </p:sp>
      <p:sp>
        <p:nvSpPr>
          <p:cNvPr id="8" name="Check the changed fields, then Save Proposal.">
            <a:extLst xmlns:a="http://schemas.openxmlformats.org/drawingml/2006/main">
              <a:ext uri="{FF2B5EF4-FFF2-40B4-BE49-F238E27FC236}">
                <a16:creationId xmlns:a16="http://schemas.microsoft.com/office/drawing/2014/main" id="{6B26944E-1D07-4EDB-850B-18BF88A3EA8F}"/>
              </a:ext>
            </a:extLst>
          </p:cNvPr>
          <p:cNvSpPr>
            <a:spLocks xmlns:a="http://schemas.openxmlformats.org/drawingml/2006/main" noGrp="1"/>
          </p:cNvSpPr>
          <p:nvPr/>
        </p:nvSpPr>
        <p:spPr>
          <a:xfrm xmlns:a="http://schemas.openxmlformats.org/drawingml/2006/main">
            <a:off x="11525250" y="5553075"/>
            <a:ext cx="30765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025" b="0">
                <a:solidFill>
                  <a:srgbClr val="18384B"/>
                </a:solidFill>
                <a:latin typeface="Arial"/>
                <a:ea typeface="Arial"/>
                <a:cs typeface="Arial"/>
              </a:defRPr>
            </a:pPr>
            <a:r>
              <a:rPr sz="2025" b="0">
                <a:solidFill>
                  <a:srgbClr val="18384B"/>
                </a:solidFill>
                <a:latin typeface="Arial"/>
                <a:ea typeface="Arial"/>
                <a:cs typeface="Arial"/>
              </a:rPr>
              <a:t>Check the changed fields, then Save Proposal.</a:t>
            </a:r>
          </a:p>
        </p:txBody>
      </p:sp>
      <p:sp>
        <p:nvSpPr>
          <p:cNvPr id="9" name="Unchanged values carry forward in the complete proposed">
            <a:extLst xmlns:a="http://schemas.openxmlformats.org/drawingml/2006/main">
              <a:ext uri="{FF2B5EF4-FFF2-40B4-BE49-F238E27FC236}">
                <a16:creationId xmlns:a16="http://schemas.microsoft.com/office/drawing/2014/main" id="{1983FA41-2CDE-4788-8096-9F7307C2B5ED}"/>
              </a:ext>
            </a:extLst>
          </p:cNvPr>
          <p:cNvSpPr>
            <a:spLocks xmlns:a="http://schemas.openxmlformats.org/drawingml/2006/main" noGrp="1"/>
          </p:cNvSpPr>
          <p:nvPr/>
        </p:nvSpPr>
        <p:spPr>
          <a:xfrm xmlns:a="http://schemas.openxmlformats.org/drawingml/2006/main">
            <a:off x="609600" y="7448550"/>
            <a:ext cx="1390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Unchanged values carry forward in the complete proposed snapshot.</a:t>
            </a:r>
          </a:p>
        </p:txBody>
      </p:sp>
      <p:sp>
        <p:nvSpPr>
          <p:cNvPr id="10" name="WIDispatch   /   Client demonstration">
            <a:extLst xmlns:a="http://schemas.openxmlformats.org/drawingml/2006/main">
              <a:ext uri="{FF2B5EF4-FFF2-40B4-BE49-F238E27FC236}">
                <a16:creationId xmlns:a16="http://schemas.microsoft.com/office/drawing/2014/main" id="{F70210AB-778B-48DE-B3BC-C3C1B5545268}"/>
              </a:ext>
            </a:extLst>
          </p:cNvPr>
          <p:cNvSpPr>
            <a:spLocks xmlns:a="http://schemas.openxmlformats.org/drawingml/2006/main" noGrp="1"/>
          </p:cNvSpPr>
          <p:nvPr/>
        </p:nvSpPr>
        <p:spPr>
          <a:xfrm xmlns:a="http://schemas.openxmlformats.org/drawingml/2006/main">
            <a:off x="609600" y="81724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275" b="0">
                <a:solidFill>
                  <a:srgbClr val="547080"/>
                </a:solidFill>
                <a:latin typeface="Arial"/>
                <a:ea typeface="Arial"/>
                <a:cs typeface="Arial"/>
              </a:defRPr>
            </a:pPr>
            <a:r>
              <a:rPr sz="1275" b="0">
                <a:solidFill>
                  <a:srgbClr val="547080"/>
                </a:solidFill>
                <a:latin typeface="Arial"/>
                <a:ea typeface="Arial"/>
                <a:cs typeface="Arial"/>
              </a:rPr>
              <a:t>WIDispatch   /   Client demonstration</a:t>
            </a:r>
          </a:p>
        </p:txBody>
      </p:sp>
      <p:sp>
        <p:nvSpPr>
          <p:cNvPr id="11" name="27">
            <a:extLst xmlns:a="http://schemas.openxmlformats.org/drawingml/2006/main">
              <a:ext uri="{FF2B5EF4-FFF2-40B4-BE49-F238E27FC236}">
                <a16:creationId xmlns:a16="http://schemas.microsoft.com/office/drawing/2014/main" id="{92C95B14-1092-4FAD-BCDC-4F9D2BE7CBA4}"/>
              </a:ext>
            </a:extLst>
          </p:cNvPr>
          <p:cNvSpPr>
            <a:spLocks xmlns:a="http://schemas.openxmlformats.org/drawingml/2006/main" noGrp="1"/>
          </p:cNvSpPr>
          <p:nvPr/>
        </p:nvSpPr>
        <p:spPr>
          <a:xfrm xmlns:a="http://schemas.openxmlformats.org/drawingml/2006/main">
            <a:off x="13906500" y="8115300"/>
            <a:ext cx="723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547080"/>
                </a:solidFill>
                <a:latin typeface="Arial"/>
                <a:ea typeface="Arial"/>
                <a:cs typeface="Arial"/>
              </a:defRPr>
            </a:pPr>
            <a:r>
              <a:rPr sz="1650" b="0">
                <a:solidFill>
                  <a:srgbClr val="547080"/>
                </a:solidFill>
                <a:latin typeface="Arial"/>
                <a:ea typeface="Arial"/>
                <a:cs typeface="Arial"/>
              </a:rPr>
              <a:t>33</a:t>
            </a:r>
          </a:p>
        </p:txBody>
      </p:sp>
    </p:spTree>
    <p:extLst>
      <p:ext uri="{BB962C8B-B14F-4D97-AF65-F5344CB8AC3E}">
        <p14:creationId xmlns:p14="http://schemas.microsoft.com/office/powerpoint/2010/main" val="1855684187"/>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Economic approval activates the cost basis">
            <a:extLst xmlns:a="http://schemas.openxmlformats.org/drawingml/2006/main">
              <a:ext uri="{FF2B5EF4-FFF2-40B4-BE49-F238E27FC236}">
                <a16:creationId xmlns:a16="http://schemas.microsoft.com/office/drawing/2014/main" id="{DB5D4D50-5A5C-44F4-A25E-69BBA159301F}"/>
              </a:ext>
            </a:extLst>
          </p:cNvPr>
          <p:cNvSpPr>
            <a:spLocks xmlns:a="http://schemas.openxmlformats.org/drawingml/2006/main" noGrp="1"/>
          </p:cNvSpPr>
          <p:nvPr/>
        </p:nvSpPr>
        <p:spPr>
          <a:xfrm xmlns:a="http://schemas.openxmlformats.org/drawingml/2006/main">
            <a:off x="571500" y="428625"/>
            <a:ext cx="140970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300" b="1">
                <a:solidFill>
                  <a:srgbClr val="12374B"/>
                </a:solidFill>
                <a:latin typeface="Arial"/>
                <a:ea typeface="Arial"/>
                <a:cs typeface="Arial"/>
              </a:defRPr>
            </a:pPr>
            <a:r>
              <a:rPr sz="3300" b="1">
                <a:solidFill>
                  <a:srgbClr val="12374B"/>
                </a:solidFill>
                <a:latin typeface="Arial"/>
                <a:ea typeface="Arial"/>
                <a:cs typeface="Arial"/>
              </a:rPr>
              <a:t>Economic approval activates the cost basis</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ba2787fc52c64f61"/>
          <a:stretch xmlns:a="http://schemas.openxmlformats.org/drawingml/2006/main"/>
        </p:blipFill>
        <p:spPr>
          <a:xfrm xmlns:a="http://schemas.openxmlformats.org/drawingml/2006/main">
            <a:off x="476250" y="1973947"/>
            <a:ext cx="10668000" cy="4815107"/>
          </a:xfrm>
          <a:prstGeom xmlns:a="http://schemas.openxmlformats.org/drawingml/2006/main" prst="rect">
            <a:avLst/>
          </a:prstGeom>
        </p:spPr>
      </p:pic>
      <p:sp>
        <p:nvSpPr>
          <p:cNvPr id="3" name="01">
            <a:extLst xmlns:a="http://schemas.openxmlformats.org/drawingml/2006/main">
              <a:ext uri="{FF2B5EF4-FFF2-40B4-BE49-F238E27FC236}">
                <a16:creationId xmlns:a16="http://schemas.microsoft.com/office/drawing/2014/main" id="{A2D43D6F-9A2D-493A-B820-7EA0E897496C}"/>
              </a:ext>
            </a:extLst>
          </p:cNvPr>
          <p:cNvSpPr>
            <a:spLocks xmlns:a="http://schemas.openxmlformats.org/drawingml/2006/main" noGrp="1"/>
          </p:cNvSpPr>
          <p:nvPr/>
        </p:nvSpPr>
        <p:spPr>
          <a:xfrm xmlns:a="http://schemas.openxmlformats.org/drawingml/2006/main">
            <a:off x="11525250" y="1771650"/>
            <a:ext cx="95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01</a:t>
            </a:r>
          </a:p>
        </p:txBody>
      </p:sp>
      <p:sp>
        <p:nvSpPr>
          <p:cNvPr id="4" name="Review the plant, effective date and changed fields.">
            <a:extLst xmlns:a="http://schemas.openxmlformats.org/drawingml/2006/main">
              <a:ext uri="{FF2B5EF4-FFF2-40B4-BE49-F238E27FC236}">
                <a16:creationId xmlns:a16="http://schemas.microsoft.com/office/drawing/2014/main" id="{19A02EA9-1F61-4E38-AC37-A59A7FFF340B}"/>
              </a:ext>
            </a:extLst>
          </p:cNvPr>
          <p:cNvSpPr>
            <a:spLocks xmlns:a="http://schemas.openxmlformats.org/drawingml/2006/main" noGrp="1"/>
          </p:cNvSpPr>
          <p:nvPr/>
        </p:nvSpPr>
        <p:spPr>
          <a:xfrm xmlns:a="http://schemas.openxmlformats.org/drawingml/2006/main">
            <a:off x="11525250" y="2238375"/>
            <a:ext cx="30765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025" b="0">
                <a:solidFill>
                  <a:srgbClr val="18384B"/>
                </a:solidFill>
                <a:latin typeface="Arial"/>
                <a:ea typeface="Arial"/>
                <a:cs typeface="Arial"/>
              </a:defRPr>
            </a:pPr>
            <a:r>
              <a:rPr sz="2025" b="0">
                <a:solidFill>
                  <a:srgbClr val="18384B"/>
                </a:solidFill>
                <a:latin typeface="Arial"/>
                <a:ea typeface="Arial"/>
                <a:cs typeface="Arial"/>
              </a:rPr>
              <a:t>Review the plant, effective date and changed fields.</a:t>
            </a:r>
          </a:p>
        </p:txBody>
      </p:sp>
      <p:sp>
        <p:nvSpPr>
          <p:cNvPr id="5" name="02">
            <a:extLst xmlns:a="http://schemas.openxmlformats.org/drawingml/2006/main">
              <a:ext uri="{FF2B5EF4-FFF2-40B4-BE49-F238E27FC236}">
                <a16:creationId xmlns:a16="http://schemas.microsoft.com/office/drawing/2014/main" id="{0A89AF5C-5DF3-4700-BCF8-283CF565FB4D}"/>
              </a:ext>
            </a:extLst>
          </p:cNvPr>
          <p:cNvSpPr>
            <a:spLocks xmlns:a="http://schemas.openxmlformats.org/drawingml/2006/main" noGrp="1"/>
          </p:cNvSpPr>
          <p:nvPr/>
        </p:nvSpPr>
        <p:spPr>
          <a:xfrm xmlns:a="http://schemas.openxmlformats.org/drawingml/2006/main">
            <a:off x="11525250" y="3429000"/>
            <a:ext cx="95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02</a:t>
            </a:r>
          </a:p>
        </p:txBody>
      </p:sp>
      <p:sp>
        <p:nvSpPr>
          <p:cNvPr id="6" name="Approve, Reject or request Revision as appropriate.">
            <a:extLst xmlns:a="http://schemas.openxmlformats.org/drawingml/2006/main">
              <a:ext uri="{FF2B5EF4-FFF2-40B4-BE49-F238E27FC236}">
                <a16:creationId xmlns:a16="http://schemas.microsoft.com/office/drawing/2014/main" id="{795D31B4-6A7D-4765-8A20-6CDC53C80120}"/>
              </a:ext>
            </a:extLst>
          </p:cNvPr>
          <p:cNvSpPr>
            <a:spLocks xmlns:a="http://schemas.openxmlformats.org/drawingml/2006/main" noGrp="1"/>
          </p:cNvSpPr>
          <p:nvPr/>
        </p:nvSpPr>
        <p:spPr>
          <a:xfrm xmlns:a="http://schemas.openxmlformats.org/drawingml/2006/main">
            <a:off x="11525250" y="3895725"/>
            <a:ext cx="30765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025" b="0">
                <a:solidFill>
                  <a:srgbClr val="18384B"/>
                </a:solidFill>
                <a:latin typeface="Arial"/>
                <a:ea typeface="Arial"/>
                <a:cs typeface="Arial"/>
              </a:defRPr>
            </a:pPr>
            <a:r>
              <a:rPr sz="2025" b="0">
                <a:solidFill>
                  <a:srgbClr val="18384B"/>
                </a:solidFill>
                <a:latin typeface="Arial"/>
                <a:ea typeface="Arial"/>
                <a:cs typeface="Arial"/>
              </a:rPr>
              <a:t>Approve, Reject or request Revision as appropriate.</a:t>
            </a:r>
          </a:p>
        </p:txBody>
      </p:sp>
      <p:sp>
        <p:nvSpPr>
          <p:cNvPr id="7" name="03">
            <a:extLst xmlns:a="http://schemas.openxmlformats.org/drawingml/2006/main">
              <a:ext uri="{FF2B5EF4-FFF2-40B4-BE49-F238E27FC236}">
                <a16:creationId xmlns:a16="http://schemas.microsoft.com/office/drawing/2014/main" id="{21677480-BDBF-4969-A6BD-7A38C359894C}"/>
              </a:ext>
            </a:extLst>
          </p:cNvPr>
          <p:cNvSpPr>
            <a:spLocks xmlns:a="http://schemas.openxmlformats.org/drawingml/2006/main" noGrp="1"/>
          </p:cNvSpPr>
          <p:nvPr/>
        </p:nvSpPr>
        <p:spPr>
          <a:xfrm xmlns:a="http://schemas.openxmlformats.org/drawingml/2006/main">
            <a:off x="11525250" y="5086350"/>
            <a:ext cx="95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03</a:t>
            </a:r>
          </a:p>
        </p:txBody>
      </p:sp>
      <p:sp>
        <p:nvSpPr>
          <p:cNvPr id="8" name="Check the active financial snapshot after approval.">
            <a:extLst xmlns:a="http://schemas.openxmlformats.org/drawingml/2006/main">
              <a:ext uri="{FF2B5EF4-FFF2-40B4-BE49-F238E27FC236}">
                <a16:creationId xmlns:a16="http://schemas.microsoft.com/office/drawing/2014/main" id="{DFE13010-D6F9-40E0-94EE-DC2C4C0EDFDC}"/>
              </a:ext>
            </a:extLst>
          </p:cNvPr>
          <p:cNvSpPr>
            <a:spLocks xmlns:a="http://schemas.openxmlformats.org/drawingml/2006/main" noGrp="1"/>
          </p:cNvSpPr>
          <p:nvPr/>
        </p:nvSpPr>
        <p:spPr>
          <a:xfrm xmlns:a="http://schemas.openxmlformats.org/drawingml/2006/main">
            <a:off x="11525250" y="5553075"/>
            <a:ext cx="30765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025" b="0">
                <a:solidFill>
                  <a:srgbClr val="18384B"/>
                </a:solidFill>
                <a:latin typeface="Arial"/>
                <a:ea typeface="Arial"/>
                <a:cs typeface="Arial"/>
              </a:defRPr>
            </a:pPr>
            <a:r>
              <a:rPr sz="2025" b="0">
                <a:solidFill>
                  <a:srgbClr val="18384B"/>
                </a:solidFill>
                <a:latin typeface="Arial"/>
                <a:ea typeface="Arial"/>
                <a:cs typeface="Arial"/>
              </a:rPr>
              <a:t>Check the active financial snapshot after approval.</a:t>
            </a:r>
          </a:p>
        </p:txBody>
      </p:sp>
      <p:sp>
        <p:nvSpPr>
          <p:cNvPr id="9" name="A rejection or revision request requires a useful reaso">
            <a:extLst xmlns:a="http://schemas.openxmlformats.org/drawingml/2006/main">
              <a:ext uri="{FF2B5EF4-FFF2-40B4-BE49-F238E27FC236}">
                <a16:creationId xmlns:a16="http://schemas.microsoft.com/office/drawing/2014/main" id="{7A2F4955-6C29-403D-81B7-5C6A7630CFDD}"/>
              </a:ext>
            </a:extLst>
          </p:cNvPr>
          <p:cNvSpPr>
            <a:spLocks xmlns:a="http://schemas.openxmlformats.org/drawingml/2006/main" noGrp="1"/>
          </p:cNvSpPr>
          <p:nvPr/>
        </p:nvSpPr>
        <p:spPr>
          <a:xfrm xmlns:a="http://schemas.openxmlformats.org/drawingml/2006/main">
            <a:off x="609600" y="7448550"/>
            <a:ext cx="1390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A rejection or revision request requires a useful reason.</a:t>
            </a:r>
          </a:p>
        </p:txBody>
      </p:sp>
      <p:sp>
        <p:nvSpPr>
          <p:cNvPr id="10" name="WIDispatch   /   Client demonstration">
            <a:extLst xmlns:a="http://schemas.openxmlformats.org/drawingml/2006/main">
              <a:ext uri="{FF2B5EF4-FFF2-40B4-BE49-F238E27FC236}">
                <a16:creationId xmlns:a16="http://schemas.microsoft.com/office/drawing/2014/main" id="{94DB538A-35CF-44E6-8A45-E8885EB4252E}"/>
              </a:ext>
            </a:extLst>
          </p:cNvPr>
          <p:cNvSpPr>
            <a:spLocks xmlns:a="http://schemas.openxmlformats.org/drawingml/2006/main" noGrp="1"/>
          </p:cNvSpPr>
          <p:nvPr/>
        </p:nvSpPr>
        <p:spPr>
          <a:xfrm xmlns:a="http://schemas.openxmlformats.org/drawingml/2006/main">
            <a:off x="609600" y="81724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275" b="0">
                <a:solidFill>
                  <a:srgbClr val="547080"/>
                </a:solidFill>
                <a:latin typeface="Arial"/>
                <a:ea typeface="Arial"/>
                <a:cs typeface="Arial"/>
              </a:defRPr>
            </a:pPr>
            <a:r>
              <a:rPr sz="1275" b="0">
                <a:solidFill>
                  <a:srgbClr val="547080"/>
                </a:solidFill>
                <a:latin typeface="Arial"/>
                <a:ea typeface="Arial"/>
                <a:cs typeface="Arial"/>
              </a:rPr>
              <a:t>WIDispatch   /   Client demonstration</a:t>
            </a:r>
          </a:p>
        </p:txBody>
      </p:sp>
      <p:sp>
        <p:nvSpPr>
          <p:cNvPr id="11" name="28">
            <a:extLst xmlns:a="http://schemas.openxmlformats.org/drawingml/2006/main">
              <a:ext uri="{FF2B5EF4-FFF2-40B4-BE49-F238E27FC236}">
                <a16:creationId xmlns:a16="http://schemas.microsoft.com/office/drawing/2014/main" id="{4F2D7C1C-6E8A-4FDB-8BAB-3983A322810D}"/>
              </a:ext>
            </a:extLst>
          </p:cNvPr>
          <p:cNvSpPr>
            <a:spLocks xmlns:a="http://schemas.openxmlformats.org/drawingml/2006/main" noGrp="1"/>
          </p:cNvSpPr>
          <p:nvPr/>
        </p:nvSpPr>
        <p:spPr>
          <a:xfrm xmlns:a="http://schemas.openxmlformats.org/drawingml/2006/main">
            <a:off x="13906500" y="8115300"/>
            <a:ext cx="723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547080"/>
                </a:solidFill>
                <a:latin typeface="Arial"/>
                <a:ea typeface="Arial"/>
                <a:cs typeface="Arial"/>
              </a:defRPr>
            </a:pPr>
            <a:r>
              <a:rPr sz="1650" b="0">
                <a:solidFill>
                  <a:srgbClr val="547080"/>
                </a:solidFill>
                <a:latin typeface="Arial"/>
                <a:ea typeface="Arial"/>
                <a:cs typeface="Arial"/>
              </a:rPr>
              <a:t>34</a:t>
            </a:r>
          </a:p>
        </p:txBody>
      </p:sp>
    </p:spTree>
    <p:extLst>
      <p:ext uri="{BB962C8B-B14F-4D97-AF65-F5344CB8AC3E}">
        <p14:creationId xmlns:p14="http://schemas.microsoft.com/office/powerpoint/2010/main" val="1462427152"/>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Building a network from registered assets">
            <a:extLst xmlns:a="http://schemas.openxmlformats.org/drawingml/2006/main">
              <a:ext uri="{FF2B5EF4-FFF2-40B4-BE49-F238E27FC236}">
                <a16:creationId xmlns:a16="http://schemas.microsoft.com/office/drawing/2014/main" id="{1093C198-434E-42C2-B163-EF7CC47C8C34}"/>
              </a:ext>
            </a:extLst>
          </p:cNvPr>
          <p:cNvSpPr>
            <a:spLocks xmlns:a="http://schemas.openxmlformats.org/drawingml/2006/main" noGrp="1"/>
          </p:cNvSpPr>
          <p:nvPr/>
        </p:nvSpPr>
        <p:spPr>
          <a:xfrm xmlns:a="http://schemas.openxmlformats.org/drawingml/2006/main">
            <a:off x="571500" y="428625"/>
            <a:ext cx="140970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300" b="1">
                <a:solidFill>
                  <a:srgbClr val="12374B"/>
                </a:solidFill>
                <a:latin typeface="Arial"/>
                <a:ea typeface="Arial"/>
                <a:cs typeface="Arial"/>
              </a:defRPr>
            </a:pPr>
            <a:r>
              <a:rPr sz="3300" b="1">
                <a:solidFill>
                  <a:srgbClr val="12374B"/>
                </a:solidFill>
                <a:latin typeface="Arial"/>
                <a:ea typeface="Arial"/>
                <a:cs typeface="Arial"/>
              </a:rPr>
              <a:t>Building a network from registered assets</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c67c47103f764880"/>
          <a:stretch xmlns:a="http://schemas.openxmlformats.org/drawingml/2006/main"/>
        </p:blipFill>
        <p:spPr>
          <a:xfrm xmlns:a="http://schemas.openxmlformats.org/drawingml/2006/main">
            <a:off x="476250" y="1830335"/>
            <a:ext cx="10668000" cy="5102330"/>
          </a:xfrm>
          <a:prstGeom xmlns:a="http://schemas.openxmlformats.org/drawingml/2006/main" prst="rect">
            <a:avLst/>
          </a:prstGeom>
        </p:spPr>
      </p:pic>
      <p:sp>
        <p:nvSpPr>
          <p:cNvPr id="3" name="01">
            <a:extLst xmlns:a="http://schemas.openxmlformats.org/drawingml/2006/main">
              <a:ext uri="{FF2B5EF4-FFF2-40B4-BE49-F238E27FC236}">
                <a16:creationId xmlns:a16="http://schemas.microsoft.com/office/drawing/2014/main" id="{26212459-38E5-414D-BAC3-3F5243875DFD}"/>
              </a:ext>
            </a:extLst>
          </p:cNvPr>
          <p:cNvSpPr>
            <a:spLocks xmlns:a="http://schemas.openxmlformats.org/drawingml/2006/main" noGrp="1"/>
          </p:cNvSpPr>
          <p:nvPr/>
        </p:nvSpPr>
        <p:spPr>
          <a:xfrm xmlns:a="http://schemas.openxmlformats.org/drawingml/2006/main">
            <a:off x="11525250" y="1771650"/>
            <a:ext cx="95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01</a:t>
            </a:r>
          </a:p>
        </p:txBody>
      </p:sp>
      <p:sp>
        <p:nvSpPr>
          <p:cNvPr id="4" name="Open Network Builder and create a new network.">
            <a:extLst xmlns:a="http://schemas.openxmlformats.org/drawingml/2006/main">
              <a:ext uri="{FF2B5EF4-FFF2-40B4-BE49-F238E27FC236}">
                <a16:creationId xmlns:a16="http://schemas.microsoft.com/office/drawing/2014/main" id="{7634D884-D29F-4AC2-A03E-4D6714010054}"/>
              </a:ext>
            </a:extLst>
          </p:cNvPr>
          <p:cNvSpPr>
            <a:spLocks xmlns:a="http://schemas.openxmlformats.org/drawingml/2006/main" noGrp="1"/>
          </p:cNvSpPr>
          <p:nvPr/>
        </p:nvSpPr>
        <p:spPr>
          <a:xfrm xmlns:a="http://schemas.openxmlformats.org/drawingml/2006/main">
            <a:off x="11525250" y="2238375"/>
            <a:ext cx="30765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025" b="0">
                <a:solidFill>
                  <a:srgbClr val="18384B"/>
                </a:solidFill>
                <a:latin typeface="Arial"/>
                <a:ea typeface="Arial"/>
                <a:cs typeface="Arial"/>
              </a:defRPr>
            </a:pPr>
            <a:r>
              <a:rPr sz="2025" b="0">
                <a:solidFill>
                  <a:srgbClr val="18384B"/>
                </a:solidFill>
                <a:latin typeface="Arial"/>
                <a:ea typeface="Arial"/>
                <a:cs typeface="Arial"/>
              </a:rPr>
              <a:t>Open Network Builder and create a new network.</a:t>
            </a:r>
          </a:p>
        </p:txBody>
      </p:sp>
      <p:sp>
        <p:nvSpPr>
          <p:cNvPr id="5" name="02">
            <a:extLst xmlns:a="http://schemas.openxmlformats.org/drawingml/2006/main">
              <a:ext uri="{FF2B5EF4-FFF2-40B4-BE49-F238E27FC236}">
                <a16:creationId xmlns:a16="http://schemas.microsoft.com/office/drawing/2014/main" id="{55ABE5DE-E80A-4C58-BA89-E9F7E88AD60B}"/>
              </a:ext>
            </a:extLst>
          </p:cNvPr>
          <p:cNvSpPr>
            <a:spLocks xmlns:a="http://schemas.openxmlformats.org/drawingml/2006/main" noGrp="1"/>
          </p:cNvSpPr>
          <p:nvPr/>
        </p:nvSpPr>
        <p:spPr>
          <a:xfrm xmlns:a="http://schemas.openxmlformats.org/drawingml/2006/main">
            <a:off x="11525250" y="3429000"/>
            <a:ext cx="95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02</a:t>
            </a:r>
          </a:p>
        </p:txBody>
      </p:sp>
      <p:sp>
        <p:nvSpPr>
          <p:cNvPr id="6" name="Filter the Asset Library and select the required assets">
            <a:extLst xmlns:a="http://schemas.openxmlformats.org/drawingml/2006/main">
              <a:ext uri="{FF2B5EF4-FFF2-40B4-BE49-F238E27FC236}">
                <a16:creationId xmlns:a16="http://schemas.microsoft.com/office/drawing/2014/main" id="{9D0D0806-65B3-4820-A062-346FDB8F22F1}"/>
              </a:ext>
            </a:extLst>
          </p:cNvPr>
          <p:cNvSpPr>
            <a:spLocks xmlns:a="http://schemas.openxmlformats.org/drawingml/2006/main" noGrp="1"/>
          </p:cNvSpPr>
          <p:nvPr/>
        </p:nvSpPr>
        <p:spPr>
          <a:xfrm xmlns:a="http://schemas.openxmlformats.org/drawingml/2006/main">
            <a:off x="11525250" y="3895725"/>
            <a:ext cx="30765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025" b="0">
                <a:solidFill>
                  <a:srgbClr val="18384B"/>
                </a:solidFill>
                <a:latin typeface="Arial"/>
                <a:ea typeface="Arial"/>
                <a:cs typeface="Arial"/>
              </a:defRPr>
            </a:pPr>
            <a:r>
              <a:rPr sz="2025" b="0">
                <a:solidFill>
                  <a:srgbClr val="18384B"/>
                </a:solidFill>
                <a:latin typeface="Arial"/>
                <a:ea typeface="Arial"/>
                <a:cs typeface="Arial"/>
              </a:rPr>
              <a:t>Filter the Asset Library and select the required assets.</a:t>
            </a:r>
          </a:p>
        </p:txBody>
      </p:sp>
      <p:sp>
        <p:nvSpPr>
          <p:cNvPr id="7" name="03">
            <a:extLst xmlns:a="http://schemas.openxmlformats.org/drawingml/2006/main">
              <a:ext uri="{FF2B5EF4-FFF2-40B4-BE49-F238E27FC236}">
                <a16:creationId xmlns:a16="http://schemas.microsoft.com/office/drawing/2014/main" id="{40BA2B4F-2254-43E1-B7DF-1D3B44BA0CE9}"/>
              </a:ext>
            </a:extLst>
          </p:cNvPr>
          <p:cNvSpPr>
            <a:spLocks xmlns:a="http://schemas.openxmlformats.org/drawingml/2006/main" noGrp="1"/>
          </p:cNvSpPr>
          <p:nvPr/>
        </p:nvSpPr>
        <p:spPr>
          <a:xfrm xmlns:a="http://schemas.openxmlformats.org/drawingml/2006/main">
            <a:off x="11525250" y="5086350"/>
            <a:ext cx="95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03</a:t>
            </a:r>
          </a:p>
        </p:txBody>
      </p:sp>
      <p:sp>
        <p:nvSpPr>
          <p:cNvPr id="8" name="Place the selected assets on the canvas.">
            <a:extLst xmlns:a="http://schemas.openxmlformats.org/drawingml/2006/main">
              <a:ext uri="{FF2B5EF4-FFF2-40B4-BE49-F238E27FC236}">
                <a16:creationId xmlns:a16="http://schemas.microsoft.com/office/drawing/2014/main" id="{FB91EE35-342F-4783-A418-B7350EEEEFFD}"/>
              </a:ext>
            </a:extLst>
          </p:cNvPr>
          <p:cNvSpPr>
            <a:spLocks xmlns:a="http://schemas.openxmlformats.org/drawingml/2006/main" noGrp="1"/>
          </p:cNvSpPr>
          <p:nvPr/>
        </p:nvSpPr>
        <p:spPr>
          <a:xfrm xmlns:a="http://schemas.openxmlformats.org/drawingml/2006/main">
            <a:off x="11525250" y="5553075"/>
            <a:ext cx="30765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025" b="0">
                <a:solidFill>
                  <a:srgbClr val="18384B"/>
                </a:solidFill>
                <a:latin typeface="Arial"/>
                <a:ea typeface="Arial"/>
                <a:cs typeface="Arial"/>
              </a:defRPr>
            </a:pPr>
            <a:r>
              <a:rPr sz="2025" b="0">
                <a:solidFill>
                  <a:srgbClr val="18384B"/>
                </a:solidFill>
                <a:latin typeface="Arial"/>
                <a:ea typeface="Arial"/>
                <a:cs typeface="Arial"/>
              </a:rPr>
              <a:t>Place the selected assets on the canvas.</a:t>
            </a:r>
          </a:p>
        </p:txBody>
      </p:sp>
      <p:sp>
        <p:nvSpPr>
          <p:cNvPr id="9" name="Registered assets preserve the link to operational inpu">
            <a:extLst xmlns:a="http://schemas.openxmlformats.org/drawingml/2006/main">
              <a:ext uri="{FF2B5EF4-FFF2-40B4-BE49-F238E27FC236}">
                <a16:creationId xmlns:a16="http://schemas.microsoft.com/office/drawing/2014/main" id="{3AF836AF-3FEC-46FA-B961-50F657B7FC49}"/>
              </a:ext>
            </a:extLst>
          </p:cNvPr>
          <p:cNvSpPr>
            <a:spLocks xmlns:a="http://schemas.openxmlformats.org/drawingml/2006/main" noGrp="1"/>
          </p:cNvSpPr>
          <p:nvPr/>
        </p:nvSpPr>
        <p:spPr>
          <a:xfrm xmlns:a="http://schemas.openxmlformats.org/drawingml/2006/main">
            <a:off x="609600" y="7448550"/>
            <a:ext cx="1390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Registered assets preserve the link to operational inputs.</a:t>
            </a:r>
          </a:p>
        </p:txBody>
      </p:sp>
      <p:sp>
        <p:nvSpPr>
          <p:cNvPr id="10" name="WIDispatch   /   Client demonstration">
            <a:extLst xmlns:a="http://schemas.openxmlformats.org/drawingml/2006/main">
              <a:ext uri="{FF2B5EF4-FFF2-40B4-BE49-F238E27FC236}">
                <a16:creationId xmlns:a16="http://schemas.microsoft.com/office/drawing/2014/main" id="{122C9519-C792-482F-B04F-56675DEEBEED}"/>
              </a:ext>
            </a:extLst>
          </p:cNvPr>
          <p:cNvSpPr>
            <a:spLocks xmlns:a="http://schemas.openxmlformats.org/drawingml/2006/main" noGrp="1"/>
          </p:cNvSpPr>
          <p:nvPr/>
        </p:nvSpPr>
        <p:spPr>
          <a:xfrm xmlns:a="http://schemas.openxmlformats.org/drawingml/2006/main">
            <a:off x="609600" y="81724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275" b="0">
                <a:solidFill>
                  <a:srgbClr val="547080"/>
                </a:solidFill>
                <a:latin typeface="Arial"/>
                <a:ea typeface="Arial"/>
                <a:cs typeface="Arial"/>
              </a:defRPr>
            </a:pPr>
            <a:r>
              <a:rPr sz="1275" b="0">
                <a:solidFill>
                  <a:srgbClr val="547080"/>
                </a:solidFill>
                <a:latin typeface="Arial"/>
                <a:ea typeface="Arial"/>
                <a:cs typeface="Arial"/>
              </a:rPr>
              <a:t>WIDispatch   /   Client demonstration</a:t>
            </a:r>
          </a:p>
        </p:txBody>
      </p:sp>
      <p:sp>
        <p:nvSpPr>
          <p:cNvPr id="11" name="29">
            <a:extLst xmlns:a="http://schemas.openxmlformats.org/drawingml/2006/main">
              <a:ext uri="{FF2B5EF4-FFF2-40B4-BE49-F238E27FC236}">
                <a16:creationId xmlns:a16="http://schemas.microsoft.com/office/drawing/2014/main" id="{E16B6FE0-14D5-4EE3-8A97-6DC0D06E1770}"/>
              </a:ext>
            </a:extLst>
          </p:cNvPr>
          <p:cNvSpPr>
            <a:spLocks xmlns:a="http://schemas.openxmlformats.org/drawingml/2006/main" noGrp="1"/>
          </p:cNvSpPr>
          <p:nvPr/>
        </p:nvSpPr>
        <p:spPr>
          <a:xfrm xmlns:a="http://schemas.openxmlformats.org/drawingml/2006/main">
            <a:off x="13906500" y="8115300"/>
            <a:ext cx="723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547080"/>
                </a:solidFill>
                <a:latin typeface="Arial"/>
                <a:ea typeface="Arial"/>
                <a:cs typeface="Arial"/>
              </a:defRPr>
            </a:pPr>
            <a:r>
              <a:rPr sz="1650" b="0">
                <a:solidFill>
                  <a:srgbClr val="547080"/>
                </a:solidFill>
                <a:latin typeface="Arial"/>
                <a:ea typeface="Arial"/>
                <a:cs typeface="Arial"/>
              </a:rPr>
              <a:t>35</a:t>
            </a:r>
          </a:p>
        </p:txBody>
      </p:sp>
    </p:spTree>
    <p:extLst>
      <p:ext uri="{BB962C8B-B14F-4D97-AF65-F5344CB8AC3E}">
        <p14:creationId xmlns:p14="http://schemas.microsoft.com/office/powerpoint/2010/main" val="997972485"/>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New assets from the canvas toolbar">
            <a:extLst xmlns:a="http://schemas.openxmlformats.org/drawingml/2006/main">
              <a:ext uri="{FF2B5EF4-FFF2-40B4-BE49-F238E27FC236}">
                <a16:creationId xmlns:a16="http://schemas.microsoft.com/office/drawing/2014/main" id="{736928F9-5342-4CB8-ACCA-6EE1CE5F5293}"/>
              </a:ext>
            </a:extLst>
          </p:cNvPr>
          <p:cNvSpPr>
            <a:spLocks xmlns:a="http://schemas.openxmlformats.org/drawingml/2006/main" noGrp="1"/>
          </p:cNvSpPr>
          <p:nvPr/>
        </p:nvSpPr>
        <p:spPr>
          <a:xfrm xmlns:a="http://schemas.openxmlformats.org/drawingml/2006/main">
            <a:off x="571500" y="428625"/>
            <a:ext cx="140970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300" b="1">
                <a:solidFill>
                  <a:srgbClr val="12374B"/>
                </a:solidFill>
                <a:latin typeface="Arial"/>
                <a:ea typeface="Arial"/>
                <a:cs typeface="Arial"/>
              </a:defRPr>
            </a:pPr>
            <a:r>
              <a:rPr sz="3300" b="1">
                <a:solidFill>
                  <a:srgbClr val="12374B"/>
                </a:solidFill>
                <a:latin typeface="Arial"/>
                <a:ea typeface="Arial"/>
                <a:cs typeface="Arial"/>
              </a:rPr>
              <a:t>New assets from the canvas toolbar</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f2d8edd051a742ff"/>
          <a:stretch xmlns:a="http://schemas.openxmlformats.org/drawingml/2006/main"/>
        </p:blipFill>
        <p:spPr>
          <a:xfrm xmlns:a="http://schemas.openxmlformats.org/drawingml/2006/main">
            <a:off x="1862174" y="1666875"/>
            <a:ext cx="7896153" cy="5429250"/>
          </a:xfrm>
          <a:prstGeom xmlns:a="http://schemas.openxmlformats.org/drawingml/2006/main" prst="rect">
            <a:avLst/>
          </a:prstGeom>
        </p:spPr>
      </p:pic>
      <p:sp>
        <p:nvSpPr>
          <p:cNvPr id="3" name="01">
            <a:extLst xmlns:a="http://schemas.openxmlformats.org/drawingml/2006/main">
              <a:ext uri="{FF2B5EF4-FFF2-40B4-BE49-F238E27FC236}">
                <a16:creationId xmlns:a16="http://schemas.microsoft.com/office/drawing/2014/main" id="{95DE2292-C959-457D-8860-FB516EFA58B2}"/>
              </a:ext>
            </a:extLst>
          </p:cNvPr>
          <p:cNvSpPr>
            <a:spLocks xmlns:a="http://schemas.openxmlformats.org/drawingml/2006/main" noGrp="1"/>
          </p:cNvSpPr>
          <p:nvPr/>
        </p:nvSpPr>
        <p:spPr>
          <a:xfrm xmlns:a="http://schemas.openxmlformats.org/drawingml/2006/main">
            <a:off x="11525250" y="1771650"/>
            <a:ext cx="95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01</a:t>
            </a:r>
          </a:p>
        </p:txBody>
      </p:sp>
      <p:sp>
        <p:nvSpPr>
          <p:cNvPr id="4" name="Choose Plant, Tank, Pump Station or Handover Point.">
            <a:extLst xmlns:a="http://schemas.openxmlformats.org/drawingml/2006/main">
              <a:ext uri="{FF2B5EF4-FFF2-40B4-BE49-F238E27FC236}">
                <a16:creationId xmlns:a16="http://schemas.microsoft.com/office/drawing/2014/main" id="{1617BB81-C525-4D9D-B660-5265BF4213CF}"/>
              </a:ext>
            </a:extLst>
          </p:cNvPr>
          <p:cNvSpPr>
            <a:spLocks xmlns:a="http://schemas.openxmlformats.org/drawingml/2006/main" noGrp="1"/>
          </p:cNvSpPr>
          <p:nvPr/>
        </p:nvSpPr>
        <p:spPr>
          <a:xfrm xmlns:a="http://schemas.openxmlformats.org/drawingml/2006/main">
            <a:off x="11525250" y="2238375"/>
            <a:ext cx="30765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025" b="0">
                <a:solidFill>
                  <a:srgbClr val="18384B"/>
                </a:solidFill>
                <a:latin typeface="Arial"/>
                <a:ea typeface="Arial"/>
                <a:cs typeface="Arial"/>
              </a:defRPr>
            </a:pPr>
            <a:r>
              <a:rPr sz="2025" b="0">
                <a:solidFill>
                  <a:srgbClr val="18384B"/>
                </a:solidFill>
                <a:latin typeface="Arial"/>
                <a:ea typeface="Arial"/>
                <a:cs typeface="Arial"/>
              </a:rPr>
              <a:t>Choose Plant, Tank, Pump Station or Handover Point.</a:t>
            </a:r>
          </a:p>
        </p:txBody>
      </p:sp>
      <p:sp>
        <p:nvSpPr>
          <p:cNvPr id="5" name="02">
            <a:extLst xmlns:a="http://schemas.openxmlformats.org/drawingml/2006/main">
              <a:ext uri="{FF2B5EF4-FFF2-40B4-BE49-F238E27FC236}">
                <a16:creationId xmlns:a16="http://schemas.microsoft.com/office/drawing/2014/main" id="{4C2E6D8C-C10C-4508-AC70-775948708C35}"/>
              </a:ext>
            </a:extLst>
          </p:cNvPr>
          <p:cNvSpPr>
            <a:spLocks xmlns:a="http://schemas.openxmlformats.org/drawingml/2006/main" noGrp="1"/>
          </p:cNvSpPr>
          <p:nvPr/>
        </p:nvSpPr>
        <p:spPr>
          <a:xfrm xmlns:a="http://schemas.openxmlformats.org/drawingml/2006/main">
            <a:off x="11525250" y="3429000"/>
            <a:ext cx="95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02</a:t>
            </a:r>
          </a:p>
        </p:txBody>
      </p:sp>
      <p:sp>
        <p:nvSpPr>
          <p:cNvPr id="6" name="Click the intended position on the canvas.">
            <a:extLst xmlns:a="http://schemas.openxmlformats.org/drawingml/2006/main">
              <a:ext uri="{FF2B5EF4-FFF2-40B4-BE49-F238E27FC236}">
                <a16:creationId xmlns:a16="http://schemas.microsoft.com/office/drawing/2014/main" id="{6696700C-061B-4E44-A39E-C4EBDC1987F5}"/>
              </a:ext>
            </a:extLst>
          </p:cNvPr>
          <p:cNvSpPr>
            <a:spLocks xmlns:a="http://schemas.openxmlformats.org/drawingml/2006/main" noGrp="1"/>
          </p:cNvSpPr>
          <p:nvPr/>
        </p:nvSpPr>
        <p:spPr>
          <a:xfrm xmlns:a="http://schemas.openxmlformats.org/drawingml/2006/main">
            <a:off x="11525250" y="3895725"/>
            <a:ext cx="30765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025" b="0">
                <a:solidFill>
                  <a:srgbClr val="18384B"/>
                </a:solidFill>
                <a:latin typeface="Arial"/>
                <a:ea typeface="Arial"/>
                <a:cs typeface="Arial"/>
              </a:defRPr>
            </a:pPr>
            <a:r>
              <a:rPr sz="2025" b="0">
                <a:solidFill>
                  <a:srgbClr val="18384B"/>
                </a:solidFill>
                <a:latin typeface="Arial"/>
                <a:ea typeface="Arial"/>
                <a:cs typeface="Arial"/>
              </a:rPr>
              <a:t>Click the intended position on the canvas.</a:t>
            </a:r>
          </a:p>
        </p:txBody>
      </p:sp>
      <p:sp>
        <p:nvSpPr>
          <p:cNvPr id="7" name="03">
            <a:extLst xmlns:a="http://schemas.openxmlformats.org/drawingml/2006/main">
              <a:ext uri="{FF2B5EF4-FFF2-40B4-BE49-F238E27FC236}">
                <a16:creationId xmlns:a16="http://schemas.microsoft.com/office/drawing/2014/main" id="{54065154-D550-4F9C-AE8A-70B9134CE7F5}"/>
              </a:ext>
            </a:extLst>
          </p:cNvPr>
          <p:cNvSpPr>
            <a:spLocks xmlns:a="http://schemas.openxmlformats.org/drawingml/2006/main" noGrp="1"/>
          </p:cNvSpPr>
          <p:nvPr/>
        </p:nvSpPr>
        <p:spPr>
          <a:xfrm xmlns:a="http://schemas.openxmlformats.org/drawingml/2006/main">
            <a:off x="11525250" y="5086350"/>
            <a:ext cx="95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03</a:t>
            </a:r>
          </a:p>
        </p:txBody>
      </p:sp>
      <p:sp>
        <p:nvSpPr>
          <p:cNvPr id="8" name="Complete the asset form and add the asset.">
            <a:extLst xmlns:a="http://schemas.openxmlformats.org/drawingml/2006/main">
              <a:ext uri="{FF2B5EF4-FFF2-40B4-BE49-F238E27FC236}">
                <a16:creationId xmlns:a16="http://schemas.microsoft.com/office/drawing/2014/main" id="{56BD7CA1-F0E1-4DBB-8132-081AD6FA5B9A}"/>
              </a:ext>
            </a:extLst>
          </p:cNvPr>
          <p:cNvSpPr>
            <a:spLocks xmlns:a="http://schemas.openxmlformats.org/drawingml/2006/main" noGrp="1"/>
          </p:cNvSpPr>
          <p:nvPr/>
        </p:nvSpPr>
        <p:spPr>
          <a:xfrm xmlns:a="http://schemas.openxmlformats.org/drawingml/2006/main">
            <a:off x="11525250" y="5553075"/>
            <a:ext cx="30765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025" b="0">
                <a:solidFill>
                  <a:srgbClr val="18384B"/>
                </a:solidFill>
                <a:latin typeface="Arial"/>
                <a:ea typeface="Arial"/>
                <a:cs typeface="Arial"/>
              </a:defRPr>
            </a:pPr>
            <a:r>
              <a:rPr sz="2025" b="0">
                <a:solidFill>
                  <a:srgbClr val="18384B"/>
                </a:solidFill>
                <a:latin typeface="Arial"/>
                <a:ea typeface="Arial"/>
                <a:cs typeface="Arial"/>
              </a:rPr>
              <a:t>Complete the asset form and add the asset.</a:t>
            </a:r>
          </a:p>
        </p:txBody>
      </p:sp>
      <p:sp>
        <p:nvSpPr>
          <p:cNvPr id="9" name="The quick-add form creates a registry asset as well as ">
            <a:extLst xmlns:a="http://schemas.openxmlformats.org/drawingml/2006/main">
              <a:ext uri="{FF2B5EF4-FFF2-40B4-BE49-F238E27FC236}">
                <a16:creationId xmlns:a16="http://schemas.microsoft.com/office/drawing/2014/main" id="{DF97459E-A87E-420F-9601-EF2E063A8181}"/>
              </a:ext>
            </a:extLst>
          </p:cNvPr>
          <p:cNvSpPr>
            <a:spLocks xmlns:a="http://schemas.openxmlformats.org/drawingml/2006/main" noGrp="1"/>
          </p:cNvSpPr>
          <p:nvPr/>
        </p:nvSpPr>
        <p:spPr>
          <a:xfrm xmlns:a="http://schemas.openxmlformats.org/drawingml/2006/main">
            <a:off x="609600" y="7448550"/>
            <a:ext cx="1390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The quick-add form creates a registry asset as well as placing it on the network.</a:t>
            </a:r>
          </a:p>
        </p:txBody>
      </p:sp>
      <p:sp>
        <p:nvSpPr>
          <p:cNvPr id="10" name="WIDispatch   /   Client demonstration">
            <a:extLst xmlns:a="http://schemas.openxmlformats.org/drawingml/2006/main">
              <a:ext uri="{FF2B5EF4-FFF2-40B4-BE49-F238E27FC236}">
                <a16:creationId xmlns:a16="http://schemas.microsoft.com/office/drawing/2014/main" id="{8FA1BAF3-B2EA-4A8B-9789-AB62F15B602C}"/>
              </a:ext>
            </a:extLst>
          </p:cNvPr>
          <p:cNvSpPr>
            <a:spLocks xmlns:a="http://schemas.openxmlformats.org/drawingml/2006/main" noGrp="1"/>
          </p:cNvSpPr>
          <p:nvPr/>
        </p:nvSpPr>
        <p:spPr>
          <a:xfrm xmlns:a="http://schemas.openxmlformats.org/drawingml/2006/main">
            <a:off x="609600" y="81724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275" b="0">
                <a:solidFill>
                  <a:srgbClr val="547080"/>
                </a:solidFill>
                <a:latin typeface="Arial"/>
                <a:ea typeface="Arial"/>
                <a:cs typeface="Arial"/>
              </a:defRPr>
            </a:pPr>
            <a:r>
              <a:rPr sz="1275" b="0">
                <a:solidFill>
                  <a:srgbClr val="547080"/>
                </a:solidFill>
                <a:latin typeface="Arial"/>
                <a:ea typeface="Arial"/>
                <a:cs typeface="Arial"/>
              </a:rPr>
              <a:t>WIDispatch   /   Client demonstration</a:t>
            </a:r>
          </a:p>
        </p:txBody>
      </p:sp>
      <p:sp>
        <p:nvSpPr>
          <p:cNvPr id="11" name="30">
            <a:extLst xmlns:a="http://schemas.openxmlformats.org/drawingml/2006/main">
              <a:ext uri="{FF2B5EF4-FFF2-40B4-BE49-F238E27FC236}">
                <a16:creationId xmlns:a16="http://schemas.microsoft.com/office/drawing/2014/main" id="{62A414BF-908D-4C7E-9901-D365130A673D}"/>
              </a:ext>
            </a:extLst>
          </p:cNvPr>
          <p:cNvSpPr>
            <a:spLocks xmlns:a="http://schemas.openxmlformats.org/drawingml/2006/main" noGrp="1"/>
          </p:cNvSpPr>
          <p:nvPr/>
        </p:nvSpPr>
        <p:spPr>
          <a:xfrm xmlns:a="http://schemas.openxmlformats.org/drawingml/2006/main">
            <a:off x="13906500" y="8115300"/>
            <a:ext cx="723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547080"/>
                </a:solidFill>
                <a:latin typeface="Arial"/>
                <a:ea typeface="Arial"/>
                <a:cs typeface="Arial"/>
              </a:defRPr>
            </a:pPr>
            <a:r>
              <a:rPr sz="1650" b="0">
                <a:solidFill>
                  <a:srgbClr val="547080"/>
                </a:solidFill>
                <a:latin typeface="Arial"/>
                <a:ea typeface="Arial"/>
                <a:cs typeface="Arial"/>
              </a:rPr>
              <a:t>36</a:t>
            </a:r>
          </a:p>
        </p:txBody>
      </p:sp>
    </p:spTree>
    <p:extLst>
      <p:ext uri="{BB962C8B-B14F-4D97-AF65-F5344CB8AC3E}">
        <p14:creationId xmlns:p14="http://schemas.microsoft.com/office/powerpoint/2010/main" val="485171681"/>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Library placement and drag-and-drop">
            <a:extLst xmlns:a="http://schemas.openxmlformats.org/drawingml/2006/main">
              <a:ext uri="{FF2B5EF4-FFF2-40B4-BE49-F238E27FC236}">
                <a16:creationId xmlns:a16="http://schemas.microsoft.com/office/drawing/2014/main" id="{853892C2-0A88-4F0B-B23A-EB17E13ACE36}"/>
              </a:ext>
            </a:extLst>
          </p:cNvPr>
          <p:cNvSpPr>
            <a:spLocks xmlns:a="http://schemas.openxmlformats.org/drawingml/2006/main" noGrp="1"/>
          </p:cNvSpPr>
          <p:nvPr/>
        </p:nvSpPr>
        <p:spPr>
          <a:xfrm xmlns:a="http://schemas.openxmlformats.org/drawingml/2006/main">
            <a:off x="571500" y="428625"/>
            <a:ext cx="140970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300" b="1">
                <a:solidFill>
                  <a:srgbClr val="12374B"/>
                </a:solidFill>
                <a:latin typeface="Arial"/>
                <a:ea typeface="Arial"/>
                <a:cs typeface="Arial"/>
              </a:defRPr>
            </a:pPr>
            <a:r>
              <a:rPr sz="3300" b="1">
                <a:solidFill>
                  <a:srgbClr val="12374B"/>
                </a:solidFill>
                <a:latin typeface="Arial"/>
                <a:ea typeface="Arial"/>
                <a:cs typeface="Arial"/>
              </a:rPr>
              <a:t>Library placement and drag-and-drop</a:t>
            </a:r>
          </a:p>
        </p:txBody>
      </p:sp>
      <p:sp>
        <p:nvSpPr>
          <p:cNvPr id="2" name="Find an asset">
            <a:extLst xmlns:a="http://schemas.openxmlformats.org/drawingml/2006/main">
              <a:ext uri="{FF2B5EF4-FFF2-40B4-BE49-F238E27FC236}">
                <a16:creationId xmlns:a16="http://schemas.microsoft.com/office/drawing/2014/main" id="{59B4675E-0942-45F8-A809-7C87137C433F}"/>
              </a:ext>
            </a:extLst>
          </p:cNvPr>
          <p:cNvSpPr>
            <a:spLocks xmlns:a="http://schemas.openxmlformats.org/drawingml/2006/main" noGrp="1"/>
          </p:cNvSpPr>
          <p:nvPr/>
        </p:nvSpPr>
        <p:spPr>
          <a:xfrm xmlns:a="http://schemas.openxmlformats.org/drawingml/2006/main">
            <a:off x="609600" y="1952625"/>
            <a:ext cx="4267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400" b="1">
                <a:solidFill>
                  <a:srgbClr val="007E92"/>
                </a:solidFill>
                <a:latin typeface="Arial"/>
                <a:ea typeface="Arial"/>
                <a:cs typeface="Arial"/>
              </a:defRPr>
            </a:pPr>
            <a:r>
              <a:rPr sz="2400" b="1">
                <a:solidFill>
                  <a:srgbClr val="007E92"/>
                </a:solidFill>
                <a:latin typeface="Arial"/>
                <a:ea typeface="Arial"/>
                <a:cs typeface="Arial"/>
              </a:rPr>
              <a:t>Find an asset</a:t>
            </a:r>
          </a:p>
        </p:txBody>
      </p:sp>
      <p:sp>
        <p:nvSpPr>
          <p:cNvPr id="3" name="Search by name and filter category or region. Check the">
            <a:extLst xmlns:a="http://schemas.openxmlformats.org/drawingml/2006/main">
              <a:ext uri="{FF2B5EF4-FFF2-40B4-BE49-F238E27FC236}">
                <a16:creationId xmlns:a16="http://schemas.microsoft.com/office/drawing/2014/main" id="{AC846101-5F3E-4581-A951-9E23A4EA128B}"/>
              </a:ext>
            </a:extLst>
          </p:cNvPr>
          <p:cNvSpPr>
            <a:spLocks xmlns:a="http://schemas.openxmlformats.org/drawingml/2006/main" noGrp="1"/>
          </p:cNvSpPr>
          <p:nvPr/>
        </p:nvSpPr>
        <p:spPr>
          <a:xfrm xmlns:a="http://schemas.openxmlformats.org/drawingml/2006/main">
            <a:off x="609600" y="3067050"/>
            <a:ext cx="4238625" cy="3200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325" b="0">
                <a:solidFill>
                  <a:srgbClr val="18384B"/>
                </a:solidFill>
                <a:latin typeface="Arial"/>
                <a:ea typeface="Arial"/>
                <a:cs typeface="Arial"/>
              </a:defRPr>
            </a:pPr>
            <a:r>
              <a:rPr sz="2325" b="0">
                <a:solidFill>
                  <a:srgbClr val="18384B"/>
                </a:solidFill>
                <a:latin typeface="Arial"/>
                <a:ea typeface="Arial"/>
                <a:cs typeface="Arial"/>
              </a:rPr>
              <a:t>Search by name and filter category or region. Check the registry identity and capacity before placement.</a:t>
            </a:r>
          </a:p>
        </p:txBody>
      </p:sp>
      <p:sp>
        <p:nvSpPr>
          <p:cNvPr id="4" name="Place a group">
            <a:extLst xmlns:a="http://schemas.openxmlformats.org/drawingml/2006/main">
              <a:ext uri="{FF2B5EF4-FFF2-40B4-BE49-F238E27FC236}">
                <a16:creationId xmlns:a16="http://schemas.microsoft.com/office/drawing/2014/main" id="{89EF26C1-C9EB-4209-99D2-80F909F2D6A6}"/>
              </a:ext>
            </a:extLst>
          </p:cNvPr>
          <p:cNvSpPr>
            <a:spLocks xmlns:a="http://schemas.openxmlformats.org/drawingml/2006/main" noGrp="1"/>
          </p:cNvSpPr>
          <p:nvPr/>
        </p:nvSpPr>
        <p:spPr>
          <a:xfrm xmlns:a="http://schemas.openxmlformats.org/drawingml/2006/main">
            <a:off x="5419725" y="1952625"/>
            <a:ext cx="4267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400" b="1">
                <a:solidFill>
                  <a:srgbClr val="007E92"/>
                </a:solidFill>
                <a:latin typeface="Arial"/>
                <a:ea typeface="Arial"/>
                <a:cs typeface="Arial"/>
              </a:defRPr>
            </a:pPr>
            <a:r>
              <a:rPr sz="2400" b="1">
                <a:solidFill>
                  <a:srgbClr val="007E92"/>
                </a:solidFill>
                <a:latin typeface="Arial"/>
                <a:ea typeface="Arial"/>
                <a:cs typeface="Arial"/>
              </a:rPr>
              <a:t>Place a group</a:t>
            </a:r>
          </a:p>
        </p:txBody>
      </p:sp>
      <p:sp>
        <p:nvSpPr>
          <p:cNvPr id="5" name="Select the asset checkboxes and choose Place selected. ">
            <a:extLst xmlns:a="http://schemas.openxmlformats.org/drawingml/2006/main">
              <a:ext uri="{FF2B5EF4-FFF2-40B4-BE49-F238E27FC236}">
                <a16:creationId xmlns:a16="http://schemas.microsoft.com/office/drawing/2014/main" id="{3AC3BBED-37F2-4376-97ED-BBE300004344}"/>
              </a:ext>
            </a:extLst>
          </p:cNvPr>
          <p:cNvSpPr>
            <a:spLocks xmlns:a="http://schemas.openxmlformats.org/drawingml/2006/main" noGrp="1"/>
          </p:cNvSpPr>
          <p:nvPr/>
        </p:nvSpPr>
        <p:spPr>
          <a:xfrm xmlns:a="http://schemas.openxmlformats.org/drawingml/2006/main">
            <a:off x="5419725" y="3067050"/>
            <a:ext cx="4238625" cy="3200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325" b="0">
                <a:solidFill>
                  <a:srgbClr val="18384B"/>
                </a:solidFill>
                <a:latin typeface="Arial"/>
                <a:ea typeface="Arial"/>
                <a:cs typeface="Arial"/>
              </a:defRPr>
            </a:pPr>
            <a:r>
              <a:rPr sz="2325" b="0">
                <a:solidFill>
                  <a:srgbClr val="18384B"/>
                </a:solidFill>
                <a:latin typeface="Arial"/>
                <a:ea typeface="Arial"/>
                <a:cs typeface="Arial"/>
              </a:rPr>
              <a:t>Select the asset checkboxes and choose Place selected. Click the canvas where the group should appear.</a:t>
            </a:r>
          </a:p>
        </p:txBody>
      </p:sp>
      <p:sp>
        <p:nvSpPr>
          <p:cNvPr id="6" name="Place one asset">
            <a:extLst xmlns:a="http://schemas.openxmlformats.org/drawingml/2006/main">
              <a:ext uri="{FF2B5EF4-FFF2-40B4-BE49-F238E27FC236}">
                <a16:creationId xmlns:a16="http://schemas.microsoft.com/office/drawing/2014/main" id="{4C4BFCED-01AF-4593-9FB3-7C1E2D49C60A}"/>
              </a:ext>
            </a:extLst>
          </p:cNvPr>
          <p:cNvSpPr>
            <a:spLocks xmlns:a="http://schemas.openxmlformats.org/drawingml/2006/main" noGrp="1"/>
          </p:cNvSpPr>
          <p:nvPr/>
        </p:nvSpPr>
        <p:spPr>
          <a:xfrm xmlns:a="http://schemas.openxmlformats.org/drawingml/2006/main">
            <a:off x="10229850" y="1952625"/>
            <a:ext cx="4267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400" b="1">
                <a:solidFill>
                  <a:srgbClr val="007E92"/>
                </a:solidFill>
                <a:latin typeface="Arial"/>
                <a:ea typeface="Arial"/>
                <a:cs typeface="Arial"/>
              </a:defRPr>
            </a:pPr>
            <a:r>
              <a:rPr sz="2400" b="1">
                <a:solidFill>
                  <a:srgbClr val="007E92"/>
                </a:solidFill>
                <a:latin typeface="Arial"/>
                <a:ea typeface="Arial"/>
                <a:cs typeface="Arial"/>
              </a:rPr>
              <a:t>Place one asset</a:t>
            </a:r>
          </a:p>
        </p:txBody>
      </p:sp>
      <p:sp>
        <p:nvSpPr>
          <p:cNvPr id="7" name="Drag the library asset onto the canvas, or select it an">
            <a:extLst xmlns:a="http://schemas.openxmlformats.org/drawingml/2006/main">
              <a:ext uri="{FF2B5EF4-FFF2-40B4-BE49-F238E27FC236}">
                <a16:creationId xmlns:a16="http://schemas.microsoft.com/office/drawing/2014/main" id="{6123BF65-BBFD-4CF2-BC22-CBD00E6879A8}"/>
              </a:ext>
            </a:extLst>
          </p:cNvPr>
          <p:cNvSpPr>
            <a:spLocks xmlns:a="http://schemas.openxmlformats.org/drawingml/2006/main" noGrp="1"/>
          </p:cNvSpPr>
          <p:nvPr/>
        </p:nvSpPr>
        <p:spPr>
          <a:xfrm xmlns:a="http://schemas.openxmlformats.org/drawingml/2006/main">
            <a:off x="10229850" y="3067050"/>
            <a:ext cx="4238625" cy="3200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325" b="0">
                <a:solidFill>
                  <a:srgbClr val="18384B"/>
                </a:solidFill>
                <a:latin typeface="Arial"/>
                <a:ea typeface="Arial"/>
                <a:cs typeface="Arial"/>
              </a:defRPr>
            </a:pPr>
            <a:r>
              <a:rPr sz="2325" b="0">
                <a:solidFill>
                  <a:srgbClr val="18384B"/>
                </a:solidFill>
                <a:latin typeface="Arial"/>
                <a:ea typeface="Arial"/>
                <a:cs typeface="Arial"/>
              </a:rPr>
              <a:t>Drag the library asset onto the canvas, or select it and place it. Existing canvas assets show an on-canvas state.</a:t>
            </a:r>
          </a:p>
        </p:txBody>
      </p:sp>
      <p:sp>
        <p:nvSpPr>
          <p:cNvPr id="8" name="Library assets preserve the identity needed to read por">
            <a:extLst xmlns:a="http://schemas.openxmlformats.org/drawingml/2006/main">
              <a:ext uri="{FF2B5EF4-FFF2-40B4-BE49-F238E27FC236}">
                <a16:creationId xmlns:a16="http://schemas.microsoft.com/office/drawing/2014/main" id="{9CB9A50C-F62E-4E7D-9CCB-409DBF10FE80}"/>
              </a:ext>
            </a:extLst>
          </p:cNvPr>
          <p:cNvSpPr>
            <a:spLocks xmlns:a="http://schemas.openxmlformats.org/drawingml/2006/main" noGrp="1"/>
          </p:cNvSpPr>
          <p:nvPr/>
        </p:nvSpPr>
        <p:spPr>
          <a:xfrm xmlns:a="http://schemas.openxmlformats.org/drawingml/2006/main">
            <a:off x="609600" y="7448550"/>
            <a:ext cx="1390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Library assets preserve the identity needed to read portal inputs.</a:t>
            </a:r>
          </a:p>
        </p:txBody>
      </p:sp>
      <p:sp>
        <p:nvSpPr>
          <p:cNvPr id="9" name="WIDispatch   /   Client demonstration">
            <a:extLst xmlns:a="http://schemas.openxmlformats.org/drawingml/2006/main">
              <a:ext uri="{FF2B5EF4-FFF2-40B4-BE49-F238E27FC236}">
                <a16:creationId xmlns:a16="http://schemas.microsoft.com/office/drawing/2014/main" id="{EF54BBF6-2B64-4E0D-963C-1FFB0DF84479}"/>
              </a:ext>
            </a:extLst>
          </p:cNvPr>
          <p:cNvSpPr>
            <a:spLocks xmlns:a="http://schemas.openxmlformats.org/drawingml/2006/main" noGrp="1"/>
          </p:cNvSpPr>
          <p:nvPr/>
        </p:nvSpPr>
        <p:spPr>
          <a:xfrm xmlns:a="http://schemas.openxmlformats.org/drawingml/2006/main">
            <a:off x="609600" y="81724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275" b="0">
                <a:solidFill>
                  <a:srgbClr val="547080"/>
                </a:solidFill>
                <a:latin typeface="Arial"/>
                <a:ea typeface="Arial"/>
                <a:cs typeface="Arial"/>
              </a:defRPr>
            </a:pPr>
            <a:r>
              <a:rPr sz="1275" b="0">
                <a:solidFill>
                  <a:srgbClr val="547080"/>
                </a:solidFill>
                <a:latin typeface="Arial"/>
                <a:ea typeface="Arial"/>
                <a:cs typeface="Arial"/>
              </a:rPr>
              <a:t>WIDispatch   /   Client demonstration</a:t>
            </a:r>
          </a:p>
        </p:txBody>
      </p:sp>
      <p:sp>
        <p:nvSpPr>
          <p:cNvPr id="10" name="31">
            <a:extLst xmlns:a="http://schemas.openxmlformats.org/drawingml/2006/main">
              <a:ext uri="{FF2B5EF4-FFF2-40B4-BE49-F238E27FC236}">
                <a16:creationId xmlns:a16="http://schemas.microsoft.com/office/drawing/2014/main" id="{D38E4389-F0F9-4944-B772-CD38D84966EE}"/>
              </a:ext>
            </a:extLst>
          </p:cNvPr>
          <p:cNvSpPr>
            <a:spLocks xmlns:a="http://schemas.openxmlformats.org/drawingml/2006/main" noGrp="1"/>
          </p:cNvSpPr>
          <p:nvPr/>
        </p:nvSpPr>
        <p:spPr>
          <a:xfrm xmlns:a="http://schemas.openxmlformats.org/drawingml/2006/main">
            <a:off x="13906500" y="8115300"/>
            <a:ext cx="723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547080"/>
                </a:solidFill>
                <a:latin typeface="Arial"/>
                <a:ea typeface="Arial"/>
                <a:cs typeface="Arial"/>
              </a:defRPr>
            </a:pPr>
            <a:r>
              <a:rPr sz="1650" b="0">
                <a:solidFill>
                  <a:srgbClr val="547080"/>
                </a:solidFill>
                <a:latin typeface="Arial"/>
                <a:ea typeface="Arial"/>
                <a:cs typeface="Arial"/>
              </a:rPr>
              <a:t>37</a:t>
            </a:r>
          </a:p>
        </p:txBody>
      </p:sp>
    </p:spTree>
    <p:extLst>
      <p:ext uri="{BB962C8B-B14F-4D97-AF65-F5344CB8AC3E}">
        <p14:creationId xmlns:p14="http://schemas.microsoft.com/office/powerpoint/2010/main" val="1904022444"/>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Pipe variables and system creation">
            <a:extLst xmlns:a="http://schemas.openxmlformats.org/drawingml/2006/main">
              <a:ext uri="{FF2B5EF4-FFF2-40B4-BE49-F238E27FC236}">
                <a16:creationId xmlns:a16="http://schemas.microsoft.com/office/drawing/2014/main" id="{D3267C98-4A60-4ACA-97C5-710A343A899F}"/>
              </a:ext>
            </a:extLst>
          </p:cNvPr>
          <p:cNvSpPr>
            <a:spLocks xmlns:a="http://schemas.openxmlformats.org/drawingml/2006/main" noGrp="1"/>
          </p:cNvSpPr>
          <p:nvPr/>
        </p:nvSpPr>
        <p:spPr>
          <a:xfrm xmlns:a="http://schemas.openxmlformats.org/drawingml/2006/main">
            <a:off x="571500" y="428625"/>
            <a:ext cx="140970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300" b="1">
                <a:solidFill>
                  <a:srgbClr val="12374B"/>
                </a:solidFill>
                <a:latin typeface="Arial"/>
                <a:ea typeface="Arial"/>
                <a:cs typeface="Arial"/>
              </a:defRPr>
            </a:pPr>
            <a:r>
              <a:rPr sz="3300" b="1">
                <a:solidFill>
                  <a:srgbClr val="12374B"/>
                </a:solidFill>
                <a:latin typeface="Arial"/>
                <a:ea typeface="Arial"/>
                <a:cs typeface="Arial"/>
              </a:rPr>
              <a:t>Pipe variables and system creation</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722a85fcaf0c489c"/>
          <a:stretch xmlns:a="http://schemas.openxmlformats.org/drawingml/2006/main"/>
        </p:blipFill>
        <p:spPr>
          <a:xfrm xmlns:a="http://schemas.openxmlformats.org/drawingml/2006/main">
            <a:off x="3074166" y="1666875"/>
            <a:ext cx="5472169" cy="5429250"/>
          </a:xfrm>
          <a:prstGeom xmlns:a="http://schemas.openxmlformats.org/drawingml/2006/main" prst="rect">
            <a:avLst/>
          </a:prstGeom>
        </p:spPr>
      </p:pic>
      <p:sp>
        <p:nvSpPr>
          <p:cNvPr id="3" name="01">
            <a:extLst xmlns:a="http://schemas.openxmlformats.org/drawingml/2006/main">
              <a:ext uri="{FF2B5EF4-FFF2-40B4-BE49-F238E27FC236}">
                <a16:creationId xmlns:a16="http://schemas.microsoft.com/office/drawing/2014/main" id="{6DCCF1A0-1D51-4A6F-874C-AE28A1C18537}"/>
              </a:ext>
            </a:extLst>
          </p:cNvPr>
          <p:cNvSpPr>
            <a:spLocks xmlns:a="http://schemas.openxmlformats.org/drawingml/2006/main" noGrp="1"/>
          </p:cNvSpPr>
          <p:nvPr/>
        </p:nvSpPr>
        <p:spPr>
          <a:xfrm xmlns:a="http://schemas.openxmlformats.org/drawingml/2006/main">
            <a:off x="11525250" y="1771650"/>
            <a:ext cx="95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01</a:t>
            </a:r>
          </a:p>
        </p:txBody>
      </p:sp>
      <p:sp>
        <p:nvSpPr>
          <p:cNvPr id="4" name="Choose Pipe, then click source and destination.">
            <a:extLst xmlns:a="http://schemas.openxmlformats.org/drawingml/2006/main">
              <a:ext uri="{FF2B5EF4-FFF2-40B4-BE49-F238E27FC236}">
                <a16:creationId xmlns:a16="http://schemas.microsoft.com/office/drawing/2014/main" id="{55747049-5D8B-4139-9ECF-5AA0BEDA9363}"/>
              </a:ext>
            </a:extLst>
          </p:cNvPr>
          <p:cNvSpPr>
            <a:spLocks xmlns:a="http://schemas.openxmlformats.org/drawingml/2006/main" noGrp="1"/>
          </p:cNvSpPr>
          <p:nvPr/>
        </p:nvSpPr>
        <p:spPr>
          <a:xfrm xmlns:a="http://schemas.openxmlformats.org/drawingml/2006/main">
            <a:off x="11525250" y="2238375"/>
            <a:ext cx="30765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025" b="0">
                <a:solidFill>
                  <a:srgbClr val="18384B"/>
                </a:solidFill>
                <a:latin typeface="Arial"/>
                <a:ea typeface="Arial"/>
                <a:cs typeface="Arial"/>
              </a:defRPr>
            </a:pPr>
            <a:r>
              <a:rPr sz="2025" b="0">
                <a:solidFill>
                  <a:srgbClr val="18384B"/>
                </a:solidFill>
                <a:latin typeface="Arial"/>
                <a:ea typeface="Arial"/>
                <a:cs typeface="Arial"/>
              </a:rPr>
              <a:t>Choose Pipe, then click source and destination.</a:t>
            </a:r>
          </a:p>
        </p:txBody>
      </p:sp>
      <p:sp>
        <p:nvSpPr>
          <p:cNvPr id="5" name="02">
            <a:extLst xmlns:a="http://schemas.openxmlformats.org/drawingml/2006/main">
              <a:ext uri="{FF2B5EF4-FFF2-40B4-BE49-F238E27FC236}">
                <a16:creationId xmlns:a16="http://schemas.microsoft.com/office/drawing/2014/main" id="{5B8A4DB5-0B06-4AF8-9CFB-9A0034BE985F}"/>
              </a:ext>
            </a:extLst>
          </p:cNvPr>
          <p:cNvSpPr>
            <a:spLocks xmlns:a="http://schemas.openxmlformats.org/drawingml/2006/main" noGrp="1"/>
          </p:cNvSpPr>
          <p:nvPr/>
        </p:nvSpPr>
        <p:spPr>
          <a:xfrm xmlns:a="http://schemas.openxmlformats.org/drawingml/2006/main">
            <a:off x="11525250" y="3429000"/>
            <a:ext cx="95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02</a:t>
            </a:r>
          </a:p>
        </p:txBody>
      </p:sp>
      <p:sp>
        <p:nvSpPr>
          <p:cNvPr id="6" name="Enter capacity, direction and lifecycle dates.">
            <a:extLst xmlns:a="http://schemas.openxmlformats.org/drawingml/2006/main">
              <a:ext uri="{FF2B5EF4-FFF2-40B4-BE49-F238E27FC236}">
                <a16:creationId xmlns:a16="http://schemas.microsoft.com/office/drawing/2014/main" id="{C5ABA9FA-31F1-43F8-8B5F-3C15DA43F185}"/>
              </a:ext>
            </a:extLst>
          </p:cNvPr>
          <p:cNvSpPr>
            <a:spLocks xmlns:a="http://schemas.openxmlformats.org/drawingml/2006/main" noGrp="1"/>
          </p:cNvSpPr>
          <p:nvPr/>
        </p:nvSpPr>
        <p:spPr>
          <a:xfrm xmlns:a="http://schemas.openxmlformats.org/drawingml/2006/main">
            <a:off x="11525250" y="3895725"/>
            <a:ext cx="30765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025" b="0">
                <a:solidFill>
                  <a:srgbClr val="18384B"/>
                </a:solidFill>
                <a:latin typeface="Arial"/>
                <a:ea typeface="Arial"/>
                <a:cs typeface="Arial"/>
              </a:defRPr>
            </a:pPr>
            <a:r>
              <a:rPr sz="2025" b="0">
                <a:solidFill>
                  <a:srgbClr val="18384B"/>
                </a:solidFill>
                <a:latin typeface="Arial"/>
                <a:ea typeface="Arial"/>
                <a:cs typeface="Arial"/>
              </a:rPr>
              <a:t>Enter capacity, direction and lifecycle dates.</a:t>
            </a:r>
          </a:p>
        </p:txBody>
      </p:sp>
      <p:sp>
        <p:nvSpPr>
          <p:cNvPr id="7" name="03">
            <a:extLst xmlns:a="http://schemas.openxmlformats.org/drawingml/2006/main">
              <a:ext uri="{FF2B5EF4-FFF2-40B4-BE49-F238E27FC236}">
                <a16:creationId xmlns:a16="http://schemas.microsoft.com/office/drawing/2014/main" id="{4BAD3632-F06D-477B-810B-2EA62B923051}"/>
              </a:ext>
            </a:extLst>
          </p:cNvPr>
          <p:cNvSpPr>
            <a:spLocks xmlns:a="http://schemas.openxmlformats.org/drawingml/2006/main" noGrp="1"/>
          </p:cNvSpPr>
          <p:nvPr/>
        </p:nvSpPr>
        <p:spPr>
          <a:xfrm xmlns:a="http://schemas.openxmlformats.org/drawingml/2006/main">
            <a:off x="11525250" y="5086350"/>
            <a:ext cx="95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03</a:t>
            </a:r>
          </a:p>
        </p:txBody>
      </p:sp>
      <p:sp>
        <p:nvSpPr>
          <p:cNvPr id="8" name="Select a system or name a new system and line.">
            <a:extLst xmlns:a="http://schemas.openxmlformats.org/drawingml/2006/main">
              <a:ext uri="{FF2B5EF4-FFF2-40B4-BE49-F238E27FC236}">
                <a16:creationId xmlns:a16="http://schemas.microsoft.com/office/drawing/2014/main" id="{C2D7CCD3-0628-475B-A6AD-8E265E90F95D}"/>
              </a:ext>
            </a:extLst>
          </p:cNvPr>
          <p:cNvSpPr>
            <a:spLocks xmlns:a="http://schemas.openxmlformats.org/drawingml/2006/main" noGrp="1"/>
          </p:cNvSpPr>
          <p:nvPr/>
        </p:nvSpPr>
        <p:spPr>
          <a:xfrm xmlns:a="http://schemas.openxmlformats.org/drawingml/2006/main">
            <a:off x="11525250" y="5553075"/>
            <a:ext cx="30765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025" b="0">
                <a:solidFill>
                  <a:srgbClr val="18384B"/>
                </a:solidFill>
                <a:latin typeface="Arial"/>
                <a:ea typeface="Arial"/>
                <a:cs typeface="Arial"/>
              </a:defRPr>
            </a:pPr>
            <a:r>
              <a:rPr sz="2025" b="0">
                <a:solidFill>
                  <a:srgbClr val="18384B"/>
                </a:solidFill>
                <a:latin typeface="Arial"/>
                <a:ea typeface="Arial"/>
                <a:cs typeface="Arial"/>
              </a:rPr>
              <a:t>Select a system or name a new system and line.</a:t>
            </a:r>
          </a:p>
        </p:txBody>
      </p:sp>
      <p:sp>
        <p:nvSpPr>
          <p:cNvPr id="9" name="A pipe segment can belong to a named transmission line ">
            <a:extLst xmlns:a="http://schemas.openxmlformats.org/drawingml/2006/main">
              <a:ext uri="{FF2B5EF4-FFF2-40B4-BE49-F238E27FC236}">
                <a16:creationId xmlns:a16="http://schemas.microsoft.com/office/drawing/2014/main" id="{5B8347C6-922E-4F1A-81BB-F5D8B7F1DE0B}"/>
              </a:ext>
            </a:extLst>
          </p:cNvPr>
          <p:cNvSpPr>
            <a:spLocks xmlns:a="http://schemas.openxmlformats.org/drawingml/2006/main" noGrp="1"/>
          </p:cNvSpPr>
          <p:nvPr/>
        </p:nvSpPr>
        <p:spPr>
          <a:xfrm xmlns:a="http://schemas.openxmlformats.org/drawingml/2006/main">
            <a:off x="609600" y="7448550"/>
            <a:ext cx="1390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A pipe segment can belong to a named transmission line within a system.</a:t>
            </a:r>
          </a:p>
        </p:txBody>
      </p:sp>
      <p:sp>
        <p:nvSpPr>
          <p:cNvPr id="10" name="WIDispatch   /   Client demonstration">
            <a:extLst xmlns:a="http://schemas.openxmlformats.org/drawingml/2006/main">
              <a:ext uri="{FF2B5EF4-FFF2-40B4-BE49-F238E27FC236}">
                <a16:creationId xmlns:a16="http://schemas.microsoft.com/office/drawing/2014/main" id="{191F801C-1CA2-4C51-93AA-3CA1655B3639}"/>
              </a:ext>
            </a:extLst>
          </p:cNvPr>
          <p:cNvSpPr>
            <a:spLocks xmlns:a="http://schemas.openxmlformats.org/drawingml/2006/main" noGrp="1"/>
          </p:cNvSpPr>
          <p:nvPr/>
        </p:nvSpPr>
        <p:spPr>
          <a:xfrm xmlns:a="http://schemas.openxmlformats.org/drawingml/2006/main">
            <a:off x="609600" y="81724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275" b="0">
                <a:solidFill>
                  <a:srgbClr val="547080"/>
                </a:solidFill>
                <a:latin typeface="Arial"/>
                <a:ea typeface="Arial"/>
                <a:cs typeface="Arial"/>
              </a:defRPr>
            </a:pPr>
            <a:r>
              <a:rPr sz="1275" b="0">
                <a:solidFill>
                  <a:srgbClr val="547080"/>
                </a:solidFill>
                <a:latin typeface="Arial"/>
                <a:ea typeface="Arial"/>
                <a:cs typeface="Arial"/>
              </a:rPr>
              <a:t>WIDispatch   /   Client demonstration</a:t>
            </a:r>
          </a:p>
        </p:txBody>
      </p:sp>
      <p:sp>
        <p:nvSpPr>
          <p:cNvPr id="11" name="32">
            <a:extLst xmlns:a="http://schemas.openxmlformats.org/drawingml/2006/main">
              <a:ext uri="{FF2B5EF4-FFF2-40B4-BE49-F238E27FC236}">
                <a16:creationId xmlns:a16="http://schemas.microsoft.com/office/drawing/2014/main" id="{D27564AF-0612-4588-A9EF-5FC12D1BAF02}"/>
              </a:ext>
            </a:extLst>
          </p:cNvPr>
          <p:cNvSpPr>
            <a:spLocks xmlns:a="http://schemas.openxmlformats.org/drawingml/2006/main" noGrp="1"/>
          </p:cNvSpPr>
          <p:nvPr/>
        </p:nvSpPr>
        <p:spPr>
          <a:xfrm xmlns:a="http://schemas.openxmlformats.org/drawingml/2006/main">
            <a:off x="13906500" y="8115300"/>
            <a:ext cx="723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547080"/>
                </a:solidFill>
                <a:latin typeface="Arial"/>
                <a:ea typeface="Arial"/>
                <a:cs typeface="Arial"/>
              </a:defRPr>
            </a:pPr>
            <a:r>
              <a:rPr sz="1650" b="0">
                <a:solidFill>
                  <a:srgbClr val="547080"/>
                </a:solidFill>
                <a:latin typeface="Arial"/>
                <a:ea typeface="Arial"/>
                <a:cs typeface="Arial"/>
              </a:rPr>
              <a:t>38</a:t>
            </a:r>
          </a:p>
        </p:txBody>
      </p:sp>
    </p:spTree>
    <p:extLst>
      <p:ext uri="{BB962C8B-B14F-4D97-AF65-F5344CB8AC3E}">
        <p14:creationId xmlns:p14="http://schemas.microsoft.com/office/powerpoint/2010/main" val="1313916998"/>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Main lines and branches">
            <a:extLst xmlns:a="http://schemas.openxmlformats.org/drawingml/2006/main">
              <a:ext uri="{FF2B5EF4-FFF2-40B4-BE49-F238E27FC236}">
                <a16:creationId xmlns:a16="http://schemas.microsoft.com/office/drawing/2014/main" id="{AF31E98F-182B-4B72-8849-0454210F0F15}"/>
              </a:ext>
            </a:extLst>
          </p:cNvPr>
          <p:cNvSpPr>
            <a:spLocks xmlns:a="http://schemas.openxmlformats.org/drawingml/2006/main" noGrp="1"/>
          </p:cNvSpPr>
          <p:nvPr/>
        </p:nvSpPr>
        <p:spPr>
          <a:xfrm xmlns:a="http://schemas.openxmlformats.org/drawingml/2006/main">
            <a:off x="571500" y="428625"/>
            <a:ext cx="140970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300" b="1">
                <a:solidFill>
                  <a:srgbClr val="12374B"/>
                </a:solidFill>
                <a:latin typeface="Arial"/>
                <a:ea typeface="Arial"/>
                <a:cs typeface="Arial"/>
              </a:defRPr>
            </a:pPr>
            <a:r>
              <a:rPr sz="3300" b="1">
                <a:solidFill>
                  <a:srgbClr val="12374B"/>
                </a:solidFill>
                <a:latin typeface="Arial"/>
                <a:ea typeface="Arial"/>
                <a:cs typeface="Arial"/>
              </a:rPr>
              <a:t>Main lines and branches</a:t>
            </a:r>
          </a:p>
        </p:txBody>
      </p:sp>
      <p:sp>
        <p:nvSpPr>
          <p:cNvPr id="2" name="System">
            <a:extLst xmlns:a="http://schemas.openxmlformats.org/drawingml/2006/main">
              <a:ext uri="{FF2B5EF4-FFF2-40B4-BE49-F238E27FC236}">
                <a16:creationId xmlns:a16="http://schemas.microsoft.com/office/drawing/2014/main" id="{2E5ACC40-0602-41D3-A49B-31C6B25FB8B0}"/>
              </a:ext>
            </a:extLst>
          </p:cNvPr>
          <p:cNvSpPr>
            <a:spLocks xmlns:a="http://schemas.openxmlformats.org/drawingml/2006/main" noGrp="1"/>
          </p:cNvSpPr>
          <p:nvPr/>
        </p:nvSpPr>
        <p:spPr>
          <a:xfrm xmlns:a="http://schemas.openxmlformats.org/drawingml/2006/main">
            <a:off x="609600" y="1952625"/>
            <a:ext cx="4267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400" b="1">
                <a:solidFill>
                  <a:srgbClr val="007E92"/>
                </a:solidFill>
                <a:latin typeface="Arial"/>
                <a:ea typeface="Arial"/>
                <a:cs typeface="Arial"/>
              </a:defRPr>
            </a:pPr>
            <a:r>
              <a:rPr sz="2400" b="1">
                <a:solidFill>
                  <a:srgbClr val="007E92"/>
                </a:solidFill>
                <a:latin typeface="Arial"/>
                <a:ea typeface="Arial"/>
                <a:cs typeface="Arial"/>
              </a:rPr>
              <a:t>System</a:t>
            </a:r>
          </a:p>
        </p:txBody>
      </p:sp>
      <p:sp>
        <p:nvSpPr>
          <p:cNvPr id="3" name="The named collection used for inspection, reporting and">
            <a:extLst xmlns:a="http://schemas.openxmlformats.org/drawingml/2006/main">
              <a:ext uri="{FF2B5EF4-FFF2-40B4-BE49-F238E27FC236}">
                <a16:creationId xmlns:a16="http://schemas.microsoft.com/office/drawing/2014/main" id="{FE48FD68-41E1-43BA-A1C9-5AE8A7E07393}"/>
              </a:ext>
            </a:extLst>
          </p:cNvPr>
          <p:cNvSpPr>
            <a:spLocks xmlns:a="http://schemas.openxmlformats.org/drawingml/2006/main" noGrp="1"/>
          </p:cNvSpPr>
          <p:nvPr/>
        </p:nvSpPr>
        <p:spPr>
          <a:xfrm xmlns:a="http://schemas.openxmlformats.org/drawingml/2006/main">
            <a:off x="609600" y="3067050"/>
            <a:ext cx="4238625" cy="3200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325" b="0">
                <a:solidFill>
                  <a:srgbClr val="18384B"/>
                </a:solidFill>
                <a:latin typeface="Arial"/>
                <a:ea typeface="Arial"/>
                <a:cs typeface="Arial"/>
              </a:defRPr>
            </a:pPr>
            <a:r>
              <a:rPr sz="2325" b="0">
                <a:solidFill>
                  <a:srgbClr val="18384B"/>
                </a:solidFill>
                <a:latin typeface="Arial"/>
                <a:ea typeface="Arial"/>
                <a:cs typeface="Arial"/>
              </a:rPr>
              <a:t>The named collection used for inspection, reporting and library reuse.</a:t>
            </a:r>
          </a:p>
        </p:txBody>
      </p:sp>
      <p:sp>
        <p:nvSpPr>
          <p:cNvPr id="4" name="Line">
            <a:extLst xmlns:a="http://schemas.openxmlformats.org/drawingml/2006/main">
              <a:ext uri="{FF2B5EF4-FFF2-40B4-BE49-F238E27FC236}">
                <a16:creationId xmlns:a16="http://schemas.microsoft.com/office/drawing/2014/main" id="{FECD6390-D574-4ADA-B45B-E70240624397}"/>
              </a:ext>
            </a:extLst>
          </p:cNvPr>
          <p:cNvSpPr>
            <a:spLocks xmlns:a="http://schemas.openxmlformats.org/drawingml/2006/main" noGrp="1"/>
          </p:cNvSpPr>
          <p:nvPr/>
        </p:nvSpPr>
        <p:spPr>
          <a:xfrm xmlns:a="http://schemas.openxmlformats.org/drawingml/2006/main">
            <a:off x="5419725" y="1952625"/>
            <a:ext cx="4267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400" b="1">
                <a:solidFill>
                  <a:srgbClr val="007E92"/>
                </a:solidFill>
                <a:latin typeface="Arial"/>
                <a:ea typeface="Arial"/>
                <a:cs typeface="Arial"/>
              </a:defRPr>
            </a:pPr>
            <a:r>
              <a:rPr sz="2400" b="1">
                <a:solidFill>
                  <a:srgbClr val="007E92"/>
                </a:solidFill>
                <a:latin typeface="Arial"/>
                <a:ea typeface="Arial"/>
                <a:cs typeface="Arial"/>
              </a:rPr>
              <a:t>Line</a:t>
            </a:r>
          </a:p>
        </p:txBody>
      </p:sp>
      <p:sp>
        <p:nvSpPr>
          <p:cNvPr id="5" name="A logical line can contain multiple pipe segments. Assi">
            <a:extLst xmlns:a="http://schemas.openxmlformats.org/drawingml/2006/main">
              <a:ext uri="{FF2B5EF4-FFF2-40B4-BE49-F238E27FC236}">
                <a16:creationId xmlns:a16="http://schemas.microsoft.com/office/drawing/2014/main" id="{8F522230-82EB-4478-881D-304868B18F86}"/>
              </a:ext>
            </a:extLst>
          </p:cNvPr>
          <p:cNvSpPr>
            <a:spLocks xmlns:a="http://schemas.openxmlformats.org/drawingml/2006/main" noGrp="1"/>
          </p:cNvSpPr>
          <p:nvPr/>
        </p:nvSpPr>
        <p:spPr>
          <a:xfrm xmlns:a="http://schemas.openxmlformats.org/drawingml/2006/main">
            <a:off x="5419725" y="3067050"/>
            <a:ext cx="4238625" cy="3200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325" b="0">
                <a:solidFill>
                  <a:srgbClr val="18384B"/>
                </a:solidFill>
                <a:latin typeface="Arial"/>
                <a:ea typeface="Arial"/>
                <a:cs typeface="Arial"/>
              </a:defRPr>
            </a:pPr>
            <a:r>
              <a:rPr sz="2325" b="0">
                <a:solidFill>
                  <a:srgbClr val="18384B"/>
                </a:solidFill>
                <a:latin typeface="Arial"/>
                <a:ea typeface="Arial"/>
                <a:cs typeface="Arial"/>
              </a:rPr>
              <a:t>A logical line can contain multiple pipe segments. Assign it in the pipe form or element details.</a:t>
            </a:r>
          </a:p>
        </p:txBody>
      </p:sp>
      <p:sp>
        <p:nvSpPr>
          <p:cNvPr id="6" name="Branch">
            <a:extLst xmlns:a="http://schemas.openxmlformats.org/drawingml/2006/main">
              <a:ext uri="{FF2B5EF4-FFF2-40B4-BE49-F238E27FC236}">
                <a16:creationId xmlns:a16="http://schemas.microsoft.com/office/drawing/2014/main" id="{80D769A2-86A1-4CB9-94BE-BC8D34F9D129}"/>
              </a:ext>
            </a:extLst>
          </p:cNvPr>
          <p:cNvSpPr>
            <a:spLocks xmlns:a="http://schemas.openxmlformats.org/drawingml/2006/main" noGrp="1"/>
          </p:cNvSpPr>
          <p:nvPr/>
        </p:nvSpPr>
        <p:spPr>
          <a:xfrm xmlns:a="http://schemas.openxmlformats.org/drawingml/2006/main">
            <a:off x="10229850" y="1952625"/>
            <a:ext cx="4267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400" b="1">
                <a:solidFill>
                  <a:srgbClr val="007E92"/>
                </a:solidFill>
                <a:latin typeface="Arial"/>
                <a:ea typeface="Arial"/>
                <a:cs typeface="Arial"/>
              </a:defRPr>
            </a:pPr>
            <a:r>
              <a:rPr sz="2400" b="1">
                <a:solidFill>
                  <a:srgbClr val="007E92"/>
                </a:solidFill>
                <a:latin typeface="Arial"/>
                <a:ea typeface="Arial"/>
                <a:cs typeface="Arial"/>
              </a:rPr>
              <a:t>Branch</a:t>
            </a:r>
          </a:p>
        </p:txBody>
      </p:sp>
      <p:sp>
        <p:nvSpPr>
          <p:cNvPr id="7" name="Choose a parent line when creating a branch. Give the b">
            <a:extLst xmlns:a="http://schemas.openxmlformats.org/drawingml/2006/main">
              <a:ext uri="{FF2B5EF4-FFF2-40B4-BE49-F238E27FC236}">
                <a16:creationId xmlns:a16="http://schemas.microsoft.com/office/drawing/2014/main" id="{52167EF7-572A-41DD-A1D4-6894D1433640}"/>
              </a:ext>
            </a:extLst>
          </p:cNvPr>
          <p:cNvSpPr>
            <a:spLocks xmlns:a="http://schemas.openxmlformats.org/drawingml/2006/main" noGrp="1"/>
          </p:cNvSpPr>
          <p:nvPr/>
        </p:nvSpPr>
        <p:spPr>
          <a:xfrm xmlns:a="http://schemas.openxmlformats.org/drawingml/2006/main">
            <a:off x="10229850" y="3067050"/>
            <a:ext cx="4238625" cy="3200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325" b="0">
                <a:solidFill>
                  <a:srgbClr val="18384B"/>
                </a:solidFill>
                <a:latin typeface="Arial"/>
                <a:ea typeface="Arial"/>
                <a:cs typeface="Arial"/>
              </a:defRPr>
            </a:pPr>
            <a:r>
              <a:rPr sz="2325" b="0">
                <a:solidFill>
                  <a:srgbClr val="18384B"/>
                </a:solidFill>
                <a:latin typeface="Arial"/>
                <a:ea typeface="Arial"/>
                <a:cs typeface="Arial"/>
              </a:rPr>
              <a:t>Choose a parent line when creating a branch. Give the branch a meaningful operational name.</a:t>
            </a:r>
          </a:p>
        </p:txBody>
      </p:sp>
      <p:sp>
        <p:nvSpPr>
          <p:cNvPr id="8" name="System, logical line and pipe segment are separate leve">
            <a:extLst xmlns:a="http://schemas.openxmlformats.org/drawingml/2006/main">
              <a:ext uri="{FF2B5EF4-FFF2-40B4-BE49-F238E27FC236}">
                <a16:creationId xmlns:a16="http://schemas.microsoft.com/office/drawing/2014/main" id="{08B04283-3ED7-4BC1-A200-49A03D3C2011}"/>
              </a:ext>
            </a:extLst>
          </p:cNvPr>
          <p:cNvSpPr>
            <a:spLocks xmlns:a="http://schemas.openxmlformats.org/drawingml/2006/main" noGrp="1"/>
          </p:cNvSpPr>
          <p:nvPr/>
        </p:nvSpPr>
        <p:spPr>
          <a:xfrm xmlns:a="http://schemas.openxmlformats.org/drawingml/2006/main">
            <a:off x="609600" y="7448550"/>
            <a:ext cx="1390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System, logical line and pipe segment are separate levels of the network.</a:t>
            </a:r>
          </a:p>
        </p:txBody>
      </p:sp>
      <p:sp>
        <p:nvSpPr>
          <p:cNvPr id="9" name="WIDispatch   /   Client demonstration">
            <a:extLst xmlns:a="http://schemas.openxmlformats.org/drawingml/2006/main">
              <a:ext uri="{FF2B5EF4-FFF2-40B4-BE49-F238E27FC236}">
                <a16:creationId xmlns:a16="http://schemas.microsoft.com/office/drawing/2014/main" id="{5328A116-F082-4522-BF99-D442E613C22C}"/>
              </a:ext>
            </a:extLst>
          </p:cNvPr>
          <p:cNvSpPr>
            <a:spLocks xmlns:a="http://schemas.openxmlformats.org/drawingml/2006/main" noGrp="1"/>
          </p:cNvSpPr>
          <p:nvPr/>
        </p:nvSpPr>
        <p:spPr>
          <a:xfrm xmlns:a="http://schemas.openxmlformats.org/drawingml/2006/main">
            <a:off x="609600" y="81724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275" b="0">
                <a:solidFill>
                  <a:srgbClr val="547080"/>
                </a:solidFill>
                <a:latin typeface="Arial"/>
                <a:ea typeface="Arial"/>
                <a:cs typeface="Arial"/>
              </a:defRPr>
            </a:pPr>
            <a:r>
              <a:rPr sz="1275" b="0">
                <a:solidFill>
                  <a:srgbClr val="547080"/>
                </a:solidFill>
                <a:latin typeface="Arial"/>
                <a:ea typeface="Arial"/>
                <a:cs typeface="Arial"/>
              </a:rPr>
              <a:t>WIDispatch   /   Client demonstration</a:t>
            </a:r>
          </a:p>
        </p:txBody>
      </p:sp>
      <p:sp>
        <p:nvSpPr>
          <p:cNvPr id="10" name="33">
            <a:extLst xmlns:a="http://schemas.openxmlformats.org/drawingml/2006/main">
              <a:ext uri="{FF2B5EF4-FFF2-40B4-BE49-F238E27FC236}">
                <a16:creationId xmlns:a16="http://schemas.microsoft.com/office/drawing/2014/main" id="{37BD3E23-C79D-40B7-8BD1-B654908E51F3}"/>
              </a:ext>
            </a:extLst>
          </p:cNvPr>
          <p:cNvSpPr>
            <a:spLocks xmlns:a="http://schemas.openxmlformats.org/drawingml/2006/main" noGrp="1"/>
          </p:cNvSpPr>
          <p:nvPr/>
        </p:nvSpPr>
        <p:spPr>
          <a:xfrm xmlns:a="http://schemas.openxmlformats.org/drawingml/2006/main">
            <a:off x="13906500" y="8115300"/>
            <a:ext cx="723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547080"/>
                </a:solidFill>
                <a:latin typeface="Arial"/>
                <a:ea typeface="Arial"/>
                <a:cs typeface="Arial"/>
              </a:defRPr>
            </a:pPr>
            <a:r>
              <a:rPr sz="1650" b="0">
                <a:solidFill>
                  <a:srgbClr val="547080"/>
                </a:solidFill>
                <a:latin typeface="Arial"/>
                <a:ea typeface="Arial"/>
                <a:cs typeface="Arial"/>
              </a:rPr>
              <a:t>39</a:t>
            </a:r>
          </a:p>
        </p:txBody>
      </p:sp>
    </p:spTree>
    <p:extLst>
      <p:ext uri="{BB962C8B-B14F-4D97-AF65-F5344CB8AC3E}">
        <p14:creationId xmlns:p14="http://schemas.microsoft.com/office/powerpoint/2010/main" val="1171067381"/>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The saved system in Desktop">
            <a:extLst xmlns:a="http://schemas.openxmlformats.org/drawingml/2006/main">
              <a:ext uri="{FF2B5EF4-FFF2-40B4-BE49-F238E27FC236}">
                <a16:creationId xmlns:a16="http://schemas.microsoft.com/office/drawing/2014/main" id="{57E67288-582E-48DD-9696-D16ED9737B58}"/>
              </a:ext>
            </a:extLst>
          </p:cNvPr>
          <p:cNvSpPr>
            <a:spLocks xmlns:a="http://schemas.openxmlformats.org/drawingml/2006/main" noGrp="1"/>
          </p:cNvSpPr>
          <p:nvPr/>
        </p:nvSpPr>
        <p:spPr>
          <a:xfrm xmlns:a="http://schemas.openxmlformats.org/drawingml/2006/main">
            <a:off x="571500" y="428625"/>
            <a:ext cx="140970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300" b="1">
                <a:solidFill>
                  <a:srgbClr val="12374B"/>
                </a:solidFill>
                <a:latin typeface="Arial"/>
                <a:ea typeface="Arial"/>
                <a:cs typeface="Arial"/>
              </a:defRPr>
            </a:pPr>
            <a:r>
              <a:rPr sz="3300" b="1">
                <a:solidFill>
                  <a:srgbClr val="12374B"/>
                </a:solidFill>
                <a:latin typeface="Arial"/>
                <a:ea typeface="Arial"/>
                <a:cs typeface="Arial"/>
              </a:rPr>
              <a:t>The saved system in Desktop</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d0239559928d4111"/>
          <a:stretch xmlns:a="http://schemas.openxmlformats.org/drawingml/2006/main"/>
        </p:blipFill>
        <p:spPr>
          <a:xfrm xmlns:a="http://schemas.openxmlformats.org/drawingml/2006/main">
            <a:off x="476250" y="1965577"/>
            <a:ext cx="10668000" cy="4831845"/>
          </a:xfrm>
          <a:prstGeom xmlns:a="http://schemas.openxmlformats.org/drawingml/2006/main" prst="rect">
            <a:avLst/>
          </a:prstGeom>
        </p:spPr>
      </p:pic>
      <p:sp>
        <p:nvSpPr>
          <p:cNvPr id="3" name="01">
            <a:extLst xmlns:a="http://schemas.openxmlformats.org/drawingml/2006/main">
              <a:ext uri="{FF2B5EF4-FFF2-40B4-BE49-F238E27FC236}">
                <a16:creationId xmlns:a16="http://schemas.microsoft.com/office/drawing/2014/main" id="{69000129-E61C-484C-BB0A-9B19AB5C11EF}"/>
              </a:ext>
            </a:extLst>
          </p:cNvPr>
          <p:cNvSpPr>
            <a:spLocks xmlns:a="http://schemas.openxmlformats.org/drawingml/2006/main" noGrp="1"/>
          </p:cNvSpPr>
          <p:nvPr/>
        </p:nvSpPr>
        <p:spPr>
          <a:xfrm xmlns:a="http://schemas.openxmlformats.org/drawingml/2006/main">
            <a:off x="11525250" y="1771650"/>
            <a:ext cx="95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01</a:t>
            </a:r>
          </a:p>
        </p:txBody>
      </p:sp>
      <p:sp>
        <p:nvSpPr>
          <p:cNvPr id="4" name="Open Transmission, then Transmission Systems.">
            <a:extLst xmlns:a="http://schemas.openxmlformats.org/drawingml/2006/main">
              <a:ext uri="{FF2B5EF4-FFF2-40B4-BE49-F238E27FC236}">
                <a16:creationId xmlns:a16="http://schemas.microsoft.com/office/drawing/2014/main" id="{A6CFD281-E5D4-4D7F-95DE-C004367EFD4A}"/>
              </a:ext>
            </a:extLst>
          </p:cNvPr>
          <p:cNvSpPr>
            <a:spLocks xmlns:a="http://schemas.openxmlformats.org/drawingml/2006/main" noGrp="1"/>
          </p:cNvSpPr>
          <p:nvPr/>
        </p:nvSpPr>
        <p:spPr>
          <a:xfrm xmlns:a="http://schemas.openxmlformats.org/drawingml/2006/main">
            <a:off x="11525250" y="2238375"/>
            <a:ext cx="30765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025" b="0">
                <a:solidFill>
                  <a:srgbClr val="18384B"/>
                </a:solidFill>
                <a:latin typeface="Arial"/>
                <a:ea typeface="Arial"/>
                <a:cs typeface="Arial"/>
              </a:defRPr>
            </a:pPr>
            <a:r>
              <a:rPr sz="2025" b="0">
                <a:solidFill>
                  <a:srgbClr val="18384B"/>
                </a:solidFill>
                <a:latin typeface="Arial"/>
                <a:ea typeface="Arial"/>
                <a:cs typeface="Arial"/>
              </a:rPr>
              <a:t>Open Transmission, then Transmission Systems.</a:t>
            </a:r>
          </a:p>
        </p:txBody>
      </p:sp>
      <p:sp>
        <p:nvSpPr>
          <p:cNvPr id="5" name="02">
            <a:extLst xmlns:a="http://schemas.openxmlformats.org/drawingml/2006/main">
              <a:ext uri="{FF2B5EF4-FFF2-40B4-BE49-F238E27FC236}">
                <a16:creationId xmlns:a16="http://schemas.microsoft.com/office/drawing/2014/main" id="{86E75147-CDA2-4BA8-A4FA-4BD6F36C7BA7}"/>
              </a:ext>
            </a:extLst>
          </p:cNvPr>
          <p:cNvSpPr>
            <a:spLocks xmlns:a="http://schemas.openxmlformats.org/drawingml/2006/main" noGrp="1"/>
          </p:cNvSpPr>
          <p:nvPr/>
        </p:nvSpPr>
        <p:spPr>
          <a:xfrm xmlns:a="http://schemas.openxmlformats.org/drawingml/2006/main">
            <a:off x="11525250" y="3429000"/>
            <a:ext cx="95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02</a:t>
            </a:r>
          </a:p>
        </p:txBody>
      </p:sp>
      <p:sp>
        <p:nvSpPr>
          <p:cNvPr id="6" name="Select the saved system.">
            <a:extLst xmlns:a="http://schemas.openxmlformats.org/drawingml/2006/main">
              <a:ext uri="{FF2B5EF4-FFF2-40B4-BE49-F238E27FC236}">
                <a16:creationId xmlns:a16="http://schemas.microsoft.com/office/drawing/2014/main" id="{3653E778-5653-44AA-81DF-ED858ABBDEEC}"/>
              </a:ext>
            </a:extLst>
          </p:cNvPr>
          <p:cNvSpPr>
            <a:spLocks xmlns:a="http://schemas.openxmlformats.org/drawingml/2006/main" noGrp="1"/>
          </p:cNvSpPr>
          <p:nvPr/>
        </p:nvSpPr>
        <p:spPr>
          <a:xfrm xmlns:a="http://schemas.openxmlformats.org/drawingml/2006/main">
            <a:off x="11525250" y="3895725"/>
            <a:ext cx="30765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025" b="0">
                <a:solidFill>
                  <a:srgbClr val="18384B"/>
                </a:solidFill>
                <a:latin typeface="Arial"/>
                <a:ea typeface="Arial"/>
                <a:cs typeface="Arial"/>
              </a:defRPr>
            </a:pPr>
            <a:r>
              <a:rPr sz="2025" b="0">
                <a:solidFill>
                  <a:srgbClr val="18384B"/>
                </a:solidFill>
                <a:latin typeface="Arial"/>
                <a:ea typeface="Arial"/>
                <a:cs typeface="Arial"/>
              </a:rPr>
              <a:t>Select the saved system.</a:t>
            </a:r>
          </a:p>
        </p:txBody>
      </p:sp>
      <p:sp>
        <p:nvSpPr>
          <p:cNvPr id="7" name="03">
            <a:extLst xmlns:a="http://schemas.openxmlformats.org/drawingml/2006/main">
              <a:ext uri="{FF2B5EF4-FFF2-40B4-BE49-F238E27FC236}">
                <a16:creationId xmlns:a16="http://schemas.microsoft.com/office/drawing/2014/main" id="{E6CC09FF-D035-47FE-BCA7-3065BA62DE60}"/>
              </a:ext>
            </a:extLst>
          </p:cNvPr>
          <p:cNvSpPr>
            <a:spLocks xmlns:a="http://schemas.openxmlformats.org/drawingml/2006/main" noGrp="1"/>
          </p:cNvSpPr>
          <p:nvPr/>
        </p:nvSpPr>
        <p:spPr>
          <a:xfrm xmlns:a="http://schemas.openxmlformats.org/drawingml/2006/main">
            <a:off x="11525250" y="5086350"/>
            <a:ext cx="95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03</a:t>
            </a:r>
          </a:p>
        </p:txBody>
      </p:sp>
      <p:sp>
        <p:nvSpPr>
          <p:cNvPr id="8" name="Inspect its network snapshot and line structure.">
            <a:extLst xmlns:a="http://schemas.openxmlformats.org/drawingml/2006/main">
              <a:ext uri="{FF2B5EF4-FFF2-40B4-BE49-F238E27FC236}">
                <a16:creationId xmlns:a16="http://schemas.microsoft.com/office/drawing/2014/main" id="{C5FF6184-080C-4FBB-8621-5BF639369910}"/>
              </a:ext>
            </a:extLst>
          </p:cNvPr>
          <p:cNvSpPr>
            <a:spLocks xmlns:a="http://schemas.openxmlformats.org/drawingml/2006/main" noGrp="1"/>
          </p:cNvSpPr>
          <p:nvPr/>
        </p:nvSpPr>
        <p:spPr>
          <a:xfrm xmlns:a="http://schemas.openxmlformats.org/drawingml/2006/main">
            <a:off x="11525250" y="5553075"/>
            <a:ext cx="30765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025" b="0">
                <a:solidFill>
                  <a:srgbClr val="18384B"/>
                </a:solidFill>
                <a:latin typeface="Arial"/>
                <a:ea typeface="Arial"/>
                <a:cs typeface="Arial"/>
              </a:defRPr>
            </a:pPr>
            <a:r>
              <a:rPr sz="2025" b="0">
                <a:solidFill>
                  <a:srgbClr val="18384B"/>
                </a:solidFill>
                <a:latin typeface="Arial"/>
                <a:ea typeface="Arial"/>
                <a:cs typeface="Arial"/>
              </a:rPr>
              <a:t>Inspect its network snapshot and line structure.</a:t>
            </a:r>
          </a:p>
        </p:txBody>
      </p:sp>
      <p:sp>
        <p:nvSpPr>
          <p:cNvPr id="9" name="The saved structure supplies the reusable system in the">
            <a:extLst xmlns:a="http://schemas.openxmlformats.org/drawingml/2006/main">
              <a:ext uri="{FF2B5EF4-FFF2-40B4-BE49-F238E27FC236}">
                <a16:creationId xmlns:a16="http://schemas.microsoft.com/office/drawing/2014/main" id="{FB2A5C41-2933-40C7-9D18-F7BDF6B44230}"/>
              </a:ext>
            </a:extLst>
          </p:cNvPr>
          <p:cNvSpPr>
            <a:spLocks xmlns:a="http://schemas.openxmlformats.org/drawingml/2006/main" noGrp="1"/>
          </p:cNvSpPr>
          <p:nvPr/>
        </p:nvSpPr>
        <p:spPr>
          <a:xfrm xmlns:a="http://schemas.openxmlformats.org/drawingml/2006/main">
            <a:off x="609600" y="7448550"/>
            <a:ext cx="1390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The saved structure supplies the reusable system in the canvas library.</a:t>
            </a:r>
          </a:p>
        </p:txBody>
      </p:sp>
      <p:sp>
        <p:nvSpPr>
          <p:cNvPr id="10" name="WIDispatch   /   Client demonstration">
            <a:extLst xmlns:a="http://schemas.openxmlformats.org/drawingml/2006/main">
              <a:ext uri="{FF2B5EF4-FFF2-40B4-BE49-F238E27FC236}">
                <a16:creationId xmlns:a16="http://schemas.microsoft.com/office/drawing/2014/main" id="{51B1029D-65C2-4274-BE17-8DD12C372D0D}"/>
              </a:ext>
            </a:extLst>
          </p:cNvPr>
          <p:cNvSpPr>
            <a:spLocks xmlns:a="http://schemas.openxmlformats.org/drawingml/2006/main" noGrp="1"/>
          </p:cNvSpPr>
          <p:nvPr/>
        </p:nvSpPr>
        <p:spPr>
          <a:xfrm xmlns:a="http://schemas.openxmlformats.org/drawingml/2006/main">
            <a:off x="609600" y="81724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275" b="0">
                <a:solidFill>
                  <a:srgbClr val="547080"/>
                </a:solidFill>
                <a:latin typeface="Arial"/>
                <a:ea typeface="Arial"/>
                <a:cs typeface="Arial"/>
              </a:defRPr>
            </a:pPr>
            <a:r>
              <a:rPr sz="1275" b="0">
                <a:solidFill>
                  <a:srgbClr val="547080"/>
                </a:solidFill>
                <a:latin typeface="Arial"/>
                <a:ea typeface="Arial"/>
                <a:cs typeface="Arial"/>
              </a:rPr>
              <a:t>WIDispatch   /   Client demonstration</a:t>
            </a:r>
          </a:p>
        </p:txBody>
      </p:sp>
      <p:sp>
        <p:nvSpPr>
          <p:cNvPr id="11" name="34">
            <a:extLst xmlns:a="http://schemas.openxmlformats.org/drawingml/2006/main">
              <a:ext uri="{FF2B5EF4-FFF2-40B4-BE49-F238E27FC236}">
                <a16:creationId xmlns:a16="http://schemas.microsoft.com/office/drawing/2014/main" id="{F3B1FA5E-506A-4702-9782-484417BA0B00}"/>
              </a:ext>
            </a:extLst>
          </p:cNvPr>
          <p:cNvSpPr>
            <a:spLocks xmlns:a="http://schemas.openxmlformats.org/drawingml/2006/main" noGrp="1"/>
          </p:cNvSpPr>
          <p:nvPr/>
        </p:nvSpPr>
        <p:spPr>
          <a:xfrm xmlns:a="http://schemas.openxmlformats.org/drawingml/2006/main">
            <a:off x="13906500" y="8115300"/>
            <a:ext cx="723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547080"/>
                </a:solidFill>
                <a:latin typeface="Arial"/>
                <a:ea typeface="Arial"/>
                <a:cs typeface="Arial"/>
              </a:defRPr>
            </a:pPr>
            <a:r>
              <a:rPr sz="1650" b="0">
                <a:solidFill>
                  <a:srgbClr val="547080"/>
                </a:solidFill>
                <a:latin typeface="Arial"/>
                <a:ea typeface="Arial"/>
                <a:cs typeface="Arial"/>
              </a:rPr>
              <a:t>40</a:t>
            </a:r>
          </a:p>
        </p:txBody>
      </p:sp>
    </p:spTree>
    <p:extLst>
      <p:ext uri="{BB962C8B-B14F-4D97-AF65-F5344CB8AC3E}">
        <p14:creationId xmlns:p14="http://schemas.microsoft.com/office/powerpoint/2010/main" val="994983009"/>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The Systems library">
            <a:extLst xmlns:a="http://schemas.openxmlformats.org/drawingml/2006/main">
              <a:ext uri="{FF2B5EF4-FFF2-40B4-BE49-F238E27FC236}">
                <a16:creationId xmlns:a16="http://schemas.microsoft.com/office/drawing/2014/main" id="{14BF7974-4ECD-4DFA-A2E3-D273F7456EED}"/>
              </a:ext>
            </a:extLst>
          </p:cNvPr>
          <p:cNvSpPr>
            <a:spLocks xmlns:a="http://schemas.openxmlformats.org/drawingml/2006/main" noGrp="1"/>
          </p:cNvSpPr>
          <p:nvPr/>
        </p:nvSpPr>
        <p:spPr>
          <a:xfrm xmlns:a="http://schemas.openxmlformats.org/drawingml/2006/main">
            <a:off x="571500" y="428625"/>
            <a:ext cx="140970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300" b="1">
                <a:solidFill>
                  <a:srgbClr val="12374B"/>
                </a:solidFill>
                <a:latin typeface="Arial"/>
                <a:ea typeface="Arial"/>
                <a:cs typeface="Arial"/>
              </a:defRPr>
            </a:pPr>
            <a:r>
              <a:rPr sz="3300" b="1">
                <a:solidFill>
                  <a:srgbClr val="12374B"/>
                </a:solidFill>
                <a:latin typeface="Arial"/>
                <a:ea typeface="Arial"/>
                <a:cs typeface="Arial"/>
              </a:rPr>
              <a:t>The Systems library</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979554d33f58422d"/>
          <a:stretch xmlns:a="http://schemas.openxmlformats.org/drawingml/2006/main"/>
        </p:blipFill>
        <p:spPr>
          <a:xfrm xmlns:a="http://schemas.openxmlformats.org/drawingml/2006/main">
            <a:off x="476250" y="1973947"/>
            <a:ext cx="10668000" cy="4815107"/>
          </a:xfrm>
          <a:prstGeom xmlns:a="http://schemas.openxmlformats.org/drawingml/2006/main" prst="rect">
            <a:avLst/>
          </a:prstGeom>
        </p:spPr>
      </p:pic>
      <p:sp>
        <p:nvSpPr>
          <p:cNvPr id="3" name="01">
            <a:extLst xmlns:a="http://schemas.openxmlformats.org/drawingml/2006/main">
              <a:ext uri="{FF2B5EF4-FFF2-40B4-BE49-F238E27FC236}">
                <a16:creationId xmlns:a16="http://schemas.microsoft.com/office/drawing/2014/main" id="{025412E9-7D72-40A2-A187-EC12C6475E81}"/>
              </a:ext>
            </a:extLst>
          </p:cNvPr>
          <p:cNvSpPr>
            <a:spLocks xmlns:a="http://schemas.openxmlformats.org/drawingml/2006/main" noGrp="1"/>
          </p:cNvSpPr>
          <p:nvPr/>
        </p:nvSpPr>
        <p:spPr>
          <a:xfrm xmlns:a="http://schemas.openxmlformats.org/drawingml/2006/main">
            <a:off x="11525250" y="1771650"/>
            <a:ext cx="95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01</a:t>
            </a:r>
          </a:p>
        </p:txBody>
      </p:sp>
      <p:sp>
        <p:nvSpPr>
          <p:cNvPr id="4" name="Open Library and select Systems.">
            <a:extLst xmlns:a="http://schemas.openxmlformats.org/drawingml/2006/main">
              <a:ext uri="{FF2B5EF4-FFF2-40B4-BE49-F238E27FC236}">
                <a16:creationId xmlns:a16="http://schemas.microsoft.com/office/drawing/2014/main" id="{F49C3B63-F28F-445D-B79A-286E0BC75C5E}"/>
              </a:ext>
            </a:extLst>
          </p:cNvPr>
          <p:cNvSpPr>
            <a:spLocks xmlns:a="http://schemas.openxmlformats.org/drawingml/2006/main" noGrp="1"/>
          </p:cNvSpPr>
          <p:nvPr/>
        </p:nvSpPr>
        <p:spPr>
          <a:xfrm xmlns:a="http://schemas.openxmlformats.org/drawingml/2006/main">
            <a:off x="11525250" y="2238375"/>
            <a:ext cx="30765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025" b="0">
                <a:solidFill>
                  <a:srgbClr val="18384B"/>
                </a:solidFill>
                <a:latin typeface="Arial"/>
                <a:ea typeface="Arial"/>
                <a:cs typeface="Arial"/>
              </a:defRPr>
            </a:pPr>
            <a:r>
              <a:rPr sz="2025" b="0">
                <a:solidFill>
                  <a:srgbClr val="18384B"/>
                </a:solidFill>
                <a:latin typeface="Arial"/>
                <a:ea typeface="Arial"/>
                <a:cs typeface="Arial"/>
              </a:rPr>
              <a:t>Open Library and select Systems.</a:t>
            </a:r>
          </a:p>
        </p:txBody>
      </p:sp>
      <p:sp>
        <p:nvSpPr>
          <p:cNvPr id="5" name="02">
            <a:extLst xmlns:a="http://schemas.openxmlformats.org/drawingml/2006/main">
              <a:ext uri="{FF2B5EF4-FFF2-40B4-BE49-F238E27FC236}">
                <a16:creationId xmlns:a16="http://schemas.microsoft.com/office/drawing/2014/main" id="{D7F917F8-F855-40DE-8CF5-31881A593A34}"/>
              </a:ext>
            </a:extLst>
          </p:cNvPr>
          <p:cNvSpPr>
            <a:spLocks xmlns:a="http://schemas.openxmlformats.org/drawingml/2006/main" noGrp="1"/>
          </p:cNvSpPr>
          <p:nvPr/>
        </p:nvSpPr>
        <p:spPr>
          <a:xfrm xmlns:a="http://schemas.openxmlformats.org/drawingml/2006/main">
            <a:off x="11525250" y="3429000"/>
            <a:ext cx="95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02</a:t>
            </a:r>
          </a:p>
        </p:txBody>
      </p:sp>
      <p:sp>
        <p:nvSpPr>
          <p:cNvPr id="6" name="Search for the required system.">
            <a:extLst xmlns:a="http://schemas.openxmlformats.org/drawingml/2006/main">
              <a:ext uri="{FF2B5EF4-FFF2-40B4-BE49-F238E27FC236}">
                <a16:creationId xmlns:a16="http://schemas.microsoft.com/office/drawing/2014/main" id="{FAA833EF-736D-4543-99D2-3D8BBF76B261}"/>
              </a:ext>
            </a:extLst>
          </p:cNvPr>
          <p:cNvSpPr>
            <a:spLocks xmlns:a="http://schemas.openxmlformats.org/drawingml/2006/main" noGrp="1"/>
          </p:cNvSpPr>
          <p:nvPr/>
        </p:nvSpPr>
        <p:spPr>
          <a:xfrm xmlns:a="http://schemas.openxmlformats.org/drawingml/2006/main">
            <a:off x="11525250" y="3895725"/>
            <a:ext cx="30765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025" b="0">
                <a:solidFill>
                  <a:srgbClr val="18384B"/>
                </a:solidFill>
                <a:latin typeface="Arial"/>
                <a:ea typeface="Arial"/>
                <a:cs typeface="Arial"/>
              </a:defRPr>
            </a:pPr>
            <a:r>
              <a:rPr sz="2025" b="0">
                <a:solidFill>
                  <a:srgbClr val="18384B"/>
                </a:solidFill>
                <a:latin typeface="Arial"/>
                <a:ea typeface="Arial"/>
                <a:cs typeface="Arial"/>
              </a:rPr>
              <a:t>Search for the required system.</a:t>
            </a:r>
          </a:p>
        </p:txBody>
      </p:sp>
      <p:sp>
        <p:nvSpPr>
          <p:cNvPr id="7" name="03">
            <a:extLst xmlns:a="http://schemas.openxmlformats.org/drawingml/2006/main">
              <a:ext uri="{FF2B5EF4-FFF2-40B4-BE49-F238E27FC236}">
                <a16:creationId xmlns:a16="http://schemas.microsoft.com/office/drawing/2014/main" id="{469A98DC-B07D-4029-B7F3-03CEFB9CE219}"/>
              </a:ext>
            </a:extLst>
          </p:cNvPr>
          <p:cNvSpPr>
            <a:spLocks xmlns:a="http://schemas.openxmlformats.org/drawingml/2006/main" noGrp="1"/>
          </p:cNvSpPr>
          <p:nvPr/>
        </p:nvSpPr>
        <p:spPr>
          <a:xfrm xmlns:a="http://schemas.openxmlformats.org/drawingml/2006/main">
            <a:off x="11525250" y="5086350"/>
            <a:ext cx="95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03</a:t>
            </a:r>
          </a:p>
        </p:txBody>
      </p:sp>
      <p:sp>
        <p:nvSpPr>
          <p:cNvPr id="8" name="Check saved nodes and saved pipes before placement.">
            <a:extLst xmlns:a="http://schemas.openxmlformats.org/drawingml/2006/main">
              <a:ext uri="{FF2B5EF4-FFF2-40B4-BE49-F238E27FC236}">
                <a16:creationId xmlns:a16="http://schemas.microsoft.com/office/drawing/2014/main" id="{B7D5BC39-8211-4D11-A512-9A6BEAF76823}"/>
              </a:ext>
            </a:extLst>
          </p:cNvPr>
          <p:cNvSpPr>
            <a:spLocks xmlns:a="http://schemas.openxmlformats.org/drawingml/2006/main" noGrp="1"/>
          </p:cNvSpPr>
          <p:nvPr/>
        </p:nvSpPr>
        <p:spPr>
          <a:xfrm xmlns:a="http://schemas.openxmlformats.org/drawingml/2006/main">
            <a:off x="11525250" y="5553075"/>
            <a:ext cx="30765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025" b="0">
                <a:solidFill>
                  <a:srgbClr val="18384B"/>
                </a:solidFill>
                <a:latin typeface="Arial"/>
                <a:ea typeface="Arial"/>
                <a:cs typeface="Arial"/>
              </a:defRPr>
            </a:pPr>
            <a:r>
              <a:rPr sz="2025" b="0">
                <a:solidFill>
                  <a:srgbClr val="18384B"/>
                </a:solidFill>
                <a:latin typeface="Arial"/>
                <a:ea typeface="Arial"/>
                <a:cs typeface="Arial"/>
              </a:rPr>
              <a:t>Check saved nodes and saved pipes before placement.</a:t>
            </a:r>
          </a:p>
        </p:txBody>
      </p:sp>
      <p:sp>
        <p:nvSpPr>
          <p:cNvPr id="9" name="Reusable systems bring their saved nodes and connection">
            <a:extLst xmlns:a="http://schemas.openxmlformats.org/drawingml/2006/main">
              <a:ext uri="{FF2B5EF4-FFF2-40B4-BE49-F238E27FC236}">
                <a16:creationId xmlns:a16="http://schemas.microsoft.com/office/drawing/2014/main" id="{E42D27F2-207F-425C-8EA6-B888826A2C21}"/>
              </a:ext>
            </a:extLst>
          </p:cNvPr>
          <p:cNvSpPr>
            <a:spLocks xmlns:a="http://schemas.openxmlformats.org/drawingml/2006/main" noGrp="1"/>
          </p:cNvSpPr>
          <p:nvPr/>
        </p:nvSpPr>
        <p:spPr>
          <a:xfrm xmlns:a="http://schemas.openxmlformats.org/drawingml/2006/main">
            <a:off x="609600" y="7448550"/>
            <a:ext cx="1390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Reusable systems bring their saved nodes and connections together.</a:t>
            </a:r>
          </a:p>
        </p:txBody>
      </p:sp>
      <p:sp>
        <p:nvSpPr>
          <p:cNvPr id="10" name="WIDispatch   /   Client demonstration">
            <a:extLst xmlns:a="http://schemas.openxmlformats.org/drawingml/2006/main">
              <a:ext uri="{FF2B5EF4-FFF2-40B4-BE49-F238E27FC236}">
                <a16:creationId xmlns:a16="http://schemas.microsoft.com/office/drawing/2014/main" id="{2BBCDEF5-F555-48B4-82C9-423B5CFF1A28}"/>
              </a:ext>
            </a:extLst>
          </p:cNvPr>
          <p:cNvSpPr>
            <a:spLocks xmlns:a="http://schemas.openxmlformats.org/drawingml/2006/main" noGrp="1"/>
          </p:cNvSpPr>
          <p:nvPr/>
        </p:nvSpPr>
        <p:spPr>
          <a:xfrm xmlns:a="http://schemas.openxmlformats.org/drawingml/2006/main">
            <a:off x="609600" y="81724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275" b="0">
                <a:solidFill>
                  <a:srgbClr val="547080"/>
                </a:solidFill>
                <a:latin typeface="Arial"/>
                <a:ea typeface="Arial"/>
                <a:cs typeface="Arial"/>
              </a:defRPr>
            </a:pPr>
            <a:r>
              <a:rPr sz="1275" b="0">
                <a:solidFill>
                  <a:srgbClr val="547080"/>
                </a:solidFill>
                <a:latin typeface="Arial"/>
                <a:ea typeface="Arial"/>
                <a:cs typeface="Arial"/>
              </a:rPr>
              <a:t>WIDispatch   /   Client demonstration</a:t>
            </a:r>
          </a:p>
        </p:txBody>
      </p:sp>
      <p:sp>
        <p:nvSpPr>
          <p:cNvPr id="11" name="35">
            <a:extLst xmlns:a="http://schemas.openxmlformats.org/drawingml/2006/main">
              <a:ext uri="{FF2B5EF4-FFF2-40B4-BE49-F238E27FC236}">
                <a16:creationId xmlns:a16="http://schemas.microsoft.com/office/drawing/2014/main" id="{54820468-F953-4932-954D-A4F3B938F288}"/>
              </a:ext>
            </a:extLst>
          </p:cNvPr>
          <p:cNvSpPr>
            <a:spLocks xmlns:a="http://schemas.openxmlformats.org/drawingml/2006/main" noGrp="1"/>
          </p:cNvSpPr>
          <p:nvPr/>
        </p:nvSpPr>
        <p:spPr>
          <a:xfrm xmlns:a="http://schemas.openxmlformats.org/drawingml/2006/main">
            <a:off x="13906500" y="8115300"/>
            <a:ext cx="723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547080"/>
                </a:solidFill>
                <a:latin typeface="Arial"/>
                <a:ea typeface="Arial"/>
                <a:cs typeface="Arial"/>
              </a:defRPr>
            </a:pPr>
            <a:r>
              <a:rPr sz="1650" b="0">
                <a:solidFill>
                  <a:srgbClr val="547080"/>
                </a:solidFill>
                <a:latin typeface="Arial"/>
                <a:ea typeface="Arial"/>
                <a:cs typeface="Arial"/>
              </a:rPr>
              <a:t>41</a:t>
            </a:r>
          </a:p>
        </p:txBody>
      </p:sp>
    </p:spTree>
    <p:extLst>
      <p:ext uri="{BB962C8B-B14F-4D97-AF65-F5344CB8AC3E}">
        <p14:creationId xmlns:p14="http://schemas.microsoft.com/office/powerpoint/2010/main" val="2044573197"/>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A complete system placed on the canvas">
            <a:extLst xmlns:a="http://schemas.openxmlformats.org/drawingml/2006/main">
              <a:ext uri="{FF2B5EF4-FFF2-40B4-BE49-F238E27FC236}">
                <a16:creationId xmlns:a16="http://schemas.microsoft.com/office/drawing/2014/main" id="{3674CB0D-CB13-4C28-98A6-D9C3803855A6}"/>
              </a:ext>
            </a:extLst>
          </p:cNvPr>
          <p:cNvSpPr>
            <a:spLocks xmlns:a="http://schemas.openxmlformats.org/drawingml/2006/main" noGrp="1"/>
          </p:cNvSpPr>
          <p:nvPr/>
        </p:nvSpPr>
        <p:spPr>
          <a:xfrm xmlns:a="http://schemas.openxmlformats.org/drawingml/2006/main">
            <a:off x="571500" y="428625"/>
            <a:ext cx="140970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300" b="1">
                <a:solidFill>
                  <a:srgbClr val="12374B"/>
                </a:solidFill>
                <a:latin typeface="Arial"/>
                <a:ea typeface="Arial"/>
                <a:cs typeface="Arial"/>
              </a:defRPr>
            </a:pPr>
            <a:r>
              <a:rPr sz="3300" b="1">
                <a:solidFill>
                  <a:srgbClr val="12374B"/>
                </a:solidFill>
                <a:latin typeface="Arial"/>
                <a:ea typeface="Arial"/>
                <a:cs typeface="Arial"/>
              </a:rPr>
              <a:t>A complete system placed on the canvas</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9ea5ca116ef343e4"/>
          <a:stretch xmlns:a="http://schemas.openxmlformats.org/drawingml/2006/main"/>
        </p:blipFill>
        <p:spPr>
          <a:xfrm xmlns:a="http://schemas.openxmlformats.org/drawingml/2006/main">
            <a:off x="1247973" y="1524000"/>
            <a:ext cx="12744054" cy="5772150"/>
          </a:xfrm>
          <a:prstGeom xmlns:a="http://schemas.openxmlformats.org/drawingml/2006/main" prst="rect">
            <a:avLst/>
          </a:prstGeom>
        </p:spPr>
      </p:pic>
      <p:sp>
        <p:nvSpPr>
          <p:cNvPr id="3" name="Select the system, then click the canvas to place its s">
            <a:extLst xmlns:a="http://schemas.openxmlformats.org/drawingml/2006/main">
              <a:ext uri="{FF2B5EF4-FFF2-40B4-BE49-F238E27FC236}">
                <a16:creationId xmlns:a16="http://schemas.microsoft.com/office/drawing/2014/main" id="{0EE8BB41-7ADD-4D22-B80E-7462CCF74ABC}"/>
              </a:ext>
            </a:extLst>
          </p:cNvPr>
          <p:cNvSpPr>
            <a:spLocks xmlns:a="http://schemas.openxmlformats.org/drawingml/2006/main" noGrp="1"/>
          </p:cNvSpPr>
          <p:nvPr/>
        </p:nvSpPr>
        <p:spPr>
          <a:xfrm xmlns:a="http://schemas.openxmlformats.org/drawingml/2006/main">
            <a:off x="609600" y="7448550"/>
            <a:ext cx="1390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Select the system, then click the canvas to place its saved network structure.</a:t>
            </a:r>
          </a:p>
        </p:txBody>
      </p:sp>
      <p:sp>
        <p:nvSpPr>
          <p:cNvPr id="4" name="WIDispatch   /   Client demonstration">
            <a:extLst xmlns:a="http://schemas.openxmlformats.org/drawingml/2006/main">
              <a:ext uri="{FF2B5EF4-FFF2-40B4-BE49-F238E27FC236}">
                <a16:creationId xmlns:a16="http://schemas.microsoft.com/office/drawing/2014/main" id="{3A0A2A36-7EE2-47F0-8A04-7AF9300B5B89}"/>
              </a:ext>
            </a:extLst>
          </p:cNvPr>
          <p:cNvSpPr>
            <a:spLocks xmlns:a="http://schemas.openxmlformats.org/drawingml/2006/main" noGrp="1"/>
          </p:cNvSpPr>
          <p:nvPr/>
        </p:nvSpPr>
        <p:spPr>
          <a:xfrm xmlns:a="http://schemas.openxmlformats.org/drawingml/2006/main">
            <a:off x="609600" y="81724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275" b="0">
                <a:solidFill>
                  <a:srgbClr val="547080"/>
                </a:solidFill>
                <a:latin typeface="Arial"/>
                <a:ea typeface="Arial"/>
                <a:cs typeface="Arial"/>
              </a:defRPr>
            </a:pPr>
            <a:r>
              <a:rPr sz="1275" b="0">
                <a:solidFill>
                  <a:srgbClr val="547080"/>
                </a:solidFill>
                <a:latin typeface="Arial"/>
                <a:ea typeface="Arial"/>
                <a:cs typeface="Arial"/>
              </a:rPr>
              <a:t>WIDispatch   /   Client demonstration</a:t>
            </a:r>
          </a:p>
        </p:txBody>
      </p:sp>
      <p:sp>
        <p:nvSpPr>
          <p:cNvPr id="5" name="36">
            <a:extLst xmlns:a="http://schemas.openxmlformats.org/drawingml/2006/main">
              <a:ext uri="{FF2B5EF4-FFF2-40B4-BE49-F238E27FC236}">
                <a16:creationId xmlns:a16="http://schemas.microsoft.com/office/drawing/2014/main" id="{5D2CD2EE-9798-400B-A734-07015AA2C770}"/>
              </a:ext>
            </a:extLst>
          </p:cNvPr>
          <p:cNvSpPr>
            <a:spLocks xmlns:a="http://schemas.openxmlformats.org/drawingml/2006/main" noGrp="1"/>
          </p:cNvSpPr>
          <p:nvPr/>
        </p:nvSpPr>
        <p:spPr>
          <a:xfrm xmlns:a="http://schemas.openxmlformats.org/drawingml/2006/main">
            <a:off x="13906500" y="8115300"/>
            <a:ext cx="723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547080"/>
                </a:solidFill>
                <a:latin typeface="Arial"/>
                <a:ea typeface="Arial"/>
                <a:cs typeface="Arial"/>
              </a:defRPr>
            </a:pPr>
            <a:r>
              <a:rPr sz="1650" b="0">
                <a:solidFill>
                  <a:srgbClr val="547080"/>
                </a:solidFill>
                <a:latin typeface="Arial"/>
                <a:ea typeface="Arial"/>
                <a:cs typeface="Arial"/>
              </a:rPr>
              <a:t>42</a:t>
            </a:r>
          </a:p>
        </p:txBody>
      </p:sp>
    </p:spTree>
    <p:extLst>
      <p:ext uri="{BB962C8B-B14F-4D97-AF65-F5344CB8AC3E}">
        <p14:creationId xmlns:p14="http://schemas.microsoft.com/office/powerpoint/2010/main" val="1171322637"/>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Finding an asset on the canvas">
            <a:extLst xmlns:a="http://schemas.openxmlformats.org/drawingml/2006/main">
              <a:ext uri="{FF2B5EF4-FFF2-40B4-BE49-F238E27FC236}">
                <a16:creationId xmlns:a16="http://schemas.microsoft.com/office/drawing/2014/main" id="{1C85E41E-1C7F-4467-A768-9199AE60BDA3}"/>
              </a:ext>
            </a:extLst>
          </p:cNvPr>
          <p:cNvSpPr>
            <a:spLocks xmlns:a="http://schemas.openxmlformats.org/drawingml/2006/main" noGrp="1"/>
          </p:cNvSpPr>
          <p:nvPr/>
        </p:nvSpPr>
        <p:spPr>
          <a:xfrm xmlns:a="http://schemas.openxmlformats.org/drawingml/2006/main">
            <a:off x="571500" y="428625"/>
            <a:ext cx="140970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300" b="1">
                <a:solidFill>
                  <a:srgbClr val="12374B"/>
                </a:solidFill>
                <a:latin typeface="Arial"/>
                <a:ea typeface="Arial"/>
                <a:cs typeface="Arial"/>
              </a:defRPr>
            </a:pPr>
            <a:r>
              <a:rPr sz="3300" b="1">
                <a:solidFill>
                  <a:srgbClr val="12374B"/>
                </a:solidFill>
                <a:latin typeface="Arial"/>
                <a:ea typeface="Arial"/>
                <a:cs typeface="Arial"/>
              </a:rPr>
              <a:t>Finding an asset on the canvas</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06219db9d9c34ba9"/>
          <a:stretch xmlns:a="http://schemas.openxmlformats.org/drawingml/2006/main"/>
        </p:blipFill>
        <p:spPr>
          <a:xfrm xmlns:a="http://schemas.openxmlformats.org/drawingml/2006/main">
            <a:off x="476250" y="1973947"/>
            <a:ext cx="10668000" cy="4815107"/>
          </a:xfrm>
          <a:prstGeom xmlns:a="http://schemas.openxmlformats.org/drawingml/2006/main" prst="rect">
            <a:avLst/>
          </a:prstGeom>
        </p:spPr>
      </p:pic>
      <p:sp>
        <p:nvSpPr>
          <p:cNvPr id="3" name="01">
            <a:extLst xmlns:a="http://schemas.openxmlformats.org/drawingml/2006/main">
              <a:ext uri="{FF2B5EF4-FFF2-40B4-BE49-F238E27FC236}">
                <a16:creationId xmlns:a16="http://schemas.microsoft.com/office/drawing/2014/main" id="{16050732-4DFF-4DDB-B59E-584720B6A40B}"/>
              </a:ext>
            </a:extLst>
          </p:cNvPr>
          <p:cNvSpPr>
            <a:spLocks xmlns:a="http://schemas.openxmlformats.org/drawingml/2006/main" noGrp="1"/>
          </p:cNvSpPr>
          <p:nvPr/>
        </p:nvSpPr>
        <p:spPr>
          <a:xfrm xmlns:a="http://schemas.openxmlformats.org/drawingml/2006/main">
            <a:off x="11525250" y="1771650"/>
            <a:ext cx="95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01</a:t>
            </a:r>
          </a:p>
        </p:txBody>
      </p:sp>
      <p:sp>
        <p:nvSpPr>
          <p:cNvPr id="4" name="Open Find.">
            <a:extLst xmlns:a="http://schemas.openxmlformats.org/drawingml/2006/main">
              <a:ext uri="{FF2B5EF4-FFF2-40B4-BE49-F238E27FC236}">
                <a16:creationId xmlns:a16="http://schemas.microsoft.com/office/drawing/2014/main" id="{95382C30-5DD7-42E0-A3FA-E6C6D0A2499F}"/>
              </a:ext>
            </a:extLst>
          </p:cNvPr>
          <p:cNvSpPr>
            <a:spLocks xmlns:a="http://schemas.openxmlformats.org/drawingml/2006/main" noGrp="1"/>
          </p:cNvSpPr>
          <p:nvPr/>
        </p:nvSpPr>
        <p:spPr>
          <a:xfrm xmlns:a="http://schemas.openxmlformats.org/drawingml/2006/main">
            <a:off x="11525250" y="2238375"/>
            <a:ext cx="30765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025" b="0">
                <a:solidFill>
                  <a:srgbClr val="18384B"/>
                </a:solidFill>
                <a:latin typeface="Arial"/>
                <a:ea typeface="Arial"/>
                <a:cs typeface="Arial"/>
              </a:defRPr>
            </a:pPr>
            <a:r>
              <a:rPr sz="2025" b="0">
                <a:solidFill>
                  <a:srgbClr val="18384B"/>
                </a:solidFill>
                <a:latin typeface="Arial"/>
                <a:ea typeface="Arial"/>
                <a:cs typeface="Arial"/>
              </a:rPr>
              <a:t>Open Find.</a:t>
            </a:r>
          </a:p>
        </p:txBody>
      </p:sp>
      <p:sp>
        <p:nvSpPr>
          <p:cNvPr id="5" name="02">
            <a:extLst xmlns:a="http://schemas.openxmlformats.org/drawingml/2006/main">
              <a:ext uri="{FF2B5EF4-FFF2-40B4-BE49-F238E27FC236}">
                <a16:creationId xmlns:a16="http://schemas.microsoft.com/office/drawing/2014/main" id="{707CE208-0624-4AA5-8556-A3CF9FFC02C5}"/>
              </a:ext>
            </a:extLst>
          </p:cNvPr>
          <p:cNvSpPr>
            <a:spLocks xmlns:a="http://schemas.openxmlformats.org/drawingml/2006/main" noGrp="1"/>
          </p:cNvSpPr>
          <p:nvPr/>
        </p:nvSpPr>
        <p:spPr>
          <a:xfrm xmlns:a="http://schemas.openxmlformats.org/drawingml/2006/main">
            <a:off x="11525250" y="3429000"/>
            <a:ext cx="95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02</a:t>
            </a:r>
          </a:p>
        </p:txBody>
      </p:sp>
      <p:sp>
        <p:nvSpPr>
          <p:cNvPr id="6" name="Search by name, ID, type or region.">
            <a:extLst xmlns:a="http://schemas.openxmlformats.org/drawingml/2006/main">
              <a:ext uri="{FF2B5EF4-FFF2-40B4-BE49-F238E27FC236}">
                <a16:creationId xmlns:a16="http://schemas.microsoft.com/office/drawing/2014/main" id="{1D0BC66E-131C-4651-8667-38C7577ECAD3}"/>
              </a:ext>
            </a:extLst>
          </p:cNvPr>
          <p:cNvSpPr>
            <a:spLocks xmlns:a="http://schemas.openxmlformats.org/drawingml/2006/main" noGrp="1"/>
          </p:cNvSpPr>
          <p:nvPr/>
        </p:nvSpPr>
        <p:spPr>
          <a:xfrm xmlns:a="http://schemas.openxmlformats.org/drawingml/2006/main">
            <a:off x="11525250" y="3895725"/>
            <a:ext cx="30765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025" b="0">
                <a:solidFill>
                  <a:srgbClr val="18384B"/>
                </a:solidFill>
                <a:latin typeface="Arial"/>
                <a:ea typeface="Arial"/>
                <a:cs typeface="Arial"/>
              </a:defRPr>
            </a:pPr>
            <a:r>
              <a:rPr sz="2025" b="0">
                <a:solidFill>
                  <a:srgbClr val="18384B"/>
                </a:solidFill>
                <a:latin typeface="Arial"/>
                <a:ea typeface="Arial"/>
                <a:cs typeface="Arial"/>
              </a:rPr>
              <a:t>Search by name, ID, type or region.</a:t>
            </a:r>
          </a:p>
        </p:txBody>
      </p:sp>
      <p:sp>
        <p:nvSpPr>
          <p:cNvPr id="7" name="03">
            <a:extLst xmlns:a="http://schemas.openxmlformats.org/drawingml/2006/main">
              <a:ext uri="{FF2B5EF4-FFF2-40B4-BE49-F238E27FC236}">
                <a16:creationId xmlns:a16="http://schemas.microsoft.com/office/drawing/2014/main" id="{4DD496A1-F70D-47B4-843F-C57437A896E6}"/>
              </a:ext>
            </a:extLst>
          </p:cNvPr>
          <p:cNvSpPr>
            <a:spLocks xmlns:a="http://schemas.openxmlformats.org/drawingml/2006/main" noGrp="1"/>
          </p:cNvSpPr>
          <p:nvPr/>
        </p:nvSpPr>
        <p:spPr>
          <a:xfrm xmlns:a="http://schemas.openxmlformats.org/drawingml/2006/main">
            <a:off x="11525250" y="5086350"/>
            <a:ext cx="95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03</a:t>
            </a:r>
          </a:p>
        </p:txBody>
      </p:sp>
      <p:sp>
        <p:nvSpPr>
          <p:cNvPr id="8" name="Select a result to focus the matching element.">
            <a:extLst xmlns:a="http://schemas.openxmlformats.org/drawingml/2006/main">
              <a:ext uri="{FF2B5EF4-FFF2-40B4-BE49-F238E27FC236}">
                <a16:creationId xmlns:a16="http://schemas.microsoft.com/office/drawing/2014/main" id="{F82D3817-C78F-4FF2-9052-C5E94E0B5DD7}"/>
              </a:ext>
            </a:extLst>
          </p:cNvPr>
          <p:cNvSpPr>
            <a:spLocks xmlns:a="http://schemas.openxmlformats.org/drawingml/2006/main" noGrp="1"/>
          </p:cNvSpPr>
          <p:nvPr/>
        </p:nvSpPr>
        <p:spPr>
          <a:xfrm xmlns:a="http://schemas.openxmlformats.org/drawingml/2006/main">
            <a:off x="11525250" y="5553075"/>
            <a:ext cx="30765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025" b="0">
                <a:solidFill>
                  <a:srgbClr val="18384B"/>
                </a:solidFill>
                <a:latin typeface="Arial"/>
                <a:ea typeface="Arial"/>
                <a:cs typeface="Arial"/>
              </a:defRPr>
            </a:pPr>
            <a:r>
              <a:rPr sz="2025" b="0">
                <a:solidFill>
                  <a:srgbClr val="18384B"/>
                </a:solidFill>
                <a:latin typeface="Arial"/>
                <a:ea typeface="Arial"/>
                <a:cs typeface="Arial"/>
              </a:rPr>
              <a:t>Select a result to focus the matching element.</a:t>
            </a:r>
          </a:p>
        </p:txBody>
      </p:sp>
      <p:sp>
        <p:nvSpPr>
          <p:cNvPr id="9" name="Find searches the current drawing. The library searches">
            <a:extLst xmlns:a="http://schemas.openxmlformats.org/drawingml/2006/main">
              <a:ext uri="{FF2B5EF4-FFF2-40B4-BE49-F238E27FC236}">
                <a16:creationId xmlns:a16="http://schemas.microsoft.com/office/drawing/2014/main" id="{1BC85F53-62C6-4534-8F6A-748DCF11F01F}"/>
              </a:ext>
            </a:extLst>
          </p:cNvPr>
          <p:cNvSpPr>
            <a:spLocks xmlns:a="http://schemas.openxmlformats.org/drawingml/2006/main" noGrp="1"/>
          </p:cNvSpPr>
          <p:nvPr/>
        </p:nvSpPr>
        <p:spPr>
          <a:xfrm xmlns:a="http://schemas.openxmlformats.org/drawingml/2006/main">
            <a:off x="609600" y="7448550"/>
            <a:ext cx="1390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Find searches the current drawing. The library searches available source assets.</a:t>
            </a:r>
          </a:p>
        </p:txBody>
      </p:sp>
      <p:sp>
        <p:nvSpPr>
          <p:cNvPr id="10" name="WIDispatch   /   Client demonstration">
            <a:extLst xmlns:a="http://schemas.openxmlformats.org/drawingml/2006/main">
              <a:ext uri="{FF2B5EF4-FFF2-40B4-BE49-F238E27FC236}">
                <a16:creationId xmlns:a16="http://schemas.microsoft.com/office/drawing/2014/main" id="{8C513C45-DD62-41EF-9FA4-702AAA340F65}"/>
              </a:ext>
            </a:extLst>
          </p:cNvPr>
          <p:cNvSpPr>
            <a:spLocks xmlns:a="http://schemas.openxmlformats.org/drawingml/2006/main" noGrp="1"/>
          </p:cNvSpPr>
          <p:nvPr/>
        </p:nvSpPr>
        <p:spPr>
          <a:xfrm xmlns:a="http://schemas.openxmlformats.org/drawingml/2006/main">
            <a:off x="609600" y="81724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275" b="0">
                <a:solidFill>
                  <a:srgbClr val="547080"/>
                </a:solidFill>
                <a:latin typeface="Arial"/>
                <a:ea typeface="Arial"/>
                <a:cs typeface="Arial"/>
              </a:defRPr>
            </a:pPr>
            <a:r>
              <a:rPr sz="1275" b="0">
                <a:solidFill>
                  <a:srgbClr val="547080"/>
                </a:solidFill>
                <a:latin typeface="Arial"/>
                <a:ea typeface="Arial"/>
                <a:cs typeface="Arial"/>
              </a:rPr>
              <a:t>WIDispatch   /   Client demonstration</a:t>
            </a:r>
          </a:p>
        </p:txBody>
      </p:sp>
      <p:sp>
        <p:nvSpPr>
          <p:cNvPr id="11" name="37">
            <a:extLst xmlns:a="http://schemas.openxmlformats.org/drawingml/2006/main">
              <a:ext uri="{FF2B5EF4-FFF2-40B4-BE49-F238E27FC236}">
                <a16:creationId xmlns:a16="http://schemas.microsoft.com/office/drawing/2014/main" id="{AAC19261-BA00-4B1A-AE3A-CC1202F41475}"/>
              </a:ext>
            </a:extLst>
          </p:cNvPr>
          <p:cNvSpPr>
            <a:spLocks xmlns:a="http://schemas.openxmlformats.org/drawingml/2006/main" noGrp="1"/>
          </p:cNvSpPr>
          <p:nvPr/>
        </p:nvSpPr>
        <p:spPr>
          <a:xfrm xmlns:a="http://schemas.openxmlformats.org/drawingml/2006/main">
            <a:off x="13906500" y="8115300"/>
            <a:ext cx="723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547080"/>
                </a:solidFill>
                <a:latin typeface="Arial"/>
                <a:ea typeface="Arial"/>
                <a:cs typeface="Arial"/>
              </a:defRPr>
            </a:pPr>
            <a:r>
              <a:rPr sz="1650" b="0">
                <a:solidFill>
                  <a:srgbClr val="547080"/>
                </a:solidFill>
                <a:latin typeface="Arial"/>
                <a:ea typeface="Arial"/>
                <a:cs typeface="Arial"/>
              </a:rPr>
              <a:t>43</a:t>
            </a:r>
          </a:p>
        </p:txBody>
      </p:sp>
    </p:spTree>
    <p:extLst>
      <p:ext uri="{BB962C8B-B14F-4D97-AF65-F5344CB8AC3E}">
        <p14:creationId xmlns:p14="http://schemas.microsoft.com/office/powerpoint/2010/main" val="1254259949"/>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Tracing the upstream supply path">
            <a:extLst xmlns:a="http://schemas.openxmlformats.org/drawingml/2006/main">
              <a:ext uri="{FF2B5EF4-FFF2-40B4-BE49-F238E27FC236}">
                <a16:creationId xmlns:a16="http://schemas.microsoft.com/office/drawing/2014/main" id="{6F366932-CDF3-47F6-946D-E3FB49B25732}"/>
              </a:ext>
            </a:extLst>
          </p:cNvPr>
          <p:cNvSpPr>
            <a:spLocks xmlns:a="http://schemas.openxmlformats.org/drawingml/2006/main" noGrp="1"/>
          </p:cNvSpPr>
          <p:nvPr/>
        </p:nvSpPr>
        <p:spPr>
          <a:xfrm xmlns:a="http://schemas.openxmlformats.org/drawingml/2006/main">
            <a:off x="571500" y="428625"/>
            <a:ext cx="140970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300" b="1">
                <a:solidFill>
                  <a:srgbClr val="12374B"/>
                </a:solidFill>
                <a:latin typeface="Arial"/>
                <a:ea typeface="Arial"/>
                <a:cs typeface="Arial"/>
              </a:defRPr>
            </a:pPr>
            <a:r>
              <a:rPr sz="3300" b="1">
                <a:solidFill>
                  <a:srgbClr val="12374B"/>
                </a:solidFill>
                <a:latin typeface="Arial"/>
                <a:ea typeface="Arial"/>
                <a:cs typeface="Arial"/>
              </a:rPr>
              <a:t>Tracing the upstream supply path</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b061468df59c42df"/>
          <a:stretch xmlns:a="http://schemas.openxmlformats.org/drawingml/2006/main"/>
        </p:blipFill>
        <p:spPr>
          <a:xfrm xmlns:a="http://schemas.openxmlformats.org/drawingml/2006/main">
            <a:off x="476250" y="1965577"/>
            <a:ext cx="10668000" cy="4831845"/>
          </a:xfrm>
          <a:prstGeom xmlns:a="http://schemas.openxmlformats.org/drawingml/2006/main" prst="rect">
            <a:avLst/>
          </a:prstGeom>
        </p:spPr>
      </p:pic>
      <p:sp>
        <p:nvSpPr>
          <p:cNvPr id="3" name="01">
            <a:extLst xmlns:a="http://schemas.openxmlformats.org/drawingml/2006/main">
              <a:ext uri="{FF2B5EF4-FFF2-40B4-BE49-F238E27FC236}">
                <a16:creationId xmlns:a16="http://schemas.microsoft.com/office/drawing/2014/main" id="{BD3CADEE-6077-4D56-98BC-B491DC962761}"/>
              </a:ext>
            </a:extLst>
          </p:cNvPr>
          <p:cNvSpPr>
            <a:spLocks xmlns:a="http://schemas.openxmlformats.org/drawingml/2006/main" noGrp="1"/>
          </p:cNvSpPr>
          <p:nvPr/>
        </p:nvSpPr>
        <p:spPr>
          <a:xfrm xmlns:a="http://schemas.openxmlformats.org/drawingml/2006/main">
            <a:off x="11525250" y="1771650"/>
            <a:ext cx="95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01</a:t>
            </a:r>
          </a:p>
        </p:txBody>
      </p:sp>
      <p:sp>
        <p:nvSpPr>
          <p:cNvPr id="4" name="Turn on Trace HP.">
            <a:extLst xmlns:a="http://schemas.openxmlformats.org/drawingml/2006/main">
              <a:ext uri="{FF2B5EF4-FFF2-40B4-BE49-F238E27FC236}">
                <a16:creationId xmlns:a16="http://schemas.microsoft.com/office/drawing/2014/main" id="{366C3AF4-9952-408B-8980-BDF5EA45E074}"/>
              </a:ext>
            </a:extLst>
          </p:cNvPr>
          <p:cNvSpPr>
            <a:spLocks xmlns:a="http://schemas.openxmlformats.org/drawingml/2006/main" noGrp="1"/>
          </p:cNvSpPr>
          <p:nvPr/>
        </p:nvSpPr>
        <p:spPr>
          <a:xfrm xmlns:a="http://schemas.openxmlformats.org/drawingml/2006/main">
            <a:off x="11525250" y="2238375"/>
            <a:ext cx="30765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025" b="0">
                <a:solidFill>
                  <a:srgbClr val="18384B"/>
                </a:solidFill>
                <a:latin typeface="Arial"/>
                <a:ea typeface="Arial"/>
                <a:cs typeface="Arial"/>
              </a:defRPr>
            </a:pPr>
            <a:r>
              <a:rPr sz="2025" b="0">
                <a:solidFill>
                  <a:srgbClr val="18384B"/>
                </a:solidFill>
                <a:latin typeface="Arial"/>
                <a:ea typeface="Arial"/>
                <a:cs typeface="Arial"/>
              </a:rPr>
              <a:t>Turn on Trace HP.</a:t>
            </a:r>
          </a:p>
        </p:txBody>
      </p:sp>
      <p:sp>
        <p:nvSpPr>
          <p:cNvPr id="5" name="02">
            <a:extLst xmlns:a="http://schemas.openxmlformats.org/drawingml/2006/main">
              <a:ext uri="{FF2B5EF4-FFF2-40B4-BE49-F238E27FC236}">
                <a16:creationId xmlns:a16="http://schemas.microsoft.com/office/drawing/2014/main" id="{39E506A9-733D-4CBB-94E0-8382BE532F87}"/>
              </a:ext>
            </a:extLst>
          </p:cNvPr>
          <p:cNvSpPr>
            <a:spLocks xmlns:a="http://schemas.openxmlformats.org/drawingml/2006/main" noGrp="1"/>
          </p:cNvSpPr>
          <p:nvPr/>
        </p:nvSpPr>
        <p:spPr>
          <a:xfrm xmlns:a="http://schemas.openxmlformats.org/drawingml/2006/main">
            <a:off x="11525250" y="3429000"/>
            <a:ext cx="95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02</a:t>
            </a:r>
          </a:p>
        </p:txBody>
      </p:sp>
      <p:sp>
        <p:nvSpPr>
          <p:cNvPr id="6" name="Click a city gate or delivery node.">
            <a:extLst xmlns:a="http://schemas.openxmlformats.org/drawingml/2006/main">
              <a:ext uri="{FF2B5EF4-FFF2-40B4-BE49-F238E27FC236}">
                <a16:creationId xmlns:a16="http://schemas.microsoft.com/office/drawing/2014/main" id="{E2A605B2-3FF2-4F31-B711-4987BBB95576}"/>
              </a:ext>
            </a:extLst>
          </p:cNvPr>
          <p:cNvSpPr>
            <a:spLocks xmlns:a="http://schemas.openxmlformats.org/drawingml/2006/main" noGrp="1"/>
          </p:cNvSpPr>
          <p:nvPr/>
        </p:nvSpPr>
        <p:spPr>
          <a:xfrm xmlns:a="http://schemas.openxmlformats.org/drawingml/2006/main">
            <a:off x="11525250" y="3895725"/>
            <a:ext cx="30765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025" b="0">
                <a:solidFill>
                  <a:srgbClr val="18384B"/>
                </a:solidFill>
                <a:latin typeface="Arial"/>
                <a:ea typeface="Arial"/>
                <a:cs typeface="Arial"/>
              </a:defRPr>
            </a:pPr>
            <a:r>
              <a:rPr sz="2025" b="0">
                <a:solidFill>
                  <a:srgbClr val="18384B"/>
                </a:solidFill>
                <a:latin typeface="Arial"/>
                <a:ea typeface="Arial"/>
                <a:cs typeface="Arial"/>
              </a:rPr>
              <a:t>Click a city gate or delivery node.</a:t>
            </a:r>
          </a:p>
        </p:txBody>
      </p:sp>
      <p:sp>
        <p:nvSpPr>
          <p:cNvPr id="7" name="03">
            <a:extLst xmlns:a="http://schemas.openxmlformats.org/drawingml/2006/main">
              <a:ext uri="{FF2B5EF4-FFF2-40B4-BE49-F238E27FC236}">
                <a16:creationId xmlns:a16="http://schemas.microsoft.com/office/drawing/2014/main" id="{5FA748EE-3DD1-419C-BFEB-FFE088965F5A}"/>
              </a:ext>
            </a:extLst>
          </p:cNvPr>
          <p:cNvSpPr>
            <a:spLocks xmlns:a="http://schemas.openxmlformats.org/drawingml/2006/main" noGrp="1"/>
          </p:cNvSpPr>
          <p:nvPr/>
        </p:nvSpPr>
        <p:spPr>
          <a:xfrm xmlns:a="http://schemas.openxmlformats.org/drawingml/2006/main">
            <a:off x="11525250" y="5086350"/>
            <a:ext cx="95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03</a:t>
            </a:r>
          </a:p>
        </p:txBody>
      </p:sp>
      <p:sp>
        <p:nvSpPr>
          <p:cNvPr id="8" name="Inspect immediate and ultimate sources.">
            <a:extLst xmlns:a="http://schemas.openxmlformats.org/drawingml/2006/main">
              <a:ext uri="{FF2B5EF4-FFF2-40B4-BE49-F238E27FC236}">
                <a16:creationId xmlns:a16="http://schemas.microsoft.com/office/drawing/2014/main" id="{8811D47E-E051-4F21-835C-B4E1F7EA09CB}"/>
              </a:ext>
            </a:extLst>
          </p:cNvPr>
          <p:cNvSpPr>
            <a:spLocks xmlns:a="http://schemas.openxmlformats.org/drawingml/2006/main" noGrp="1"/>
          </p:cNvSpPr>
          <p:nvPr/>
        </p:nvSpPr>
        <p:spPr>
          <a:xfrm xmlns:a="http://schemas.openxmlformats.org/drawingml/2006/main">
            <a:off x="11525250" y="5553075"/>
            <a:ext cx="30765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025" b="0">
                <a:solidFill>
                  <a:srgbClr val="18384B"/>
                </a:solidFill>
                <a:latin typeface="Arial"/>
                <a:ea typeface="Arial"/>
                <a:cs typeface="Arial"/>
              </a:defRPr>
            </a:pPr>
            <a:r>
              <a:rPr sz="2025" b="0">
                <a:solidFill>
                  <a:srgbClr val="18384B"/>
                </a:solidFill>
                <a:latin typeface="Arial"/>
                <a:ea typeface="Arial"/>
                <a:cs typeface="Arial"/>
              </a:rPr>
              <a:t>Inspect immediate and ultimate sources.</a:t>
            </a:r>
          </a:p>
        </p:txBody>
      </p:sp>
      <p:sp>
        <p:nvSpPr>
          <p:cNvPr id="9" name="Reachable mode explains topology. Delivered mode needs ">
            <a:extLst xmlns:a="http://schemas.openxmlformats.org/drawingml/2006/main">
              <a:ext uri="{FF2B5EF4-FFF2-40B4-BE49-F238E27FC236}">
                <a16:creationId xmlns:a16="http://schemas.microsoft.com/office/drawing/2014/main" id="{F4447940-F37D-49DF-9530-651C62395540}"/>
              </a:ext>
            </a:extLst>
          </p:cNvPr>
          <p:cNvSpPr>
            <a:spLocks xmlns:a="http://schemas.openxmlformats.org/drawingml/2006/main" noGrp="1"/>
          </p:cNvSpPr>
          <p:nvPr/>
        </p:nvSpPr>
        <p:spPr>
          <a:xfrm xmlns:a="http://schemas.openxmlformats.org/drawingml/2006/main">
            <a:off x="609600" y="7448550"/>
            <a:ext cx="1390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Reachable mode explains topology. Delivered mode needs simulation flow results.</a:t>
            </a:r>
          </a:p>
        </p:txBody>
      </p:sp>
      <p:sp>
        <p:nvSpPr>
          <p:cNvPr id="10" name="WIDispatch   /   Client demonstration">
            <a:extLst xmlns:a="http://schemas.openxmlformats.org/drawingml/2006/main">
              <a:ext uri="{FF2B5EF4-FFF2-40B4-BE49-F238E27FC236}">
                <a16:creationId xmlns:a16="http://schemas.microsoft.com/office/drawing/2014/main" id="{3BF5ABB9-27F1-4B1D-9552-13A41A6EF584}"/>
              </a:ext>
            </a:extLst>
          </p:cNvPr>
          <p:cNvSpPr>
            <a:spLocks xmlns:a="http://schemas.openxmlformats.org/drawingml/2006/main" noGrp="1"/>
          </p:cNvSpPr>
          <p:nvPr/>
        </p:nvSpPr>
        <p:spPr>
          <a:xfrm xmlns:a="http://schemas.openxmlformats.org/drawingml/2006/main">
            <a:off x="609600" y="81724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275" b="0">
                <a:solidFill>
                  <a:srgbClr val="547080"/>
                </a:solidFill>
                <a:latin typeface="Arial"/>
                <a:ea typeface="Arial"/>
                <a:cs typeface="Arial"/>
              </a:defRPr>
            </a:pPr>
            <a:r>
              <a:rPr sz="1275" b="0">
                <a:solidFill>
                  <a:srgbClr val="547080"/>
                </a:solidFill>
                <a:latin typeface="Arial"/>
                <a:ea typeface="Arial"/>
                <a:cs typeface="Arial"/>
              </a:rPr>
              <a:t>WIDispatch   /   Client demonstration</a:t>
            </a:r>
          </a:p>
        </p:txBody>
      </p:sp>
      <p:sp>
        <p:nvSpPr>
          <p:cNvPr id="11" name="38">
            <a:extLst xmlns:a="http://schemas.openxmlformats.org/drawingml/2006/main">
              <a:ext uri="{FF2B5EF4-FFF2-40B4-BE49-F238E27FC236}">
                <a16:creationId xmlns:a16="http://schemas.microsoft.com/office/drawing/2014/main" id="{756DE3BE-4C44-43DA-90B3-968ABA43EFEC}"/>
              </a:ext>
            </a:extLst>
          </p:cNvPr>
          <p:cNvSpPr>
            <a:spLocks xmlns:a="http://schemas.openxmlformats.org/drawingml/2006/main" noGrp="1"/>
          </p:cNvSpPr>
          <p:nvPr/>
        </p:nvSpPr>
        <p:spPr>
          <a:xfrm xmlns:a="http://schemas.openxmlformats.org/drawingml/2006/main">
            <a:off x="13906500" y="8115300"/>
            <a:ext cx="723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547080"/>
                </a:solidFill>
                <a:latin typeface="Arial"/>
                <a:ea typeface="Arial"/>
                <a:cs typeface="Arial"/>
              </a:defRPr>
            </a:pPr>
            <a:r>
              <a:rPr sz="1650" b="0">
                <a:solidFill>
                  <a:srgbClr val="547080"/>
                </a:solidFill>
                <a:latin typeface="Arial"/>
                <a:ea typeface="Arial"/>
                <a:cs typeface="Arial"/>
              </a:rPr>
              <a:t>44</a:t>
            </a:r>
          </a:p>
        </p:txBody>
      </p:sp>
    </p:spTree>
    <p:extLst>
      <p:ext uri="{BB962C8B-B14F-4D97-AF65-F5344CB8AC3E}">
        <p14:creationId xmlns:p14="http://schemas.microsoft.com/office/powerpoint/2010/main" val="106406418"/>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Isolating systems, lines and assets">
            <a:extLst xmlns:a="http://schemas.openxmlformats.org/drawingml/2006/main">
              <a:ext uri="{FF2B5EF4-FFF2-40B4-BE49-F238E27FC236}">
                <a16:creationId xmlns:a16="http://schemas.microsoft.com/office/drawing/2014/main" id="{AED3AA65-4393-4219-8F88-722343C89B08}"/>
              </a:ext>
            </a:extLst>
          </p:cNvPr>
          <p:cNvSpPr>
            <a:spLocks xmlns:a="http://schemas.openxmlformats.org/drawingml/2006/main" noGrp="1"/>
          </p:cNvSpPr>
          <p:nvPr/>
        </p:nvSpPr>
        <p:spPr>
          <a:xfrm xmlns:a="http://schemas.openxmlformats.org/drawingml/2006/main">
            <a:off x="571500" y="428625"/>
            <a:ext cx="140970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300" b="1">
                <a:solidFill>
                  <a:srgbClr val="12374B"/>
                </a:solidFill>
                <a:latin typeface="Arial"/>
                <a:ea typeface="Arial"/>
                <a:cs typeface="Arial"/>
              </a:defRPr>
            </a:pPr>
            <a:r>
              <a:rPr sz="3300" b="1">
                <a:solidFill>
                  <a:srgbClr val="12374B"/>
                </a:solidFill>
                <a:latin typeface="Arial"/>
                <a:ea typeface="Arial"/>
                <a:cs typeface="Arial"/>
              </a:rPr>
              <a:t>Isolating systems, lines and assets</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b891db869cb9498d"/>
          <a:stretch xmlns:a="http://schemas.openxmlformats.org/drawingml/2006/main"/>
        </p:blipFill>
        <p:spPr>
          <a:xfrm xmlns:a="http://schemas.openxmlformats.org/drawingml/2006/main">
            <a:off x="476250" y="1965577"/>
            <a:ext cx="10668000" cy="4831845"/>
          </a:xfrm>
          <a:prstGeom xmlns:a="http://schemas.openxmlformats.org/drawingml/2006/main" prst="rect">
            <a:avLst/>
          </a:prstGeom>
        </p:spPr>
      </p:pic>
      <p:sp>
        <p:nvSpPr>
          <p:cNvPr id="3" name="01">
            <a:extLst xmlns:a="http://schemas.openxmlformats.org/drawingml/2006/main">
              <a:ext uri="{FF2B5EF4-FFF2-40B4-BE49-F238E27FC236}">
                <a16:creationId xmlns:a16="http://schemas.microsoft.com/office/drawing/2014/main" id="{061996BE-9570-4465-B046-F62240FBA7C1}"/>
              </a:ext>
            </a:extLst>
          </p:cNvPr>
          <p:cNvSpPr>
            <a:spLocks xmlns:a="http://schemas.openxmlformats.org/drawingml/2006/main" noGrp="1"/>
          </p:cNvSpPr>
          <p:nvPr/>
        </p:nvSpPr>
        <p:spPr>
          <a:xfrm xmlns:a="http://schemas.openxmlformats.org/drawingml/2006/main">
            <a:off x="11525250" y="1771650"/>
            <a:ext cx="95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01</a:t>
            </a:r>
          </a:p>
        </p:txBody>
      </p:sp>
      <p:sp>
        <p:nvSpPr>
          <p:cNvPr id="4" name="Open Isolation and find the system or line.">
            <a:extLst xmlns:a="http://schemas.openxmlformats.org/drawingml/2006/main">
              <a:ext uri="{FF2B5EF4-FFF2-40B4-BE49-F238E27FC236}">
                <a16:creationId xmlns:a16="http://schemas.microsoft.com/office/drawing/2014/main" id="{FD8F7343-F8CA-4BAF-AE4F-DE4A175B89BF}"/>
              </a:ext>
            </a:extLst>
          </p:cNvPr>
          <p:cNvSpPr>
            <a:spLocks xmlns:a="http://schemas.openxmlformats.org/drawingml/2006/main" noGrp="1"/>
          </p:cNvSpPr>
          <p:nvPr/>
        </p:nvSpPr>
        <p:spPr>
          <a:xfrm xmlns:a="http://schemas.openxmlformats.org/drawingml/2006/main">
            <a:off x="11525250" y="2238375"/>
            <a:ext cx="30765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025" b="0">
                <a:solidFill>
                  <a:srgbClr val="18384B"/>
                </a:solidFill>
                <a:latin typeface="Arial"/>
                <a:ea typeface="Arial"/>
                <a:cs typeface="Arial"/>
              </a:defRPr>
            </a:pPr>
            <a:r>
              <a:rPr sz="2025" b="0">
                <a:solidFill>
                  <a:srgbClr val="18384B"/>
                </a:solidFill>
                <a:latin typeface="Arial"/>
                <a:ea typeface="Arial"/>
                <a:cs typeface="Arial"/>
              </a:rPr>
              <a:t>Open Isolation and find the system or line.</a:t>
            </a:r>
          </a:p>
        </p:txBody>
      </p:sp>
      <p:sp>
        <p:nvSpPr>
          <p:cNvPr id="5" name="02">
            <a:extLst xmlns:a="http://schemas.openxmlformats.org/drawingml/2006/main">
              <a:ext uri="{FF2B5EF4-FFF2-40B4-BE49-F238E27FC236}">
                <a16:creationId xmlns:a16="http://schemas.microsoft.com/office/drawing/2014/main" id="{0784F969-A62D-4502-BF6E-CF6D4D2C90F7}"/>
              </a:ext>
            </a:extLst>
          </p:cNvPr>
          <p:cNvSpPr>
            <a:spLocks xmlns:a="http://schemas.openxmlformats.org/drawingml/2006/main" noGrp="1"/>
          </p:cNvSpPr>
          <p:nvPr/>
        </p:nvSpPr>
        <p:spPr>
          <a:xfrm xmlns:a="http://schemas.openxmlformats.org/drawingml/2006/main">
            <a:off x="11525250" y="3429000"/>
            <a:ext cx="95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02</a:t>
            </a:r>
          </a:p>
        </p:txBody>
      </p:sp>
      <p:sp>
        <p:nvSpPr>
          <p:cNvPr id="6" name="Select a system, line, branch or pipe.">
            <a:extLst xmlns:a="http://schemas.openxmlformats.org/drawingml/2006/main">
              <a:ext uri="{FF2B5EF4-FFF2-40B4-BE49-F238E27FC236}">
                <a16:creationId xmlns:a16="http://schemas.microsoft.com/office/drawing/2014/main" id="{97FB1310-2AC8-4B27-95BF-4B8F6FA31EF0}"/>
              </a:ext>
            </a:extLst>
          </p:cNvPr>
          <p:cNvSpPr>
            <a:spLocks xmlns:a="http://schemas.openxmlformats.org/drawingml/2006/main" noGrp="1"/>
          </p:cNvSpPr>
          <p:nvPr/>
        </p:nvSpPr>
        <p:spPr>
          <a:xfrm xmlns:a="http://schemas.openxmlformats.org/drawingml/2006/main">
            <a:off x="11525250" y="3895725"/>
            <a:ext cx="30765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025" b="0">
                <a:solidFill>
                  <a:srgbClr val="18384B"/>
                </a:solidFill>
                <a:latin typeface="Arial"/>
                <a:ea typeface="Arial"/>
                <a:cs typeface="Arial"/>
              </a:defRPr>
            </a:pPr>
            <a:r>
              <a:rPr sz="2025" b="0">
                <a:solidFill>
                  <a:srgbClr val="18384B"/>
                </a:solidFill>
                <a:latin typeface="Arial"/>
                <a:ea typeface="Arial"/>
                <a:cs typeface="Arial"/>
              </a:rPr>
              <a:t>Select a system, line, branch or pipe.</a:t>
            </a:r>
          </a:p>
        </p:txBody>
      </p:sp>
      <p:sp>
        <p:nvSpPr>
          <p:cNvPr id="7" name="03">
            <a:extLst xmlns:a="http://schemas.openxmlformats.org/drawingml/2006/main">
              <a:ext uri="{FF2B5EF4-FFF2-40B4-BE49-F238E27FC236}">
                <a16:creationId xmlns:a16="http://schemas.microsoft.com/office/drawing/2014/main" id="{232E364D-EBE9-47F2-A534-C8D127FD3D07}"/>
              </a:ext>
            </a:extLst>
          </p:cNvPr>
          <p:cNvSpPr>
            <a:spLocks xmlns:a="http://schemas.openxmlformats.org/drawingml/2006/main" noGrp="1"/>
          </p:cNvSpPr>
          <p:nvPr/>
        </p:nvSpPr>
        <p:spPr>
          <a:xfrm xmlns:a="http://schemas.openxmlformats.org/drawingml/2006/main">
            <a:off x="11525250" y="5086350"/>
            <a:ext cx="95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03</a:t>
            </a:r>
          </a:p>
        </p:txBody>
      </p:sp>
      <p:sp>
        <p:nvSpPr>
          <p:cNvPr id="8" name="Clear Marks to restore the complete view.">
            <a:extLst xmlns:a="http://schemas.openxmlformats.org/drawingml/2006/main">
              <a:ext uri="{FF2B5EF4-FFF2-40B4-BE49-F238E27FC236}">
                <a16:creationId xmlns:a16="http://schemas.microsoft.com/office/drawing/2014/main" id="{42329F91-79B8-449F-B41E-AB5BE4952757}"/>
              </a:ext>
            </a:extLst>
          </p:cNvPr>
          <p:cNvSpPr>
            <a:spLocks xmlns:a="http://schemas.openxmlformats.org/drawingml/2006/main" noGrp="1"/>
          </p:cNvSpPr>
          <p:nvPr/>
        </p:nvSpPr>
        <p:spPr>
          <a:xfrm xmlns:a="http://schemas.openxmlformats.org/drawingml/2006/main">
            <a:off x="11525250" y="5553075"/>
            <a:ext cx="30765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025" b="0">
                <a:solidFill>
                  <a:srgbClr val="18384B"/>
                </a:solidFill>
                <a:latin typeface="Arial"/>
                <a:ea typeface="Arial"/>
                <a:cs typeface="Arial"/>
              </a:defRPr>
            </a:pPr>
            <a:r>
              <a:rPr sz="2025" b="0">
                <a:solidFill>
                  <a:srgbClr val="18384B"/>
                </a:solidFill>
                <a:latin typeface="Arial"/>
                <a:ea typeface="Arial"/>
                <a:cs typeface="Arial"/>
              </a:rPr>
              <a:t>Clear Marks to restore the complete view.</a:t>
            </a:r>
          </a:p>
        </p:txBody>
      </p:sp>
      <p:sp>
        <p:nvSpPr>
          <p:cNvPr id="9" name="Isolation changes what you inspect. It does not shut do">
            <a:extLst xmlns:a="http://schemas.openxmlformats.org/drawingml/2006/main">
              <a:ext uri="{FF2B5EF4-FFF2-40B4-BE49-F238E27FC236}">
                <a16:creationId xmlns:a16="http://schemas.microsoft.com/office/drawing/2014/main" id="{5D32F60B-2855-4DFA-A4B2-0795C7C8AA18}"/>
              </a:ext>
            </a:extLst>
          </p:cNvPr>
          <p:cNvSpPr>
            <a:spLocks xmlns:a="http://schemas.openxmlformats.org/drawingml/2006/main" noGrp="1"/>
          </p:cNvSpPr>
          <p:nvPr/>
        </p:nvSpPr>
        <p:spPr>
          <a:xfrm xmlns:a="http://schemas.openxmlformats.org/drawingml/2006/main">
            <a:off x="609600" y="7448550"/>
            <a:ext cx="1390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Isolation changes what you inspect. It does not shut down the hidden assets.</a:t>
            </a:r>
          </a:p>
        </p:txBody>
      </p:sp>
      <p:sp>
        <p:nvSpPr>
          <p:cNvPr id="10" name="WIDispatch   /   Client demonstration">
            <a:extLst xmlns:a="http://schemas.openxmlformats.org/drawingml/2006/main">
              <a:ext uri="{FF2B5EF4-FFF2-40B4-BE49-F238E27FC236}">
                <a16:creationId xmlns:a16="http://schemas.microsoft.com/office/drawing/2014/main" id="{94D92ACF-45B9-4D04-955D-E4C90C456188}"/>
              </a:ext>
            </a:extLst>
          </p:cNvPr>
          <p:cNvSpPr>
            <a:spLocks xmlns:a="http://schemas.openxmlformats.org/drawingml/2006/main" noGrp="1"/>
          </p:cNvSpPr>
          <p:nvPr/>
        </p:nvSpPr>
        <p:spPr>
          <a:xfrm xmlns:a="http://schemas.openxmlformats.org/drawingml/2006/main">
            <a:off x="609600" y="81724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275" b="0">
                <a:solidFill>
                  <a:srgbClr val="547080"/>
                </a:solidFill>
                <a:latin typeface="Arial"/>
                <a:ea typeface="Arial"/>
                <a:cs typeface="Arial"/>
              </a:defRPr>
            </a:pPr>
            <a:r>
              <a:rPr sz="1275" b="0">
                <a:solidFill>
                  <a:srgbClr val="547080"/>
                </a:solidFill>
                <a:latin typeface="Arial"/>
                <a:ea typeface="Arial"/>
                <a:cs typeface="Arial"/>
              </a:rPr>
              <a:t>WIDispatch   /   Client demonstration</a:t>
            </a:r>
          </a:p>
        </p:txBody>
      </p:sp>
      <p:sp>
        <p:nvSpPr>
          <p:cNvPr id="11" name="39">
            <a:extLst xmlns:a="http://schemas.openxmlformats.org/drawingml/2006/main">
              <a:ext uri="{FF2B5EF4-FFF2-40B4-BE49-F238E27FC236}">
                <a16:creationId xmlns:a16="http://schemas.microsoft.com/office/drawing/2014/main" id="{2B971A96-C221-4446-97F9-D89643550970}"/>
              </a:ext>
            </a:extLst>
          </p:cNvPr>
          <p:cNvSpPr>
            <a:spLocks xmlns:a="http://schemas.openxmlformats.org/drawingml/2006/main" noGrp="1"/>
          </p:cNvSpPr>
          <p:nvPr/>
        </p:nvSpPr>
        <p:spPr>
          <a:xfrm xmlns:a="http://schemas.openxmlformats.org/drawingml/2006/main">
            <a:off x="13906500" y="8115300"/>
            <a:ext cx="723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547080"/>
                </a:solidFill>
                <a:latin typeface="Arial"/>
                <a:ea typeface="Arial"/>
                <a:cs typeface="Arial"/>
              </a:defRPr>
            </a:pPr>
            <a:r>
              <a:rPr sz="1650" b="0">
                <a:solidFill>
                  <a:srgbClr val="547080"/>
                </a:solidFill>
                <a:latin typeface="Arial"/>
                <a:ea typeface="Arial"/>
                <a:cs typeface="Arial"/>
              </a:rPr>
              <a:t>45</a:t>
            </a:r>
          </a:p>
        </p:txBody>
      </p:sp>
    </p:spTree>
    <p:extLst>
      <p:ext uri="{BB962C8B-B14F-4D97-AF65-F5344CB8AC3E}">
        <p14:creationId xmlns:p14="http://schemas.microsoft.com/office/powerpoint/2010/main" val="1882958968"/>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Pipe bends and route clarity">
            <a:extLst xmlns:a="http://schemas.openxmlformats.org/drawingml/2006/main">
              <a:ext uri="{FF2B5EF4-FFF2-40B4-BE49-F238E27FC236}">
                <a16:creationId xmlns:a16="http://schemas.microsoft.com/office/drawing/2014/main" id="{086C1D3E-8B27-4C2F-8CDF-44525A437E6D}"/>
              </a:ext>
            </a:extLst>
          </p:cNvPr>
          <p:cNvSpPr>
            <a:spLocks xmlns:a="http://schemas.openxmlformats.org/drawingml/2006/main" noGrp="1"/>
          </p:cNvSpPr>
          <p:nvPr/>
        </p:nvSpPr>
        <p:spPr>
          <a:xfrm xmlns:a="http://schemas.openxmlformats.org/drawingml/2006/main">
            <a:off x="571500" y="428625"/>
            <a:ext cx="140970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300" b="1">
                <a:solidFill>
                  <a:srgbClr val="12374B"/>
                </a:solidFill>
                <a:latin typeface="Arial"/>
                <a:ea typeface="Arial"/>
                <a:cs typeface="Arial"/>
              </a:defRPr>
            </a:pPr>
            <a:r>
              <a:rPr sz="3300" b="1">
                <a:solidFill>
                  <a:srgbClr val="12374B"/>
                </a:solidFill>
                <a:latin typeface="Arial"/>
                <a:ea typeface="Arial"/>
                <a:cs typeface="Arial"/>
              </a:rPr>
              <a:t>Pipe bends and route clarity</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e762d4db1641468d"/>
          <a:stretch xmlns:a="http://schemas.openxmlformats.org/drawingml/2006/main"/>
        </p:blipFill>
        <p:spPr>
          <a:xfrm xmlns:a="http://schemas.openxmlformats.org/drawingml/2006/main">
            <a:off x="476250" y="1965577"/>
            <a:ext cx="10668000" cy="4831845"/>
          </a:xfrm>
          <a:prstGeom xmlns:a="http://schemas.openxmlformats.org/drawingml/2006/main" prst="rect">
            <a:avLst/>
          </a:prstGeom>
        </p:spPr>
      </p:pic>
      <p:sp>
        <p:nvSpPr>
          <p:cNvPr id="3" name="01">
            <a:extLst xmlns:a="http://schemas.openxmlformats.org/drawingml/2006/main">
              <a:ext uri="{FF2B5EF4-FFF2-40B4-BE49-F238E27FC236}">
                <a16:creationId xmlns:a16="http://schemas.microsoft.com/office/drawing/2014/main" id="{E54BE131-2F92-43ED-9E76-D610C91DABD9}"/>
              </a:ext>
            </a:extLst>
          </p:cNvPr>
          <p:cNvSpPr>
            <a:spLocks xmlns:a="http://schemas.openxmlformats.org/drawingml/2006/main" noGrp="1"/>
          </p:cNvSpPr>
          <p:nvPr/>
        </p:nvSpPr>
        <p:spPr>
          <a:xfrm xmlns:a="http://schemas.openxmlformats.org/drawingml/2006/main">
            <a:off x="11525250" y="1771650"/>
            <a:ext cx="95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01</a:t>
            </a:r>
          </a:p>
        </p:txBody>
      </p:sp>
      <p:sp>
        <p:nvSpPr>
          <p:cNvPr id="4" name="Select a pipe to reveal its handles.">
            <a:extLst xmlns:a="http://schemas.openxmlformats.org/drawingml/2006/main">
              <a:ext uri="{FF2B5EF4-FFF2-40B4-BE49-F238E27FC236}">
                <a16:creationId xmlns:a16="http://schemas.microsoft.com/office/drawing/2014/main" id="{54E6389A-3E91-4648-A2C6-B70329F01F86}"/>
              </a:ext>
            </a:extLst>
          </p:cNvPr>
          <p:cNvSpPr>
            <a:spLocks xmlns:a="http://schemas.openxmlformats.org/drawingml/2006/main" noGrp="1"/>
          </p:cNvSpPr>
          <p:nvPr/>
        </p:nvSpPr>
        <p:spPr>
          <a:xfrm xmlns:a="http://schemas.openxmlformats.org/drawingml/2006/main">
            <a:off x="11525250" y="2238375"/>
            <a:ext cx="30765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025" b="0">
                <a:solidFill>
                  <a:srgbClr val="18384B"/>
                </a:solidFill>
                <a:latin typeface="Arial"/>
                <a:ea typeface="Arial"/>
                <a:cs typeface="Arial"/>
              </a:defRPr>
            </a:pPr>
            <a:r>
              <a:rPr sz="2025" b="0">
                <a:solidFill>
                  <a:srgbClr val="18384B"/>
                </a:solidFill>
                <a:latin typeface="Arial"/>
                <a:ea typeface="Arial"/>
                <a:cs typeface="Arial"/>
              </a:rPr>
              <a:t>Select a pipe to reveal its handles.</a:t>
            </a:r>
          </a:p>
        </p:txBody>
      </p:sp>
      <p:sp>
        <p:nvSpPr>
          <p:cNvPr id="5" name="02">
            <a:extLst xmlns:a="http://schemas.openxmlformats.org/drawingml/2006/main">
              <a:ext uri="{FF2B5EF4-FFF2-40B4-BE49-F238E27FC236}">
                <a16:creationId xmlns:a16="http://schemas.microsoft.com/office/drawing/2014/main" id="{75787DDF-2ACD-4511-91FD-6303603C6B81}"/>
              </a:ext>
            </a:extLst>
          </p:cNvPr>
          <p:cNvSpPr>
            <a:spLocks xmlns:a="http://schemas.openxmlformats.org/drawingml/2006/main" noGrp="1"/>
          </p:cNvSpPr>
          <p:nvPr/>
        </p:nvSpPr>
        <p:spPr>
          <a:xfrm xmlns:a="http://schemas.openxmlformats.org/drawingml/2006/main">
            <a:off x="11525250" y="3429000"/>
            <a:ext cx="95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02</a:t>
            </a:r>
          </a:p>
        </p:txBody>
      </p:sp>
      <p:sp>
        <p:nvSpPr>
          <p:cNvPr id="6" name="Drag a midpoint to create or move a bend.">
            <a:extLst xmlns:a="http://schemas.openxmlformats.org/drawingml/2006/main">
              <a:ext uri="{FF2B5EF4-FFF2-40B4-BE49-F238E27FC236}">
                <a16:creationId xmlns:a16="http://schemas.microsoft.com/office/drawing/2014/main" id="{0D6C181D-6608-4B6F-8303-69D9F16E0614}"/>
              </a:ext>
            </a:extLst>
          </p:cNvPr>
          <p:cNvSpPr>
            <a:spLocks xmlns:a="http://schemas.openxmlformats.org/drawingml/2006/main" noGrp="1"/>
          </p:cNvSpPr>
          <p:nvPr/>
        </p:nvSpPr>
        <p:spPr>
          <a:xfrm xmlns:a="http://schemas.openxmlformats.org/drawingml/2006/main">
            <a:off x="11525250" y="3895725"/>
            <a:ext cx="30765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025" b="0">
                <a:solidFill>
                  <a:srgbClr val="18384B"/>
                </a:solidFill>
                <a:latin typeface="Arial"/>
                <a:ea typeface="Arial"/>
                <a:cs typeface="Arial"/>
              </a:defRPr>
            </a:pPr>
            <a:r>
              <a:rPr sz="2025" b="0">
                <a:solidFill>
                  <a:srgbClr val="18384B"/>
                </a:solidFill>
                <a:latin typeface="Arial"/>
                <a:ea typeface="Arial"/>
                <a:cs typeface="Arial"/>
              </a:rPr>
              <a:t>Drag a midpoint to create or move a bend.</a:t>
            </a:r>
          </a:p>
        </p:txBody>
      </p:sp>
      <p:sp>
        <p:nvSpPr>
          <p:cNvPr id="7" name="03">
            <a:extLst xmlns:a="http://schemas.openxmlformats.org/drawingml/2006/main">
              <a:ext uri="{FF2B5EF4-FFF2-40B4-BE49-F238E27FC236}">
                <a16:creationId xmlns:a16="http://schemas.microsoft.com/office/drawing/2014/main" id="{0ACD450D-E6C9-45D9-91C0-0A38717465B5}"/>
              </a:ext>
            </a:extLst>
          </p:cNvPr>
          <p:cNvSpPr>
            <a:spLocks xmlns:a="http://schemas.openxmlformats.org/drawingml/2006/main" noGrp="1"/>
          </p:cNvSpPr>
          <p:nvPr/>
        </p:nvSpPr>
        <p:spPr>
          <a:xfrm xmlns:a="http://schemas.openxmlformats.org/drawingml/2006/main">
            <a:off x="11525250" y="5086350"/>
            <a:ext cx="95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03</a:t>
            </a:r>
          </a:p>
        </p:txBody>
      </p:sp>
      <p:sp>
        <p:nvSpPr>
          <p:cNvPr id="8" name="Remove a bend or use Straighten for all bends.">
            <a:extLst xmlns:a="http://schemas.openxmlformats.org/drawingml/2006/main">
              <a:ext uri="{FF2B5EF4-FFF2-40B4-BE49-F238E27FC236}">
                <a16:creationId xmlns:a16="http://schemas.microsoft.com/office/drawing/2014/main" id="{B01740F3-73A4-4552-A4B6-0B8DA68C0BA5}"/>
              </a:ext>
            </a:extLst>
          </p:cNvPr>
          <p:cNvSpPr>
            <a:spLocks xmlns:a="http://schemas.openxmlformats.org/drawingml/2006/main" noGrp="1"/>
          </p:cNvSpPr>
          <p:nvPr/>
        </p:nvSpPr>
        <p:spPr>
          <a:xfrm xmlns:a="http://schemas.openxmlformats.org/drawingml/2006/main">
            <a:off x="11525250" y="5553075"/>
            <a:ext cx="30765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025" b="0">
                <a:solidFill>
                  <a:srgbClr val="18384B"/>
                </a:solidFill>
                <a:latin typeface="Arial"/>
                <a:ea typeface="Arial"/>
                <a:cs typeface="Arial"/>
              </a:defRPr>
            </a:pPr>
            <a:r>
              <a:rPr sz="2025" b="0">
                <a:solidFill>
                  <a:srgbClr val="18384B"/>
                </a:solidFill>
                <a:latin typeface="Arial"/>
                <a:ea typeface="Arial"/>
                <a:cs typeface="Arial"/>
              </a:rPr>
              <a:t>Remove a bend or use Straighten for all bends.</a:t>
            </a:r>
          </a:p>
        </p:txBody>
      </p:sp>
      <p:sp>
        <p:nvSpPr>
          <p:cNvPr id="9" name="Bends improve schematic readability without changing th">
            <a:extLst xmlns:a="http://schemas.openxmlformats.org/drawingml/2006/main">
              <a:ext uri="{FF2B5EF4-FFF2-40B4-BE49-F238E27FC236}">
                <a16:creationId xmlns:a16="http://schemas.microsoft.com/office/drawing/2014/main" id="{DD3C1B2C-82F4-49D5-8C92-C886B0FAC2BD}"/>
              </a:ext>
            </a:extLst>
          </p:cNvPr>
          <p:cNvSpPr>
            <a:spLocks xmlns:a="http://schemas.openxmlformats.org/drawingml/2006/main" noGrp="1"/>
          </p:cNvSpPr>
          <p:nvPr/>
        </p:nvSpPr>
        <p:spPr>
          <a:xfrm xmlns:a="http://schemas.openxmlformats.org/drawingml/2006/main">
            <a:off x="609600" y="7448550"/>
            <a:ext cx="1390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Bends improve schematic readability without changing the pipe’s capacity.</a:t>
            </a:r>
          </a:p>
        </p:txBody>
      </p:sp>
      <p:sp>
        <p:nvSpPr>
          <p:cNvPr id="10" name="WIDispatch   /   Client demonstration">
            <a:extLst xmlns:a="http://schemas.openxmlformats.org/drawingml/2006/main">
              <a:ext uri="{FF2B5EF4-FFF2-40B4-BE49-F238E27FC236}">
                <a16:creationId xmlns:a16="http://schemas.microsoft.com/office/drawing/2014/main" id="{97D3E95D-2C86-4973-8980-79EDAF366ECF}"/>
              </a:ext>
            </a:extLst>
          </p:cNvPr>
          <p:cNvSpPr>
            <a:spLocks xmlns:a="http://schemas.openxmlformats.org/drawingml/2006/main" noGrp="1"/>
          </p:cNvSpPr>
          <p:nvPr/>
        </p:nvSpPr>
        <p:spPr>
          <a:xfrm xmlns:a="http://schemas.openxmlformats.org/drawingml/2006/main">
            <a:off x="609600" y="81724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275" b="0">
                <a:solidFill>
                  <a:srgbClr val="547080"/>
                </a:solidFill>
                <a:latin typeface="Arial"/>
                <a:ea typeface="Arial"/>
                <a:cs typeface="Arial"/>
              </a:defRPr>
            </a:pPr>
            <a:r>
              <a:rPr sz="1275" b="0">
                <a:solidFill>
                  <a:srgbClr val="547080"/>
                </a:solidFill>
                <a:latin typeface="Arial"/>
                <a:ea typeface="Arial"/>
                <a:cs typeface="Arial"/>
              </a:rPr>
              <a:t>WIDispatch   /   Client demonstration</a:t>
            </a:r>
          </a:p>
        </p:txBody>
      </p:sp>
      <p:sp>
        <p:nvSpPr>
          <p:cNvPr id="11" name="40">
            <a:extLst xmlns:a="http://schemas.openxmlformats.org/drawingml/2006/main">
              <a:ext uri="{FF2B5EF4-FFF2-40B4-BE49-F238E27FC236}">
                <a16:creationId xmlns:a16="http://schemas.microsoft.com/office/drawing/2014/main" id="{CB3E2D06-67A3-40A6-BAC9-A94356B2A473}"/>
              </a:ext>
            </a:extLst>
          </p:cNvPr>
          <p:cNvSpPr>
            <a:spLocks xmlns:a="http://schemas.openxmlformats.org/drawingml/2006/main" noGrp="1"/>
          </p:cNvSpPr>
          <p:nvPr/>
        </p:nvSpPr>
        <p:spPr>
          <a:xfrm xmlns:a="http://schemas.openxmlformats.org/drawingml/2006/main">
            <a:off x="13906500" y="8115300"/>
            <a:ext cx="723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547080"/>
                </a:solidFill>
                <a:latin typeface="Arial"/>
                <a:ea typeface="Arial"/>
                <a:cs typeface="Arial"/>
              </a:defRPr>
            </a:pPr>
            <a:r>
              <a:rPr sz="1650" b="0">
                <a:solidFill>
                  <a:srgbClr val="547080"/>
                </a:solidFill>
                <a:latin typeface="Arial"/>
                <a:ea typeface="Arial"/>
                <a:cs typeface="Arial"/>
              </a:rPr>
              <a:t>46</a:t>
            </a:r>
          </a:p>
        </p:txBody>
      </p:sp>
    </p:spTree>
    <p:extLst>
      <p:ext uri="{BB962C8B-B14F-4D97-AF65-F5344CB8AC3E}">
        <p14:creationId xmlns:p14="http://schemas.microsoft.com/office/powerpoint/2010/main" val="2062412312"/>
      </p:ext>
    </p:extLst>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Alignment, grid and snapping">
            <a:extLst xmlns:a="http://schemas.openxmlformats.org/drawingml/2006/main">
              <a:ext uri="{FF2B5EF4-FFF2-40B4-BE49-F238E27FC236}">
                <a16:creationId xmlns:a16="http://schemas.microsoft.com/office/drawing/2014/main" id="{1C282F72-B43C-4629-9B55-A7D1AE1608AB}"/>
              </a:ext>
            </a:extLst>
          </p:cNvPr>
          <p:cNvSpPr>
            <a:spLocks xmlns:a="http://schemas.openxmlformats.org/drawingml/2006/main" noGrp="1"/>
          </p:cNvSpPr>
          <p:nvPr/>
        </p:nvSpPr>
        <p:spPr>
          <a:xfrm xmlns:a="http://schemas.openxmlformats.org/drawingml/2006/main">
            <a:off x="571500" y="428625"/>
            <a:ext cx="140970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300" b="1">
                <a:solidFill>
                  <a:srgbClr val="12374B"/>
                </a:solidFill>
                <a:latin typeface="Arial"/>
                <a:ea typeface="Arial"/>
                <a:cs typeface="Arial"/>
              </a:defRPr>
            </a:pPr>
            <a:r>
              <a:rPr sz="3300" b="1">
                <a:solidFill>
                  <a:srgbClr val="12374B"/>
                </a:solidFill>
                <a:latin typeface="Arial"/>
                <a:ea typeface="Arial"/>
                <a:cs typeface="Arial"/>
              </a:rPr>
              <a:t>Alignment, grid and snapping</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ca1c53db873e4d8e"/>
          <a:stretch xmlns:a="http://schemas.openxmlformats.org/drawingml/2006/main"/>
        </p:blipFill>
        <p:spPr>
          <a:xfrm xmlns:a="http://schemas.openxmlformats.org/drawingml/2006/main">
            <a:off x="476250" y="1965577"/>
            <a:ext cx="10668000" cy="4831845"/>
          </a:xfrm>
          <a:prstGeom xmlns:a="http://schemas.openxmlformats.org/drawingml/2006/main" prst="rect">
            <a:avLst/>
          </a:prstGeom>
        </p:spPr>
      </p:pic>
      <p:sp>
        <p:nvSpPr>
          <p:cNvPr id="3" name="01">
            <a:extLst xmlns:a="http://schemas.openxmlformats.org/drawingml/2006/main">
              <a:ext uri="{FF2B5EF4-FFF2-40B4-BE49-F238E27FC236}">
                <a16:creationId xmlns:a16="http://schemas.microsoft.com/office/drawing/2014/main" id="{40D07769-DA04-4481-96EA-F44D049F6007}"/>
              </a:ext>
            </a:extLst>
          </p:cNvPr>
          <p:cNvSpPr>
            <a:spLocks xmlns:a="http://schemas.openxmlformats.org/drawingml/2006/main" noGrp="1"/>
          </p:cNvSpPr>
          <p:nvPr/>
        </p:nvSpPr>
        <p:spPr>
          <a:xfrm xmlns:a="http://schemas.openxmlformats.org/drawingml/2006/main">
            <a:off x="11525250" y="1771650"/>
            <a:ext cx="95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01</a:t>
            </a:r>
          </a:p>
        </p:txBody>
      </p:sp>
      <p:sp>
        <p:nvSpPr>
          <p:cNvPr id="4" name="Select the assets to arrange.">
            <a:extLst xmlns:a="http://schemas.openxmlformats.org/drawingml/2006/main">
              <a:ext uri="{FF2B5EF4-FFF2-40B4-BE49-F238E27FC236}">
                <a16:creationId xmlns:a16="http://schemas.microsoft.com/office/drawing/2014/main" id="{394CA1E2-52E7-470B-B339-A9A250C2B9B9}"/>
              </a:ext>
            </a:extLst>
          </p:cNvPr>
          <p:cNvSpPr>
            <a:spLocks xmlns:a="http://schemas.openxmlformats.org/drawingml/2006/main" noGrp="1"/>
          </p:cNvSpPr>
          <p:nvPr/>
        </p:nvSpPr>
        <p:spPr>
          <a:xfrm xmlns:a="http://schemas.openxmlformats.org/drawingml/2006/main">
            <a:off x="11525250" y="2238375"/>
            <a:ext cx="30765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025" b="0">
                <a:solidFill>
                  <a:srgbClr val="18384B"/>
                </a:solidFill>
                <a:latin typeface="Arial"/>
                <a:ea typeface="Arial"/>
                <a:cs typeface="Arial"/>
              </a:defRPr>
            </a:pPr>
            <a:r>
              <a:rPr sz="2025" b="0">
                <a:solidFill>
                  <a:srgbClr val="18384B"/>
                </a:solidFill>
                <a:latin typeface="Arial"/>
                <a:ea typeface="Arial"/>
                <a:cs typeface="Arial"/>
              </a:rPr>
              <a:t>Select the assets to arrange.</a:t>
            </a:r>
          </a:p>
        </p:txBody>
      </p:sp>
      <p:sp>
        <p:nvSpPr>
          <p:cNvPr id="5" name="02">
            <a:extLst xmlns:a="http://schemas.openxmlformats.org/drawingml/2006/main">
              <a:ext uri="{FF2B5EF4-FFF2-40B4-BE49-F238E27FC236}">
                <a16:creationId xmlns:a16="http://schemas.microsoft.com/office/drawing/2014/main" id="{AEBDBAA8-7E53-4278-A539-C9504C418460}"/>
              </a:ext>
            </a:extLst>
          </p:cNvPr>
          <p:cNvSpPr>
            <a:spLocks xmlns:a="http://schemas.openxmlformats.org/drawingml/2006/main" noGrp="1"/>
          </p:cNvSpPr>
          <p:nvPr/>
        </p:nvSpPr>
        <p:spPr>
          <a:xfrm xmlns:a="http://schemas.openxmlformats.org/drawingml/2006/main">
            <a:off x="11525250" y="3429000"/>
            <a:ext cx="95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02</a:t>
            </a:r>
          </a:p>
        </p:txBody>
      </p:sp>
      <p:sp>
        <p:nvSpPr>
          <p:cNvPr id="6" name="Use alignment or equal-distribution controls.">
            <a:extLst xmlns:a="http://schemas.openxmlformats.org/drawingml/2006/main">
              <a:ext uri="{FF2B5EF4-FFF2-40B4-BE49-F238E27FC236}">
                <a16:creationId xmlns:a16="http://schemas.microsoft.com/office/drawing/2014/main" id="{5F34C32F-C936-4440-A1D6-0260152CC824}"/>
              </a:ext>
            </a:extLst>
          </p:cNvPr>
          <p:cNvSpPr>
            <a:spLocks xmlns:a="http://schemas.openxmlformats.org/drawingml/2006/main" noGrp="1"/>
          </p:cNvSpPr>
          <p:nvPr/>
        </p:nvSpPr>
        <p:spPr>
          <a:xfrm xmlns:a="http://schemas.openxmlformats.org/drawingml/2006/main">
            <a:off x="11525250" y="3895725"/>
            <a:ext cx="30765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025" b="0">
                <a:solidFill>
                  <a:srgbClr val="18384B"/>
                </a:solidFill>
                <a:latin typeface="Arial"/>
                <a:ea typeface="Arial"/>
                <a:cs typeface="Arial"/>
              </a:defRPr>
            </a:pPr>
            <a:r>
              <a:rPr sz="2025" b="0">
                <a:solidFill>
                  <a:srgbClr val="18384B"/>
                </a:solidFill>
                <a:latin typeface="Arial"/>
                <a:ea typeface="Arial"/>
                <a:cs typeface="Arial"/>
              </a:rPr>
              <a:t>Use alignment or equal-distribution controls.</a:t>
            </a:r>
          </a:p>
        </p:txBody>
      </p:sp>
      <p:sp>
        <p:nvSpPr>
          <p:cNvPr id="7" name="03">
            <a:extLst xmlns:a="http://schemas.openxmlformats.org/drawingml/2006/main">
              <a:ext uri="{FF2B5EF4-FFF2-40B4-BE49-F238E27FC236}">
                <a16:creationId xmlns:a16="http://schemas.microsoft.com/office/drawing/2014/main" id="{418DE6C5-F4E9-4DC3-A5E7-EFE1DCBBFB28}"/>
              </a:ext>
            </a:extLst>
          </p:cNvPr>
          <p:cNvSpPr>
            <a:spLocks xmlns:a="http://schemas.openxmlformats.org/drawingml/2006/main" noGrp="1"/>
          </p:cNvSpPr>
          <p:nvPr/>
        </p:nvSpPr>
        <p:spPr>
          <a:xfrm xmlns:a="http://schemas.openxmlformats.org/drawingml/2006/main">
            <a:off x="11525250" y="5086350"/>
            <a:ext cx="95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03</a:t>
            </a:r>
          </a:p>
        </p:txBody>
      </p:sp>
      <p:sp>
        <p:nvSpPr>
          <p:cNvPr id="8" name="Enable Grid and Snap for consistent placement.">
            <a:extLst xmlns:a="http://schemas.openxmlformats.org/drawingml/2006/main">
              <a:ext uri="{FF2B5EF4-FFF2-40B4-BE49-F238E27FC236}">
                <a16:creationId xmlns:a16="http://schemas.microsoft.com/office/drawing/2014/main" id="{ED67CC6A-9E12-4336-A25E-BB5F328F828B}"/>
              </a:ext>
            </a:extLst>
          </p:cNvPr>
          <p:cNvSpPr>
            <a:spLocks xmlns:a="http://schemas.openxmlformats.org/drawingml/2006/main" noGrp="1"/>
          </p:cNvSpPr>
          <p:nvPr/>
        </p:nvSpPr>
        <p:spPr>
          <a:xfrm xmlns:a="http://schemas.openxmlformats.org/drawingml/2006/main">
            <a:off x="11525250" y="5553075"/>
            <a:ext cx="30765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025" b="0">
                <a:solidFill>
                  <a:srgbClr val="18384B"/>
                </a:solidFill>
                <a:latin typeface="Arial"/>
                <a:ea typeface="Arial"/>
                <a:cs typeface="Arial"/>
              </a:defRPr>
            </a:pPr>
            <a:r>
              <a:rPr sz="2025" b="0">
                <a:solidFill>
                  <a:srgbClr val="18384B"/>
                </a:solidFill>
                <a:latin typeface="Arial"/>
                <a:ea typeface="Arial"/>
                <a:cs typeface="Arial"/>
              </a:rPr>
              <a:t>Enable Grid and Snap for consistent placement.</a:t>
            </a:r>
          </a:p>
        </p:txBody>
      </p:sp>
      <p:sp>
        <p:nvSpPr>
          <p:cNvPr id="9" name="Arrange affects the drawing. Hydraulic capacity and app">
            <a:extLst xmlns:a="http://schemas.openxmlformats.org/drawingml/2006/main">
              <a:ext uri="{FF2B5EF4-FFF2-40B4-BE49-F238E27FC236}">
                <a16:creationId xmlns:a16="http://schemas.microsoft.com/office/drawing/2014/main" id="{A8D78AE7-E3E9-46CF-9B34-4E53B8D9309C}"/>
              </a:ext>
            </a:extLst>
          </p:cNvPr>
          <p:cNvSpPr>
            <a:spLocks xmlns:a="http://schemas.openxmlformats.org/drawingml/2006/main" noGrp="1"/>
          </p:cNvSpPr>
          <p:nvPr/>
        </p:nvSpPr>
        <p:spPr>
          <a:xfrm xmlns:a="http://schemas.openxmlformats.org/drawingml/2006/main">
            <a:off x="609600" y="7448550"/>
            <a:ext cx="1390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Arrange affects the drawing. Hydraulic capacity and approved records stay separate.</a:t>
            </a:r>
          </a:p>
        </p:txBody>
      </p:sp>
      <p:sp>
        <p:nvSpPr>
          <p:cNvPr id="10" name="WIDispatch   /   Client demonstration">
            <a:extLst xmlns:a="http://schemas.openxmlformats.org/drawingml/2006/main">
              <a:ext uri="{FF2B5EF4-FFF2-40B4-BE49-F238E27FC236}">
                <a16:creationId xmlns:a16="http://schemas.microsoft.com/office/drawing/2014/main" id="{6738C2C9-E1F6-4741-8610-0F9C8C1CCB4C}"/>
              </a:ext>
            </a:extLst>
          </p:cNvPr>
          <p:cNvSpPr>
            <a:spLocks xmlns:a="http://schemas.openxmlformats.org/drawingml/2006/main" noGrp="1"/>
          </p:cNvSpPr>
          <p:nvPr/>
        </p:nvSpPr>
        <p:spPr>
          <a:xfrm xmlns:a="http://schemas.openxmlformats.org/drawingml/2006/main">
            <a:off x="609600" y="81724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275" b="0">
                <a:solidFill>
                  <a:srgbClr val="547080"/>
                </a:solidFill>
                <a:latin typeface="Arial"/>
                <a:ea typeface="Arial"/>
                <a:cs typeface="Arial"/>
              </a:defRPr>
            </a:pPr>
            <a:r>
              <a:rPr sz="1275" b="0">
                <a:solidFill>
                  <a:srgbClr val="547080"/>
                </a:solidFill>
                <a:latin typeface="Arial"/>
                <a:ea typeface="Arial"/>
                <a:cs typeface="Arial"/>
              </a:rPr>
              <a:t>WIDispatch   /   Client demonstration</a:t>
            </a:r>
          </a:p>
        </p:txBody>
      </p:sp>
      <p:sp>
        <p:nvSpPr>
          <p:cNvPr id="11" name="41">
            <a:extLst xmlns:a="http://schemas.openxmlformats.org/drawingml/2006/main">
              <a:ext uri="{FF2B5EF4-FFF2-40B4-BE49-F238E27FC236}">
                <a16:creationId xmlns:a16="http://schemas.microsoft.com/office/drawing/2014/main" id="{7C8AA9FD-C4CA-4ADE-B71B-B98E9783B22D}"/>
              </a:ext>
            </a:extLst>
          </p:cNvPr>
          <p:cNvSpPr>
            <a:spLocks xmlns:a="http://schemas.openxmlformats.org/drawingml/2006/main" noGrp="1"/>
          </p:cNvSpPr>
          <p:nvPr/>
        </p:nvSpPr>
        <p:spPr>
          <a:xfrm xmlns:a="http://schemas.openxmlformats.org/drawingml/2006/main">
            <a:off x="13906500" y="8115300"/>
            <a:ext cx="723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547080"/>
                </a:solidFill>
                <a:latin typeface="Arial"/>
                <a:ea typeface="Arial"/>
                <a:cs typeface="Arial"/>
              </a:defRPr>
            </a:pPr>
            <a:r>
              <a:rPr sz="1650" b="0">
                <a:solidFill>
                  <a:srgbClr val="547080"/>
                </a:solidFill>
                <a:latin typeface="Arial"/>
                <a:ea typeface="Arial"/>
                <a:cs typeface="Arial"/>
              </a:rPr>
              <a:t>47</a:t>
            </a:r>
          </a:p>
        </p:txBody>
      </p:sp>
    </p:spTree>
    <p:extLst>
      <p:ext uri="{BB962C8B-B14F-4D97-AF65-F5344CB8AC3E}">
        <p14:creationId xmlns:p14="http://schemas.microsoft.com/office/powerpoint/2010/main" val="1407742129"/>
      </p:ext>
    </p:extLst>
  </p:cSld>
</p:sld>
</file>

<file path=ppt/slides/slide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Active assets and disconnected paths">
            <a:extLst xmlns:a="http://schemas.openxmlformats.org/drawingml/2006/main">
              <a:ext uri="{FF2B5EF4-FFF2-40B4-BE49-F238E27FC236}">
                <a16:creationId xmlns:a16="http://schemas.microsoft.com/office/drawing/2014/main" id="{AAA7189E-EFE5-4AA2-BB04-918F10559F49}"/>
              </a:ext>
            </a:extLst>
          </p:cNvPr>
          <p:cNvSpPr>
            <a:spLocks xmlns:a="http://schemas.openxmlformats.org/drawingml/2006/main" noGrp="1"/>
          </p:cNvSpPr>
          <p:nvPr/>
        </p:nvSpPr>
        <p:spPr>
          <a:xfrm xmlns:a="http://schemas.openxmlformats.org/drawingml/2006/main">
            <a:off x="571500" y="428625"/>
            <a:ext cx="140970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300" b="1">
                <a:solidFill>
                  <a:srgbClr val="12374B"/>
                </a:solidFill>
                <a:latin typeface="Arial"/>
                <a:ea typeface="Arial"/>
                <a:cs typeface="Arial"/>
              </a:defRPr>
            </a:pPr>
            <a:r>
              <a:rPr sz="3300" b="1">
                <a:solidFill>
                  <a:srgbClr val="12374B"/>
                </a:solidFill>
                <a:latin typeface="Arial"/>
                <a:ea typeface="Arial"/>
                <a:cs typeface="Arial"/>
              </a:rPr>
              <a:t>Active assets and disconnected paths</a:t>
            </a:r>
          </a:p>
        </p:txBody>
      </p:sp>
      <p:sp>
        <p:nvSpPr>
          <p:cNvPr id="2" name="Availability">
            <a:extLst xmlns:a="http://schemas.openxmlformats.org/drawingml/2006/main">
              <a:ext uri="{FF2B5EF4-FFF2-40B4-BE49-F238E27FC236}">
                <a16:creationId xmlns:a16="http://schemas.microsoft.com/office/drawing/2014/main" id="{8F2E9E2C-B6FF-4683-8444-0B47F4A4F887}"/>
              </a:ext>
            </a:extLst>
          </p:cNvPr>
          <p:cNvSpPr>
            <a:spLocks xmlns:a="http://schemas.openxmlformats.org/drawingml/2006/main" noGrp="1"/>
          </p:cNvSpPr>
          <p:nvPr/>
        </p:nvSpPr>
        <p:spPr>
          <a:xfrm xmlns:a="http://schemas.openxmlformats.org/drawingml/2006/main">
            <a:off x="609600" y="1952625"/>
            <a:ext cx="4267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400" b="1">
                <a:solidFill>
                  <a:srgbClr val="007E92"/>
                </a:solidFill>
                <a:latin typeface="Arial"/>
                <a:ea typeface="Arial"/>
                <a:cs typeface="Arial"/>
              </a:defRPr>
            </a:pPr>
            <a:r>
              <a:rPr sz="2400" b="1">
                <a:solidFill>
                  <a:srgbClr val="007E92"/>
                </a:solidFill>
                <a:latin typeface="Arial"/>
                <a:ea typeface="Arial"/>
                <a:cs typeface="Arial"/>
              </a:rPr>
              <a:t>Availability</a:t>
            </a:r>
          </a:p>
        </p:txBody>
      </p:sp>
      <p:sp>
        <p:nvSpPr>
          <p:cNvPr id="3" name="Use element details for asset active state and lifecycl">
            <a:extLst xmlns:a="http://schemas.openxmlformats.org/drawingml/2006/main">
              <a:ext uri="{FF2B5EF4-FFF2-40B4-BE49-F238E27FC236}">
                <a16:creationId xmlns:a16="http://schemas.microsoft.com/office/drawing/2014/main" id="{06632AB4-E23D-434C-B0AB-383A98DBD0D7}"/>
              </a:ext>
            </a:extLst>
          </p:cNvPr>
          <p:cNvSpPr>
            <a:spLocks xmlns:a="http://schemas.openxmlformats.org/drawingml/2006/main" noGrp="1"/>
          </p:cNvSpPr>
          <p:nvPr/>
        </p:nvSpPr>
        <p:spPr>
          <a:xfrm xmlns:a="http://schemas.openxmlformats.org/drawingml/2006/main">
            <a:off x="609600" y="3067050"/>
            <a:ext cx="4238625" cy="3200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325" b="0">
                <a:solidFill>
                  <a:srgbClr val="18384B"/>
                </a:solidFill>
                <a:latin typeface="Arial"/>
                <a:ea typeface="Arial"/>
                <a:cs typeface="Arial"/>
              </a:defRPr>
            </a:pPr>
            <a:r>
              <a:rPr sz="2325" b="0">
                <a:solidFill>
                  <a:srgbClr val="18384B"/>
                </a:solidFill>
                <a:latin typeface="Arial"/>
                <a:ea typeface="Arial"/>
                <a:cs typeface="Arial"/>
              </a:rPr>
              <a:t>Use element details for asset active state and lifecycle. Activate/Inactive toolbar actions target selected pipes.</a:t>
            </a:r>
          </a:p>
        </p:txBody>
      </p:sp>
      <p:sp>
        <p:nvSpPr>
          <p:cNvPr id="4" name="Diagnosis">
            <a:extLst xmlns:a="http://schemas.openxmlformats.org/drawingml/2006/main">
              <a:ext uri="{FF2B5EF4-FFF2-40B4-BE49-F238E27FC236}">
                <a16:creationId xmlns:a16="http://schemas.microsoft.com/office/drawing/2014/main" id="{C739F4A7-2DEB-4F9D-9CB0-C5B2E6ED3019}"/>
              </a:ext>
            </a:extLst>
          </p:cNvPr>
          <p:cNvSpPr>
            <a:spLocks xmlns:a="http://schemas.openxmlformats.org/drawingml/2006/main" noGrp="1"/>
          </p:cNvSpPr>
          <p:nvPr/>
        </p:nvSpPr>
        <p:spPr>
          <a:xfrm xmlns:a="http://schemas.openxmlformats.org/drawingml/2006/main">
            <a:off x="5419725" y="1952625"/>
            <a:ext cx="4267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400" b="1">
                <a:solidFill>
                  <a:srgbClr val="007E92"/>
                </a:solidFill>
                <a:latin typeface="Arial"/>
                <a:ea typeface="Arial"/>
                <a:cs typeface="Arial"/>
              </a:defRPr>
            </a:pPr>
            <a:r>
              <a:rPr sz="2400" b="1">
                <a:solidFill>
                  <a:srgbClr val="007E92"/>
                </a:solidFill>
                <a:latin typeface="Arial"/>
                <a:ea typeface="Arial"/>
                <a:cs typeface="Arial"/>
              </a:rPr>
              <a:t>Diagnosis</a:t>
            </a:r>
          </a:p>
        </p:txBody>
      </p:sp>
      <p:sp>
        <p:nvSpPr>
          <p:cNvPr id="5" name="Use Disconnected, No Capacity and Inactive review filte">
            <a:extLst xmlns:a="http://schemas.openxmlformats.org/drawingml/2006/main">
              <a:ext uri="{FF2B5EF4-FFF2-40B4-BE49-F238E27FC236}">
                <a16:creationId xmlns:a16="http://schemas.microsoft.com/office/drawing/2014/main" id="{9883920E-4880-4D0F-A0C6-D8F2AD27EF09}"/>
              </a:ext>
            </a:extLst>
          </p:cNvPr>
          <p:cNvSpPr>
            <a:spLocks xmlns:a="http://schemas.openxmlformats.org/drawingml/2006/main" noGrp="1"/>
          </p:cNvSpPr>
          <p:nvPr/>
        </p:nvSpPr>
        <p:spPr>
          <a:xfrm xmlns:a="http://schemas.openxmlformats.org/drawingml/2006/main">
            <a:off x="5419725" y="3067050"/>
            <a:ext cx="4238625" cy="3200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325" b="0">
                <a:solidFill>
                  <a:srgbClr val="18384B"/>
                </a:solidFill>
                <a:latin typeface="Arial"/>
                <a:ea typeface="Arial"/>
                <a:cs typeface="Arial"/>
              </a:defRPr>
            </a:pPr>
            <a:r>
              <a:rPr sz="2325" b="0">
                <a:solidFill>
                  <a:srgbClr val="18384B"/>
                </a:solidFill>
                <a:latin typeface="Arial"/>
                <a:ea typeface="Arial"/>
                <a:cs typeface="Arial"/>
              </a:rPr>
              <a:t>Use Disconnected, No Capacity and Inactive review filters. Validate lists errors and warnings with focus controls.</a:t>
            </a:r>
          </a:p>
        </p:txBody>
      </p:sp>
      <p:sp>
        <p:nvSpPr>
          <p:cNvPr id="6" name="Restoration">
            <a:extLst xmlns:a="http://schemas.openxmlformats.org/drawingml/2006/main">
              <a:ext uri="{FF2B5EF4-FFF2-40B4-BE49-F238E27FC236}">
                <a16:creationId xmlns:a16="http://schemas.microsoft.com/office/drawing/2014/main" id="{385FFBD7-772E-4249-B9A6-E529BDF243CB}"/>
              </a:ext>
            </a:extLst>
          </p:cNvPr>
          <p:cNvSpPr>
            <a:spLocks xmlns:a="http://schemas.openxmlformats.org/drawingml/2006/main" noGrp="1"/>
          </p:cNvSpPr>
          <p:nvPr/>
        </p:nvSpPr>
        <p:spPr>
          <a:xfrm xmlns:a="http://schemas.openxmlformats.org/drawingml/2006/main">
            <a:off x="10229850" y="1952625"/>
            <a:ext cx="4267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400" b="1">
                <a:solidFill>
                  <a:srgbClr val="007E92"/>
                </a:solidFill>
                <a:latin typeface="Arial"/>
                <a:ea typeface="Arial"/>
                <a:cs typeface="Arial"/>
              </a:defRPr>
            </a:pPr>
            <a:r>
              <a:rPr sz="2400" b="1">
                <a:solidFill>
                  <a:srgbClr val="007E92"/>
                </a:solidFill>
                <a:latin typeface="Arial"/>
                <a:ea typeface="Arial"/>
                <a:cs typeface="Arial"/>
              </a:rPr>
              <a:t>Restoration</a:t>
            </a:r>
          </a:p>
        </p:txBody>
      </p:sp>
      <p:sp>
        <p:nvSpPr>
          <p:cNvPr id="7" name="Fix the missing connection or specification, then valid">
            <a:extLst xmlns:a="http://schemas.openxmlformats.org/drawingml/2006/main">
              <a:ext uri="{FF2B5EF4-FFF2-40B4-BE49-F238E27FC236}">
                <a16:creationId xmlns:a16="http://schemas.microsoft.com/office/drawing/2014/main" id="{AAB61CE6-310E-4D37-BDB3-4EB960FE4E13}"/>
              </a:ext>
            </a:extLst>
          </p:cNvPr>
          <p:cNvSpPr>
            <a:spLocks xmlns:a="http://schemas.openxmlformats.org/drawingml/2006/main" noGrp="1"/>
          </p:cNvSpPr>
          <p:nvPr/>
        </p:nvSpPr>
        <p:spPr>
          <a:xfrm xmlns:a="http://schemas.openxmlformats.org/drawingml/2006/main">
            <a:off x="10229850" y="3067050"/>
            <a:ext cx="4238625" cy="3200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325" b="0">
                <a:solidFill>
                  <a:srgbClr val="18384B"/>
                </a:solidFill>
                <a:latin typeface="Arial"/>
                <a:ea typeface="Arial"/>
                <a:cs typeface="Arial"/>
              </a:defRPr>
            </a:pPr>
            <a:r>
              <a:rPr sz="2325" b="0">
                <a:solidFill>
                  <a:srgbClr val="18384B"/>
                </a:solidFill>
                <a:latin typeface="Arial"/>
                <a:ea typeface="Arial"/>
                <a:cs typeface="Arial"/>
              </a:rPr>
              <a:t>Fix the missing connection or specification, then validate again. Clear Marks resets selection and review highlights.</a:t>
            </a:r>
          </a:p>
        </p:txBody>
      </p:sp>
      <p:sp>
        <p:nvSpPr>
          <p:cNvPr id="8" name="Visibility, active state and scenario inclusion have di">
            <a:extLst xmlns:a="http://schemas.openxmlformats.org/drawingml/2006/main">
              <a:ext uri="{FF2B5EF4-FFF2-40B4-BE49-F238E27FC236}">
                <a16:creationId xmlns:a16="http://schemas.microsoft.com/office/drawing/2014/main" id="{3D4D5918-64FA-4A96-A0D2-B198BCF12262}"/>
              </a:ext>
            </a:extLst>
          </p:cNvPr>
          <p:cNvSpPr>
            <a:spLocks xmlns:a="http://schemas.openxmlformats.org/drawingml/2006/main" noGrp="1"/>
          </p:cNvSpPr>
          <p:nvPr/>
        </p:nvSpPr>
        <p:spPr>
          <a:xfrm xmlns:a="http://schemas.openxmlformats.org/drawingml/2006/main">
            <a:off x="609600" y="7448550"/>
            <a:ext cx="1390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Visibility, active state and scenario inclusion have different effects.</a:t>
            </a:r>
          </a:p>
        </p:txBody>
      </p:sp>
      <p:sp>
        <p:nvSpPr>
          <p:cNvPr id="9" name="WIDispatch   /   Client demonstration">
            <a:extLst xmlns:a="http://schemas.openxmlformats.org/drawingml/2006/main">
              <a:ext uri="{FF2B5EF4-FFF2-40B4-BE49-F238E27FC236}">
                <a16:creationId xmlns:a16="http://schemas.microsoft.com/office/drawing/2014/main" id="{05242705-20DA-46DF-84C7-9F4126C6A3E3}"/>
              </a:ext>
            </a:extLst>
          </p:cNvPr>
          <p:cNvSpPr>
            <a:spLocks xmlns:a="http://schemas.openxmlformats.org/drawingml/2006/main" noGrp="1"/>
          </p:cNvSpPr>
          <p:nvPr/>
        </p:nvSpPr>
        <p:spPr>
          <a:xfrm xmlns:a="http://schemas.openxmlformats.org/drawingml/2006/main">
            <a:off x="609600" y="81724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275" b="0">
                <a:solidFill>
                  <a:srgbClr val="547080"/>
                </a:solidFill>
                <a:latin typeface="Arial"/>
                <a:ea typeface="Arial"/>
                <a:cs typeface="Arial"/>
              </a:defRPr>
            </a:pPr>
            <a:r>
              <a:rPr sz="1275" b="0">
                <a:solidFill>
                  <a:srgbClr val="547080"/>
                </a:solidFill>
                <a:latin typeface="Arial"/>
                <a:ea typeface="Arial"/>
                <a:cs typeface="Arial"/>
              </a:rPr>
              <a:t>WIDispatch   /   Client demonstration</a:t>
            </a:r>
          </a:p>
        </p:txBody>
      </p:sp>
      <p:sp>
        <p:nvSpPr>
          <p:cNvPr id="10" name="42">
            <a:extLst xmlns:a="http://schemas.openxmlformats.org/drawingml/2006/main">
              <a:ext uri="{FF2B5EF4-FFF2-40B4-BE49-F238E27FC236}">
                <a16:creationId xmlns:a16="http://schemas.microsoft.com/office/drawing/2014/main" id="{6547830E-E775-40D0-8BCF-C615EF1080E0}"/>
              </a:ext>
            </a:extLst>
          </p:cNvPr>
          <p:cNvSpPr>
            <a:spLocks xmlns:a="http://schemas.openxmlformats.org/drawingml/2006/main" noGrp="1"/>
          </p:cNvSpPr>
          <p:nvPr/>
        </p:nvSpPr>
        <p:spPr>
          <a:xfrm xmlns:a="http://schemas.openxmlformats.org/drawingml/2006/main">
            <a:off x="13906500" y="8115300"/>
            <a:ext cx="723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547080"/>
                </a:solidFill>
                <a:latin typeface="Arial"/>
                <a:ea typeface="Arial"/>
                <a:cs typeface="Arial"/>
              </a:defRPr>
            </a:pPr>
            <a:r>
              <a:rPr sz="1650" b="0">
                <a:solidFill>
                  <a:srgbClr val="547080"/>
                </a:solidFill>
                <a:latin typeface="Arial"/>
                <a:ea typeface="Arial"/>
                <a:cs typeface="Arial"/>
              </a:rPr>
              <a:t>48</a:t>
            </a:r>
          </a:p>
        </p:txBody>
      </p:sp>
    </p:spTree>
    <p:extLst>
      <p:ext uri="{BB962C8B-B14F-4D97-AF65-F5344CB8AC3E}">
        <p14:creationId xmlns:p14="http://schemas.microsoft.com/office/powerpoint/2010/main" val="1801716611"/>
      </p:ext>
    </p:extLst>
  </p:cSld>
</p:sld>
</file>

<file path=ppt/slides/slide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A schematic reflected on the map">
            <a:extLst xmlns:a="http://schemas.openxmlformats.org/drawingml/2006/main">
              <a:ext uri="{FF2B5EF4-FFF2-40B4-BE49-F238E27FC236}">
                <a16:creationId xmlns:a16="http://schemas.microsoft.com/office/drawing/2014/main" id="{58223ED0-CEB4-4022-8E46-767C41A1B0C6}"/>
              </a:ext>
            </a:extLst>
          </p:cNvPr>
          <p:cNvSpPr>
            <a:spLocks xmlns:a="http://schemas.openxmlformats.org/drawingml/2006/main" noGrp="1"/>
          </p:cNvSpPr>
          <p:nvPr/>
        </p:nvSpPr>
        <p:spPr>
          <a:xfrm xmlns:a="http://schemas.openxmlformats.org/drawingml/2006/main">
            <a:off x="571500" y="428625"/>
            <a:ext cx="140970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300" b="1">
                <a:solidFill>
                  <a:srgbClr val="12374B"/>
                </a:solidFill>
                <a:latin typeface="Arial"/>
                <a:ea typeface="Arial"/>
                <a:cs typeface="Arial"/>
              </a:defRPr>
            </a:pPr>
            <a:r>
              <a:rPr sz="3300" b="1">
                <a:solidFill>
                  <a:srgbClr val="12374B"/>
                </a:solidFill>
                <a:latin typeface="Arial"/>
                <a:ea typeface="Arial"/>
                <a:cs typeface="Arial"/>
              </a:rPr>
              <a:t>A schematic reflected on the map</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8adc1e46939540f8"/>
          <a:stretch xmlns:a="http://schemas.openxmlformats.org/drawingml/2006/main"/>
        </p:blipFill>
        <p:spPr>
          <a:xfrm xmlns:a="http://schemas.openxmlformats.org/drawingml/2006/main">
            <a:off x="476250" y="1965577"/>
            <a:ext cx="10668000" cy="4831845"/>
          </a:xfrm>
          <a:prstGeom xmlns:a="http://schemas.openxmlformats.org/drawingml/2006/main" prst="rect">
            <a:avLst/>
          </a:prstGeom>
        </p:spPr>
      </p:pic>
      <p:sp>
        <p:nvSpPr>
          <p:cNvPr id="3" name="01">
            <a:extLst xmlns:a="http://schemas.openxmlformats.org/drawingml/2006/main">
              <a:ext uri="{FF2B5EF4-FFF2-40B4-BE49-F238E27FC236}">
                <a16:creationId xmlns:a16="http://schemas.microsoft.com/office/drawing/2014/main" id="{B4B56566-375F-4E8E-B3EC-9F4760BDB28B}"/>
              </a:ext>
            </a:extLst>
          </p:cNvPr>
          <p:cNvSpPr>
            <a:spLocks xmlns:a="http://schemas.openxmlformats.org/drawingml/2006/main" noGrp="1"/>
          </p:cNvSpPr>
          <p:nvPr/>
        </p:nvSpPr>
        <p:spPr>
          <a:xfrm xmlns:a="http://schemas.openxmlformats.org/drawingml/2006/main">
            <a:off x="11525250" y="1771650"/>
            <a:ext cx="95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01</a:t>
            </a:r>
          </a:p>
        </p:txBody>
      </p:sp>
      <p:sp>
        <p:nvSpPr>
          <p:cNvPr id="4" name="Select an asset with known coordinates.">
            <a:extLst xmlns:a="http://schemas.openxmlformats.org/drawingml/2006/main">
              <a:ext uri="{FF2B5EF4-FFF2-40B4-BE49-F238E27FC236}">
                <a16:creationId xmlns:a16="http://schemas.microsoft.com/office/drawing/2014/main" id="{465C0FA3-6349-43C9-91B5-20BE67AFFC95}"/>
              </a:ext>
            </a:extLst>
          </p:cNvPr>
          <p:cNvSpPr>
            <a:spLocks xmlns:a="http://schemas.openxmlformats.org/drawingml/2006/main" noGrp="1"/>
          </p:cNvSpPr>
          <p:nvPr/>
        </p:nvSpPr>
        <p:spPr>
          <a:xfrm xmlns:a="http://schemas.openxmlformats.org/drawingml/2006/main">
            <a:off x="11525250" y="2238375"/>
            <a:ext cx="30765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025" b="0">
                <a:solidFill>
                  <a:srgbClr val="18384B"/>
                </a:solidFill>
                <a:latin typeface="Arial"/>
                <a:ea typeface="Arial"/>
                <a:cs typeface="Arial"/>
              </a:defRPr>
            </a:pPr>
            <a:r>
              <a:rPr sz="2025" b="0">
                <a:solidFill>
                  <a:srgbClr val="18384B"/>
                </a:solidFill>
                <a:latin typeface="Arial"/>
                <a:ea typeface="Arial"/>
                <a:cs typeface="Arial"/>
              </a:rPr>
              <a:t>Select an asset with known coordinates.</a:t>
            </a:r>
          </a:p>
        </p:txBody>
      </p:sp>
      <p:sp>
        <p:nvSpPr>
          <p:cNvPr id="5" name="02">
            <a:extLst xmlns:a="http://schemas.openxmlformats.org/drawingml/2006/main">
              <a:ext uri="{FF2B5EF4-FFF2-40B4-BE49-F238E27FC236}">
                <a16:creationId xmlns:a16="http://schemas.microsoft.com/office/drawing/2014/main" id="{D28C4C67-7FEE-4651-919B-8F4BC3C7967A}"/>
              </a:ext>
            </a:extLst>
          </p:cNvPr>
          <p:cNvSpPr>
            <a:spLocks xmlns:a="http://schemas.openxmlformats.org/drawingml/2006/main" noGrp="1"/>
          </p:cNvSpPr>
          <p:nvPr/>
        </p:nvSpPr>
        <p:spPr>
          <a:xfrm xmlns:a="http://schemas.openxmlformats.org/drawingml/2006/main">
            <a:off x="11525250" y="3429000"/>
            <a:ext cx="95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02</a:t>
            </a:r>
          </a:p>
        </p:txBody>
      </p:sp>
      <p:sp>
        <p:nvSpPr>
          <p:cNvPr id="6" name="Pin at least two geographic anchors.">
            <a:extLst xmlns:a="http://schemas.openxmlformats.org/drawingml/2006/main">
              <a:ext uri="{FF2B5EF4-FFF2-40B4-BE49-F238E27FC236}">
                <a16:creationId xmlns:a16="http://schemas.microsoft.com/office/drawing/2014/main" id="{A5C452E2-988B-42CF-ADF8-028991221112}"/>
              </a:ext>
            </a:extLst>
          </p:cNvPr>
          <p:cNvSpPr>
            <a:spLocks xmlns:a="http://schemas.openxmlformats.org/drawingml/2006/main" noGrp="1"/>
          </p:cNvSpPr>
          <p:nvPr/>
        </p:nvSpPr>
        <p:spPr>
          <a:xfrm xmlns:a="http://schemas.openxmlformats.org/drawingml/2006/main">
            <a:off x="11525250" y="3895725"/>
            <a:ext cx="30765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025" b="0">
                <a:solidFill>
                  <a:srgbClr val="18384B"/>
                </a:solidFill>
                <a:latin typeface="Arial"/>
                <a:ea typeface="Arial"/>
                <a:cs typeface="Arial"/>
              </a:defRPr>
            </a:pPr>
            <a:r>
              <a:rPr sz="2025" b="0">
                <a:solidFill>
                  <a:srgbClr val="18384B"/>
                </a:solidFill>
                <a:latin typeface="Arial"/>
                <a:ea typeface="Arial"/>
                <a:cs typeface="Arial"/>
              </a:rPr>
              <a:t>Pin at least two geographic anchors.</a:t>
            </a:r>
          </a:p>
        </p:txBody>
      </p:sp>
      <p:sp>
        <p:nvSpPr>
          <p:cNvPr id="7" name="03">
            <a:extLst xmlns:a="http://schemas.openxmlformats.org/drawingml/2006/main">
              <a:ext uri="{FF2B5EF4-FFF2-40B4-BE49-F238E27FC236}">
                <a16:creationId xmlns:a16="http://schemas.microsoft.com/office/drawing/2014/main" id="{FEC749B8-1ACB-491D-AB8A-E5B880F0F367}"/>
              </a:ext>
            </a:extLst>
          </p:cNvPr>
          <p:cNvSpPr>
            <a:spLocks xmlns:a="http://schemas.openxmlformats.org/drawingml/2006/main" noGrp="1"/>
          </p:cNvSpPr>
          <p:nvPr/>
        </p:nvSpPr>
        <p:spPr>
          <a:xfrm xmlns:a="http://schemas.openxmlformats.org/drawingml/2006/main">
            <a:off x="11525250" y="5086350"/>
            <a:ext cx="95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03</a:t>
            </a:r>
          </a:p>
        </p:txBody>
      </p:sp>
      <p:sp>
        <p:nvSpPr>
          <p:cNvPr id="8" name="Open Map and inspect the projected network.">
            <a:extLst xmlns:a="http://schemas.openxmlformats.org/drawingml/2006/main">
              <a:ext uri="{FF2B5EF4-FFF2-40B4-BE49-F238E27FC236}">
                <a16:creationId xmlns:a16="http://schemas.microsoft.com/office/drawing/2014/main" id="{A80E16DC-4971-4188-86B5-FA19E2DF623B}"/>
              </a:ext>
            </a:extLst>
          </p:cNvPr>
          <p:cNvSpPr>
            <a:spLocks xmlns:a="http://schemas.openxmlformats.org/drawingml/2006/main" noGrp="1"/>
          </p:cNvSpPr>
          <p:nvPr/>
        </p:nvSpPr>
        <p:spPr>
          <a:xfrm xmlns:a="http://schemas.openxmlformats.org/drawingml/2006/main">
            <a:off x="11525250" y="5553075"/>
            <a:ext cx="30765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025" b="0">
                <a:solidFill>
                  <a:srgbClr val="18384B"/>
                </a:solidFill>
                <a:latin typeface="Arial"/>
                <a:ea typeface="Arial"/>
                <a:cs typeface="Arial"/>
              </a:defRPr>
            </a:pPr>
            <a:r>
              <a:rPr sz="2025" b="0">
                <a:solidFill>
                  <a:srgbClr val="18384B"/>
                </a:solidFill>
                <a:latin typeface="Arial"/>
                <a:ea typeface="Arial"/>
                <a:cs typeface="Arial"/>
              </a:rPr>
              <a:t>Open Map and inspect the projected network.</a:t>
            </a:r>
          </a:p>
        </p:txBody>
      </p:sp>
      <p:sp>
        <p:nvSpPr>
          <p:cNvPr id="9" name="Anchor accuracy determines the geographic interpretatio">
            <a:extLst xmlns:a="http://schemas.openxmlformats.org/drawingml/2006/main">
              <a:ext uri="{FF2B5EF4-FFF2-40B4-BE49-F238E27FC236}">
                <a16:creationId xmlns:a16="http://schemas.microsoft.com/office/drawing/2014/main" id="{43230FB5-7995-435E-8B18-047397C4036E}"/>
              </a:ext>
            </a:extLst>
          </p:cNvPr>
          <p:cNvSpPr>
            <a:spLocks xmlns:a="http://schemas.openxmlformats.org/drawingml/2006/main" noGrp="1"/>
          </p:cNvSpPr>
          <p:nvPr/>
        </p:nvSpPr>
        <p:spPr>
          <a:xfrm xmlns:a="http://schemas.openxmlformats.org/drawingml/2006/main">
            <a:off x="609600" y="7448550"/>
            <a:ext cx="1390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Anchor accuracy determines the geographic interpretation of the drawing.</a:t>
            </a:r>
          </a:p>
        </p:txBody>
      </p:sp>
      <p:sp>
        <p:nvSpPr>
          <p:cNvPr id="10" name="WIDispatch   /   Client demonstration">
            <a:extLst xmlns:a="http://schemas.openxmlformats.org/drawingml/2006/main">
              <a:ext uri="{FF2B5EF4-FFF2-40B4-BE49-F238E27FC236}">
                <a16:creationId xmlns:a16="http://schemas.microsoft.com/office/drawing/2014/main" id="{E4ABD1DB-B8D6-46B4-B40D-34D502F8FF83}"/>
              </a:ext>
            </a:extLst>
          </p:cNvPr>
          <p:cNvSpPr>
            <a:spLocks xmlns:a="http://schemas.openxmlformats.org/drawingml/2006/main" noGrp="1"/>
          </p:cNvSpPr>
          <p:nvPr/>
        </p:nvSpPr>
        <p:spPr>
          <a:xfrm xmlns:a="http://schemas.openxmlformats.org/drawingml/2006/main">
            <a:off x="609600" y="81724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275" b="0">
                <a:solidFill>
                  <a:srgbClr val="547080"/>
                </a:solidFill>
                <a:latin typeface="Arial"/>
                <a:ea typeface="Arial"/>
                <a:cs typeface="Arial"/>
              </a:defRPr>
            </a:pPr>
            <a:r>
              <a:rPr sz="1275" b="0">
                <a:solidFill>
                  <a:srgbClr val="547080"/>
                </a:solidFill>
                <a:latin typeface="Arial"/>
                <a:ea typeface="Arial"/>
                <a:cs typeface="Arial"/>
              </a:rPr>
              <a:t>WIDispatch   /   Client demonstration</a:t>
            </a:r>
          </a:p>
        </p:txBody>
      </p:sp>
      <p:sp>
        <p:nvSpPr>
          <p:cNvPr id="11" name="43">
            <a:extLst xmlns:a="http://schemas.openxmlformats.org/drawingml/2006/main">
              <a:ext uri="{FF2B5EF4-FFF2-40B4-BE49-F238E27FC236}">
                <a16:creationId xmlns:a16="http://schemas.microsoft.com/office/drawing/2014/main" id="{50BB5FA9-2F62-4D5B-A67B-C89919E3CBF1}"/>
              </a:ext>
            </a:extLst>
          </p:cNvPr>
          <p:cNvSpPr>
            <a:spLocks xmlns:a="http://schemas.openxmlformats.org/drawingml/2006/main" noGrp="1"/>
          </p:cNvSpPr>
          <p:nvPr/>
        </p:nvSpPr>
        <p:spPr>
          <a:xfrm xmlns:a="http://schemas.openxmlformats.org/drawingml/2006/main">
            <a:off x="13906500" y="8115300"/>
            <a:ext cx="723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547080"/>
                </a:solidFill>
                <a:latin typeface="Arial"/>
                <a:ea typeface="Arial"/>
                <a:cs typeface="Arial"/>
              </a:defRPr>
            </a:pPr>
            <a:r>
              <a:rPr sz="1650" b="0">
                <a:solidFill>
                  <a:srgbClr val="547080"/>
                </a:solidFill>
                <a:latin typeface="Arial"/>
                <a:ea typeface="Arial"/>
                <a:cs typeface="Arial"/>
              </a:rPr>
              <a:t>49</a:t>
            </a:r>
          </a:p>
        </p:txBody>
      </p:sp>
    </p:spTree>
    <p:extLst>
      <p:ext uri="{BB962C8B-B14F-4D97-AF65-F5344CB8AC3E}">
        <p14:creationId xmlns:p14="http://schemas.microsoft.com/office/powerpoint/2010/main" val="1892526991"/>
      </p:ext>
    </p:extLst>
  </p:cSld>
</p:sld>
</file>

<file path=ppt/slides/slide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KMZ import and geographic review">
            <a:extLst xmlns:a="http://schemas.openxmlformats.org/drawingml/2006/main">
              <a:ext uri="{FF2B5EF4-FFF2-40B4-BE49-F238E27FC236}">
                <a16:creationId xmlns:a16="http://schemas.microsoft.com/office/drawing/2014/main" id="{3696CF51-B0AF-4949-8A06-9FDF8583D166}"/>
              </a:ext>
            </a:extLst>
          </p:cNvPr>
          <p:cNvSpPr>
            <a:spLocks xmlns:a="http://schemas.openxmlformats.org/drawingml/2006/main" noGrp="1"/>
          </p:cNvSpPr>
          <p:nvPr/>
        </p:nvSpPr>
        <p:spPr>
          <a:xfrm xmlns:a="http://schemas.openxmlformats.org/drawingml/2006/main">
            <a:off x="571500" y="428625"/>
            <a:ext cx="140970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300" b="1">
                <a:solidFill>
                  <a:srgbClr val="12374B"/>
                </a:solidFill>
                <a:latin typeface="Arial"/>
                <a:ea typeface="Arial"/>
                <a:cs typeface="Arial"/>
              </a:defRPr>
            </a:pPr>
            <a:r>
              <a:rPr sz="3300" b="1">
                <a:solidFill>
                  <a:srgbClr val="12374B"/>
                </a:solidFill>
                <a:latin typeface="Arial"/>
                <a:ea typeface="Arial"/>
                <a:cs typeface="Arial"/>
              </a:rPr>
              <a:t>KMZ import and geographic review</a:t>
            </a:r>
          </a:p>
        </p:txBody>
      </p:sp>
      <p:sp>
        <p:nvSpPr>
          <p:cNvPr id="2" name="Import">
            <a:extLst xmlns:a="http://schemas.openxmlformats.org/drawingml/2006/main">
              <a:ext uri="{FF2B5EF4-FFF2-40B4-BE49-F238E27FC236}">
                <a16:creationId xmlns:a16="http://schemas.microsoft.com/office/drawing/2014/main" id="{6486BE15-B539-47B5-8533-EE82F7130996}"/>
              </a:ext>
            </a:extLst>
          </p:cNvPr>
          <p:cNvSpPr>
            <a:spLocks xmlns:a="http://schemas.openxmlformats.org/drawingml/2006/main" noGrp="1"/>
          </p:cNvSpPr>
          <p:nvPr/>
        </p:nvSpPr>
        <p:spPr>
          <a:xfrm xmlns:a="http://schemas.openxmlformats.org/drawingml/2006/main">
            <a:off x="609600" y="1952625"/>
            <a:ext cx="4267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400" b="1">
                <a:solidFill>
                  <a:srgbClr val="007E92"/>
                </a:solidFill>
                <a:latin typeface="Arial"/>
                <a:ea typeface="Arial"/>
                <a:cs typeface="Arial"/>
              </a:defRPr>
            </a:pPr>
            <a:r>
              <a:rPr sz="2400" b="1">
                <a:solidFill>
                  <a:srgbClr val="007E92"/>
                </a:solidFill>
                <a:latin typeface="Arial"/>
                <a:ea typeface="Arial"/>
                <a:cs typeface="Arial"/>
              </a:rPr>
              <a:t>Import</a:t>
            </a:r>
          </a:p>
        </p:txBody>
      </p:sp>
      <p:sp>
        <p:nvSpPr>
          <p:cNvPr id="3" name="Choose Import and select a KMZ or KML file in a separat">
            <a:extLst xmlns:a="http://schemas.openxmlformats.org/drawingml/2006/main">
              <a:ext uri="{FF2B5EF4-FFF2-40B4-BE49-F238E27FC236}">
                <a16:creationId xmlns:a16="http://schemas.microsoft.com/office/drawing/2014/main" id="{E3C7A30C-FA3C-4F01-87BB-CA9662FD707F}"/>
              </a:ext>
            </a:extLst>
          </p:cNvPr>
          <p:cNvSpPr>
            <a:spLocks xmlns:a="http://schemas.openxmlformats.org/drawingml/2006/main" noGrp="1"/>
          </p:cNvSpPr>
          <p:nvPr/>
        </p:nvSpPr>
        <p:spPr>
          <a:xfrm xmlns:a="http://schemas.openxmlformats.org/drawingml/2006/main">
            <a:off x="609600" y="3067050"/>
            <a:ext cx="4238625" cy="3200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325" b="0">
                <a:solidFill>
                  <a:srgbClr val="18384B"/>
                </a:solidFill>
                <a:latin typeface="Arial"/>
                <a:ea typeface="Arial"/>
                <a:cs typeface="Arial"/>
              </a:defRPr>
            </a:pPr>
            <a:r>
              <a:rPr sz="2325" b="0">
                <a:solidFill>
                  <a:srgbClr val="18384B"/>
                </a:solidFill>
                <a:latin typeface="Arial"/>
                <a:ea typeface="Arial"/>
                <a:cs typeface="Arial"/>
              </a:rPr>
              <a:t>Choose Import and select a KMZ or KML file in a separate network workspace. JSON uses the same import control.</a:t>
            </a:r>
          </a:p>
        </p:txBody>
      </p:sp>
      <p:sp>
        <p:nvSpPr>
          <p:cNvPr id="4" name="Review geometry">
            <a:extLst xmlns:a="http://schemas.openxmlformats.org/drawingml/2006/main">
              <a:ext uri="{FF2B5EF4-FFF2-40B4-BE49-F238E27FC236}">
                <a16:creationId xmlns:a16="http://schemas.microsoft.com/office/drawing/2014/main" id="{115BD49F-D5C8-4369-A848-196183CF30B7}"/>
              </a:ext>
            </a:extLst>
          </p:cNvPr>
          <p:cNvSpPr>
            <a:spLocks xmlns:a="http://schemas.openxmlformats.org/drawingml/2006/main" noGrp="1"/>
          </p:cNvSpPr>
          <p:nvPr/>
        </p:nvSpPr>
        <p:spPr>
          <a:xfrm xmlns:a="http://schemas.openxmlformats.org/drawingml/2006/main">
            <a:off x="5419725" y="1952625"/>
            <a:ext cx="4267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400" b="1">
                <a:solidFill>
                  <a:srgbClr val="007E92"/>
                </a:solidFill>
                <a:latin typeface="Arial"/>
                <a:ea typeface="Arial"/>
                <a:cs typeface="Arial"/>
              </a:defRPr>
            </a:pPr>
            <a:r>
              <a:rPr sz="2400" b="1">
                <a:solidFill>
                  <a:srgbClr val="007E92"/>
                </a:solidFill>
                <a:latin typeface="Arial"/>
                <a:ea typeface="Arial"/>
                <a:cs typeface="Arial"/>
              </a:rPr>
              <a:t>Review geometry</a:t>
            </a:r>
          </a:p>
        </p:txBody>
      </p:sp>
      <p:sp>
        <p:nvSpPr>
          <p:cNvPr id="5" name="Points become classified nodes. Lines become pipes betw">
            <a:extLst xmlns:a="http://schemas.openxmlformats.org/drawingml/2006/main">
              <a:ext uri="{FF2B5EF4-FFF2-40B4-BE49-F238E27FC236}">
                <a16:creationId xmlns:a16="http://schemas.microsoft.com/office/drawing/2014/main" id="{1607CD85-114B-4FEE-82D4-78B348458E72}"/>
              </a:ext>
            </a:extLst>
          </p:cNvPr>
          <p:cNvSpPr>
            <a:spLocks xmlns:a="http://schemas.openxmlformats.org/drawingml/2006/main" noGrp="1"/>
          </p:cNvSpPr>
          <p:nvPr/>
        </p:nvSpPr>
        <p:spPr>
          <a:xfrm xmlns:a="http://schemas.openxmlformats.org/drawingml/2006/main">
            <a:off x="5419725" y="3067050"/>
            <a:ext cx="4238625" cy="3200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325" b="0">
                <a:solidFill>
                  <a:srgbClr val="18384B"/>
                </a:solidFill>
                <a:latin typeface="Arial"/>
                <a:ea typeface="Arial"/>
                <a:cs typeface="Arial"/>
              </a:defRPr>
            </a:pPr>
            <a:r>
              <a:rPr sz="2325" b="0">
                <a:solidFill>
                  <a:srgbClr val="18384B"/>
                </a:solidFill>
                <a:latin typeface="Arial"/>
                <a:ea typeface="Arial"/>
                <a:cs typeface="Arial"/>
              </a:rPr>
              <a:t>Points become classified nodes. Lines become pipes between resolved endpoints, with junctions where needed.</a:t>
            </a:r>
          </a:p>
        </p:txBody>
      </p:sp>
      <p:sp>
        <p:nvSpPr>
          <p:cNvPr id="6" name="Complete the model">
            <a:extLst xmlns:a="http://schemas.openxmlformats.org/drawingml/2006/main">
              <a:ext uri="{FF2B5EF4-FFF2-40B4-BE49-F238E27FC236}">
                <a16:creationId xmlns:a16="http://schemas.microsoft.com/office/drawing/2014/main" id="{7A162654-FA22-418B-B524-3D28E3D595BD}"/>
              </a:ext>
            </a:extLst>
          </p:cNvPr>
          <p:cNvSpPr>
            <a:spLocks xmlns:a="http://schemas.openxmlformats.org/drawingml/2006/main" noGrp="1"/>
          </p:cNvSpPr>
          <p:nvPr/>
        </p:nvSpPr>
        <p:spPr>
          <a:xfrm xmlns:a="http://schemas.openxmlformats.org/drawingml/2006/main">
            <a:off x="10229850" y="1952625"/>
            <a:ext cx="4267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400" b="1">
                <a:solidFill>
                  <a:srgbClr val="007E92"/>
                </a:solidFill>
                <a:latin typeface="Arial"/>
                <a:ea typeface="Arial"/>
                <a:cs typeface="Arial"/>
              </a:defRPr>
            </a:pPr>
            <a:r>
              <a:rPr sz="2400" b="1">
                <a:solidFill>
                  <a:srgbClr val="007E92"/>
                </a:solidFill>
                <a:latin typeface="Arial"/>
                <a:ea typeface="Arial"/>
                <a:cs typeface="Arial"/>
              </a:rPr>
              <a:t>Complete the model</a:t>
            </a:r>
          </a:p>
        </p:txBody>
      </p:sp>
      <p:sp>
        <p:nvSpPr>
          <p:cNvPr id="7" name="Check types and connectivity. Add capacities and source">
            <a:extLst xmlns:a="http://schemas.openxmlformats.org/drawingml/2006/main">
              <a:ext uri="{FF2B5EF4-FFF2-40B4-BE49-F238E27FC236}">
                <a16:creationId xmlns:a16="http://schemas.microsoft.com/office/drawing/2014/main" id="{B128F8F7-2A5C-47E3-BBEE-B601BB5206E7}"/>
              </a:ext>
            </a:extLst>
          </p:cNvPr>
          <p:cNvSpPr>
            <a:spLocks xmlns:a="http://schemas.openxmlformats.org/drawingml/2006/main" noGrp="1"/>
          </p:cNvSpPr>
          <p:nvPr/>
        </p:nvSpPr>
        <p:spPr>
          <a:xfrm xmlns:a="http://schemas.openxmlformats.org/drawingml/2006/main">
            <a:off x="10229850" y="3067050"/>
            <a:ext cx="4238625" cy="3200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325" b="0">
                <a:solidFill>
                  <a:srgbClr val="18384B"/>
                </a:solidFill>
                <a:latin typeface="Arial"/>
                <a:ea typeface="Arial"/>
                <a:cs typeface="Arial"/>
              </a:defRPr>
            </a:pPr>
            <a:r>
              <a:rPr sz="2325" b="0">
                <a:solidFill>
                  <a:srgbClr val="18384B"/>
                </a:solidFill>
                <a:latin typeface="Arial"/>
                <a:ea typeface="Arial"/>
                <a:cs typeface="Arial"/>
              </a:rPr>
              <a:t>Check types and connectivity. Add capacities and source-asset links before using imported geometry for dispatch.</a:t>
            </a:r>
          </a:p>
        </p:txBody>
      </p:sp>
      <p:sp>
        <p:nvSpPr>
          <p:cNvPr id="8" name="A geographic import supplies geometry. It still needs o">
            <a:extLst xmlns:a="http://schemas.openxmlformats.org/drawingml/2006/main">
              <a:ext uri="{FF2B5EF4-FFF2-40B4-BE49-F238E27FC236}">
                <a16:creationId xmlns:a16="http://schemas.microsoft.com/office/drawing/2014/main" id="{C5CFB8E2-0073-4BD0-9207-39AD4303DDCA}"/>
              </a:ext>
            </a:extLst>
          </p:cNvPr>
          <p:cNvSpPr>
            <a:spLocks xmlns:a="http://schemas.openxmlformats.org/drawingml/2006/main" noGrp="1"/>
          </p:cNvSpPr>
          <p:nvPr/>
        </p:nvSpPr>
        <p:spPr>
          <a:xfrm xmlns:a="http://schemas.openxmlformats.org/drawingml/2006/main">
            <a:off x="609600" y="7448550"/>
            <a:ext cx="1390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A geographic import supplies geometry. It still needs operating specifications.</a:t>
            </a:r>
          </a:p>
        </p:txBody>
      </p:sp>
      <p:sp>
        <p:nvSpPr>
          <p:cNvPr id="9" name="WIDispatch   /   Client demonstration">
            <a:extLst xmlns:a="http://schemas.openxmlformats.org/drawingml/2006/main">
              <a:ext uri="{FF2B5EF4-FFF2-40B4-BE49-F238E27FC236}">
                <a16:creationId xmlns:a16="http://schemas.microsoft.com/office/drawing/2014/main" id="{8AF568DA-7326-413E-8D20-59993EB35022}"/>
              </a:ext>
            </a:extLst>
          </p:cNvPr>
          <p:cNvSpPr>
            <a:spLocks xmlns:a="http://schemas.openxmlformats.org/drawingml/2006/main" noGrp="1"/>
          </p:cNvSpPr>
          <p:nvPr/>
        </p:nvSpPr>
        <p:spPr>
          <a:xfrm xmlns:a="http://schemas.openxmlformats.org/drawingml/2006/main">
            <a:off x="609600" y="81724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275" b="0">
                <a:solidFill>
                  <a:srgbClr val="547080"/>
                </a:solidFill>
                <a:latin typeface="Arial"/>
                <a:ea typeface="Arial"/>
                <a:cs typeface="Arial"/>
              </a:defRPr>
            </a:pPr>
            <a:r>
              <a:rPr sz="1275" b="0">
                <a:solidFill>
                  <a:srgbClr val="547080"/>
                </a:solidFill>
                <a:latin typeface="Arial"/>
                <a:ea typeface="Arial"/>
                <a:cs typeface="Arial"/>
              </a:rPr>
              <a:t>WIDispatch   /   Client demonstration</a:t>
            </a:r>
          </a:p>
        </p:txBody>
      </p:sp>
      <p:sp>
        <p:nvSpPr>
          <p:cNvPr id="10" name="44">
            <a:extLst xmlns:a="http://schemas.openxmlformats.org/drawingml/2006/main">
              <a:ext uri="{FF2B5EF4-FFF2-40B4-BE49-F238E27FC236}">
                <a16:creationId xmlns:a16="http://schemas.microsoft.com/office/drawing/2014/main" id="{B4C32B2A-250D-446F-BA70-E6EA8B5F290E}"/>
              </a:ext>
            </a:extLst>
          </p:cNvPr>
          <p:cNvSpPr>
            <a:spLocks xmlns:a="http://schemas.openxmlformats.org/drawingml/2006/main" noGrp="1"/>
          </p:cNvSpPr>
          <p:nvPr/>
        </p:nvSpPr>
        <p:spPr>
          <a:xfrm xmlns:a="http://schemas.openxmlformats.org/drawingml/2006/main">
            <a:off x="13906500" y="8115300"/>
            <a:ext cx="723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547080"/>
                </a:solidFill>
                <a:latin typeface="Arial"/>
                <a:ea typeface="Arial"/>
                <a:cs typeface="Arial"/>
              </a:defRPr>
            </a:pPr>
            <a:r>
              <a:rPr sz="1650" b="0">
                <a:solidFill>
                  <a:srgbClr val="547080"/>
                </a:solidFill>
                <a:latin typeface="Arial"/>
                <a:ea typeface="Arial"/>
                <a:cs typeface="Arial"/>
              </a:rPr>
              <a:t>50</a:t>
            </a:r>
          </a:p>
        </p:txBody>
      </p:sp>
    </p:spTree>
    <p:extLst>
      <p:ext uri="{BB962C8B-B14F-4D97-AF65-F5344CB8AC3E}">
        <p14:creationId xmlns:p14="http://schemas.microsoft.com/office/powerpoint/2010/main" val="2038042308"/>
      </p:ext>
    </p:extLst>
  </p:cSld>
</p:sld>
</file>

<file path=ppt/slides/slide5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aving and exporting the network">
            <a:extLst xmlns:a="http://schemas.openxmlformats.org/drawingml/2006/main">
              <a:ext uri="{FF2B5EF4-FFF2-40B4-BE49-F238E27FC236}">
                <a16:creationId xmlns:a16="http://schemas.microsoft.com/office/drawing/2014/main" id="{7611D935-A20A-433C-A0F4-0C33BC484C83}"/>
              </a:ext>
            </a:extLst>
          </p:cNvPr>
          <p:cNvSpPr>
            <a:spLocks xmlns:a="http://schemas.openxmlformats.org/drawingml/2006/main" noGrp="1"/>
          </p:cNvSpPr>
          <p:nvPr/>
        </p:nvSpPr>
        <p:spPr>
          <a:xfrm xmlns:a="http://schemas.openxmlformats.org/drawingml/2006/main">
            <a:off x="571500" y="428625"/>
            <a:ext cx="140970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300" b="1">
                <a:solidFill>
                  <a:srgbClr val="12374B"/>
                </a:solidFill>
                <a:latin typeface="Arial"/>
                <a:ea typeface="Arial"/>
                <a:cs typeface="Arial"/>
              </a:defRPr>
            </a:pPr>
            <a:r>
              <a:rPr sz="3300" b="1">
                <a:solidFill>
                  <a:srgbClr val="12374B"/>
                </a:solidFill>
                <a:latin typeface="Arial"/>
                <a:ea typeface="Arial"/>
                <a:cs typeface="Arial"/>
              </a:rPr>
              <a:t>Saving and exporting the network</a:t>
            </a:r>
          </a:p>
        </p:txBody>
      </p:sp>
      <p:sp>
        <p:nvSpPr>
          <p:cNvPr id="2" name="Save and Save As">
            <a:extLst xmlns:a="http://schemas.openxmlformats.org/drawingml/2006/main">
              <a:ext uri="{FF2B5EF4-FFF2-40B4-BE49-F238E27FC236}">
                <a16:creationId xmlns:a16="http://schemas.microsoft.com/office/drawing/2014/main" id="{F207FD6F-D695-40DD-87E3-8C8D04EDF9D4}"/>
              </a:ext>
            </a:extLst>
          </p:cNvPr>
          <p:cNvSpPr>
            <a:spLocks xmlns:a="http://schemas.openxmlformats.org/drawingml/2006/main" noGrp="1"/>
          </p:cNvSpPr>
          <p:nvPr/>
        </p:nvSpPr>
        <p:spPr>
          <a:xfrm xmlns:a="http://schemas.openxmlformats.org/drawingml/2006/main">
            <a:off x="609600" y="1952625"/>
            <a:ext cx="4267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400" b="1">
                <a:solidFill>
                  <a:srgbClr val="007E92"/>
                </a:solidFill>
                <a:latin typeface="Arial"/>
                <a:ea typeface="Arial"/>
                <a:cs typeface="Arial"/>
              </a:defRPr>
            </a:pPr>
            <a:r>
              <a:rPr sz="2400" b="1">
                <a:solidFill>
                  <a:srgbClr val="007E92"/>
                </a:solidFill>
                <a:latin typeface="Arial"/>
                <a:ea typeface="Arial"/>
                <a:cs typeface="Arial"/>
              </a:rPr>
              <a:t>Save and Save As</a:t>
            </a:r>
          </a:p>
        </p:txBody>
      </p:sp>
      <p:sp>
        <p:nvSpPr>
          <p:cNvPr id="3" name="Save the operational network with a clear name. Save As">
            <a:extLst xmlns:a="http://schemas.openxmlformats.org/drawingml/2006/main">
              <a:ext uri="{FF2B5EF4-FFF2-40B4-BE49-F238E27FC236}">
                <a16:creationId xmlns:a16="http://schemas.microsoft.com/office/drawing/2014/main" id="{96D1CBA1-9103-4827-97A1-3BB9328C5072}"/>
              </a:ext>
            </a:extLst>
          </p:cNvPr>
          <p:cNvSpPr>
            <a:spLocks xmlns:a="http://schemas.openxmlformats.org/drawingml/2006/main" noGrp="1"/>
          </p:cNvSpPr>
          <p:nvPr/>
        </p:nvSpPr>
        <p:spPr>
          <a:xfrm xmlns:a="http://schemas.openxmlformats.org/drawingml/2006/main">
            <a:off x="609600" y="3067050"/>
            <a:ext cx="4238625" cy="3200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325" b="0">
                <a:solidFill>
                  <a:srgbClr val="18384B"/>
                </a:solidFill>
                <a:latin typeface="Arial"/>
                <a:ea typeface="Arial"/>
                <a:cs typeface="Arial"/>
              </a:defRPr>
            </a:pPr>
            <a:r>
              <a:rPr sz="2325" b="0">
                <a:solidFill>
                  <a:srgbClr val="18384B"/>
                </a:solidFill>
                <a:latin typeface="Arial"/>
                <a:ea typeface="Arial"/>
                <a:cs typeface="Arial"/>
              </a:rPr>
              <a:t>Save the operational network with a clear name. Save As creates a separate copy for a new scenario.</a:t>
            </a:r>
          </a:p>
        </p:txBody>
      </p:sp>
      <p:sp>
        <p:nvSpPr>
          <p:cNvPr id="4" name="JSON and CSV">
            <a:extLst xmlns:a="http://schemas.openxmlformats.org/drawingml/2006/main">
              <a:ext uri="{FF2B5EF4-FFF2-40B4-BE49-F238E27FC236}">
                <a16:creationId xmlns:a16="http://schemas.microsoft.com/office/drawing/2014/main" id="{887F3E5B-2E80-4938-BF3E-3B7A102E0414}"/>
              </a:ext>
            </a:extLst>
          </p:cNvPr>
          <p:cNvSpPr>
            <a:spLocks xmlns:a="http://schemas.openxmlformats.org/drawingml/2006/main" noGrp="1"/>
          </p:cNvSpPr>
          <p:nvPr/>
        </p:nvSpPr>
        <p:spPr>
          <a:xfrm xmlns:a="http://schemas.openxmlformats.org/drawingml/2006/main">
            <a:off x="5419725" y="1952625"/>
            <a:ext cx="4267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400" b="1">
                <a:solidFill>
                  <a:srgbClr val="007E92"/>
                </a:solidFill>
                <a:latin typeface="Arial"/>
                <a:ea typeface="Arial"/>
                <a:cs typeface="Arial"/>
              </a:defRPr>
            </a:pPr>
            <a:r>
              <a:rPr sz="2400" b="1">
                <a:solidFill>
                  <a:srgbClr val="007E92"/>
                </a:solidFill>
                <a:latin typeface="Arial"/>
                <a:ea typeface="Arial"/>
                <a:cs typeface="Arial"/>
              </a:rPr>
              <a:t>JSON and CSV</a:t>
            </a:r>
          </a:p>
        </p:txBody>
      </p:sp>
      <p:sp>
        <p:nvSpPr>
          <p:cNvPr id="5" name="JSON exports the canvas document. CSV provides node and">
            <a:extLst xmlns:a="http://schemas.openxmlformats.org/drawingml/2006/main">
              <a:ext uri="{FF2B5EF4-FFF2-40B4-BE49-F238E27FC236}">
                <a16:creationId xmlns:a16="http://schemas.microsoft.com/office/drawing/2014/main" id="{2D1A8CF5-5C3C-45D5-93FB-12393433C8A0}"/>
              </a:ext>
            </a:extLst>
          </p:cNvPr>
          <p:cNvSpPr>
            <a:spLocks xmlns:a="http://schemas.openxmlformats.org/drawingml/2006/main" noGrp="1"/>
          </p:cNvSpPr>
          <p:nvPr/>
        </p:nvSpPr>
        <p:spPr>
          <a:xfrm xmlns:a="http://schemas.openxmlformats.org/drawingml/2006/main">
            <a:off x="5419725" y="3067050"/>
            <a:ext cx="4238625" cy="3200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325" b="0">
                <a:solidFill>
                  <a:srgbClr val="18384B"/>
                </a:solidFill>
                <a:latin typeface="Arial"/>
                <a:ea typeface="Arial"/>
                <a:cs typeface="Arial"/>
              </a:defRPr>
            </a:pPr>
            <a:r>
              <a:rPr sz="2325" b="0">
                <a:solidFill>
                  <a:srgbClr val="18384B"/>
                </a:solidFill>
                <a:latin typeface="Arial"/>
                <a:ea typeface="Arial"/>
                <a:cs typeface="Arial"/>
              </a:rPr>
              <a:t>JSON exports the canvas document. CSV provides node and edge tables for inspection.</a:t>
            </a:r>
          </a:p>
        </p:txBody>
      </p:sp>
      <p:sp>
        <p:nvSpPr>
          <p:cNvPr id="6" name="KMZ">
            <a:extLst xmlns:a="http://schemas.openxmlformats.org/drawingml/2006/main">
              <a:ext uri="{FF2B5EF4-FFF2-40B4-BE49-F238E27FC236}">
                <a16:creationId xmlns:a16="http://schemas.microsoft.com/office/drawing/2014/main" id="{34548AB3-9571-4798-8051-47B2EC400CE7}"/>
              </a:ext>
            </a:extLst>
          </p:cNvPr>
          <p:cNvSpPr>
            <a:spLocks xmlns:a="http://schemas.openxmlformats.org/drawingml/2006/main" noGrp="1"/>
          </p:cNvSpPr>
          <p:nvPr/>
        </p:nvSpPr>
        <p:spPr>
          <a:xfrm xmlns:a="http://schemas.openxmlformats.org/drawingml/2006/main">
            <a:off x="10229850" y="1952625"/>
            <a:ext cx="4267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400" b="1">
                <a:solidFill>
                  <a:srgbClr val="007E92"/>
                </a:solidFill>
                <a:latin typeface="Arial"/>
                <a:ea typeface="Arial"/>
                <a:cs typeface="Arial"/>
              </a:defRPr>
            </a:pPr>
            <a:r>
              <a:rPr sz="2400" b="1">
                <a:solidFill>
                  <a:srgbClr val="007E92"/>
                </a:solidFill>
                <a:latin typeface="Arial"/>
                <a:ea typeface="Arial"/>
                <a:cs typeface="Arial"/>
              </a:rPr>
              <a:t>KMZ</a:t>
            </a:r>
          </a:p>
        </p:txBody>
      </p:sp>
      <p:sp>
        <p:nvSpPr>
          <p:cNvPr id="7" name="Set at least two valid geographic anchors, then export ">
            <a:extLst xmlns:a="http://schemas.openxmlformats.org/drawingml/2006/main">
              <a:ext uri="{FF2B5EF4-FFF2-40B4-BE49-F238E27FC236}">
                <a16:creationId xmlns:a16="http://schemas.microsoft.com/office/drawing/2014/main" id="{12871581-3EDB-4E93-974F-0873684AA855}"/>
              </a:ext>
            </a:extLst>
          </p:cNvPr>
          <p:cNvSpPr>
            <a:spLocks xmlns:a="http://schemas.openxmlformats.org/drawingml/2006/main" noGrp="1"/>
          </p:cNvSpPr>
          <p:nvPr/>
        </p:nvSpPr>
        <p:spPr>
          <a:xfrm xmlns:a="http://schemas.openxmlformats.org/drawingml/2006/main">
            <a:off x="10229850" y="3067050"/>
            <a:ext cx="4238625" cy="3200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325" b="0">
                <a:solidFill>
                  <a:srgbClr val="18384B"/>
                </a:solidFill>
                <a:latin typeface="Arial"/>
                <a:ea typeface="Arial"/>
                <a:cs typeface="Arial"/>
              </a:defRPr>
            </a:pPr>
            <a:r>
              <a:rPr sz="2325" b="0">
                <a:solidFill>
                  <a:srgbClr val="18384B"/>
                </a:solidFill>
                <a:latin typeface="Arial"/>
                <a:ea typeface="Arial"/>
                <a:cs typeface="Arial"/>
              </a:rPr>
              <a:t>Set at least two valid geographic anchors, then export KMZ for geographic exchange.</a:t>
            </a:r>
          </a:p>
        </p:txBody>
      </p:sp>
      <p:sp>
        <p:nvSpPr>
          <p:cNvPr id="8" name="Keep the saved network and the exported exchange file i">
            <a:extLst xmlns:a="http://schemas.openxmlformats.org/drawingml/2006/main">
              <a:ext uri="{FF2B5EF4-FFF2-40B4-BE49-F238E27FC236}">
                <a16:creationId xmlns:a16="http://schemas.microsoft.com/office/drawing/2014/main" id="{F1032DEF-CD06-4FAF-8330-E0A91B53751F}"/>
              </a:ext>
            </a:extLst>
          </p:cNvPr>
          <p:cNvSpPr>
            <a:spLocks xmlns:a="http://schemas.openxmlformats.org/drawingml/2006/main" noGrp="1"/>
          </p:cNvSpPr>
          <p:nvPr/>
        </p:nvSpPr>
        <p:spPr>
          <a:xfrm xmlns:a="http://schemas.openxmlformats.org/drawingml/2006/main">
            <a:off x="609600" y="7448550"/>
            <a:ext cx="1390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Keep the saved network and the exported exchange file identifiable by scenario and date.</a:t>
            </a:r>
          </a:p>
        </p:txBody>
      </p:sp>
      <p:sp>
        <p:nvSpPr>
          <p:cNvPr id="9" name="WIDispatch   /   Client demonstration">
            <a:extLst xmlns:a="http://schemas.openxmlformats.org/drawingml/2006/main">
              <a:ext uri="{FF2B5EF4-FFF2-40B4-BE49-F238E27FC236}">
                <a16:creationId xmlns:a16="http://schemas.microsoft.com/office/drawing/2014/main" id="{4D3BE441-3B4C-4C77-97E3-BF14BA2B3135}"/>
              </a:ext>
            </a:extLst>
          </p:cNvPr>
          <p:cNvSpPr>
            <a:spLocks xmlns:a="http://schemas.openxmlformats.org/drawingml/2006/main" noGrp="1"/>
          </p:cNvSpPr>
          <p:nvPr/>
        </p:nvSpPr>
        <p:spPr>
          <a:xfrm xmlns:a="http://schemas.openxmlformats.org/drawingml/2006/main">
            <a:off x="609600" y="81724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275" b="0">
                <a:solidFill>
                  <a:srgbClr val="547080"/>
                </a:solidFill>
                <a:latin typeface="Arial"/>
                <a:ea typeface="Arial"/>
                <a:cs typeface="Arial"/>
              </a:defRPr>
            </a:pPr>
            <a:r>
              <a:rPr sz="1275" b="0">
                <a:solidFill>
                  <a:srgbClr val="547080"/>
                </a:solidFill>
                <a:latin typeface="Arial"/>
                <a:ea typeface="Arial"/>
                <a:cs typeface="Arial"/>
              </a:rPr>
              <a:t>WIDispatch   /   Client demonstration</a:t>
            </a:r>
          </a:p>
        </p:txBody>
      </p:sp>
      <p:sp>
        <p:nvSpPr>
          <p:cNvPr id="10" name="45">
            <a:extLst xmlns:a="http://schemas.openxmlformats.org/drawingml/2006/main">
              <a:ext uri="{FF2B5EF4-FFF2-40B4-BE49-F238E27FC236}">
                <a16:creationId xmlns:a16="http://schemas.microsoft.com/office/drawing/2014/main" id="{12C2500C-D444-46C3-9D3F-7405E199AE7F}"/>
              </a:ext>
            </a:extLst>
          </p:cNvPr>
          <p:cNvSpPr>
            <a:spLocks xmlns:a="http://schemas.openxmlformats.org/drawingml/2006/main" noGrp="1"/>
          </p:cNvSpPr>
          <p:nvPr/>
        </p:nvSpPr>
        <p:spPr>
          <a:xfrm xmlns:a="http://schemas.openxmlformats.org/drawingml/2006/main">
            <a:off x="13906500" y="8115300"/>
            <a:ext cx="723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547080"/>
                </a:solidFill>
                <a:latin typeface="Arial"/>
                <a:ea typeface="Arial"/>
                <a:cs typeface="Arial"/>
              </a:defRPr>
            </a:pPr>
            <a:r>
              <a:rPr sz="1650" b="0">
                <a:solidFill>
                  <a:srgbClr val="547080"/>
                </a:solidFill>
                <a:latin typeface="Arial"/>
                <a:ea typeface="Arial"/>
                <a:cs typeface="Arial"/>
              </a:rPr>
              <a:t>51</a:t>
            </a:r>
          </a:p>
        </p:txBody>
      </p:sp>
    </p:spTree>
    <p:extLst>
      <p:ext uri="{BB962C8B-B14F-4D97-AF65-F5344CB8AC3E}">
        <p14:creationId xmlns:p14="http://schemas.microsoft.com/office/powerpoint/2010/main" val="1224739712"/>
      </p:ext>
    </p:extLst>
  </p:cSld>
</p:sld>
</file>

<file path=ppt/slides/slide5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Canvas shortcuts and supporting tools">
            <a:extLst xmlns:a="http://schemas.openxmlformats.org/drawingml/2006/main">
              <a:ext uri="{FF2B5EF4-FFF2-40B4-BE49-F238E27FC236}">
                <a16:creationId xmlns:a16="http://schemas.microsoft.com/office/drawing/2014/main" id="{8D65E66D-86BB-400F-B5EC-028A665D656F}"/>
              </a:ext>
            </a:extLst>
          </p:cNvPr>
          <p:cNvSpPr>
            <a:spLocks xmlns:a="http://schemas.openxmlformats.org/drawingml/2006/main" noGrp="1"/>
          </p:cNvSpPr>
          <p:nvPr/>
        </p:nvSpPr>
        <p:spPr>
          <a:xfrm xmlns:a="http://schemas.openxmlformats.org/drawingml/2006/main">
            <a:off x="571500" y="428625"/>
            <a:ext cx="140970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300" b="1">
                <a:solidFill>
                  <a:srgbClr val="12374B"/>
                </a:solidFill>
                <a:latin typeface="Arial"/>
                <a:ea typeface="Arial"/>
                <a:cs typeface="Arial"/>
              </a:defRPr>
            </a:pPr>
            <a:r>
              <a:rPr sz="3300" b="1">
                <a:solidFill>
                  <a:srgbClr val="12374B"/>
                </a:solidFill>
                <a:latin typeface="Arial"/>
                <a:ea typeface="Arial"/>
                <a:cs typeface="Arial"/>
              </a:rPr>
              <a:t>Canvas shortcuts and supporting tools</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929dc74585b34a8b"/>
          <a:stretch xmlns:a="http://schemas.openxmlformats.org/drawingml/2006/main"/>
        </p:blipFill>
        <p:spPr>
          <a:xfrm xmlns:a="http://schemas.openxmlformats.org/drawingml/2006/main">
            <a:off x="476250" y="1965577"/>
            <a:ext cx="10668000" cy="4831845"/>
          </a:xfrm>
          <a:prstGeom xmlns:a="http://schemas.openxmlformats.org/drawingml/2006/main" prst="rect">
            <a:avLst/>
          </a:prstGeom>
        </p:spPr>
      </p:pic>
      <p:sp>
        <p:nvSpPr>
          <p:cNvPr id="3" name="01">
            <a:extLst xmlns:a="http://schemas.openxmlformats.org/drawingml/2006/main">
              <a:ext uri="{FF2B5EF4-FFF2-40B4-BE49-F238E27FC236}">
                <a16:creationId xmlns:a16="http://schemas.microsoft.com/office/drawing/2014/main" id="{E6DB1B9E-8B27-44DC-B0B6-BF9F8F15EC0A}"/>
              </a:ext>
            </a:extLst>
          </p:cNvPr>
          <p:cNvSpPr>
            <a:spLocks xmlns:a="http://schemas.openxmlformats.org/drawingml/2006/main" noGrp="1"/>
          </p:cNvSpPr>
          <p:nvPr/>
        </p:nvSpPr>
        <p:spPr>
          <a:xfrm xmlns:a="http://schemas.openxmlformats.org/drawingml/2006/main">
            <a:off x="11525250" y="1771650"/>
            <a:ext cx="95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01</a:t>
            </a:r>
          </a:p>
        </p:txBody>
      </p:sp>
      <p:sp>
        <p:nvSpPr>
          <p:cNvPr id="4" name="Use Fit, Area or To Sel to navigate.">
            <a:extLst xmlns:a="http://schemas.openxmlformats.org/drawingml/2006/main">
              <a:ext uri="{FF2B5EF4-FFF2-40B4-BE49-F238E27FC236}">
                <a16:creationId xmlns:a16="http://schemas.microsoft.com/office/drawing/2014/main" id="{1733FC9C-11B0-48A6-B246-0FFB062F4760}"/>
              </a:ext>
            </a:extLst>
          </p:cNvPr>
          <p:cNvSpPr>
            <a:spLocks xmlns:a="http://schemas.openxmlformats.org/drawingml/2006/main" noGrp="1"/>
          </p:cNvSpPr>
          <p:nvPr/>
        </p:nvSpPr>
        <p:spPr>
          <a:xfrm xmlns:a="http://schemas.openxmlformats.org/drawingml/2006/main">
            <a:off x="11525250" y="2238375"/>
            <a:ext cx="30765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025" b="0">
                <a:solidFill>
                  <a:srgbClr val="18384B"/>
                </a:solidFill>
                <a:latin typeface="Arial"/>
                <a:ea typeface="Arial"/>
                <a:cs typeface="Arial"/>
              </a:defRPr>
            </a:pPr>
            <a:r>
              <a:rPr sz="2025" b="0">
                <a:solidFill>
                  <a:srgbClr val="18384B"/>
                </a:solidFill>
                <a:latin typeface="Arial"/>
                <a:ea typeface="Arial"/>
                <a:cs typeface="Arial"/>
              </a:rPr>
              <a:t>Use Fit, Area or To Sel to navigate.</a:t>
            </a:r>
          </a:p>
        </p:txBody>
      </p:sp>
      <p:sp>
        <p:nvSpPr>
          <p:cNvPr id="5" name="02">
            <a:extLst xmlns:a="http://schemas.openxmlformats.org/drawingml/2006/main">
              <a:ext uri="{FF2B5EF4-FFF2-40B4-BE49-F238E27FC236}">
                <a16:creationId xmlns:a16="http://schemas.microsoft.com/office/drawing/2014/main" id="{EE0DD853-5664-4B2B-910F-F71A60BAA1E5}"/>
              </a:ext>
            </a:extLst>
          </p:cNvPr>
          <p:cNvSpPr>
            <a:spLocks xmlns:a="http://schemas.openxmlformats.org/drawingml/2006/main" noGrp="1"/>
          </p:cNvSpPr>
          <p:nvPr/>
        </p:nvSpPr>
        <p:spPr>
          <a:xfrm xmlns:a="http://schemas.openxmlformats.org/drawingml/2006/main">
            <a:off x="11525250" y="3429000"/>
            <a:ext cx="95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02</a:t>
            </a:r>
          </a:p>
        </p:txBody>
      </p:sp>
      <p:sp>
        <p:nvSpPr>
          <p:cNvPr id="6" name="Use Undo/Redo and Copy/Paste while editing.">
            <a:extLst xmlns:a="http://schemas.openxmlformats.org/drawingml/2006/main">
              <a:ext uri="{FF2B5EF4-FFF2-40B4-BE49-F238E27FC236}">
                <a16:creationId xmlns:a16="http://schemas.microsoft.com/office/drawing/2014/main" id="{D7FBB60F-2ACD-41BF-A4CA-D9DEB69EC149}"/>
              </a:ext>
            </a:extLst>
          </p:cNvPr>
          <p:cNvSpPr>
            <a:spLocks xmlns:a="http://schemas.openxmlformats.org/drawingml/2006/main" noGrp="1"/>
          </p:cNvSpPr>
          <p:nvPr/>
        </p:nvSpPr>
        <p:spPr>
          <a:xfrm xmlns:a="http://schemas.openxmlformats.org/drawingml/2006/main">
            <a:off x="11525250" y="3895725"/>
            <a:ext cx="30765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025" b="0">
                <a:solidFill>
                  <a:srgbClr val="18384B"/>
                </a:solidFill>
                <a:latin typeface="Arial"/>
                <a:ea typeface="Arial"/>
                <a:cs typeface="Arial"/>
              </a:defRPr>
            </a:pPr>
            <a:r>
              <a:rPr sz="2025" b="0">
                <a:solidFill>
                  <a:srgbClr val="18384B"/>
                </a:solidFill>
                <a:latin typeface="Arial"/>
                <a:ea typeface="Arial"/>
                <a:cs typeface="Arial"/>
              </a:rPr>
              <a:t>Use Undo/Redo and Copy/Paste while editing.</a:t>
            </a:r>
          </a:p>
        </p:txBody>
      </p:sp>
      <p:sp>
        <p:nvSpPr>
          <p:cNvPr id="7" name="03">
            <a:extLst xmlns:a="http://schemas.openxmlformats.org/drawingml/2006/main">
              <a:ext uri="{FF2B5EF4-FFF2-40B4-BE49-F238E27FC236}">
                <a16:creationId xmlns:a16="http://schemas.microsoft.com/office/drawing/2014/main" id="{979EA734-0A86-464E-B634-B200AAD42F96}"/>
              </a:ext>
            </a:extLst>
          </p:cNvPr>
          <p:cNvSpPr>
            <a:spLocks xmlns:a="http://schemas.openxmlformats.org/drawingml/2006/main" noGrp="1"/>
          </p:cNvSpPr>
          <p:nvPr/>
        </p:nvSpPr>
        <p:spPr>
          <a:xfrm xmlns:a="http://schemas.openxmlformats.org/drawingml/2006/main">
            <a:off x="11525250" y="5086350"/>
            <a:ext cx="95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03</a:t>
            </a:r>
          </a:p>
        </p:txBody>
      </p:sp>
      <p:sp>
        <p:nvSpPr>
          <p:cNvPr id="8" name="Use network tabs to separate working alternatives.">
            <a:extLst xmlns:a="http://schemas.openxmlformats.org/drawingml/2006/main">
              <a:ext uri="{FF2B5EF4-FFF2-40B4-BE49-F238E27FC236}">
                <a16:creationId xmlns:a16="http://schemas.microsoft.com/office/drawing/2014/main" id="{C6023DC1-A4CA-4366-93B5-6A56C61DC4BF}"/>
              </a:ext>
            </a:extLst>
          </p:cNvPr>
          <p:cNvSpPr>
            <a:spLocks xmlns:a="http://schemas.openxmlformats.org/drawingml/2006/main" noGrp="1"/>
          </p:cNvSpPr>
          <p:nvPr/>
        </p:nvSpPr>
        <p:spPr>
          <a:xfrm xmlns:a="http://schemas.openxmlformats.org/drawingml/2006/main">
            <a:off x="11525250" y="5553075"/>
            <a:ext cx="30765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025" b="0">
                <a:solidFill>
                  <a:srgbClr val="18384B"/>
                </a:solidFill>
                <a:latin typeface="Arial"/>
                <a:ea typeface="Arial"/>
                <a:cs typeface="Arial"/>
              </a:defRPr>
            </a:pPr>
            <a:r>
              <a:rPr sz="2025" b="0">
                <a:solidFill>
                  <a:srgbClr val="18384B"/>
                </a:solidFill>
                <a:latin typeface="Arial"/>
                <a:ea typeface="Arial"/>
                <a:cs typeface="Arial"/>
              </a:rPr>
              <a:t>Use network tabs to separate working alternatives.</a:t>
            </a:r>
          </a:p>
        </p:txBody>
      </p:sp>
      <p:sp>
        <p:nvSpPr>
          <p:cNvPr id="9" name="Notes and groups can explain the drawing without becomi">
            <a:extLst xmlns:a="http://schemas.openxmlformats.org/drawingml/2006/main">
              <a:ext uri="{FF2B5EF4-FFF2-40B4-BE49-F238E27FC236}">
                <a16:creationId xmlns:a16="http://schemas.microsoft.com/office/drawing/2014/main" id="{36481586-4550-46D6-B226-044C6A6E1C17}"/>
              </a:ext>
            </a:extLst>
          </p:cNvPr>
          <p:cNvSpPr>
            <a:spLocks xmlns:a="http://schemas.openxmlformats.org/drawingml/2006/main" noGrp="1"/>
          </p:cNvSpPr>
          <p:nvPr/>
        </p:nvSpPr>
        <p:spPr>
          <a:xfrm xmlns:a="http://schemas.openxmlformats.org/drawingml/2006/main">
            <a:off x="609600" y="7448550"/>
            <a:ext cx="1390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Notes and groups can explain the drawing without becoming supply assets.</a:t>
            </a:r>
          </a:p>
        </p:txBody>
      </p:sp>
      <p:sp>
        <p:nvSpPr>
          <p:cNvPr id="10" name="WIDispatch   /   Client demonstration">
            <a:extLst xmlns:a="http://schemas.openxmlformats.org/drawingml/2006/main">
              <a:ext uri="{FF2B5EF4-FFF2-40B4-BE49-F238E27FC236}">
                <a16:creationId xmlns:a16="http://schemas.microsoft.com/office/drawing/2014/main" id="{0FB8C82C-32DF-46BE-BE93-9EC5632A064E}"/>
              </a:ext>
            </a:extLst>
          </p:cNvPr>
          <p:cNvSpPr>
            <a:spLocks xmlns:a="http://schemas.openxmlformats.org/drawingml/2006/main" noGrp="1"/>
          </p:cNvSpPr>
          <p:nvPr/>
        </p:nvSpPr>
        <p:spPr>
          <a:xfrm xmlns:a="http://schemas.openxmlformats.org/drawingml/2006/main">
            <a:off x="609600" y="81724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275" b="0">
                <a:solidFill>
                  <a:srgbClr val="547080"/>
                </a:solidFill>
                <a:latin typeface="Arial"/>
                <a:ea typeface="Arial"/>
                <a:cs typeface="Arial"/>
              </a:defRPr>
            </a:pPr>
            <a:r>
              <a:rPr sz="1275" b="0">
                <a:solidFill>
                  <a:srgbClr val="547080"/>
                </a:solidFill>
                <a:latin typeface="Arial"/>
                <a:ea typeface="Arial"/>
                <a:cs typeface="Arial"/>
              </a:rPr>
              <a:t>WIDispatch   /   Client demonstration</a:t>
            </a:r>
          </a:p>
        </p:txBody>
      </p:sp>
      <p:sp>
        <p:nvSpPr>
          <p:cNvPr id="11" name="46">
            <a:extLst xmlns:a="http://schemas.openxmlformats.org/drawingml/2006/main">
              <a:ext uri="{FF2B5EF4-FFF2-40B4-BE49-F238E27FC236}">
                <a16:creationId xmlns:a16="http://schemas.microsoft.com/office/drawing/2014/main" id="{90E1050B-0081-46E2-A285-8EE71D49BD27}"/>
              </a:ext>
            </a:extLst>
          </p:cNvPr>
          <p:cNvSpPr>
            <a:spLocks xmlns:a="http://schemas.openxmlformats.org/drawingml/2006/main" noGrp="1"/>
          </p:cNvSpPr>
          <p:nvPr/>
        </p:nvSpPr>
        <p:spPr>
          <a:xfrm xmlns:a="http://schemas.openxmlformats.org/drawingml/2006/main">
            <a:off x="13906500" y="8115300"/>
            <a:ext cx="723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547080"/>
                </a:solidFill>
                <a:latin typeface="Arial"/>
                <a:ea typeface="Arial"/>
                <a:cs typeface="Arial"/>
              </a:defRPr>
            </a:pPr>
            <a:r>
              <a:rPr sz="1650" b="0">
                <a:solidFill>
                  <a:srgbClr val="547080"/>
                </a:solidFill>
                <a:latin typeface="Arial"/>
                <a:ea typeface="Arial"/>
                <a:cs typeface="Arial"/>
              </a:rPr>
              <a:t>52</a:t>
            </a:r>
          </a:p>
        </p:txBody>
      </p:sp>
    </p:spTree>
    <p:extLst>
      <p:ext uri="{BB962C8B-B14F-4D97-AF65-F5344CB8AC3E}">
        <p14:creationId xmlns:p14="http://schemas.microsoft.com/office/powerpoint/2010/main" val="1226360818"/>
      </p:ext>
    </p:extLst>
  </p:cSld>
</p:sld>
</file>

<file path=ppt/slides/slide5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Connections, direction and capacity">
            <a:extLst xmlns:a="http://schemas.openxmlformats.org/drawingml/2006/main">
              <a:ext uri="{FF2B5EF4-FFF2-40B4-BE49-F238E27FC236}">
                <a16:creationId xmlns:a16="http://schemas.microsoft.com/office/drawing/2014/main" id="{46DB29BE-8215-4E53-B552-72E581E77FBD}"/>
              </a:ext>
            </a:extLst>
          </p:cNvPr>
          <p:cNvSpPr>
            <a:spLocks xmlns:a="http://schemas.openxmlformats.org/drawingml/2006/main" noGrp="1"/>
          </p:cNvSpPr>
          <p:nvPr/>
        </p:nvSpPr>
        <p:spPr>
          <a:xfrm xmlns:a="http://schemas.openxmlformats.org/drawingml/2006/main">
            <a:off x="571500" y="428625"/>
            <a:ext cx="140970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300" b="1">
                <a:solidFill>
                  <a:srgbClr val="12374B"/>
                </a:solidFill>
                <a:latin typeface="Arial"/>
                <a:ea typeface="Arial"/>
                <a:cs typeface="Arial"/>
              </a:defRPr>
            </a:pPr>
            <a:r>
              <a:rPr sz="3300" b="1">
                <a:solidFill>
                  <a:srgbClr val="12374B"/>
                </a:solidFill>
                <a:latin typeface="Arial"/>
                <a:ea typeface="Arial"/>
                <a:cs typeface="Arial"/>
              </a:rPr>
              <a:t>Connections, direction and capacity</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9af79eaadbdc49ca"/>
          <a:stretch xmlns:a="http://schemas.openxmlformats.org/drawingml/2006/main"/>
        </p:blipFill>
        <p:spPr>
          <a:xfrm xmlns:a="http://schemas.openxmlformats.org/drawingml/2006/main">
            <a:off x="1585767" y="1524000"/>
            <a:ext cx="12068467" cy="5772150"/>
          </a:xfrm>
          <a:prstGeom xmlns:a="http://schemas.openxmlformats.org/drawingml/2006/main" prst="rect">
            <a:avLst/>
          </a:prstGeom>
        </p:spPr>
      </p:pic>
      <p:sp>
        <p:nvSpPr>
          <p:cNvPr id="3" name="Connect plants to storage, storage to the pump station,">
            <a:extLst xmlns:a="http://schemas.openxmlformats.org/drawingml/2006/main">
              <a:ext uri="{FF2B5EF4-FFF2-40B4-BE49-F238E27FC236}">
                <a16:creationId xmlns:a16="http://schemas.microsoft.com/office/drawing/2014/main" id="{F3977D1D-A20D-473A-AEC1-CA2AB45706B2}"/>
              </a:ext>
            </a:extLst>
          </p:cNvPr>
          <p:cNvSpPr>
            <a:spLocks xmlns:a="http://schemas.openxmlformats.org/drawingml/2006/main" noGrp="1"/>
          </p:cNvSpPr>
          <p:nvPr/>
        </p:nvSpPr>
        <p:spPr>
          <a:xfrm xmlns:a="http://schemas.openxmlformats.org/drawingml/2006/main">
            <a:off x="609600" y="7448550"/>
            <a:ext cx="1390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Connect plants to storage, storage to the pump station, and the pump station to the city gate.</a:t>
            </a:r>
          </a:p>
        </p:txBody>
      </p:sp>
      <p:sp>
        <p:nvSpPr>
          <p:cNvPr id="4" name="WIDispatch   /   Client demonstration">
            <a:extLst xmlns:a="http://schemas.openxmlformats.org/drawingml/2006/main">
              <a:ext uri="{FF2B5EF4-FFF2-40B4-BE49-F238E27FC236}">
                <a16:creationId xmlns:a16="http://schemas.microsoft.com/office/drawing/2014/main" id="{C53C33B3-74A0-4561-B0D4-EF372F886139}"/>
              </a:ext>
            </a:extLst>
          </p:cNvPr>
          <p:cNvSpPr>
            <a:spLocks xmlns:a="http://schemas.openxmlformats.org/drawingml/2006/main" noGrp="1"/>
          </p:cNvSpPr>
          <p:nvPr/>
        </p:nvSpPr>
        <p:spPr>
          <a:xfrm xmlns:a="http://schemas.openxmlformats.org/drawingml/2006/main">
            <a:off x="609600" y="81724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275" b="0">
                <a:solidFill>
                  <a:srgbClr val="547080"/>
                </a:solidFill>
                <a:latin typeface="Arial"/>
                <a:ea typeface="Arial"/>
                <a:cs typeface="Arial"/>
              </a:defRPr>
            </a:pPr>
            <a:r>
              <a:rPr sz="1275" b="0">
                <a:solidFill>
                  <a:srgbClr val="547080"/>
                </a:solidFill>
                <a:latin typeface="Arial"/>
                <a:ea typeface="Arial"/>
                <a:cs typeface="Arial"/>
              </a:rPr>
              <a:t>WIDispatch   /   Client demonstration</a:t>
            </a:r>
          </a:p>
        </p:txBody>
      </p:sp>
      <p:sp>
        <p:nvSpPr>
          <p:cNvPr id="5" name="47">
            <a:extLst xmlns:a="http://schemas.openxmlformats.org/drawingml/2006/main">
              <a:ext uri="{FF2B5EF4-FFF2-40B4-BE49-F238E27FC236}">
                <a16:creationId xmlns:a16="http://schemas.microsoft.com/office/drawing/2014/main" id="{B8B0AA6F-2696-4479-925F-B652F74A7A7E}"/>
              </a:ext>
            </a:extLst>
          </p:cNvPr>
          <p:cNvSpPr>
            <a:spLocks xmlns:a="http://schemas.openxmlformats.org/drawingml/2006/main" noGrp="1"/>
          </p:cNvSpPr>
          <p:nvPr/>
        </p:nvSpPr>
        <p:spPr>
          <a:xfrm xmlns:a="http://schemas.openxmlformats.org/drawingml/2006/main">
            <a:off x="13906500" y="8115300"/>
            <a:ext cx="723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547080"/>
                </a:solidFill>
                <a:latin typeface="Arial"/>
                <a:ea typeface="Arial"/>
                <a:cs typeface="Arial"/>
              </a:defRPr>
            </a:pPr>
            <a:r>
              <a:rPr sz="1650" b="0">
                <a:solidFill>
                  <a:srgbClr val="547080"/>
                </a:solidFill>
                <a:latin typeface="Arial"/>
                <a:ea typeface="Arial"/>
                <a:cs typeface="Arial"/>
              </a:rPr>
              <a:t>53</a:t>
            </a:r>
          </a:p>
        </p:txBody>
      </p:sp>
    </p:spTree>
    <p:extLst>
      <p:ext uri="{BB962C8B-B14F-4D97-AF65-F5344CB8AC3E}">
        <p14:creationId xmlns:p14="http://schemas.microsoft.com/office/powerpoint/2010/main" val="1022254969"/>
      </p:ext>
    </p:extLst>
  </p:cSld>
</p:sld>
</file>

<file path=ppt/slides/slide5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Network validation and saving">
            <a:extLst xmlns:a="http://schemas.openxmlformats.org/drawingml/2006/main">
              <a:ext uri="{FF2B5EF4-FFF2-40B4-BE49-F238E27FC236}">
                <a16:creationId xmlns:a16="http://schemas.microsoft.com/office/drawing/2014/main" id="{943078A5-1D37-4FB5-B0DE-E680E889D650}"/>
              </a:ext>
            </a:extLst>
          </p:cNvPr>
          <p:cNvSpPr>
            <a:spLocks xmlns:a="http://schemas.openxmlformats.org/drawingml/2006/main" noGrp="1"/>
          </p:cNvSpPr>
          <p:nvPr/>
        </p:nvSpPr>
        <p:spPr>
          <a:xfrm xmlns:a="http://schemas.openxmlformats.org/drawingml/2006/main">
            <a:off x="571500" y="428625"/>
            <a:ext cx="140970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300" b="1">
                <a:solidFill>
                  <a:srgbClr val="12374B"/>
                </a:solidFill>
                <a:latin typeface="Arial"/>
                <a:ea typeface="Arial"/>
                <a:cs typeface="Arial"/>
              </a:defRPr>
            </a:pPr>
            <a:r>
              <a:rPr sz="3300" b="1">
                <a:solidFill>
                  <a:srgbClr val="12374B"/>
                </a:solidFill>
                <a:latin typeface="Arial"/>
                <a:ea typeface="Arial"/>
                <a:cs typeface="Arial"/>
              </a:rPr>
              <a:t>Network validation and saving</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4954573213e44ae7"/>
          <a:stretch xmlns:a="http://schemas.openxmlformats.org/drawingml/2006/main"/>
        </p:blipFill>
        <p:spPr>
          <a:xfrm xmlns:a="http://schemas.openxmlformats.org/drawingml/2006/main">
            <a:off x="476250" y="1830335"/>
            <a:ext cx="10668000" cy="5102330"/>
          </a:xfrm>
          <a:prstGeom xmlns:a="http://schemas.openxmlformats.org/drawingml/2006/main" prst="rect">
            <a:avLst/>
          </a:prstGeom>
        </p:spPr>
      </p:pic>
      <p:sp>
        <p:nvSpPr>
          <p:cNvPr id="3" name="01">
            <a:extLst xmlns:a="http://schemas.openxmlformats.org/drawingml/2006/main">
              <a:ext uri="{FF2B5EF4-FFF2-40B4-BE49-F238E27FC236}">
                <a16:creationId xmlns:a16="http://schemas.microsoft.com/office/drawing/2014/main" id="{1BEEE9CD-D9EA-4708-AC8B-9E489658BA19}"/>
              </a:ext>
            </a:extLst>
          </p:cNvPr>
          <p:cNvSpPr>
            <a:spLocks xmlns:a="http://schemas.openxmlformats.org/drawingml/2006/main" noGrp="1"/>
          </p:cNvSpPr>
          <p:nvPr/>
        </p:nvSpPr>
        <p:spPr>
          <a:xfrm xmlns:a="http://schemas.openxmlformats.org/drawingml/2006/main">
            <a:off x="11525250" y="1771650"/>
            <a:ext cx="95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01</a:t>
            </a:r>
          </a:p>
        </p:txBody>
      </p:sp>
      <p:sp>
        <p:nvSpPr>
          <p:cNvPr id="4" name="Run Validate and inspect the issue list.">
            <a:extLst xmlns:a="http://schemas.openxmlformats.org/drawingml/2006/main">
              <a:ext uri="{FF2B5EF4-FFF2-40B4-BE49-F238E27FC236}">
                <a16:creationId xmlns:a16="http://schemas.microsoft.com/office/drawing/2014/main" id="{294A77BD-AD3B-4C33-BD5C-D673CF6ED51B}"/>
              </a:ext>
            </a:extLst>
          </p:cNvPr>
          <p:cNvSpPr>
            <a:spLocks xmlns:a="http://schemas.openxmlformats.org/drawingml/2006/main" noGrp="1"/>
          </p:cNvSpPr>
          <p:nvPr/>
        </p:nvSpPr>
        <p:spPr>
          <a:xfrm xmlns:a="http://schemas.openxmlformats.org/drawingml/2006/main">
            <a:off x="11525250" y="2238375"/>
            <a:ext cx="30765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025" b="0">
                <a:solidFill>
                  <a:srgbClr val="18384B"/>
                </a:solidFill>
                <a:latin typeface="Arial"/>
                <a:ea typeface="Arial"/>
                <a:cs typeface="Arial"/>
              </a:defRPr>
            </a:pPr>
            <a:r>
              <a:rPr sz="2025" b="0">
                <a:solidFill>
                  <a:srgbClr val="18384B"/>
                </a:solidFill>
                <a:latin typeface="Arial"/>
                <a:ea typeface="Arial"/>
                <a:cs typeface="Arial"/>
              </a:rPr>
              <a:t>Run Validate and inspect the issue list.</a:t>
            </a:r>
          </a:p>
        </p:txBody>
      </p:sp>
      <p:sp>
        <p:nvSpPr>
          <p:cNvPr id="5" name="02">
            <a:extLst xmlns:a="http://schemas.openxmlformats.org/drawingml/2006/main">
              <a:ext uri="{FF2B5EF4-FFF2-40B4-BE49-F238E27FC236}">
                <a16:creationId xmlns:a16="http://schemas.microsoft.com/office/drawing/2014/main" id="{D3D5B404-74D1-4709-8791-6130346267A0}"/>
              </a:ext>
            </a:extLst>
          </p:cNvPr>
          <p:cNvSpPr>
            <a:spLocks xmlns:a="http://schemas.openxmlformats.org/drawingml/2006/main" noGrp="1"/>
          </p:cNvSpPr>
          <p:nvPr/>
        </p:nvSpPr>
        <p:spPr>
          <a:xfrm xmlns:a="http://schemas.openxmlformats.org/drawingml/2006/main">
            <a:off x="11525250" y="3429000"/>
            <a:ext cx="95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02</a:t>
            </a:r>
          </a:p>
        </p:txBody>
      </p:sp>
      <p:sp>
        <p:nvSpPr>
          <p:cNvPr id="6" name="Resolve missing capacity or disconnected assets.">
            <a:extLst xmlns:a="http://schemas.openxmlformats.org/drawingml/2006/main">
              <a:ext uri="{FF2B5EF4-FFF2-40B4-BE49-F238E27FC236}">
                <a16:creationId xmlns:a16="http://schemas.microsoft.com/office/drawing/2014/main" id="{30A07C4D-C4A0-4DA2-B0C6-57D107DA32AA}"/>
              </a:ext>
            </a:extLst>
          </p:cNvPr>
          <p:cNvSpPr>
            <a:spLocks xmlns:a="http://schemas.openxmlformats.org/drawingml/2006/main" noGrp="1"/>
          </p:cNvSpPr>
          <p:nvPr/>
        </p:nvSpPr>
        <p:spPr>
          <a:xfrm xmlns:a="http://schemas.openxmlformats.org/drawingml/2006/main">
            <a:off x="11525250" y="3895725"/>
            <a:ext cx="30765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025" b="0">
                <a:solidFill>
                  <a:srgbClr val="18384B"/>
                </a:solidFill>
                <a:latin typeface="Arial"/>
                <a:ea typeface="Arial"/>
                <a:cs typeface="Arial"/>
              </a:defRPr>
            </a:pPr>
            <a:r>
              <a:rPr sz="2025" b="0">
                <a:solidFill>
                  <a:srgbClr val="18384B"/>
                </a:solidFill>
                <a:latin typeface="Arial"/>
                <a:ea typeface="Arial"/>
                <a:cs typeface="Arial"/>
              </a:rPr>
              <a:t>Resolve missing capacity or disconnected assets.</a:t>
            </a:r>
          </a:p>
        </p:txBody>
      </p:sp>
      <p:sp>
        <p:nvSpPr>
          <p:cNvPr id="7" name="03">
            <a:extLst xmlns:a="http://schemas.openxmlformats.org/drawingml/2006/main">
              <a:ext uri="{FF2B5EF4-FFF2-40B4-BE49-F238E27FC236}">
                <a16:creationId xmlns:a16="http://schemas.microsoft.com/office/drawing/2014/main" id="{02769264-DCF8-43F0-A8A2-63671AEACACD}"/>
              </a:ext>
            </a:extLst>
          </p:cNvPr>
          <p:cNvSpPr>
            <a:spLocks xmlns:a="http://schemas.openxmlformats.org/drawingml/2006/main" noGrp="1"/>
          </p:cNvSpPr>
          <p:nvPr/>
        </p:nvSpPr>
        <p:spPr>
          <a:xfrm xmlns:a="http://schemas.openxmlformats.org/drawingml/2006/main">
            <a:off x="11525250" y="5086350"/>
            <a:ext cx="95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03</a:t>
            </a:r>
          </a:p>
        </p:txBody>
      </p:sp>
      <p:sp>
        <p:nvSpPr>
          <p:cNvPr id="8" name="Save the network with a clear scenario name.">
            <a:extLst xmlns:a="http://schemas.openxmlformats.org/drawingml/2006/main">
              <a:ext uri="{FF2B5EF4-FFF2-40B4-BE49-F238E27FC236}">
                <a16:creationId xmlns:a16="http://schemas.microsoft.com/office/drawing/2014/main" id="{467D162B-135D-42E8-BC3B-F63F81E0B5AF}"/>
              </a:ext>
            </a:extLst>
          </p:cNvPr>
          <p:cNvSpPr>
            <a:spLocks xmlns:a="http://schemas.openxmlformats.org/drawingml/2006/main" noGrp="1"/>
          </p:cNvSpPr>
          <p:nvPr/>
        </p:nvSpPr>
        <p:spPr>
          <a:xfrm xmlns:a="http://schemas.openxmlformats.org/drawingml/2006/main">
            <a:off x="11525250" y="5553075"/>
            <a:ext cx="30765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025" b="0">
                <a:solidFill>
                  <a:srgbClr val="18384B"/>
                </a:solidFill>
                <a:latin typeface="Arial"/>
                <a:ea typeface="Arial"/>
                <a:cs typeface="Arial"/>
              </a:defRPr>
            </a:pPr>
            <a:r>
              <a:rPr sz="2025" b="0">
                <a:solidFill>
                  <a:srgbClr val="18384B"/>
                </a:solidFill>
                <a:latin typeface="Arial"/>
                <a:ea typeface="Arial"/>
                <a:cs typeface="Arial"/>
              </a:rPr>
              <a:t>Save the network with a clear scenario name.</a:t>
            </a:r>
          </a:p>
        </p:txBody>
      </p:sp>
      <p:sp>
        <p:nvSpPr>
          <p:cNvPr id="9" name="A clean topology check is one checkpoint before simulat">
            <a:extLst xmlns:a="http://schemas.openxmlformats.org/drawingml/2006/main">
              <a:ext uri="{FF2B5EF4-FFF2-40B4-BE49-F238E27FC236}">
                <a16:creationId xmlns:a16="http://schemas.microsoft.com/office/drawing/2014/main" id="{0D880445-8F42-4DFA-9964-6D8F6442D811}"/>
              </a:ext>
            </a:extLst>
          </p:cNvPr>
          <p:cNvSpPr>
            <a:spLocks xmlns:a="http://schemas.openxmlformats.org/drawingml/2006/main" noGrp="1"/>
          </p:cNvSpPr>
          <p:nvPr/>
        </p:nvSpPr>
        <p:spPr>
          <a:xfrm xmlns:a="http://schemas.openxmlformats.org/drawingml/2006/main">
            <a:off x="609600" y="7448550"/>
            <a:ext cx="1390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A clean topology check is one checkpoint before simulation.</a:t>
            </a:r>
          </a:p>
        </p:txBody>
      </p:sp>
      <p:sp>
        <p:nvSpPr>
          <p:cNvPr id="10" name="WIDispatch   /   Client demonstration">
            <a:extLst xmlns:a="http://schemas.openxmlformats.org/drawingml/2006/main">
              <a:ext uri="{FF2B5EF4-FFF2-40B4-BE49-F238E27FC236}">
                <a16:creationId xmlns:a16="http://schemas.microsoft.com/office/drawing/2014/main" id="{121FB7AC-F72D-439A-A325-B3589A7CB167}"/>
              </a:ext>
            </a:extLst>
          </p:cNvPr>
          <p:cNvSpPr>
            <a:spLocks xmlns:a="http://schemas.openxmlformats.org/drawingml/2006/main" noGrp="1"/>
          </p:cNvSpPr>
          <p:nvPr/>
        </p:nvSpPr>
        <p:spPr>
          <a:xfrm xmlns:a="http://schemas.openxmlformats.org/drawingml/2006/main">
            <a:off x="609600" y="81724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275" b="0">
                <a:solidFill>
                  <a:srgbClr val="547080"/>
                </a:solidFill>
                <a:latin typeface="Arial"/>
                <a:ea typeface="Arial"/>
                <a:cs typeface="Arial"/>
              </a:defRPr>
            </a:pPr>
            <a:r>
              <a:rPr sz="1275" b="0">
                <a:solidFill>
                  <a:srgbClr val="547080"/>
                </a:solidFill>
                <a:latin typeface="Arial"/>
                <a:ea typeface="Arial"/>
                <a:cs typeface="Arial"/>
              </a:rPr>
              <a:t>WIDispatch   /   Client demonstration</a:t>
            </a:r>
          </a:p>
        </p:txBody>
      </p:sp>
      <p:sp>
        <p:nvSpPr>
          <p:cNvPr id="11" name="48">
            <a:extLst xmlns:a="http://schemas.openxmlformats.org/drawingml/2006/main">
              <a:ext uri="{FF2B5EF4-FFF2-40B4-BE49-F238E27FC236}">
                <a16:creationId xmlns:a16="http://schemas.microsoft.com/office/drawing/2014/main" id="{3327A5F6-BB84-4F07-AC78-21A1EE6243E1}"/>
              </a:ext>
            </a:extLst>
          </p:cNvPr>
          <p:cNvSpPr>
            <a:spLocks xmlns:a="http://schemas.openxmlformats.org/drawingml/2006/main" noGrp="1"/>
          </p:cNvSpPr>
          <p:nvPr/>
        </p:nvSpPr>
        <p:spPr>
          <a:xfrm xmlns:a="http://schemas.openxmlformats.org/drawingml/2006/main">
            <a:off x="13906500" y="8115300"/>
            <a:ext cx="723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547080"/>
                </a:solidFill>
                <a:latin typeface="Arial"/>
                <a:ea typeface="Arial"/>
                <a:cs typeface="Arial"/>
              </a:defRPr>
            </a:pPr>
            <a:r>
              <a:rPr sz="1650" b="0">
                <a:solidFill>
                  <a:srgbClr val="547080"/>
                </a:solidFill>
                <a:latin typeface="Arial"/>
                <a:ea typeface="Arial"/>
                <a:cs typeface="Arial"/>
              </a:rPr>
              <a:t>54</a:t>
            </a:r>
          </a:p>
        </p:txBody>
      </p:sp>
    </p:spTree>
    <p:extLst>
      <p:ext uri="{BB962C8B-B14F-4D97-AF65-F5344CB8AC3E}">
        <p14:creationId xmlns:p14="http://schemas.microsoft.com/office/powerpoint/2010/main" val="320634829"/>
      </p:ext>
    </p:extLst>
  </p:cSld>
</p:sld>
</file>

<file path=ppt/slides/slide5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The worked outage scenario">
            <a:extLst xmlns:a="http://schemas.openxmlformats.org/drawingml/2006/main">
              <a:ext uri="{FF2B5EF4-FFF2-40B4-BE49-F238E27FC236}">
                <a16:creationId xmlns:a16="http://schemas.microsoft.com/office/drawing/2014/main" id="{585FA981-6026-45F8-9376-5807A9AFDA15}"/>
              </a:ext>
            </a:extLst>
          </p:cNvPr>
          <p:cNvSpPr>
            <a:spLocks xmlns:a="http://schemas.openxmlformats.org/drawingml/2006/main" noGrp="1"/>
          </p:cNvSpPr>
          <p:nvPr/>
        </p:nvSpPr>
        <p:spPr>
          <a:xfrm xmlns:a="http://schemas.openxmlformats.org/drawingml/2006/main">
            <a:off x="571500" y="428625"/>
            <a:ext cx="140970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300" b="1">
                <a:solidFill>
                  <a:srgbClr val="12374B"/>
                </a:solidFill>
                <a:latin typeface="Arial"/>
                <a:ea typeface="Arial"/>
                <a:cs typeface="Arial"/>
              </a:defRPr>
            </a:pPr>
            <a:r>
              <a:rPr sz="3300" b="1">
                <a:solidFill>
                  <a:srgbClr val="12374B"/>
                </a:solidFill>
                <a:latin typeface="Arial"/>
                <a:ea typeface="Arial"/>
                <a:cs typeface="Arial"/>
              </a:rPr>
              <a:t>The worked outage scenario</a:t>
            </a:r>
          </a:p>
        </p:txBody>
      </p:sp>
      <p:sp>
        <p:nvSpPr>
          <p:cNvPr id="2" name="Network">
            <a:extLst xmlns:a="http://schemas.openxmlformats.org/drawingml/2006/main">
              <a:ext uri="{FF2B5EF4-FFF2-40B4-BE49-F238E27FC236}">
                <a16:creationId xmlns:a16="http://schemas.microsoft.com/office/drawing/2014/main" id="{3EEFD161-FF99-40C6-8F0C-77E3C3786268}"/>
              </a:ext>
            </a:extLst>
          </p:cNvPr>
          <p:cNvSpPr>
            <a:spLocks xmlns:a="http://schemas.openxmlformats.org/drawingml/2006/main" noGrp="1"/>
          </p:cNvSpPr>
          <p:nvPr/>
        </p:nvSpPr>
        <p:spPr>
          <a:xfrm xmlns:a="http://schemas.openxmlformats.org/drawingml/2006/main">
            <a:off x="609600" y="1952625"/>
            <a:ext cx="4267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400" b="1">
                <a:solidFill>
                  <a:srgbClr val="007E92"/>
                </a:solidFill>
                <a:latin typeface="Arial"/>
                <a:ea typeface="Arial"/>
                <a:cs typeface="Arial"/>
              </a:defRPr>
            </a:pPr>
            <a:r>
              <a:rPr sz="2400" b="1">
                <a:solidFill>
                  <a:srgbClr val="007E92"/>
                </a:solidFill>
                <a:latin typeface="Arial"/>
                <a:ea typeface="Arial"/>
                <a:cs typeface="Arial"/>
              </a:rPr>
              <a:t>Network</a:t>
            </a:r>
          </a:p>
        </p:txBody>
      </p:sp>
      <p:sp>
        <p:nvSpPr>
          <p:cNvPr id="3" name="Three plants, each 120,000 m³/day. A 120,000 m³ operati">
            <a:extLst xmlns:a="http://schemas.openxmlformats.org/drawingml/2006/main">
              <a:ext uri="{FF2B5EF4-FFF2-40B4-BE49-F238E27FC236}">
                <a16:creationId xmlns:a16="http://schemas.microsoft.com/office/drawing/2014/main" id="{7E69CE3E-7B4F-4B96-AA79-10870AF5F95B}"/>
              </a:ext>
            </a:extLst>
          </p:cNvPr>
          <p:cNvSpPr>
            <a:spLocks xmlns:a="http://schemas.openxmlformats.org/drawingml/2006/main" noGrp="1"/>
          </p:cNvSpPr>
          <p:nvPr/>
        </p:nvSpPr>
        <p:spPr>
          <a:xfrm xmlns:a="http://schemas.openxmlformats.org/drawingml/2006/main">
            <a:off x="609600" y="3067050"/>
            <a:ext cx="4238625" cy="3200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325" b="0">
                <a:solidFill>
                  <a:srgbClr val="18384B"/>
                </a:solidFill>
                <a:latin typeface="Arial"/>
                <a:ea typeface="Arial"/>
                <a:cs typeface="Arial"/>
              </a:defRPr>
            </a:pPr>
            <a:r>
              <a:rPr sz="2325" b="0">
                <a:solidFill>
                  <a:srgbClr val="18384B"/>
                </a:solidFill>
                <a:latin typeface="Arial"/>
                <a:ea typeface="Arial"/>
                <a:cs typeface="Arial"/>
              </a:rPr>
              <a:t>Three plants, each 120,000 m³/day. A 120,000 m³ operational tank. A 300,000 m³/day pump station and city gate.</a:t>
            </a:r>
          </a:p>
        </p:txBody>
      </p:sp>
      <p:sp>
        <p:nvSpPr>
          <p:cNvPr id="4" name="Planning period">
            <a:extLst xmlns:a="http://schemas.openxmlformats.org/drawingml/2006/main">
              <a:ext uri="{FF2B5EF4-FFF2-40B4-BE49-F238E27FC236}">
                <a16:creationId xmlns:a16="http://schemas.microsoft.com/office/drawing/2014/main" id="{043D2C00-578E-4699-869D-1FC9E6B1D4E1}"/>
              </a:ext>
            </a:extLst>
          </p:cNvPr>
          <p:cNvSpPr>
            <a:spLocks xmlns:a="http://schemas.openxmlformats.org/drawingml/2006/main" noGrp="1"/>
          </p:cNvSpPr>
          <p:nvPr/>
        </p:nvSpPr>
        <p:spPr>
          <a:xfrm xmlns:a="http://schemas.openxmlformats.org/drawingml/2006/main">
            <a:off x="5419725" y="1952625"/>
            <a:ext cx="4267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400" b="1">
                <a:solidFill>
                  <a:srgbClr val="007E92"/>
                </a:solidFill>
                <a:latin typeface="Arial"/>
                <a:ea typeface="Arial"/>
                <a:cs typeface="Arial"/>
              </a:defRPr>
            </a:pPr>
            <a:r>
              <a:rPr sz="2400" b="1">
                <a:solidFill>
                  <a:srgbClr val="007E92"/>
                </a:solidFill>
                <a:latin typeface="Arial"/>
                <a:ea typeface="Arial"/>
                <a:cs typeface="Arial"/>
              </a:rPr>
              <a:t>Planning period</a:t>
            </a:r>
          </a:p>
        </p:txBody>
      </p:sp>
      <p:sp>
        <p:nvSpPr>
          <p:cNvPr id="5" name="10–18 August 2026. City-gate demand is 300,000 m³ each ">
            <a:extLst xmlns:a="http://schemas.openxmlformats.org/drawingml/2006/main">
              <a:ext uri="{FF2B5EF4-FFF2-40B4-BE49-F238E27FC236}">
                <a16:creationId xmlns:a16="http://schemas.microsoft.com/office/drawing/2014/main" id="{92A6BDC0-B22A-45DD-8922-2AE2B4D48065}"/>
              </a:ext>
            </a:extLst>
          </p:cNvPr>
          <p:cNvSpPr>
            <a:spLocks xmlns:a="http://schemas.openxmlformats.org/drawingml/2006/main" noGrp="1"/>
          </p:cNvSpPr>
          <p:nvPr/>
        </p:nvSpPr>
        <p:spPr>
          <a:xfrm xmlns:a="http://schemas.openxmlformats.org/drawingml/2006/main">
            <a:off x="5419725" y="3067050"/>
            <a:ext cx="4238625" cy="3200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325" b="0">
                <a:solidFill>
                  <a:srgbClr val="18384B"/>
                </a:solidFill>
                <a:latin typeface="Arial"/>
                <a:ea typeface="Arial"/>
                <a:cs typeface="Arial"/>
              </a:defRPr>
            </a:pPr>
            <a:r>
              <a:rPr sz="2325" b="0">
                <a:solidFill>
                  <a:srgbClr val="18384B"/>
                </a:solidFill>
                <a:latin typeface="Arial"/>
                <a:ea typeface="Arial"/>
                <a:cs typeface="Arial"/>
              </a:rPr>
              <a:t>10–18 August 2026. City-gate demand is 300,000 m³ each day, or 2.70 million m³ over nine days.</a:t>
            </a:r>
          </a:p>
        </p:txBody>
      </p:sp>
      <p:sp>
        <p:nvSpPr>
          <p:cNvPr id="6" name="Operating constraints">
            <a:extLst xmlns:a="http://schemas.openxmlformats.org/drawingml/2006/main">
              <a:ext uri="{FF2B5EF4-FFF2-40B4-BE49-F238E27FC236}">
                <a16:creationId xmlns:a16="http://schemas.microsoft.com/office/drawing/2014/main" id="{152CEB65-34C2-4899-96E3-258B782C53BC}"/>
              </a:ext>
            </a:extLst>
          </p:cNvPr>
          <p:cNvSpPr>
            <a:spLocks xmlns:a="http://schemas.openxmlformats.org/drawingml/2006/main" noGrp="1"/>
          </p:cNvSpPr>
          <p:nvPr/>
        </p:nvSpPr>
        <p:spPr>
          <a:xfrm xmlns:a="http://schemas.openxmlformats.org/drawingml/2006/main">
            <a:off x="10229850" y="1952625"/>
            <a:ext cx="4267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400" b="1">
                <a:solidFill>
                  <a:srgbClr val="007E92"/>
                </a:solidFill>
                <a:latin typeface="Arial"/>
                <a:ea typeface="Arial"/>
                <a:cs typeface="Arial"/>
              </a:defRPr>
            </a:pPr>
            <a:r>
              <a:rPr sz="2400" b="1">
                <a:solidFill>
                  <a:srgbClr val="007E92"/>
                </a:solidFill>
                <a:latin typeface="Arial"/>
                <a:ea typeface="Arial"/>
                <a:cs typeface="Arial"/>
              </a:rPr>
              <a:t>Operating constraints</a:t>
            </a:r>
          </a:p>
        </p:txBody>
      </p:sp>
      <p:sp>
        <p:nvSpPr>
          <p:cNvPr id="7" name="Plant B has a maintenance window. Plants A and C have o">
            <a:extLst xmlns:a="http://schemas.openxmlformats.org/drawingml/2006/main">
              <a:ext uri="{FF2B5EF4-FFF2-40B4-BE49-F238E27FC236}">
                <a16:creationId xmlns:a16="http://schemas.microsoft.com/office/drawing/2014/main" id="{68762A8B-7D5A-4B8F-83FF-E4EC79489217}"/>
              </a:ext>
            </a:extLst>
          </p:cNvPr>
          <p:cNvSpPr>
            <a:spLocks xmlns:a="http://schemas.openxmlformats.org/drawingml/2006/main" noGrp="1"/>
          </p:cNvSpPr>
          <p:nvPr/>
        </p:nvSpPr>
        <p:spPr>
          <a:xfrm xmlns:a="http://schemas.openxmlformats.org/drawingml/2006/main">
            <a:off x="10229850" y="3067050"/>
            <a:ext cx="4238625" cy="3200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325" b="0">
                <a:solidFill>
                  <a:srgbClr val="18384B"/>
                </a:solidFill>
                <a:latin typeface="Arial"/>
                <a:ea typeface="Arial"/>
                <a:cs typeface="Arial"/>
              </a:defRPr>
            </a:pPr>
            <a:r>
              <a:rPr sz="2325" b="0">
                <a:solidFill>
                  <a:srgbClr val="18384B"/>
                </a:solidFill>
                <a:latin typeface="Arial"/>
                <a:ea typeface="Arial"/>
                <a:cs typeface="Arial"/>
              </a:rPr>
              <a:t>Plant B has a maintenance window. Plants A and C have outage days. The tank starts full and carries inventory between days.</a:t>
            </a:r>
          </a:p>
        </p:txBody>
      </p:sp>
      <p:sp>
        <p:nvSpPr>
          <p:cNvPr id="8" name="All figures in this case are demonstration data.">
            <a:extLst xmlns:a="http://schemas.openxmlformats.org/drawingml/2006/main">
              <a:ext uri="{FF2B5EF4-FFF2-40B4-BE49-F238E27FC236}">
                <a16:creationId xmlns:a16="http://schemas.microsoft.com/office/drawing/2014/main" id="{46BA5132-9933-47A5-87EC-8B20C3D44789}"/>
              </a:ext>
            </a:extLst>
          </p:cNvPr>
          <p:cNvSpPr>
            <a:spLocks xmlns:a="http://schemas.openxmlformats.org/drawingml/2006/main" noGrp="1"/>
          </p:cNvSpPr>
          <p:nvPr/>
        </p:nvSpPr>
        <p:spPr>
          <a:xfrm xmlns:a="http://schemas.openxmlformats.org/drawingml/2006/main">
            <a:off x="609600" y="7448550"/>
            <a:ext cx="1390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All figures in this case are demonstration data.</a:t>
            </a:r>
          </a:p>
        </p:txBody>
      </p:sp>
      <p:sp>
        <p:nvSpPr>
          <p:cNvPr id="9" name="WIDispatch   /   Client demonstration">
            <a:extLst xmlns:a="http://schemas.openxmlformats.org/drawingml/2006/main">
              <a:ext uri="{FF2B5EF4-FFF2-40B4-BE49-F238E27FC236}">
                <a16:creationId xmlns:a16="http://schemas.microsoft.com/office/drawing/2014/main" id="{31F8EE6C-A469-4634-AD21-AD5DCE2475EC}"/>
              </a:ext>
            </a:extLst>
          </p:cNvPr>
          <p:cNvSpPr>
            <a:spLocks xmlns:a="http://schemas.openxmlformats.org/drawingml/2006/main" noGrp="1"/>
          </p:cNvSpPr>
          <p:nvPr/>
        </p:nvSpPr>
        <p:spPr>
          <a:xfrm xmlns:a="http://schemas.openxmlformats.org/drawingml/2006/main">
            <a:off x="609600" y="81724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275" b="0">
                <a:solidFill>
                  <a:srgbClr val="547080"/>
                </a:solidFill>
                <a:latin typeface="Arial"/>
                <a:ea typeface="Arial"/>
                <a:cs typeface="Arial"/>
              </a:defRPr>
            </a:pPr>
            <a:r>
              <a:rPr sz="1275" b="0">
                <a:solidFill>
                  <a:srgbClr val="547080"/>
                </a:solidFill>
                <a:latin typeface="Arial"/>
                <a:ea typeface="Arial"/>
                <a:cs typeface="Arial"/>
              </a:rPr>
              <a:t>WIDispatch   /   Client demonstration</a:t>
            </a:r>
          </a:p>
        </p:txBody>
      </p:sp>
      <p:sp>
        <p:nvSpPr>
          <p:cNvPr id="10" name="49">
            <a:extLst xmlns:a="http://schemas.openxmlformats.org/drawingml/2006/main">
              <a:ext uri="{FF2B5EF4-FFF2-40B4-BE49-F238E27FC236}">
                <a16:creationId xmlns:a16="http://schemas.microsoft.com/office/drawing/2014/main" id="{DD878D53-EA49-4E30-BA97-4FB333F876BD}"/>
              </a:ext>
            </a:extLst>
          </p:cNvPr>
          <p:cNvSpPr>
            <a:spLocks xmlns:a="http://schemas.openxmlformats.org/drawingml/2006/main" noGrp="1"/>
          </p:cNvSpPr>
          <p:nvPr/>
        </p:nvSpPr>
        <p:spPr>
          <a:xfrm xmlns:a="http://schemas.openxmlformats.org/drawingml/2006/main">
            <a:off x="13906500" y="8115300"/>
            <a:ext cx="723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547080"/>
                </a:solidFill>
                <a:latin typeface="Arial"/>
                <a:ea typeface="Arial"/>
                <a:cs typeface="Arial"/>
              </a:defRPr>
            </a:pPr>
            <a:r>
              <a:rPr sz="1650" b="0">
                <a:solidFill>
                  <a:srgbClr val="547080"/>
                </a:solidFill>
                <a:latin typeface="Arial"/>
                <a:ea typeface="Arial"/>
                <a:cs typeface="Arial"/>
              </a:rPr>
              <a:t>55</a:t>
            </a:r>
          </a:p>
        </p:txBody>
      </p:sp>
    </p:spTree>
    <p:extLst>
      <p:ext uri="{BB962C8B-B14F-4D97-AF65-F5344CB8AC3E}">
        <p14:creationId xmlns:p14="http://schemas.microsoft.com/office/powerpoint/2010/main" val="404849775"/>
      </p:ext>
    </p:extLst>
  </p:cSld>
</p:sld>
</file>

<file path=ppt/slides/slide5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imulation setup and the planning horizon">
            <a:extLst xmlns:a="http://schemas.openxmlformats.org/drawingml/2006/main">
              <a:ext uri="{FF2B5EF4-FFF2-40B4-BE49-F238E27FC236}">
                <a16:creationId xmlns:a16="http://schemas.microsoft.com/office/drawing/2014/main" id="{341478C0-E802-4978-89CD-979DF22B58C7}"/>
              </a:ext>
            </a:extLst>
          </p:cNvPr>
          <p:cNvSpPr>
            <a:spLocks xmlns:a="http://schemas.openxmlformats.org/drawingml/2006/main" noGrp="1"/>
          </p:cNvSpPr>
          <p:nvPr/>
        </p:nvSpPr>
        <p:spPr>
          <a:xfrm xmlns:a="http://schemas.openxmlformats.org/drawingml/2006/main">
            <a:off x="571500" y="428625"/>
            <a:ext cx="140970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300" b="1">
                <a:solidFill>
                  <a:srgbClr val="12374B"/>
                </a:solidFill>
                <a:latin typeface="Arial"/>
                <a:ea typeface="Arial"/>
                <a:cs typeface="Arial"/>
              </a:defRPr>
            </a:pPr>
            <a:r>
              <a:rPr sz="3300" b="1">
                <a:solidFill>
                  <a:srgbClr val="12374B"/>
                </a:solidFill>
                <a:latin typeface="Arial"/>
                <a:ea typeface="Arial"/>
                <a:cs typeface="Arial"/>
              </a:rPr>
              <a:t>Simulation setup and the planning horizon</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9c7bf694cf5442a8"/>
          <a:stretch xmlns:a="http://schemas.openxmlformats.org/drawingml/2006/main"/>
        </p:blipFill>
        <p:spPr>
          <a:xfrm xmlns:a="http://schemas.openxmlformats.org/drawingml/2006/main">
            <a:off x="476250" y="1830335"/>
            <a:ext cx="10668000" cy="5102330"/>
          </a:xfrm>
          <a:prstGeom xmlns:a="http://schemas.openxmlformats.org/drawingml/2006/main" prst="rect">
            <a:avLst/>
          </a:prstGeom>
        </p:spPr>
      </p:pic>
      <p:sp>
        <p:nvSpPr>
          <p:cNvPr id="3" name="01">
            <a:extLst xmlns:a="http://schemas.openxmlformats.org/drawingml/2006/main">
              <a:ext uri="{FF2B5EF4-FFF2-40B4-BE49-F238E27FC236}">
                <a16:creationId xmlns:a16="http://schemas.microsoft.com/office/drawing/2014/main" id="{610B501B-1A1E-495F-9CF2-6CACF39A9A7B}"/>
              </a:ext>
            </a:extLst>
          </p:cNvPr>
          <p:cNvSpPr>
            <a:spLocks xmlns:a="http://schemas.openxmlformats.org/drawingml/2006/main" noGrp="1"/>
          </p:cNvSpPr>
          <p:nvPr/>
        </p:nvSpPr>
        <p:spPr>
          <a:xfrm xmlns:a="http://schemas.openxmlformats.org/drawingml/2006/main">
            <a:off x="11525250" y="1771650"/>
            <a:ext cx="95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01</a:t>
            </a:r>
          </a:p>
        </p:txBody>
      </p:sp>
      <p:sp>
        <p:nvSpPr>
          <p:cNvPr id="4" name="Select or create the simulation configuration.">
            <a:extLst xmlns:a="http://schemas.openxmlformats.org/drawingml/2006/main">
              <a:ext uri="{FF2B5EF4-FFF2-40B4-BE49-F238E27FC236}">
                <a16:creationId xmlns:a16="http://schemas.microsoft.com/office/drawing/2014/main" id="{7958A99D-4517-4CB4-B6BB-27EF6692DD7B}"/>
              </a:ext>
            </a:extLst>
          </p:cNvPr>
          <p:cNvSpPr>
            <a:spLocks xmlns:a="http://schemas.openxmlformats.org/drawingml/2006/main" noGrp="1"/>
          </p:cNvSpPr>
          <p:nvPr/>
        </p:nvSpPr>
        <p:spPr>
          <a:xfrm xmlns:a="http://schemas.openxmlformats.org/drawingml/2006/main">
            <a:off x="11525250" y="2238375"/>
            <a:ext cx="30765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025" b="0">
                <a:solidFill>
                  <a:srgbClr val="18384B"/>
                </a:solidFill>
                <a:latin typeface="Arial"/>
                <a:ea typeface="Arial"/>
                <a:cs typeface="Arial"/>
              </a:defRPr>
            </a:pPr>
            <a:r>
              <a:rPr sz="2025" b="0">
                <a:solidFill>
                  <a:srgbClr val="18384B"/>
                </a:solidFill>
                <a:latin typeface="Arial"/>
                <a:ea typeface="Arial"/>
                <a:cs typeface="Arial"/>
              </a:rPr>
              <a:t>Select or create the simulation configuration.</a:t>
            </a:r>
          </a:p>
        </p:txBody>
      </p:sp>
      <p:sp>
        <p:nvSpPr>
          <p:cNvPr id="5" name="02">
            <a:extLst xmlns:a="http://schemas.openxmlformats.org/drawingml/2006/main">
              <a:ext uri="{FF2B5EF4-FFF2-40B4-BE49-F238E27FC236}">
                <a16:creationId xmlns:a16="http://schemas.microsoft.com/office/drawing/2014/main" id="{1C487795-B85B-402D-A029-AB0223356897}"/>
              </a:ext>
            </a:extLst>
          </p:cNvPr>
          <p:cNvSpPr>
            <a:spLocks xmlns:a="http://schemas.openxmlformats.org/drawingml/2006/main" noGrp="1"/>
          </p:cNvSpPr>
          <p:nvPr/>
        </p:nvSpPr>
        <p:spPr>
          <a:xfrm xmlns:a="http://schemas.openxmlformats.org/drawingml/2006/main">
            <a:off x="11525250" y="3429000"/>
            <a:ext cx="95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02</a:t>
            </a:r>
          </a:p>
        </p:txBody>
      </p:sp>
      <p:sp>
        <p:nvSpPr>
          <p:cNvPr id="6" name="Choose the saved network and inclusive dates.">
            <a:extLst xmlns:a="http://schemas.openxmlformats.org/drawingml/2006/main">
              <a:ext uri="{FF2B5EF4-FFF2-40B4-BE49-F238E27FC236}">
                <a16:creationId xmlns:a16="http://schemas.microsoft.com/office/drawing/2014/main" id="{D2EA463B-D447-4CF4-B4D2-5700440FEA7D}"/>
              </a:ext>
            </a:extLst>
          </p:cNvPr>
          <p:cNvSpPr>
            <a:spLocks xmlns:a="http://schemas.openxmlformats.org/drawingml/2006/main" noGrp="1"/>
          </p:cNvSpPr>
          <p:nvPr/>
        </p:nvSpPr>
        <p:spPr>
          <a:xfrm xmlns:a="http://schemas.openxmlformats.org/drawingml/2006/main">
            <a:off x="11525250" y="3895725"/>
            <a:ext cx="30765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025" b="0">
                <a:solidFill>
                  <a:srgbClr val="18384B"/>
                </a:solidFill>
                <a:latin typeface="Arial"/>
                <a:ea typeface="Arial"/>
                <a:cs typeface="Arial"/>
              </a:defRPr>
            </a:pPr>
            <a:r>
              <a:rPr sz="2025" b="0">
                <a:solidFill>
                  <a:srgbClr val="18384B"/>
                </a:solidFill>
                <a:latin typeface="Arial"/>
                <a:ea typeface="Arial"/>
                <a:cs typeface="Arial"/>
              </a:rPr>
              <a:t>Choose the saved network and inclusive dates.</a:t>
            </a:r>
          </a:p>
        </p:txBody>
      </p:sp>
      <p:sp>
        <p:nvSpPr>
          <p:cNvPr id="7" name="03">
            <a:extLst xmlns:a="http://schemas.openxmlformats.org/drawingml/2006/main">
              <a:ext uri="{FF2B5EF4-FFF2-40B4-BE49-F238E27FC236}">
                <a16:creationId xmlns:a16="http://schemas.microsoft.com/office/drawing/2014/main" id="{1745BD55-1642-42A1-BF0C-E1B2F4A6D30A}"/>
              </a:ext>
            </a:extLst>
          </p:cNvPr>
          <p:cNvSpPr>
            <a:spLocks xmlns:a="http://schemas.openxmlformats.org/drawingml/2006/main" noGrp="1"/>
          </p:cNvSpPr>
          <p:nvPr/>
        </p:nvSpPr>
        <p:spPr>
          <a:xfrm xmlns:a="http://schemas.openxmlformats.org/drawingml/2006/main">
            <a:off x="11525250" y="5086350"/>
            <a:ext cx="95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03</a:t>
            </a:r>
          </a:p>
        </p:txBody>
      </p:sp>
      <p:sp>
        <p:nvSpPr>
          <p:cNvPr id="8" name="Review storage rules and any visible overrides.">
            <a:extLst xmlns:a="http://schemas.openxmlformats.org/drawingml/2006/main">
              <a:ext uri="{FF2B5EF4-FFF2-40B4-BE49-F238E27FC236}">
                <a16:creationId xmlns:a16="http://schemas.microsoft.com/office/drawing/2014/main" id="{542FC3DF-69A9-4855-8639-56668657AC09}"/>
              </a:ext>
            </a:extLst>
          </p:cNvPr>
          <p:cNvSpPr>
            <a:spLocks xmlns:a="http://schemas.openxmlformats.org/drawingml/2006/main" noGrp="1"/>
          </p:cNvSpPr>
          <p:nvPr/>
        </p:nvSpPr>
        <p:spPr>
          <a:xfrm xmlns:a="http://schemas.openxmlformats.org/drawingml/2006/main">
            <a:off x="11525250" y="5553075"/>
            <a:ext cx="30765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025" b="0">
                <a:solidFill>
                  <a:srgbClr val="18384B"/>
                </a:solidFill>
                <a:latin typeface="Arial"/>
                <a:ea typeface="Arial"/>
                <a:cs typeface="Arial"/>
              </a:defRPr>
            </a:pPr>
            <a:r>
              <a:rPr sz="2025" b="0">
                <a:solidFill>
                  <a:srgbClr val="18384B"/>
                </a:solidFill>
                <a:latin typeface="Arial"/>
                <a:ea typeface="Arial"/>
                <a:cs typeface="Arial"/>
              </a:rPr>
              <a:t>Review storage rules and any visible overrides.</a:t>
            </a:r>
          </a:p>
        </p:txBody>
      </p:sp>
      <p:sp>
        <p:nvSpPr>
          <p:cNvPr id="9" name="Save stores reusable settings. Run simulation creates a">
            <a:extLst xmlns:a="http://schemas.openxmlformats.org/drawingml/2006/main">
              <a:ext uri="{FF2B5EF4-FFF2-40B4-BE49-F238E27FC236}">
                <a16:creationId xmlns:a16="http://schemas.microsoft.com/office/drawing/2014/main" id="{F52CDF5A-D847-46C1-9444-2BBAD8AA72AC}"/>
              </a:ext>
            </a:extLst>
          </p:cNvPr>
          <p:cNvSpPr>
            <a:spLocks xmlns:a="http://schemas.openxmlformats.org/drawingml/2006/main" noGrp="1"/>
          </p:cNvSpPr>
          <p:nvPr/>
        </p:nvSpPr>
        <p:spPr>
          <a:xfrm xmlns:a="http://schemas.openxmlformats.org/drawingml/2006/main">
            <a:off x="609600" y="7448550"/>
            <a:ext cx="1390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Save stores reusable settings. Run simulation creates a draft plan.</a:t>
            </a:r>
          </a:p>
        </p:txBody>
      </p:sp>
      <p:sp>
        <p:nvSpPr>
          <p:cNvPr id="10" name="WIDispatch   /   Client demonstration">
            <a:extLst xmlns:a="http://schemas.openxmlformats.org/drawingml/2006/main">
              <a:ext uri="{FF2B5EF4-FFF2-40B4-BE49-F238E27FC236}">
                <a16:creationId xmlns:a16="http://schemas.microsoft.com/office/drawing/2014/main" id="{8552AF8D-83D0-4251-83D5-1416D1E399F5}"/>
              </a:ext>
            </a:extLst>
          </p:cNvPr>
          <p:cNvSpPr>
            <a:spLocks xmlns:a="http://schemas.openxmlformats.org/drawingml/2006/main" noGrp="1"/>
          </p:cNvSpPr>
          <p:nvPr/>
        </p:nvSpPr>
        <p:spPr>
          <a:xfrm xmlns:a="http://schemas.openxmlformats.org/drawingml/2006/main">
            <a:off x="609600" y="81724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275" b="0">
                <a:solidFill>
                  <a:srgbClr val="547080"/>
                </a:solidFill>
                <a:latin typeface="Arial"/>
                <a:ea typeface="Arial"/>
                <a:cs typeface="Arial"/>
              </a:defRPr>
            </a:pPr>
            <a:r>
              <a:rPr sz="1275" b="0">
                <a:solidFill>
                  <a:srgbClr val="547080"/>
                </a:solidFill>
                <a:latin typeface="Arial"/>
                <a:ea typeface="Arial"/>
                <a:cs typeface="Arial"/>
              </a:rPr>
              <a:t>WIDispatch   /   Client demonstration</a:t>
            </a:r>
          </a:p>
        </p:txBody>
      </p:sp>
      <p:sp>
        <p:nvSpPr>
          <p:cNvPr id="11" name="50">
            <a:extLst xmlns:a="http://schemas.openxmlformats.org/drawingml/2006/main">
              <a:ext uri="{FF2B5EF4-FFF2-40B4-BE49-F238E27FC236}">
                <a16:creationId xmlns:a16="http://schemas.microsoft.com/office/drawing/2014/main" id="{FE8F50DB-A14A-48ED-9D9D-46B0E122D861}"/>
              </a:ext>
            </a:extLst>
          </p:cNvPr>
          <p:cNvSpPr>
            <a:spLocks xmlns:a="http://schemas.openxmlformats.org/drawingml/2006/main" noGrp="1"/>
          </p:cNvSpPr>
          <p:nvPr/>
        </p:nvSpPr>
        <p:spPr>
          <a:xfrm xmlns:a="http://schemas.openxmlformats.org/drawingml/2006/main">
            <a:off x="13906500" y="8115300"/>
            <a:ext cx="723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547080"/>
                </a:solidFill>
                <a:latin typeface="Arial"/>
                <a:ea typeface="Arial"/>
                <a:cs typeface="Arial"/>
              </a:defRPr>
            </a:pPr>
            <a:r>
              <a:rPr sz="1650" b="0">
                <a:solidFill>
                  <a:srgbClr val="547080"/>
                </a:solidFill>
                <a:latin typeface="Arial"/>
                <a:ea typeface="Arial"/>
                <a:cs typeface="Arial"/>
              </a:rPr>
              <a:t>56</a:t>
            </a:r>
          </a:p>
        </p:txBody>
      </p:sp>
    </p:spTree>
    <p:extLst>
      <p:ext uri="{BB962C8B-B14F-4D97-AF65-F5344CB8AC3E}">
        <p14:creationId xmlns:p14="http://schemas.microsoft.com/office/powerpoint/2010/main" val="1247481474"/>
      </p:ext>
    </p:extLst>
  </p:cSld>
</p:sld>
</file>

<file path=ppt/slides/slide5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Configuration tables and asset inclusion">
            <a:extLst xmlns:a="http://schemas.openxmlformats.org/drawingml/2006/main">
              <a:ext uri="{FF2B5EF4-FFF2-40B4-BE49-F238E27FC236}">
                <a16:creationId xmlns:a16="http://schemas.microsoft.com/office/drawing/2014/main" id="{EAE915CB-518A-46A7-A48C-BEFEED4C4A99}"/>
              </a:ext>
            </a:extLst>
          </p:cNvPr>
          <p:cNvSpPr>
            <a:spLocks xmlns:a="http://schemas.openxmlformats.org/drawingml/2006/main" noGrp="1"/>
          </p:cNvSpPr>
          <p:nvPr/>
        </p:nvSpPr>
        <p:spPr>
          <a:xfrm xmlns:a="http://schemas.openxmlformats.org/drawingml/2006/main">
            <a:off x="571500" y="428625"/>
            <a:ext cx="140970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300" b="1">
                <a:solidFill>
                  <a:srgbClr val="12374B"/>
                </a:solidFill>
                <a:latin typeface="Arial"/>
                <a:ea typeface="Arial"/>
                <a:cs typeface="Arial"/>
              </a:defRPr>
            </a:pPr>
            <a:r>
              <a:rPr sz="3300" b="1">
                <a:solidFill>
                  <a:srgbClr val="12374B"/>
                </a:solidFill>
                <a:latin typeface="Arial"/>
                <a:ea typeface="Arial"/>
                <a:cs typeface="Arial"/>
              </a:rPr>
              <a:t>Configuration tables and asset inclusion</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1ac98fa65f394919"/>
          <a:stretch xmlns:a="http://schemas.openxmlformats.org/drawingml/2006/main"/>
        </p:blipFill>
        <p:spPr>
          <a:xfrm xmlns:a="http://schemas.openxmlformats.org/drawingml/2006/main">
            <a:off x="1247973" y="1524000"/>
            <a:ext cx="12744054" cy="5772150"/>
          </a:xfrm>
          <a:prstGeom xmlns:a="http://schemas.openxmlformats.org/drawingml/2006/main" prst="rect">
            <a:avLst/>
          </a:prstGeom>
        </p:spPr>
      </p:pic>
      <p:sp>
        <p:nvSpPr>
          <p:cNvPr id="3" name="Each On checkbox controls whether that asset participat">
            <a:extLst xmlns:a="http://schemas.openxmlformats.org/drawingml/2006/main">
              <a:ext uri="{FF2B5EF4-FFF2-40B4-BE49-F238E27FC236}">
                <a16:creationId xmlns:a16="http://schemas.microsoft.com/office/drawing/2014/main" id="{17DECF61-3F3E-4D8A-B461-DFBFA8769709}"/>
              </a:ext>
            </a:extLst>
          </p:cNvPr>
          <p:cNvSpPr>
            <a:spLocks xmlns:a="http://schemas.openxmlformats.org/drawingml/2006/main" noGrp="1"/>
          </p:cNvSpPr>
          <p:nvPr/>
        </p:nvSpPr>
        <p:spPr>
          <a:xfrm xmlns:a="http://schemas.openxmlformats.org/drawingml/2006/main">
            <a:off x="609600" y="7448550"/>
            <a:ext cx="1390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Each On checkbox controls whether that asset participates in the scenario.</a:t>
            </a:r>
          </a:p>
        </p:txBody>
      </p:sp>
      <p:sp>
        <p:nvSpPr>
          <p:cNvPr id="4" name="WIDispatch   /   Client demonstration">
            <a:extLst xmlns:a="http://schemas.openxmlformats.org/drawingml/2006/main">
              <a:ext uri="{FF2B5EF4-FFF2-40B4-BE49-F238E27FC236}">
                <a16:creationId xmlns:a16="http://schemas.microsoft.com/office/drawing/2014/main" id="{3460B95A-3CC3-47B8-B8C8-19B9245A33B5}"/>
              </a:ext>
            </a:extLst>
          </p:cNvPr>
          <p:cNvSpPr>
            <a:spLocks xmlns:a="http://schemas.openxmlformats.org/drawingml/2006/main" noGrp="1"/>
          </p:cNvSpPr>
          <p:nvPr/>
        </p:nvSpPr>
        <p:spPr>
          <a:xfrm xmlns:a="http://schemas.openxmlformats.org/drawingml/2006/main">
            <a:off x="609600" y="81724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275" b="0">
                <a:solidFill>
                  <a:srgbClr val="547080"/>
                </a:solidFill>
                <a:latin typeface="Arial"/>
                <a:ea typeface="Arial"/>
                <a:cs typeface="Arial"/>
              </a:defRPr>
            </a:pPr>
            <a:r>
              <a:rPr sz="1275" b="0">
                <a:solidFill>
                  <a:srgbClr val="547080"/>
                </a:solidFill>
                <a:latin typeface="Arial"/>
                <a:ea typeface="Arial"/>
                <a:cs typeface="Arial"/>
              </a:rPr>
              <a:t>WIDispatch   /   Client demonstration</a:t>
            </a:r>
          </a:p>
        </p:txBody>
      </p:sp>
      <p:sp>
        <p:nvSpPr>
          <p:cNvPr id="5" name="51">
            <a:extLst xmlns:a="http://schemas.openxmlformats.org/drawingml/2006/main">
              <a:ext uri="{FF2B5EF4-FFF2-40B4-BE49-F238E27FC236}">
                <a16:creationId xmlns:a16="http://schemas.microsoft.com/office/drawing/2014/main" id="{CEF321C0-CA38-4428-B4BC-4B439AFEE1EA}"/>
              </a:ext>
            </a:extLst>
          </p:cNvPr>
          <p:cNvSpPr>
            <a:spLocks xmlns:a="http://schemas.openxmlformats.org/drawingml/2006/main" noGrp="1"/>
          </p:cNvSpPr>
          <p:nvPr/>
        </p:nvSpPr>
        <p:spPr>
          <a:xfrm xmlns:a="http://schemas.openxmlformats.org/drawingml/2006/main">
            <a:off x="13906500" y="8115300"/>
            <a:ext cx="723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547080"/>
                </a:solidFill>
                <a:latin typeface="Arial"/>
                <a:ea typeface="Arial"/>
                <a:cs typeface="Arial"/>
              </a:defRPr>
            </a:pPr>
            <a:r>
              <a:rPr sz="1650" b="0">
                <a:solidFill>
                  <a:srgbClr val="547080"/>
                </a:solidFill>
                <a:latin typeface="Arial"/>
                <a:ea typeface="Arial"/>
                <a:cs typeface="Arial"/>
              </a:rPr>
              <a:t>57</a:t>
            </a:r>
          </a:p>
        </p:txBody>
      </p:sp>
    </p:spTree>
    <p:extLst>
      <p:ext uri="{BB962C8B-B14F-4D97-AF65-F5344CB8AC3E}">
        <p14:creationId xmlns:p14="http://schemas.microsoft.com/office/powerpoint/2010/main" val="1102156071"/>
      </p:ext>
    </p:extLst>
  </p:cSld>
</p:sld>
</file>

<file path=ppt/slides/slide5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Emergency capacity and demand assumptions">
            <a:extLst xmlns:a="http://schemas.openxmlformats.org/drawingml/2006/main">
              <a:ext uri="{FF2B5EF4-FFF2-40B4-BE49-F238E27FC236}">
                <a16:creationId xmlns:a16="http://schemas.microsoft.com/office/drawing/2014/main" id="{CE458C20-9863-49EF-B023-9D6AC3D043DE}"/>
              </a:ext>
            </a:extLst>
          </p:cNvPr>
          <p:cNvSpPr>
            <a:spLocks xmlns:a="http://schemas.openxmlformats.org/drawingml/2006/main" noGrp="1"/>
          </p:cNvSpPr>
          <p:nvPr/>
        </p:nvSpPr>
        <p:spPr>
          <a:xfrm xmlns:a="http://schemas.openxmlformats.org/drawingml/2006/main">
            <a:off x="571500" y="428625"/>
            <a:ext cx="140970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300" b="1">
                <a:solidFill>
                  <a:srgbClr val="12374B"/>
                </a:solidFill>
                <a:latin typeface="Arial"/>
                <a:ea typeface="Arial"/>
                <a:cs typeface="Arial"/>
              </a:defRPr>
            </a:pPr>
            <a:r>
              <a:rPr sz="3300" b="1">
                <a:solidFill>
                  <a:srgbClr val="12374B"/>
                </a:solidFill>
                <a:latin typeface="Arial"/>
                <a:ea typeface="Arial"/>
                <a:cs typeface="Arial"/>
              </a:rPr>
              <a:t>Emergency capacity and demand assumptions</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77499e012ed24aa3"/>
          <a:stretch xmlns:a="http://schemas.openxmlformats.org/drawingml/2006/main"/>
        </p:blipFill>
        <p:spPr>
          <a:xfrm xmlns:a="http://schemas.openxmlformats.org/drawingml/2006/main">
            <a:off x="476250" y="1965577"/>
            <a:ext cx="10668000" cy="4831845"/>
          </a:xfrm>
          <a:prstGeom xmlns:a="http://schemas.openxmlformats.org/drawingml/2006/main" prst="rect">
            <a:avLst/>
          </a:prstGeom>
        </p:spPr>
      </p:pic>
      <p:sp>
        <p:nvSpPr>
          <p:cNvPr id="3" name="01">
            <a:extLst xmlns:a="http://schemas.openxmlformats.org/drawingml/2006/main">
              <a:ext uri="{FF2B5EF4-FFF2-40B4-BE49-F238E27FC236}">
                <a16:creationId xmlns:a16="http://schemas.microsoft.com/office/drawing/2014/main" id="{640521C7-5940-4BE1-8906-B27D7F0A235F}"/>
              </a:ext>
            </a:extLst>
          </p:cNvPr>
          <p:cNvSpPr>
            <a:spLocks xmlns:a="http://schemas.openxmlformats.org/drawingml/2006/main" noGrp="1"/>
          </p:cNvSpPr>
          <p:nvPr/>
        </p:nvSpPr>
        <p:spPr>
          <a:xfrm xmlns:a="http://schemas.openxmlformats.org/drawingml/2006/main">
            <a:off x="11525250" y="1771650"/>
            <a:ext cx="95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01</a:t>
            </a:r>
          </a:p>
        </p:txBody>
      </p:sp>
      <p:sp>
        <p:nvSpPr>
          <p:cNvPr id="4" name="Exclude an unavailable asset with its On checkbox.">
            <a:extLst xmlns:a="http://schemas.openxmlformats.org/drawingml/2006/main">
              <a:ext uri="{FF2B5EF4-FFF2-40B4-BE49-F238E27FC236}">
                <a16:creationId xmlns:a16="http://schemas.microsoft.com/office/drawing/2014/main" id="{8D26ACD8-2AD0-4EB1-85C9-9A974B706F5C}"/>
              </a:ext>
            </a:extLst>
          </p:cNvPr>
          <p:cNvSpPr>
            <a:spLocks xmlns:a="http://schemas.openxmlformats.org/drawingml/2006/main" noGrp="1"/>
          </p:cNvSpPr>
          <p:nvPr/>
        </p:nvSpPr>
        <p:spPr>
          <a:xfrm xmlns:a="http://schemas.openxmlformats.org/drawingml/2006/main">
            <a:off x="11525250" y="2238375"/>
            <a:ext cx="30765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025" b="0">
                <a:solidFill>
                  <a:srgbClr val="18384B"/>
                </a:solidFill>
                <a:latin typeface="Arial"/>
                <a:ea typeface="Arial"/>
                <a:cs typeface="Arial"/>
              </a:defRPr>
            </a:pPr>
            <a:r>
              <a:rPr sz="2025" b="0">
                <a:solidFill>
                  <a:srgbClr val="18384B"/>
                </a:solidFill>
                <a:latin typeface="Arial"/>
                <a:ea typeface="Arial"/>
                <a:cs typeface="Arial"/>
              </a:rPr>
              <a:t>Exclude an unavailable asset with its On checkbox.</a:t>
            </a:r>
          </a:p>
        </p:txBody>
      </p:sp>
      <p:sp>
        <p:nvSpPr>
          <p:cNvPr id="5" name="02">
            <a:extLst xmlns:a="http://schemas.openxmlformats.org/drawingml/2006/main">
              <a:ext uri="{FF2B5EF4-FFF2-40B4-BE49-F238E27FC236}">
                <a16:creationId xmlns:a16="http://schemas.microsoft.com/office/drawing/2014/main" id="{BF4F500A-2D19-4FF1-8123-EE571519C3E2}"/>
              </a:ext>
            </a:extLst>
          </p:cNvPr>
          <p:cNvSpPr>
            <a:spLocks xmlns:a="http://schemas.openxmlformats.org/drawingml/2006/main" noGrp="1"/>
          </p:cNvSpPr>
          <p:nvPr/>
        </p:nvSpPr>
        <p:spPr>
          <a:xfrm xmlns:a="http://schemas.openxmlformats.org/drawingml/2006/main">
            <a:off x="11525250" y="3429000"/>
            <a:ext cx="95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02</a:t>
            </a:r>
          </a:p>
        </p:txBody>
      </p:sp>
      <p:sp>
        <p:nvSpPr>
          <p:cNvPr id="6" name="Enter capacity, cost or demand overrides.">
            <a:extLst xmlns:a="http://schemas.openxmlformats.org/drawingml/2006/main">
              <a:ext uri="{FF2B5EF4-FFF2-40B4-BE49-F238E27FC236}">
                <a16:creationId xmlns:a16="http://schemas.microsoft.com/office/drawing/2014/main" id="{928ED534-EEB8-4605-BD50-ACBBC74F2949}"/>
              </a:ext>
            </a:extLst>
          </p:cNvPr>
          <p:cNvSpPr>
            <a:spLocks xmlns:a="http://schemas.openxmlformats.org/drawingml/2006/main" noGrp="1"/>
          </p:cNvSpPr>
          <p:nvPr/>
        </p:nvSpPr>
        <p:spPr>
          <a:xfrm xmlns:a="http://schemas.openxmlformats.org/drawingml/2006/main">
            <a:off x="11525250" y="3895725"/>
            <a:ext cx="30765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025" b="0">
                <a:solidFill>
                  <a:srgbClr val="18384B"/>
                </a:solidFill>
                <a:latin typeface="Arial"/>
                <a:ea typeface="Arial"/>
                <a:cs typeface="Arial"/>
              </a:defRPr>
            </a:pPr>
            <a:r>
              <a:rPr sz="2025" b="0">
                <a:solidFill>
                  <a:srgbClr val="18384B"/>
                </a:solidFill>
                <a:latin typeface="Arial"/>
                <a:ea typeface="Arial"/>
                <a:cs typeface="Arial"/>
              </a:rPr>
              <a:t>Enter capacity, cost or demand overrides.</a:t>
            </a:r>
          </a:p>
        </p:txBody>
      </p:sp>
      <p:sp>
        <p:nvSpPr>
          <p:cNvPr id="7" name="03">
            <a:extLst xmlns:a="http://schemas.openxmlformats.org/drawingml/2006/main">
              <a:ext uri="{FF2B5EF4-FFF2-40B4-BE49-F238E27FC236}">
                <a16:creationId xmlns:a16="http://schemas.microsoft.com/office/drawing/2014/main" id="{7D2CD7F8-345A-4BED-A5D6-E00D71D29D6C}"/>
              </a:ext>
            </a:extLst>
          </p:cNvPr>
          <p:cNvSpPr>
            <a:spLocks xmlns:a="http://schemas.openxmlformats.org/drawingml/2006/main" noGrp="1"/>
          </p:cNvSpPr>
          <p:nvPr/>
        </p:nvSpPr>
        <p:spPr>
          <a:xfrm xmlns:a="http://schemas.openxmlformats.org/drawingml/2006/main">
            <a:off x="11525250" y="5086350"/>
            <a:ext cx="95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03</a:t>
            </a:r>
          </a:p>
        </p:txBody>
      </p:sp>
      <p:sp>
        <p:nvSpPr>
          <p:cNvPr id="8" name="Run again to calculate the changed outcome.">
            <a:extLst xmlns:a="http://schemas.openxmlformats.org/drawingml/2006/main">
              <a:ext uri="{FF2B5EF4-FFF2-40B4-BE49-F238E27FC236}">
                <a16:creationId xmlns:a16="http://schemas.microsoft.com/office/drawing/2014/main" id="{4D8E434B-E63F-43F1-BD60-AE4CA366435D}"/>
              </a:ext>
            </a:extLst>
          </p:cNvPr>
          <p:cNvSpPr>
            <a:spLocks xmlns:a="http://schemas.openxmlformats.org/drawingml/2006/main" noGrp="1"/>
          </p:cNvSpPr>
          <p:nvPr/>
        </p:nvSpPr>
        <p:spPr>
          <a:xfrm xmlns:a="http://schemas.openxmlformats.org/drawingml/2006/main">
            <a:off x="11525250" y="5553075"/>
            <a:ext cx="30765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025" b="0">
                <a:solidFill>
                  <a:srgbClr val="18384B"/>
                </a:solidFill>
                <a:latin typeface="Arial"/>
                <a:ea typeface="Arial"/>
                <a:cs typeface="Arial"/>
              </a:defRPr>
            </a:pPr>
            <a:r>
              <a:rPr sz="2025" b="0">
                <a:solidFill>
                  <a:srgbClr val="18384B"/>
                </a:solidFill>
                <a:latin typeface="Arial"/>
                <a:ea typeface="Arial"/>
                <a:cs typeface="Arial"/>
              </a:rPr>
              <a:t>Run again to calculate the changed outcome.</a:t>
            </a:r>
          </a:p>
        </p:txBody>
      </p:sp>
      <p:sp>
        <p:nvSpPr>
          <p:cNvPr id="9" name="This screenshot shows unsaved assumptions. The displaye">
            <a:extLst xmlns:a="http://schemas.openxmlformats.org/drawingml/2006/main">
              <a:ext uri="{FF2B5EF4-FFF2-40B4-BE49-F238E27FC236}">
                <a16:creationId xmlns:a16="http://schemas.microsoft.com/office/drawing/2014/main" id="{A9C9B85D-836E-4AF6-AC35-8C44D45C3DBC}"/>
              </a:ext>
            </a:extLst>
          </p:cNvPr>
          <p:cNvSpPr>
            <a:spLocks xmlns:a="http://schemas.openxmlformats.org/drawingml/2006/main" noGrp="1"/>
          </p:cNvSpPr>
          <p:nvPr/>
        </p:nvSpPr>
        <p:spPr>
          <a:xfrm xmlns:a="http://schemas.openxmlformats.org/drawingml/2006/main">
            <a:off x="609600" y="7448550"/>
            <a:ext cx="1390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This screenshot shows unsaved assumptions. The displayed results still belong to the prior run.</a:t>
            </a:r>
          </a:p>
        </p:txBody>
      </p:sp>
      <p:sp>
        <p:nvSpPr>
          <p:cNvPr id="10" name="WIDispatch   /   Client demonstration">
            <a:extLst xmlns:a="http://schemas.openxmlformats.org/drawingml/2006/main">
              <a:ext uri="{FF2B5EF4-FFF2-40B4-BE49-F238E27FC236}">
                <a16:creationId xmlns:a16="http://schemas.microsoft.com/office/drawing/2014/main" id="{0F2AC8ED-F956-4EFC-8972-34F236657152}"/>
              </a:ext>
            </a:extLst>
          </p:cNvPr>
          <p:cNvSpPr>
            <a:spLocks xmlns:a="http://schemas.openxmlformats.org/drawingml/2006/main" noGrp="1"/>
          </p:cNvSpPr>
          <p:nvPr/>
        </p:nvSpPr>
        <p:spPr>
          <a:xfrm xmlns:a="http://schemas.openxmlformats.org/drawingml/2006/main">
            <a:off x="609600" y="81724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275" b="0">
                <a:solidFill>
                  <a:srgbClr val="547080"/>
                </a:solidFill>
                <a:latin typeface="Arial"/>
                <a:ea typeface="Arial"/>
                <a:cs typeface="Arial"/>
              </a:defRPr>
            </a:pPr>
            <a:r>
              <a:rPr sz="1275" b="0">
                <a:solidFill>
                  <a:srgbClr val="547080"/>
                </a:solidFill>
                <a:latin typeface="Arial"/>
                <a:ea typeface="Arial"/>
                <a:cs typeface="Arial"/>
              </a:rPr>
              <a:t>WIDispatch   /   Client demonstration</a:t>
            </a:r>
          </a:p>
        </p:txBody>
      </p:sp>
      <p:sp>
        <p:nvSpPr>
          <p:cNvPr id="11" name="52">
            <a:extLst xmlns:a="http://schemas.openxmlformats.org/drawingml/2006/main">
              <a:ext uri="{FF2B5EF4-FFF2-40B4-BE49-F238E27FC236}">
                <a16:creationId xmlns:a16="http://schemas.microsoft.com/office/drawing/2014/main" id="{23A079A2-0E4E-49E8-A907-9649658EC028}"/>
              </a:ext>
            </a:extLst>
          </p:cNvPr>
          <p:cNvSpPr>
            <a:spLocks xmlns:a="http://schemas.openxmlformats.org/drawingml/2006/main" noGrp="1"/>
          </p:cNvSpPr>
          <p:nvPr/>
        </p:nvSpPr>
        <p:spPr>
          <a:xfrm xmlns:a="http://schemas.openxmlformats.org/drawingml/2006/main">
            <a:off x="13906500" y="8115300"/>
            <a:ext cx="723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547080"/>
                </a:solidFill>
                <a:latin typeface="Arial"/>
                <a:ea typeface="Arial"/>
                <a:cs typeface="Arial"/>
              </a:defRPr>
            </a:pPr>
            <a:r>
              <a:rPr sz="1650" b="0">
                <a:solidFill>
                  <a:srgbClr val="547080"/>
                </a:solidFill>
                <a:latin typeface="Arial"/>
                <a:ea typeface="Arial"/>
                <a:cs typeface="Arial"/>
              </a:rPr>
              <a:t>58</a:t>
            </a:r>
          </a:p>
        </p:txBody>
      </p:sp>
    </p:spTree>
    <p:extLst>
      <p:ext uri="{BB962C8B-B14F-4D97-AF65-F5344CB8AC3E}">
        <p14:creationId xmlns:p14="http://schemas.microsoft.com/office/powerpoint/2010/main" val="407853607"/>
      </p:ext>
    </p:extLst>
  </p:cSld>
</p:sld>
</file>

<file path=ppt/slides/slide5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torage and throughput during an emergency">
            <a:extLst xmlns:a="http://schemas.openxmlformats.org/drawingml/2006/main">
              <a:ext uri="{FF2B5EF4-FFF2-40B4-BE49-F238E27FC236}">
                <a16:creationId xmlns:a16="http://schemas.microsoft.com/office/drawing/2014/main" id="{02A849ED-DEF5-4527-B512-81E3BBF823FC}"/>
              </a:ext>
            </a:extLst>
          </p:cNvPr>
          <p:cNvSpPr>
            <a:spLocks xmlns:a="http://schemas.openxmlformats.org/drawingml/2006/main" noGrp="1"/>
          </p:cNvSpPr>
          <p:nvPr/>
        </p:nvSpPr>
        <p:spPr>
          <a:xfrm xmlns:a="http://schemas.openxmlformats.org/drawingml/2006/main">
            <a:off x="571500" y="428625"/>
            <a:ext cx="140970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300" b="1">
                <a:solidFill>
                  <a:srgbClr val="12374B"/>
                </a:solidFill>
                <a:latin typeface="Arial"/>
                <a:ea typeface="Arial"/>
                <a:cs typeface="Arial"/>
              </a:defRPr>
            </a:pPr>
            <a:r>
              <a:rPr sz="3300" b="1">
                <a:solidFill>
                  <a:srgbClr val="12374B"/>
                </a:solidFill>
                <a:latin typeface="Arial"/>
                <a:ea typeface="Arial"/>
                <a:cs typeface="Arial"/>
              </a:rPr>
              <a:t>Storage and throughput during an emergency</a:t>
            </a:r>
          </a:p>
        </p:txBody>
      </p:sp>
      <p:sp>
        <p:nvSpPr>
          <p:cNvPr id="2" name="Tank policy">
            <a:extLst xmlns:a="http://schemas.openxmlformats.org/drawingml/2006/main">
              <a:ext uri="{FF2B5EF4-FFF2-40B4-BE49-F238E27FC236}">
                <a16:creationId xmlns:a16="http://schemas.microsoft.com/office/drawing/2014/main" id="{70C95380-1C48-4101-8960-86E7B0286344}"/>
              </a:ext>
            </a:extLst>
          </p:cNvPr>
          <p:cNvSpPr>
            <a:spLocks xmlns:a="http://schemas.openxmlformats.org/drawingml/2006/main" noGrp="1"/>
          </p:cNvSpPr>
          <p:nvPr/>
        </p:nvSpPr>
        <p:spPr>
          <a:xfrm xmlns:a="http://schemas.openxmlformats.org/drawingml/2006/main">
            <a:off x="609600" y="1952625"/>
            <a:ext cx="4267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400" b="1">
                <a:solidFill>
                  <a:srgbClr val="007E92"/>
                </a:solidFill>
                <a:latin typeface="Arial"/>
                <a:ea typeface="Arial"/>
                <a:cs typeface="Arial"/>
              </a:defRPr>
            </a:pPr>
            <a:r>
              <a:rPr sz="2400" b="1">
                <a:solidFill>
                  <a:srgbClr val="007E92"/>
                </a:solidFill>
                <a:latin typeface="Arial"/>
                <a:ea typeface="Arial"/>
                <a:cs typeface="Arial"/>
              </a:rPr>
              <a:t>Tank policy</a:t>
            </a:r>
          </a:p>
        </p:txBody>
      </p:sp>
      <p:sp>
        <p:nvSpPr>
          <p:cNvPr id="3" name="Set initial, minimum and maximum percentages. Choose th">
            <a:extLst xmlns:a="http://schemas.openxmlformats.org/drawingml/2006/main">
              <a:ext uri="{FF2B5EF4-FFF2-40B4-BE49-F238E27FC236}">
                <a16:creationId xmlns:a16="http://schemas.microsoft.com/office/drawing/2014/main" id="{8F9CF435-6514-458B-806C-E7778EE37A8B}"/>
              </a:ext>
            </a:extLst>
          </p:cNvPr>
          <p:cNvSpPr>
            <a:spLocks xmlns:a="http://schemas.openxmlformats.org/drawingml/2006/main" noGrp="1"/>
          </p:cNvSpPr>
          <p:nvPr/>
        </p:nvSpPr>
        <p:spPr>
          <a:xfrm xmlns:a="http://schemas.openxmlformats.org/drawingml/2006/main">
            <a:off x="609600" y="3067050"/>
            <a:ext cx="4238625" cy="3200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325" b="0">
                <a:solidFill>
                  <a:srgbClr val="18384B"/>
                </a:solidFill>
                <a:latin typeface="Arial"/>
                <a:ea typeface="Arial"/>
                <a:cs typeface="Arial"/>
              </a:defRPr>
            </a:pPr>
            <a:r>
              <a:rPr sz="2325" b="0">
                <a:solidFill>
                  <a:srgbClr val="18384B"/>
                </a:solidFill>
                <a:latin typeface="Arial"/>
                <a:ea typeface="Arial"/>
                <a:cs typeface="Arial"/>
              </a:rPr>
              <a:t>Set initial, minimum and maximum percentages. Choose the reserve rule appropriate to the tank’s role.</a:t>
            </a:r>
          </a:p>
        </p:txBody>
      </p:sp>
      <p:sp>
        <p:nvSpPr>
          <p:cNvPr id="4" name="Pump throughput">
            <a:extLst xmlns:a="http://schemas.openxmlformats.org/drawingml/2006/main">
              <a:ext uri="{FF2B5EF4-FFF2-40B4-BE49-F238E27FC236}">
                <a16:creationId xmlns:a16="http://schemas.microsoft.com/office/drawing/2014/main" id="{549D1316-9E0F-45C7-A4E9-9FD3DD769443}"/>
              </a:ext>
            </a:extLst>
          </p:cNvPr>
          <p:cNvSpPr>
            <a:spLocks xmlns:a="http://schemas.openxmlformats.org/drawingml/2006/main" noGrp="1"/>
          </p:cNvSpPr>
          <p:nvPr/>
        </p:nvSpPr>
        <p:spPr>
          <a:xfrm xmlns:a="http://schemas.openxmlformats.org/drawingml/2006/main">
            <a:off x="5419725" y="1952625"/>
            <a:ext cx="4267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400" b="1">
                <a:solidFill>
                  <a:srgbClr val="007E92"/>
                </a:solidFill>
                <a:latin typeface="Arial"/>
                <a:ea typeface="Arial"/>
                <a:cs typeface="Arial"/>
              </a:defRPr>
            </a:pPr>
            <a:r>
              <a:rPr sz="2400" b="1">
                <a:solidFill>
                  <a:srgbClr val="007E92"/>
                </a:solidFill>
                <a:latin typeface="Arial"/>
                <a:ea typeface="Arial"/>
                <a:cs typeface="Arial"/>
              </a:rPr>
              <a:t>Pump throughput</a:t>
            </a:r>
          </a:p>
        </p:txBody>
      </p:sp>
      <p:sp>
        <p:nvSpPr>
          <p:cNvPr id="5" name="Use the pump capacity override to test a temporary limi">
            <a:extLst xmlns:a="http://schemas.openxmlformats.org/drawingml/2006/main">
              <a:ext uri="{FF2B5EF4-FFF2-40B4-BE49-F238E27FC236}">
                <a16:creationId xmlns:a16="http://schemas.microsoft.com/office/drawing/2014/main" id="{D728570E-4206-44A6-95C6-AD2301E395FF}"/>
              </a:ext>
            </a:extLst>
          </p:cNvPr>
          <p:cNvSpPr>
            <a:spLocks xmlns:a="http://schemas.openxmlformats.org/drawingml/2006/main" noGrp="1"/>
          </p:cNvSpPr>
          <p:nvPr/>
        </p:nvSpPr>
        <p:spPr>
          <a:xfrm xmlns:a="http://schemas.openxmlformats.org/drawingml/2006/main">
            <a:off x="5419725" y="3067050"/>
            <a:ext cx="4238625" cy="3200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325" b="0">
                <a:solidFill>
                  <a:srgbClr val="18384B"/>
                </a:solidFill>
                <a:latin typeface="Arial"/>
                <a:ea typeface="Arial"/>
                <a:cs typeface="Arial"/>
              </a:defRPr>
            </a:pPr>
            <a:r>
              <a:rPr sz="2325" b="0">
                <a:solidFill>
                  <a:srgbClr val="18384B"/>
                </a:solidFill>
                <a:latin typeface="Arial"/>
                <a:ea typeface="Arial"/>
                <a:cs typeface="Arial"/>
              </a:rPr>
              <a:t>Use the pump capacity override to test a temporary limit. Inspect daily derating and standby coverage.</a:t>
            </a:r>
          </a:p>
        </p:txBody>
      </p:sp>
      <p:sp>
        <p:nvSpPr>
          <p:cNvPr id="6" name="Demand assumption">
            <a:extLst xmlns:a="http://schemas.openxmlformats.org/drawingml/2006/main">
              <a:ext uri="{FF2B5EF4-FFF2-40B4-BE49-F238E27FC236}">
                <a16:creationId xmlns:a16="http://schemas.microsoft.com/office/drawing/2014/main" id="{96132B3E-9F93-48CC-B76A-4725F77E6E08}"/>
              </a:ext>
            </a:extLst>
          </p:cNvPr>
          <p:cNvSpPr>
            <a:spLocks xmlns:a="http://schemas.openxmlformats.org/drawingml/2006/main" noGrp="1"/>
          </p:cNvSpPr>
          <p:nvPr/>
        </p:nvSpPr>
        <p:spPr>
          <a:xfrm xmlns:a="http://schemas.openxmlformats.org/drawingml/2006/main">
            <a:off x="10229850" y="1952625"/>
            <a:ext cx="4267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400" b="1">
                <a:solidFill>
                  <a:srgbClr val="007E92"/>
                </a:solidFill>
                <a:latin typeface="Arial"/>
                <a:ea typeface="Arial"/>
                <a:cs typeface="Arial"/>
              </a:defRPr>
            </a:pPr>
            <a:r>
              <a:rPr sz="2400" b="1">
                <a:solidFill>
                  <a:srgbClr val="007E92"/>
                </a:solidFill>
                <a:latin typeface="Arial"/>
                <a:ea typeface="Arial"/>
                <a:cs typeface="Arial"/>
              </a:rPr>
              <a:t>Demand assumption</a:t>
            </a:r>
          </a:p>
        </p:txBody>
      </p:sp>
      <p:sp>
        <p:nvSpPr>
          <p:cNvPr id="7" name="Test a clearly documented gate demand assumption. Compa">
            <a:extLst xmlns:a="http://schemas.openxmlformats.org/drawingml/2006/main">
              <a:ext uri="{FF2B5EF4-FFF2-40B4-BE49-F238E27FC236}">
                <a16:creationId xmlns:a16="http://schemas.microsoft.com/office/drawing/2014/main" id="{26B15C38-9F7E-4296-82F8-960935AA18AC}"/>
              </a:ext>
            </a:extLst>
          </p:cNvPr>
          <p:cNvSpPr>
            <a:spLocks xmlns:a="http://schemas.openxmlformats.org/drawingml/2006/main" noGrp="1"/>
          </p:cNvSpPr>
          <p:nvPr/>
        </p:nvSpPr>
        <p:spPr>
          <a:xfrm xmlns:a="http://schemas.openxmlformats.org/drawingml/2006/main">
            <a:off x="10229850" y="3067050"/>
            <a:ext cx="4238625" cy="3200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325" b="0">
                <a:solidFill>
                  <a:srgbClr val="18384B"/>
                </a:solidFill>
                <a:latin typeface="Arial"/>
                <a:ea typeface="Arial"/>
                <a:cs typeface="Arial"/>
              </a:defRPr>
            </a:pPr>
            <a:r>
              <a:rPr sz="2325" b="0">
                <a:solidFill>
                  <a:srgbClr val="18384B"/>
                </a:solidFill>
                <a:latin typeface="Arial"/>
                <a:ea typeface="Arial"/>
                <a:cs typeface="Arial"/>
              </a:rPr>
              <a:t>Test a clearly documented gate demand assumption. Compare delivered volume and shortage after the new run.</a:t>
            </a:r>
          </a:p>
        </p:txBody>
      </p:sp>
      <p:sp>
        <p:nvSpPr>
          <p:cNvPr id="8" name="A capacity or demand override needs a reason, a plannin">
            <a:extLst xmlns:a="http://schemas.openxmlformats.org/drawingml/2006/main">
              <a:ext uri="{FF2B5EF4-FFF2-40B4-BE49-F238E27FC236}">
                <a16:creationId xmlns:a16="http://schemas.microsoft.com/office/drawing/2014/main" id="{47F870E7-D569-41CC-9F7A-F112A843B1CD}"/>
              </a:ext>
            </a:extLst>
          </p:cNvPr>
          <p:cNvSpPr>
            <a:spLocks xmlns:a="http://schemas.openxmlformats.org/drawingml/2006/main" noGrp="1"/>
          </p:cNvSpPr>
          <p:nvPr/>
        </p:nvSpPr>
        <p:spPr>
          <a:xfrm xmlns:a="http://schemas.openxmlformats.org/drawingml/2006/main">
            <a:off x="609600" y="7448550"/>
            <a:ext cx="1390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A capacity or demand override needs a reason, a planning period and a new simulation.</a:t>
            </a:r>
          </a:p>
        </p:txBody>
      </p:sp>
      <p:sp>
        <p:nvSpPr>
          <p:cNvPr id="9" name="WIDispatch   /   Client demonstration">
            <a:extLst xmlns:a="http://schemas.openxmlformats.org/drawingml/2006/main">
              <a:ext uri="{FF2B5EF4-FFF2-40B4-BE49-F238E27FC236}">
                <a16:creationId xmlns:a16="http://schemas.microsoft.com/office/drawing/2014/main" id="{25A4F09B-E4DA-4EDB-88B8-AE984DECAD9F}"/>
              </a:ext>
            </a:extLst>
          </p:cNvPr>
          <p:cNvSpPr>
            <a:spLocks xmlns:a="http://schemas.openxmlformats.org/drawingml/2006/main" noGrp="1"/>
          </p:cNvSpPr>
          <p:nvPr/>
        </p:nvSpPr>
        <p:spPr>
          <a:xfrm xmlns:a="http://schemas.openxmlformats.org/drawingml/2006/main">
            <a:off x="609600" y="81724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275" b="0">
                <a:solidFill>
                  <a:srgbClr val="547080"/>
                </a:solidFill>
                <a:latin typeface="Arial"/>
                <a:ea typeface="Arial"/>
                <a:cs typeface="Arial"/>
              </a:defRPr>
            </a:pPr>
            <a:r>
              <a:rPr sz="1275" b="0">
                <a:solidFill>
                  <a:srgbClr val="547080"/>
                </a:solidFill>
                <a:latin typeface="Arial"/>
                <a:ea typeface="Arial"/>
                <a:cs typeface="Arial"/>
              </a:rPr>
              <a:t>WIDispatch   /   Client demonstration</a:t>
            </a:r>
          </a:p>
        </p:txBody>
      </p:sp>
      <p:sp>
        <p:nvSpPr>
          <p:cNvPr id="10" name="53">
            <a:extLst xmlns:a="http://schemas.openxmlformats.org/drawingml/2006/main">
              <a:ext uri="{FF2B5EF4-FFF2-40B4-BE49-F238E27FC236}">
                <a16:creationId xmlns:a16="http://schemas.microsoft.com/office/drawing/2014/main" id="{C2D82BE2-7800-4AB8-9CA3-F4FE7445F790}"/>
              </a:ext>
            </a:extLst>
          </p:cNvPr>
          <p:cNvSpPr>
            <a:spLocks xmlns:a="http://schemas.openxmlformats.org/drawingml/2006/main" noGrp="1"/>
          </p:cNvSpPr>
          <p:nvPr/>
        </p:nvSpPr>
        <p:spPr>
          <a:xfrm xmlns:a="http://schemas.openxmlformats.org/drawingml/2006/main">
            <a:off x="13906500" y="8115300"/>
            <a:ext cx="723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547080"/>
                </a:solidFill>
                <a:latin typeface="Arial"/>
                <a:ea typeface="Arial"/>
                <a:cs typeface="Arial"/>
              </a:defRPr>
            </a:pPr>
            <a:r>
              <a:rPr sz="1650" b="0">
                <a:solidFill>
                  <a:srgbClr val="547080"/>
                </a:solidFill>
                <a:latin typeface="Arial"/>
                <a:ea typeface="Arial"/>
                <a:cs typeface="Arial"/>
              </a:rPr>
              <a:t>59</a:t>
            </a:r>
          </a:p>
        </p:txBody>
      </p:sp>
    </p:spTree>
    <p:extLst>
      <p:ext uri="{BB962C8B-B14F-4D97-AF65-F5344CB8AC3E}">
        <p14:creationId xmlns:p14="http://schemas.microsoft.com/office/powerpoint/2010/main" val="1911029839"/>
      </p:ext>
    </p:extLst>
  </p:cSld>
</p:sld>
</file>

<file path=ppt/slides/slide6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What to check before Run simulation">
            <a:extLst xmlns:a="http://schemas.openxmlformats.org/drawingml/2006/main">
              <a:ext uri="{FF2B5EF4-FFF2-40B4-BE49-F238E27FC236}">
                <a16:creationId xmlns:a16="http://schemas.microsoft.com/office/drawing/2014/main" id="{C4D93EDB-60B8-450D-B177-40B90B010869}"/>
              </a:ext>
            </a:extLst>
          </p:cNvPr>
          <p:cNvSpPr>
            <a:spLocks xmlns:a="http://schemas.openxmlformats.org/drawingml/2006/main" noGrp="1"/>
          </p:cNvSpPr>
          <p:nvPr/>
        </p:nvSpPr>
        <p:spPr>
          <a:xfrm xmlns:a="http://schemas.openxmlformats.org/drawingml/2006/main">
            <a:off x="571500" y="428625"/>
            <a:ext cx="140970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300" b="1">
                <a:solidFill>
                  <a:srgbClr val="12374B"/>
                </a:solidFill>
                <a:latin typeface="Arial"/>
                <a:ea typeface="Arial"/>
                <a:cs typeface="Arial"/>
              </a:defRPr>
            </a:pPr>
            <a:r>
              <a:rPr sz="3300" b="1">
                <a:solidFill>
                  <a:srgbClr val="12374B"/>
                </a:solidFill>
                <a:latin typeface="Arial"/>
                <a:ea typeface="Arial"/>
                <a:cs typeface="Arial"/>
              </a:rPr>
              <a:t>What to check before Run simulation</a:t>
            </a:r>
          </a:p>
        </p:txBody>
      </p:sp>
      <p:sp>
        <p:nvSpPr>
          <p:cNvPr id="2" name="Availability">
            <a:extLst xmlns:a="http://schemas.openxmlformats.org/drawingml/2006/main">
              <a:ext uri="{FF2B5EF4-FFF2-40B4-BE49-F238E27FC236}">
                <a16:creationId xmlns:a16="http://schemas.microsoft.com/office/drawing/2014/main" id="{0C4EFC97-5AEE-40BA-86E9-9493A9539DAD}"/>
              </a:ext>
            </a:extLst>
          </p:cNvPr>
          <p:cNvSpPr>
            <a:spLocks xmlns:a="http://schemas.openxmlformats.org/drawingml/2006/main" noGrp="1"/>
          </p:cNvSpPr>
          <p:nvPr/>
        </p:nvSpPr>
        <p:spPr>
          <a:xfrm xmlns:a="http://schemas.openxmlformats.org/drawingml/2006/main">
            <a:off x="609600" y="1952625"/>
            <a:ext cx="4267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400" b="1">
                <a:solidFill>
                  <a:srgbClr val="007E92"/>
                </a:solidFill>
                <a:latin typeface="Arial"/>
                <a:ea typeface="Arial"/>
                <a:cs typeface="Arial"/>
              </a:defRPr>
            </a:pPr>
            <a:r>
              <a:rPr sz="2400" b="1">
                <a:solidFill>
                  <a:srgbClr val="007E92"/>
                </a:solidFill>
                <a:latin typeface="Arial"/>
                <a:ea typeface="Arial"/>
                <a:cs typeface="Arial"/>
              </a:rPr>
              <a:t>Availability</a:t>
            </a:r>
          </a:p>
        </p:txBody>
      </p:sp>
      <p:sp>
        <p:nvSpPr>
          <p:cNvPr id="3" name="Check per-day derating, active elements, pump throughpu">
            <a:extLst xmlns:a="http://schemas.openxmlformats.org/drawingml/2006/main">
              <a:ext uri="{FF2B5EF4-FFF2-40B4-BE49-F238E27FC236}">
                <a16:creationId xmlns:a16="http://schemas.microsoft.com/office/drawing/2014/main" id="{B369D562-FF87-44B9-A8DE-2B9A1D8A4C2B}"/>
              </a:ext>
            </a:extLst>
          </p:cNvPr>
          <p:cNvSpPr>
            <a:spLocks xmlns:a="http://schemas.openxmlformats.org/drawingml/2006/main" noGrp="1"/>
          </p:cNvSpPr>
          <p:nvPr/>
        </p:nvSpPr>
        <p:spPr>
          <a:xfrm xmlns:a="http://schemas.openxmlformats.org/drawingml/2006/main">
            <a:off x="609600" y="3067050"/>
            <a:ext cx="4238625" cy="3200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325" b="0">
                <a:solidFill>
                  <a:srgbClr val="18384B"/>
                </a:solidFill>
                <a:latin typeface="Arial"/>
                <a:ea typeface="Arial"/>
                <a:cs typeface="Arial"/>
              </a:defRPr>
            </a:pPr>
            <a:r>
              <a:rPr sz="2325" b="0">
                <a:solidFill>
                  <a:srgbClr val="18384B"/>
                </a:solidFill>
                <a:latin typeface="Arial"/>
                <a:ea typeface="Arial"/>
                <a:cs typeface="Arial"/>
              </a:rPr>
              <a:t>Check per-day derating, active elements, pump throughput and pipe direction/capacity.</a:t>
            </a:r>
          </a:p>
        </p:txBody>
      </p:sp>
      <p:sp>
        <p:nvSpPr>
          <p:cNvPr id="4" name="Demand and cost">
            <a:extLst xmlns:a="http://schemas.openxmlformats.org/drawingml/2006/main">
              <a:ext uri="{FF2B5EF4-FFF2-40B4-BE49-F238E27FC236}">
                <a16:creationId xmlns:a16="http://schemas.microsoft.com/office/drawing/2014/main" id="{29A1304F-FB71-40C7-A46F-DA1E2BE6F002}"/>
              </a:ext>
            </a:extLst>
          </p:cNvPr>
          <p:cNvSpPr>
            <a:spLocks xmlns:a="http://schemas.openxmlformats.org/drawingml/2006/main" noGrp="1"/>
          </p:cNvSpPr>
          <p:nvPr/>
        </p:nvSpPr>
        <p:spPr>
          <a:xfrm xmlns:a="http://schemas.openxmlformats.org/drawingml/2006/main">
            <a:off x="5419725" y="1952625"/>
            <a:ext cx="4267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400" b="1">
                <a:solidFill>
                  <a:srgbClr val="007E92"/>
                </a:solidFill>
                <a:latin typeface="Arial"/>
                <a:ea typeface="Arial"/>
                <a:cs typeface="Arial"/>
              </a:defRPr>
            </a:pPr>
            <a:r>
              <a:rPr sz="2400" b="1">
                <a:solidFill>
                  <a:srgbClr val="007E92"/>
                </a:solidFill>
                <a:latin typeface="Arial"/>
                <a:ea typeface="Arial"/>
                <a:cs typeface="Arial"/>
              </a:rPr>
              <a:t>Demand and cost</a:t>
            </a:r>
          </a:p>
        </p:txBody>
      </p:sp>
      <p:sp>
        <p:nvSpPr>
          <p:cNvPr id="5" name="Confirm approved demand, the correct cost dates and whe">
            <a:extLst xmlns:a="http://schemas.openxmlformats.org/drawingml/2006/main">
              <a:ext uri="{FF2B5EF4-FFF2-40B4-BE49-F238E27FC236}">
                <a16:creationId xmlns:a16="http://schemas.microsoft.com/office/drawing/2014/main" id="{6C9AFAD4-B3BE-4B63-93FD-7431812CB57C}"/>
              </a:ext>
            </a:extLst>
          </p:cNvPr>
          <p:cNvSpPr>
            <a:spLocks xmlns:a="http://schemas.openxmlformats.org/drawingml/2006/main" noGrp="1"/>
          </p:cNvSpPr>
          <p:nvPr/>
        </p:nvSpPr>
        <p:spPr>
          <a:xfrm xmlns:a="http://schemas.openxmlformats.org/drawingml/2006/main">
            <a:off x="5419725" y="3067050"/>
            <a:ext cx="4238625" cy="3200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325" b="0">
                <a:solidFill>
                  <a:srgbClr val="18384B"/>
                </a:solidFill>
                <a:latin typeface="Arial"/>
                <a:ea typeface="Arial"/>
                <a:cs typeface="Arial"/>
              </a:defRPr>
            </a:pPr>
            <a:r>
              <a:rPr sz="2325" b="0">
                <a:solidFill>
                  <a:srgbClr val="18384B"/>
                </a:solidFill>
                <a:latin typeface="Arial"/>
                <a:ea typeface="Arial"/>
                <a:cs typeface="Arial"/>
              </a:rPr>
              <a:t>Confirm approved demand, the correct cost dates and whether the cost source is Economics or a fallback.</a:t>
            </a:r>
          </a:p>
        </p:txBody>
      </p:sp>
      <p:sp>
        <p:nvSpPr>
          <p:cNvPr id="6" name="Storage">
            <a:extLst xmlns:a="http://schemas.openxmlformats.org/drawingml/2006/main">
              <a:ext uri="{FF2B5EF4-FFF2-40B4-BE49-F238E27FC236}">
                <a16:creationId xmlns:a16="http://schemas.microsoft.com/office/drawing/2014/main" id="{7886497D-80CB-4029-8070-76B4CB4C30B5}"/>
              </a:ext>
            </a:extLst>
          </p:cNvPr>
          <p:cNvSpPr>
            <a:spLocks xmlns:a="http://schemas.openxmlformats.org/drawingml/2006/main" noGrp="1"/>
          </p:cNvSpPr>
          <p:nvPr/>
        </p:nvSpPr>
        <p:spPr>
          <a:xfrm xmlns:a="http://schemas.openxmlformats.org/drawingml/2006/main">
            <a:off x="10229850" y="1952625"/>
            <a:ext cx="4267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400" b="1">
                <a:solidFill>
                  <a:srgbClr val="007E92"/>
                </a:solidFill>
                <a:latin typeface="Arial"/>
                <a:ea typeface="Arial"/>
                <a:cs typeface="Arial"/>
              </a:defRPr>
            </a:pPr>
            <a:r>
              <a:rPr sz="2400" b="1">
                <a:solidFill>
                  <a:srgbClr val="007E92"/>
                </a:solidFill>
                <a:latin typeface="Arial"/>
                <a:ea typeface="Arial"/>
                <a:cs typeface="Arial"/>
              </a:rPr>
              <a:t>Storage</a:t>
            </a:r>
          </a:p>
        </p:txBody>
      </p:sp>
      <p:sp>
        <p:nvSpPr>
          <p:cNvPr id="7" name="Confirm starting inventory, minimum and maximum levels,">
            <a:extLst xmlns:a="http://schemas.openxmlformats.org/drawingml/2006/main">
              <a:ext uri="{FF2B5EF4-FFF2-40B4-BE49-F238E27FC236}">
                <a16:creationId xmlns:a16="http://schemas.microsoft.com/office/drawing/2014/main" id="{3E5CA9AC-65DB-449F-BFAC-40F68DABA393}"/>
              </a:ext>
            </a:extLst>
          </p:cNvPr>
          <p:cNvSpPr>
            <a:spLocks xmlns:a="http://schemas.openxmlformats.org/drawingml/2006/main" noGrp="1"/>
          </p:cNvSpPr>
          <p:nvPr/>
        </p:nvSpPr>
        <p:spPr>
          <a:xfrm xmlns:a="http://schemas.openxmlformats.org/drawingml/2006/main">
            <a:off x="10229850" y="3067050"/>
            <a:ext cx="4238625" cy="3200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325" b="0">
                <a:solidFill>
                  <a:srgbClr val="18384B"/>
                </a:solidFill>
                <a:latin typeface="Arial"/>
                <a:ea typeface="Arial"/>
                <a:cs typeface="Arial"/>
              </a:defRPr>
            </a:pPr>
            <a:r>
              <a:rPr sz="2325" b="0">
                <a:solidFill>
                  <a:srgbClr val="18384B"/>
                </a:solidFill>
                <a:latin typeface="Arial"/>
                <a:ea typeface="Arial"/>
                <a:cs typeface="Arial"/>
              </a:rPr>
              <a:t>Confirm starting inventory, minimum and maximum levels, and the reserve rule for each tank.</a:t>
            </a:r>
          </a:p>
        </p:txBody>
      </p:sp>
      <p:sp>
        <p:nvSpPr>
          <p:cNvPr id="8" name="Run simulation stores a draft. Portal allocations chang">
            <a:extLst xmlns:a="http://schemas.openxmlformats.org/drawingml/2006/main">
              <a:ext uri="{FF2B5EF4-FFF2-40B4-BE49-F238E27FC236}">
                <a16:creationId xmlns:a16="http://schemas.microsoft.com/office/drawing/2014/main" id="{58703F6E-DE53-4BD0-8D40-E0D5728951FF}"/>
              </a:ext>
            </a:extLst>
          </p:cNvPr>
          <p:cNvSpPr>
            <a:spLocks xmlns:a="http://schemas.openxmlformats.org/drawingml/2006/main" noGrp="1"/>
          </p:cNvSpPr>
          <p:nvPr/>
        </p:nvSpPr>
        <p:spPr>
          <a:xfrm xmlns:a="http://schemas.openxmlformats.org/drawingml/2006/main">
            <a:off x="609600" y="7448550"/>
            <a:ext cx="1390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Run simulation stores a draft. Portal allocations change only through Publish decisions.</a:t>
            </a:r>
          </a:p>
        </p:txBody>
      </p:sp>
      <p:sp>
        <p:nvSpPr>
          <p:cNvPr id="9" name="WIDispatch   /   Client demonstration">
            <a:extLst xmlns:a="http://schemas.openxmlformats.org/drawingml/2006/main">
              <a:ext uri="{FF2B5EF4-FFF2-40B4-BE49-F238E27FC236}">
                <a16:creationId xmlns:a16="http://schemas.microsoft.com/office/drawing/2014/main" id="{589151AE-9207-4B54-AD3A-6179442164A1}"/>
              </a:ext>
            </a:extLst>
          </p:cNvPr>
          <p:cNvSpPr>
            <a:spLocks xmlns:a="http://schemas.openxmlformats.org/drawingml/2006/main" noGrp="1"/>
          </p:cNvSpPr>
          <p:nvPr/>
        </p:nvSpPr>
        <p:spPr>
          <a:xfrm xmlns:a="http://schemas.openxmlformats.org/drawingml/2006/main">
            <a:off x="609600" y="81724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275" b="0">
                <a:solidFill>
                  <a:srgbClr val="547080"/>
                </a:solidFill>
                <a:latin typeface="Arial"/>
                <a:ea typeface="Arial"/>
                <a:cs typeface="Arial"/>
              </a:defRPr>
            </a:pPr>
            <a:r>
              <a:rPr sz="1275" b="0">
                <a:solidFill>
                  <a:srgbClr val="547080"/>
                </a:solidFill>
                <a:latin typeface="Arial"/>
                <a:ea typeface="Arial"/>
                <a:cs typeface="Arial"/>
              </a:rPr>
              <a:t>WIDispatch   /   Client demonstration</a:t>
            </a:r>
          </a:p>
        </p:txBody>
      </p:sp>
      <p:sp>
        <p:nvSpPr>
          <p:cNvPr id="10" name="54">
            <a:extLst xmlns:a="http://schemas.openxmlformats.org/drawingml/2006/main">
              <a:ext uri="{FF2B5EF4-FFF2-40B4-BE49-F238E27FC236}">
                <a16:creationId xmlns:a16="http://schemas.microsoft.com/office/drawing/2014/main" id="{4B8DA081-EE54-4BCF-BDDA-D626A3804D2F}"/>
              </a:ext>
            </a:extLst>
          </p:cNvPr>
          <p:cNvSpPr>
            <a:spLocks xmlns:a="http://schemas.openxmlformats.org/drawingml/2006/main" noGrp="1"/>
          </p:cNvSpPr>
          <p:nvPr/>
        </p:nvSpPr>
        <p:spPr>
          <a:xfrm xmlns:a="http://schemas.openxmlformats.org/drawingml/2006/main">
            <a:off x="13906500" y="8115300"/>
            <a:ext cx="723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547080"/>
                </a:solidFill>
                <a:latin typeface="Arial"/>
                <a:ea typeface="Arial"/>
                <a:cs typeface="Arial"/>
              </a:defRPr>
            </a:pPr>
            <a:r>
              <a:rPr sz="1650" b="0">
                <a:solidFill>
                  <a:srgbClr val="547080"/>
                </a:solidFill>
                <a:latin typeface="Arial"/>
                <a:ea typeface="Arial"/>
                <a:cs typeface="Arial"/>
              </a:rPr>
              <a:t>60</a:t>
            </a:r>
          </a:p>
        </p:txBody>
      </p:sp>
    </p:spTree>
    <p:extLst>
      <p:ext uri="{BB962C8B-B14F-4D97-AF65-F5344CB8AC3E}">
        <p14:creationId xmlns:p14="http://schemas.microsoft.com/office/powerpoint/2010/main" val="1120069462"/>
      </p:ext>
    </p:extLst>
  </p:cSld>
</p:sld>
</file>

<file path=ppt/slides/slide6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Results for the selected run">
            <a:extLst xmlns:a="http://schemas.openxmlformats.org/drawingml/2006/main">
              <a:ext uri="{FF2B5EF4-FFF2-40B4-BE49-F238E27FC236}">
                <a16:creationId xmlns:a16="http://schemas.microsoft.com/office/drawing/2014/main" id="{C129D055-3B78-43E4-B2E1-AD2104670C61}"/>
              </a:ext>
            </a:extLst>
          </p:cNvPr>
          <p:cNvSpPr>
            <a:spLocks xmlns:a="http://schemas.openxmlformats.org/drawingml/2006/main" noGrp="1"/>
          </p:cNvSpPr>
          <p:nvPr/>
        </p:nvSpPr>
        <p:spPr>
          <a:xfrm xmlns:a="http://schemas.openxmlformats.org/drawingml/2006/main">
            <a:off x="571500" y="428625"/>
            <a:ext cx="140970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300" b="1">
                <a:solidFill>
                  <a:srgbClr val="12374B"/>
                </a:solidFill>
                <a:latin typeface="Arial"/>
                <a:ea typeface="Arial"/>
                <a:cs typeface="Arial"/>
              </a:defRPr>
            </a:pPr>
            <a:r>
              <a:rPr sz="3300" b="1">
                <a:solidFill>
                  <a:srgbClr val="12374B"/>
                </a:solidFill>
                <a:latin typeface="Arial"/>
                <a:ea typeface="Arial"/>
                <a:cs typeface="Arial"/>
              </a:rPr>
              <a:t>Results for the selected run</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3eb04d730b064c7e"/>
          <a:stretch xmlns:a="http://schemas.openxmlformats.org/drawingml/2006/main"/>
        </p:blipFill>
        <p:spPr>
          <a:xfrm xmlns:a="http://schemas.openxmlformats.org/drawingml/2006/main">
            <a:off x="476250" y="1830335"/>
            <a:ext cx="10668000" cy="5102330"/>
          </a:xfrm>
          <a:prstGeom xmlns:a="http://schemas.openxmlformats.org/drawingml/2006/main" prst="rect">
            <a:avLst/>
          </a:prstGeom>
        </p:spPr>
      </p:pic>
      <p:sp>
        <p:nvSpPr>
          <p:cNvPr id="3" name="01">
            <a:extLst xmlns:a="http://schemas.openxmlformats.org/drawingml/2006/main">
              <a:ext uri="{FF2B5EF4-FFF2-40B4-BE49-F238E27FC236}">
                <a16:creationId xmlns:a16="http://schemas.microsoft.com/office/drawing/2014/main" id="{EDD04A76-EF4A-4FA7-88CF-0C0B85953D1C}"/>
              </a:ext>
            </a:extLst>
          </p:cNvPr>
          <p:cNvSpPr>
            <a:spLocks xmlns:a="http://schemas.openxmlformats.org/drawingml/2006/main" noGrp="1"/>
          </p:cNvSpPr>
          <p:nvPr/>
        </p:nvSpPr>
        <p:spPr>
          <a:xfrm xmlns:a="http://schemas.openxmlformats.org/drawingml/2006/main">
            <a:off x="11525250" y="1771650"/>
            <a:ext cx="95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01</a:t>
            </a:r>
          </a:p>
        </p:txBody>
      </p:sp>
      <p:sp>
        <p:nvSpPr>
          <p:cNvPr id="4" name="Confirm the run name and date range.">
            <a:extLst xmlns:a="http://schemas.openxmlformats.org/drawingml/2006/main">
              <a:ext uri="{FF2B5EF4-FFF2-40B4-BE49-F238E27FC236}">
                <a16:creationId xmlns:a16="http://schemas.microsoft.com/office/drawing/2014/main" id="{9F8B67E5-F5C0-451D-8788-82FA00400208}"/>
              </a:ext>
            </a:extLst>
          </p:cNvPr>
          <p:cNvSpPr>
            <a:spLocks xmlns:a="http://schemas.openxmlformats.org/drawingml/2006/main" noGrp="1"/>
          </p:cNvSpPr>
          <p:nvPr/>
        </p:nvSpPr>
        <p:spPr>
          <a:xfrm xmlns:a="http://schemas.openxmlformats.org/drawingml/2006/main">
            <a:off x="11525250" y="2238375"/>
            <a:ext cx="30765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025" b="0">
                <a:solidFill>
                  <a:srgbClr val="18384B"/>
                </a:solidFill>
                <a:latin typeface="Arial"/>
                <a:ea typeface="Arial"/>
                <a:cs typeface="Arial"/>
              </a:defRPr>
            </a:pPr>
            <a:r>
              <a:rPr sz="2025" b="0">
                <a:solidFill>
                  <a:srgbClr val="18384B"/>
                </a:solidFill>
                <a:latin typeface="Arial"/>
                <a:ea typeface="Arial"/>
                <a:cs typeface="Arial"/>
              </a:rPr>
              <a:t>Confirm the run name and date range.</a:t>
            </a:r>
          </a:p>
        </p:txBody>
      </p:sp>
      <p:sp>
        <p:nvSpPr>
          <p:cNvPr id="5" name="02">
            <a:extLst xmlns:a="http://schemas.openxmlformats.org/drawingml/2006/main">
              <a:ext uri="{FF2B5EF4-FFF2-40B4-BE49-F238E27FC236}">
                <a16:creationId xmlns:a16="http://schemas.microsoft.com/office/drawing/2014/main" id="{7CE5558B-81D4-4219-AFA1-9BD6BE396C78}"/>
              </a:ext>
            </a:extLst>
          </p:cNvPr>
          <p:cNvSpPr>
            <a:spLocks xmlns:a="http://schemas.openxmlformats.org/drawingml/2006/main" noGrp="1"/>
          </p:cNvSpPr>
          <p:nvPr/>
        </p:nvSpPr>
        <p:spPr>
          <a:xfrm xmlns:a="http://schemas.openxmlformats.org/drawingml/2006/main">
            <a:off x="11525250" y="3429000"/>
            <a:ext cx="95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02</a:t>
            </a:r>
          </a:p>
        </p:txBody>
      </p:sp>
      <p:sp>
        <p:nvSpPr>
          <p:cNvPr id="6" name="Read delivered demand and shortfall together.">
            <a:extLst xmlns:a="http://schemas.openxmlformats.org/drawingml/2006/main">
              <a:ext uri="{FF2B5EF4-FFF2-40B4-BE49-F238E27FC236}">
                <a16:creationId xmlns:a16="http://schemas.microsoft.com/office/drawing/2014/main" id="{F9E8DFDD-4D02-4A14-9633-F56DE821AD13}"/>
              </a:ext>
            </a:extLst>
          </p:cNvPr>
          <p:cNvSpPr>
            <a:spLocks xmlns:a="http://schemas.openxmlformats.org/drawingml/2006/main" noGrp="1"/>
          </p:cNvSpPr>
          <p:nvPr/>
        </p:nvSpPr>
        <p:spPr>
          <a:xfrm xmlns:a="http://schemas.openxmlformats.org/drawingml/2006/main">
            <a:off x="11525250" y="3895725"/>
            <a:ext cx="30765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025" b="0">
                <a:solidFill>
                  <a:srgbClr val="18384B"/>
                </a:solidFill>
                <a:latin typeface="Arial"/>
                <a:ea typeface="Arial"/>
                <a:cs typeface="Arial"/>
              </a:defRPr>
            </a:pPr>
            <a:r>
              <a:rPr sz="2025" b="0">
                <a:solidFill>
                  <a:srgbClr val="18384B"/>
                </a:solidFill>
                <a:latin typeface="Arial"/>
                <a:ea typeface="Arial"/>
                <a:cs typeface="Arial"/>
              </a:rPr>
              <a:t>Read delivered demand and shortfall together.</a:t>
            </a:r>
          </a:p>
        </p:txBody>
      </p:sp>
      <p:sp>
        <p:nvSpPr>
          <p:cNvPr id="7" name="03">
            <a:extLst xmlns:a="http://schemas.openxmlformats.org/drawingml/2006/main">
              <a:ext uri="{FF2B5EF4-FFF2-40B4-BE49-F238E27FC236}">
                <a16:creationId xmlns:a16="http://schemas.microsoft.com/office/drawing/2014/main" id="{0EDC94C3-6F36-4052-BBDE-192AC5D5425F}"/>
              </a:ext>
            </a:extLst>
          </p:cNvPr>
          <p:cNvSpPr>
            <a:spLocks xmlns:a="http://schemas.openxmlformats.org/drawingml/2006/main" noGrp="1"/>
          </p:cNvSpPr>
          <p:nvPr/>
        </p:nvSpPr>
        <p:spPr>
          <a:xfrm xmlns:a="http://schemas.openxmlformats.org/drawingml/2006/main">
            <a:off x="11525250" y="5086350"/>
            <a:ext cx="95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03</a:t>
            </a:r>
          </a:p>
        </p:txBody>
      </p:sp>
      <p:sp>
        <p:nvSpPr>
          <p:cNvPr id="8" name="Review utilization and variable operating cost.">
            <a:extLst xmlns:a="http://schemas.openxmlformats.org/drawingml/2006/main">
              <a:ext uri="{FF2B5EF4-FFF2-40B4-BE49-F238E27FC236}">
                <a16:creationId xmlns:a16="http://schemas.microsoft.com/office/drawing/2014/main" id="{C9FF94B0-DA78-41C4-96A5-9BD778F0027E}"/>
              </a:ext>
            </a:extLst>
          </p:cNvPr>
          <p:cNvSpPr>
            <a:spLocks xmlns:a="http://schemas.openxmlformats.org/drawingml/2006/main" noGrp="1"/>
          </p:cNvSpPr>
          <p:nvPr/>
        </p:nvSpPr>
        <p:spPr>
          <a:xfrm xmlns:a="http://schemas.openxmlformats.org/drawingml/2006/main">
            <a:off x="11525250" y="5553075"/>
            <a:ext cx="30765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025" b="0">
                <a:solidFill>
                  <a:srgbClr val="18384B"/>
                </a:solidFill>
                <a:latin typeface="Arial"/>
                <a:ea typeface="Arial"/>
                <a:cs typeface="Arial"/>
              </a:defRPr>
            </a:pPr>
            <a:r>
              <a:rPr sz="2025" b="0">
                <a:solidFill>
                  <a:srgbClr val="18384B"/>
                </a:solidFill>
                <a:latin typeface="Arial"/>
                <a:ea typeface="Arial"/>
                <a:cs typeface="Arial"/>
              </a:rPr>
              <a:t>Review utilization and variable operating cost.</a:t>
            </a:r>
          </a:p>
        </p:txBody>
      </p:sp>
      <p:sp>
        <p:nvSpPr>
          <p:cNvPr id="9" name="The saved example delivers 2.58 million m³ against 2.70">
            <a:extLst xmlns:a="http://schemas.openxmlformats.org/drawingml/2006/main">
              <a:ext uri="{FF2B5EF4-FFF2-40B4-BE49-F238E27FC236}">
                <a16:creationId xmlns:a16="http://schemas.microsoft.com/office/drawing/2014/main" id="{72E32C9C-08FF-4CF6-88FA-5687D201A9EB}"/>
              </a:ext>
            </a:extLst>
          </p:cNvPr>
          <p:cNvSpPr>
            <a:spLocks xmlns:a="http://schemas.openxmlformats.org/drawingml/2006/main" noGrp="1"/>
          </p:cNvSpPr>
          <p:nvPr/>
        </p:nvSpPr>
        <p:spPr>
          <a:xfrm xmlns:a="http://schemas.openxmlformats.org/drawingml/2006/main">
            <a:off x="609600" y="7448550"/>
            <a:ext cx="1390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The saved example delivers 2.58 million m³ against 2.70 million m³ requested.</a:t>
            </a:r>
          </a:p>
        </p:txBody>
      </p:sp>
      <p:sp>
        <p:nvSpPr>
          <p:cNvPr id="10" name="WIDispatch   /   Client demonstration">
            <a:extLst xmlns:a="http://schemas.openxmlformats.org/drawingml/2006/main">
              <a:ext uri="{FF2B5EF4-FFF2-40B4-BE49-F238E27FC236}">
                <a16:creationId xmlns:a16="http://schemas.microsoft.com/office/drawing/2014/main" id="{E15EE857-BB64-4B6C-AC07-DBFE022D821A}"/>
              </a:ext>
            </a:extLst>
          </p:cNvPr>
          <p:cNvSpPr>
            <a:spLocks xmlns:a="http://schemas.openxmlformats.org/drawingml/2006/main" noGrp="1"/>
          </p:cNvSpPr>
          <p:nvPr/>
        </p:nvSpPr>
        <p:spPr>
          <a:xfrm xmlns:a="http://schemas.openxmlformats.org/drawingml/2006/main">
            <a:off x="609600" y="81724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275" b="0">
                <a:solidFill>
                  <a:srgbClr val="547080"/>
                </a:solidFill>
                <a:latin typeface="Arial"/>
                <a:ea typeface="Arial"/>
                <a:cs typeface="Arial"/>
              </a:defRPr>
            </a:pPr>
            <a:r>
              <a:rPr sz="1275" b="0">
                <a:solidFill>
                  <a:srgbClr val="547080"/>
                </a:solidFill>
                <a:latin typeface="Arial"/>
                <a:ea typeface="Arial"/>
                <a:cs typeface="Arial"/>
              </a:rPr>
              <a:t>WIDispatch   /   Client demonstration</a:t>
            </a:r>
          </a:p>
        </p:txBody>
      </p:sp>
      <p:sp>
        <p:nvSpPr>
          <p:cNvPr id="11" name="55">
            <a:extLst xmlns:a="http://schemas.openxmlformats.org/drawingml/2006/main">
              <a:ext uri="{FF2B5EF4-FFF2-40B4-BE49-F238E27FC236}">
                <a16:creationId xmlns:a16="http://schemas.microsoft.com/office/drawing/2014/main" id="{DC775A0C-DA07-46A5-82D7-6054875E4F9C}"/>
              </a:ext>
            </a:extLst>
          </p:cNvPr>
          <p:cNvSpPr>
            <a:spLocks xmlns:a="http://schemas.openxmlformats.org/drawingml/2006/main" noGrp="1"/>
          </p:cNvSpPr>
          <p:nvPr/>
        </p:nvSpPr>
        <p:spPr>
          <a:xfrm xmlns:a="http://schemas.openxmlformats.org/drawingml/2006/main">
            <a:off x="13906500" y="8115300"/>
            <a:ext cx="723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547080"/>
                </a:solidFill>
                <a:latin typeface="Arial"/>
                <a:ea typeface="Arial"/>
                <a:cs typeface="Arial"/>
              </a:defRPr>
            </a:pPr>
            <a:r>
              <a:rPr sz="1650" b="0">
                <a:solidFill>
                  <a:srgbClr val="547080"/>
                </a:solidFill>
                <a:latin typeface="Arial"/>
                <a:ea typeface="Arial"/>
                <a:cs typeface="Arial"/>
              </a:rPr>
              <a:t>61</a:t>
            </a:r>
          </a:p>
        </p:txBody>
      </p:sp>
    </p:spTree>
    <p:extLst>
      <p:ext uri="{BB962C8B-B14F-4D97-AF65-F5344CB8AC3E}">
        <p14:creationId xmlns:p14="http://schemas.microsoft.com/office/powerpoint/2010/main" val="1091456227"/>
      </p:ext>
    </p:extLst>
  </p:cSld>
</p:sld>
</file>

<file path=ppt/slides/slide6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Daily supply and dispatch behavior">
            <a:extLst xmlns:a="http://schemas.openxmlformats.org/drawingml/2006/main">
              <a:ext uri="{FF2B5EF4-FFF2-40B4-BE49-F238E27FC236}">
                <a16:creationId xmlns:a16="http://schemas.microsoft.com/office/drawing/2014/main" id="{6AF10802-FF44-421B-8F25-7D928D250C15}"/>
              </a:ext>
            </a:extLst>
          </p:cNvPr>
          <p:cNvSpPr>
            <a:spLocks xmlns:a="http://schemas.openxmlformats.org/drawingml/2006/main" noGrp="1"/>
          </p:cNvSpPr>
          <p:nvPr/>
        </p:nvSpPr>
        <p:spPr>
          <a:xfrm xmlns:a="http://schemas.openxmlformats.org/drawingml/2006/main">
            <a:off x="571500" y="428625"/>
            <a:ext cx="140970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300" b="1">
                <a:solidFill>
                  <a:srgbClr val="12374B"/>
                </a:solidFill>
                <a:latin typeface="Arial"/>
                <a:ea typeface="Arial"/>
                <a:cs typeface="Arial"/>
              </a:defRPr>
            </a:pPr>
            <a:r>
              <a:rPr sz="3300" b="1">
                <a:solidFill>
                  <a:srgbClr val="12374B"/>
                </a:solidFill>
                <a:latin typeface="Arial"/>
                <a:ea typeface="Arial"/>
                <a:cs typeface="Arial"/>
              </a:rPr>
              <a:t>Daily supply and dispatch behavior</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4218bd486a4d4ff4"/>
          <a:stretch xmlns:a="http://schemas.openxmlformats.org/drawingml/2006/main"/>
        </p:blipFill>
        <p:spPr>
          <a:xfrm xmlns:a="http://schemas.openxmlformats.org/drawingml/2006/main">
            <a:off x="1585767" y="1524000"/>
            <a:ext cx="12068467" cy="5772150"/>
          </a:xfrm>
          <a:prstGeom xmlns:a="http://schemas.openxmlformats.org/drawingml/2006/main" prst="rect">
            <a:avLst/>
          </a:prstGeom>
        </p:spPr>
      </p:pic>
      <p:sp>
        <p:nvSpPr>
          <p:cNvPr id="3" name="Daily charts reveal timing that a period total can hide">
            <a:extLst xmlns:a="http://schemas.openxmlformats.org/drawingml/2006/main">
              <a:ext uri="{FF2B5EF4-FFF2-40B4-BE49-F238E27FC236}">
                <a16:creationId xmlns:a16="http://schemas.microsoft.com/office/drawing/2014/main" id="{4F7F40C0-8628-4644-80E6-D554F7155742}"/>
              </a:ext>
            </a:extLst>
          </p:cNvPr>
          <p:cNvSpPr>
            <a:spLocks xmlns:a="http://schemas.openxmlformats.org/drawingml/2006/main" noGrp="1"/>
          </p:cNvSpPr>
          <p:nvPr/>
        </p:nvSpPr>
        <p:spPr>
          <a:xfrm xmlns:a="http://schemas.openxmlformats.org/drawingml/2006/main">
            <a:off x="609600" y="7448550"/>
            <a:ext cx="1390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Daily charts reveal timing that a period total can hide.</a:t>
            </a:r>
          </a:p>
        </p:txBody>
      </p:sp>
      <p:sp>
        <p:nvSpPr>
          <p:cNvPr id="4" name="WIDispatch   /   Client demonstration">
            <a:extLst xmlns:a="http://schemas.openxmlformats.org/drawingml/2006/main">
              <a:ext uri="{FF2B5EF4-FFF2-40B4-BE49-F238E27FC236}">
                <a16:creationId xmlns:a16="http://schemas.microsoft.com/office/drawing/2014/main" id="{06E3A467-39AF-4A4E-AA7C-AE2EC6D9E602}"/>
              </a:ext>
            </a:extLst>
          </p:cNvPr>
          <p:cNvSpPr>
            <a:spLocks xmlns:a="http://schemas.openxmlformats.org/drawingml/2006/main" noGrp="1"/>
          </p:cNvSpPr>
          <p:nvPr/>
        </p:nvSpPr>
        <p:spPr>
          <a:xfrm xmlns:a="http://schemas.openxmlformats.org/drawingml/2006/main">
            <a:off x="609600" y="81724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275" b="0">
                <a:solidFill>
                  <a:srgbClr val="547080"/>
                </a:solidFill>
                <a:latin typeface="Arial"/>
                <a:ea typeface="Arial"/>
                <a:cs typeface="Arial"/>
              </a:defRPr>
            </a:pPr>
            <a:r>
              <a:rPr sz="1275" b="0">
                <a:solidFill>
                  <a:srgbClr val="547080"/>
                </a:solidFill>
                <a:latin typeface="Arial"/>
                <a:ea typeface="Arial"/>
                <a:cs typeface="Arial"/>
              </a:rPr>
              <a:t>WIDispatch   /   Client demonstration</a:t>
            </a:r>
          </a:p>
        </p:txBody>
      </p:sp>
      <p:sp>
        <p:nvSpPr>
          <p:cNvPr id="5" name="56">
            <a:extLst xmlns:a="http://schemas.openxmlformats.org/drawingml/2006/main">
              <a:ext uri="{FF2B5EF4-FFF2-40B4-BE49-F238E27FC236}">
                <a16:creationId xmlns:a16="http://schemas.microsoft.com/office/drawing/2014/main" id="{4AF63486-1FEA-4761-87EE-211BEDC6FD73}"/>
              </a:ext>
            </a:extLst>
          </p:cNvPr>
          <p:cNvSpPr>
            <a:spLocks xmlns:a="http://schemas.openxmlformats.org/drawingml/2006/main" noGrp="1"/>
          </p:cNvSpPr>
          <p:nvPr/>
        </p:nvSpPr>
        <p:spPr>
          <a:xfrm xmlns:a="http://schemas.openxmlformats.org/drawingml/2006/main">
            <a:off x="13906500" y="8115300"/>
            <a:ext cx="723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547080"/>
                </a:solidFill>
                <a:latin typeface="Arial"/>
                <a:ea typeface="Arial"/>
                <a:cs typeface="Arial"/>
              </a:defRPr>
            </a:pPr>
            <a:r>
              <a:rPr sz="1650" b="0">
                <a:solidFill>
                  <a:srgbClr val="547080"/>
                </a:solidFill>
                <a:latin typeface="Arial"/>
                <a:ea typeface="Arial"/>
                <a:cs typeface="Arial"/>
              </a:rPr>
              <a:t>62</a:t>
            </a:r>
          </a:p>
        </p:txBody>
      </p:sp>
    </p:spTree>
    <p:extLst>
      <p:ext uri="{BB962C8B-B14F-4D97-AF65-F5344CB8AC3E}">
        <p14:creationId xmlns:p14="http://schemas.microsoft.com/office/powerpoint/2010/main" val="970631539"/>
      </p:ext>
    </p:extLst>
  </p:cSld>
</p:sld>
</file>

<file path=ppt/slides/slide6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torage and shortage investigation">
            <a:extLst xmlns:a="http://schemas.openxmlformats.org/drawingml/2006/main">
              <a:ext uri="{FF2B5EF4-FFF2-40B4-BE49-F238E27FC236}">
                <a16:creationId xmlns:a16="http://schemas.microsoft.com/office/drawing/2014/main" id="{2C8F2707-7D2C-4725-AE21-98875D6AEDD1}"/>
              </a:ext>
            </a:extLst>
          </p:cNvPr>
          <p:cNvSpPr>
            <a:spLocks xmlns:a="http://schemas.openxmlformats.org/drawingml/2006/main" noGrp="1"/>
          </p:cNvSpPr>
          <p:nvPr/>
        </p:nvSpPr>
        <p:spPr>
          <a:xfrm xmlns:a="http://schemas.openxmlformats.org/drawingml/2006/main">
            <a:off x="571500" y="428625"/>
            <a:ext cx="140970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300" b="1">
                <a:solidFill>
                  <a:srgbClr val="12374B"/>
                </a:solidFill>
                <a:latin typeface="Arial"/>
                <a:ea typeface="Arial"/>
                <a:cs typeface="Arial"/>
              </a:defRPr>
            </a:pPr>
            <a:r>
              <a:rPr sz="3300" b="1">
                <a:solidFill>
                  <a:srgbClr val="12374B"/>
                </a:solidFill>
                <a:latin typeface="Arial"/>
                <a:ea typeface="Arial"/>
                <a:cs typeface="Arial"/>
              </a:rPr>
              <a:t>Storage and shortage investigation</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0215ec896dc844bc"/>
          <a:stretch xmlns:a="http://schemas.openxmlformats.org/drawingml/2006/main"/>
        </p:blipFill>
        <p:spPr>
          <a:xfrm xmlns:a="http://schemas.openxmlformats.org/drawingml/2006/main">
            <a:off x="476250" y="1830335"/>
            <a:ext cx="10668000" cy="5102330"/>
          </a:xfrm>
          <a:prstGeom xmlns:a="http://schemas.openxmlformats.org/drawingml/2006/main" prst="rect">
            <a:avLst/>
          </a:prstGeom>
        </p:spPr>
      </p:pic>
      <p:sp>
        <p:nvSpPr>
          <p:cNvPr id="3" name="01">
            <a:extLst xmlns:a="http://schemas.openxmlformats.org/drawingml/2006/main">
              <a:ext uri="{FF2B5EF4-FFF2-40B4-BE49-F238E27FC236}">
                <a16:creationId xmlns:a16="http://schemas.microsoft.com/office/drawing/2014/main" id="{73A40DFD-9FFE-4D00-A5B7-15CFC2004A78}"/>
              </a:ext>
            </a:extLst>
          </p:cNvPr>
          <p:cNvSpPr>
            <a:spLocks xmlns:a="http://schemas.openxmlformats.org/drawingml/2006/main" noGrp="1"/>
          </p:cNvSpPr>
          <p:nvPr/>
        </p:nvSpPr>
        <p:spPr>
          <a:xfrm xmlns:a="http://schemas.openxmlformats.org/drawingml/2006/main">
            <a:off x="11525250" y="1771650"/>
            <a:ext cx="95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01</a:t>
            </a:r>
          </a:p>
        </p:txBody>
      </p:sp>
      <p:sp>
        <p:nvSpPr>
          <p:cNvPr id="4" name="Inspect tank inflow, outflow and ending inventory.">
            <a:extLst xmlns:a="http://schemas.openxmlformats.org/drawingml/2006/main">
              <a:ext uri="{FF2B5EF4-FFF2-40B4-BE49-F238E27FC236}">
                <a16:creationId xmlns:a16="http://schemas.microsoft.com/office/drawing/2014/main" id="{379A1C40-3105-4C4A-9688-DB96BA557FFE}"/>
              </a:ext>
            </a:extLst>
          </p:cNvPr>
          <p:cNvSpPr>
            <a:spLocks xmlns:a="http://schemas.openxmlformats.org/drawingml/2006/main" noGrp="1"/>
          </p:cNvSpPr>
          <p:nvPr/>
        </p:nvSpPr>
        <p:spPr>
          <a:xfrm xmlns:a="http://schemas.openxmlformats.org/drawingml/2006/main">
            <a:off x="11525250" y="2238375"/>
            <a:ext cx="30765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025" b="0">
                <a:solidFill>
                  <a:srgbClr val="18384B"/>
                </a:solidFill>
                <a:latin typeface="Arial"/>
                <a:ea typeface="Arial"/>
                <a:cs typeface="Arial"/>
              </a:defRPr>
            </a:pPr>
            <a:r>
              <a:rPr sz="2025" b="0">
                <a:solidFill>
                  <a:srgbClr val="18384B"/>
                </a:solidFill>
                <a:latin typeface="Arial"/>
                <a:ea typeface="Arial"/>
                <a:cs typeface="Arial"/>
              </a:rPr>
              <a:t>Inspect tank inflow, outflow and ending inventory.</a:t>
            </a:r>
          </a:p>
        </p:txBody>
      </p:sp>
      <p:sp>
        <p:nvSpPr>
          <p:cNvPr id="5" name="02">
            <a:extLst xmlns:a="http://schemas.openxmlformats.org/drawingml/2006/main">
              <a:ext uri="{FF2B5EF4-FFF2-40B4-BE49-F238E27FC236}">
                <a16:creationId xmlns:a16="http://schemas.microsoft.com/office/drawing/2014/main" id="{09BF7E10-F727-4E04-BAB2-C30989F810B2}"/>
              </a:ext>
            </a:extLst>
          </p:cNvPr>
          <p:cNvSpPr>
            <a:spLocks xmlns:a="http://schemas.openxmlformats.org/drawingml/2006/main" noGrp="1"/>
          </p:cNvSpPr>
          <p:nvPr/>
        </p:nvSpPr>
        <p:spPr>
          <a:xfrm xmlns:a="http://schemas.openxmlformats.org/drawingml/2006/main">
            <a:off x="11525250" y="3429000"/>
            <a:ext cx="95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02</a:t>
            </a:r>
          </a:p>
        </p:txBody>
      </p:sp>
      <p:sp>
        <p:nvSpPr>
          <p:cNvPr id="6" name="Find the city gate and days with shortfalls.">
            <a:extLst xmlns:a="http://schemas.openxmlformats.org/drawingml/2006/main">
              <a:ext uri="{FF2B5EF4-FFF2-40B4-BE49-F238E27FC236}">
                <a16:creationId xmlns:a16="http://schemas.microsoft.com/office/drawing/2014/main" id="{7EC1242B-B2DB-42B2-9CE5-3AC70D41CCC7}"/>
              </a:ext>
            </a:extLst>
          </p:cNvPr>
          <p:cNvSpPr>
            <a:spLocks xmlns:a="http://schemas.openxmlformats.org/drawingml/2006/main" noGrp="1"/>
          </p:cNvSpPr>
          <p:nvPr/>
        </p:nvSpPr>
        <p:spPr>
          <a:xfrm xmlns:a="http://schemas.openxmlformats.org/drawingml/2006/main">
            <a:off x="11525250" y="3895725"/>
            <a:ext cx="30765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025" b="0">
                <a:solidFill>
                  <a:srgbClr val="18384B"/>
                </a:solidFill>
                <a:latin typeface="Arial"/>
                <a:ea typeface="Arial"/>
                <a:cs typeface="Arial"/>
              </a:defRPr>
            </a:pPr>
            <a:r>
              <a:rPr sz="2025" b="0">
                <a:solidFill>
                  <a:srgbClr val="18384B"/>
                </a:solidFill>
                <a:latin typeface="Arial"/>
                <a:ea typeface="Arial"/>
                <a:cs typeface="Arial"/>
              </a:rPr>
              <a:t>Find the city gate and days with shortfalls.</a:t>
            </a:r>
          </a:p>
        </p:txBody>
      </p:sp>
      <p:sp>
        <p:nvSpPr>
          <p:cNvPr id="7" name="03">
            <a:extLst xmlns:a="http://schemas.openxmlformats.org/drawingml/2006/main">
              <a:ext uri="{FF2B5EF4-FFF2-40B4-BE49-F238E27FC236}">
                <a16:creationId xmlns:a16="http://schemas.microsoft.com/office/drawing/2014/main" id="{BC507008-251F-469A-81D9-C1403875F3DB}"/>
              </a:ext>
            </a:extLst>
          </p:cNvPr>
          <p:cNvSpPr>
            <a:spLocks xmlns:a="http://schemas.openxmlformats.org/drawingml/2006/main" noGrp="1"/>
          </p:cNvSpPr>
          <p:nvPr/>
        </p:nvSpPr>
        <p:spPr>
          <a:xfrm xmlns:a="http://schemas.openxmlformats.org/drawingml/2006/main">
            <a:off x="11525250" y="5086350"/>
            <a:ext cx="95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03</a:t>
            </a:r>
          </a:p>
        </p:txBody>
      </p:sp>
      <p:sp>
        <p:nvSpPr>
          <p:cNvPr id="8" name="Read the limiting condition before changing a decision.">
            <a:extLst xmlns:a="http://schemas.openxmlformats.org/drawingml/2006/main">
              <a:ext uri="{FF2B5EF4-FFF2-40B4-BE49-F238E27FC236}">
                <a16:creationId xmlns:a16="http://schemas.microsoft.com/office/drawing/2014/main" id="{DEF2494A-CE68-424E-B889-FF3CD9DAC882}"/>
              </a:ext>
            </a:extLst>
          </p:cNvPr>
          <p:cNvSpPr>
            <a:spLocks xmlns:a="http://schemas.openxmlformats.org/drawingml/2006/main" noGrp="1"/>
          </p:cNvSpPr>
          <p:nvPr/>
        </p:nvSpPr>
        <p:spPr>
          <a:xfrm xmlns:a="http://schemas.openxmlformats.org/drawingml/2006/main">
            <a:off x="11525250" y="5553075"/>
            <a:ext cx="30765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025" b="0">
                <a:solidFill>
                  <a:srgbClr val="18384B"/>
                </a:solidFill>
                <a:latin typeface="Arial"/>
                <a:ea typeface="Arial"/>
                <a:cs typeface="Arial"/>
              </a:defRPr>
            </a:pPr>
            <a:r>
              <a:rPr sz="2025" b="0">
                <a:solidFill>
                  <a:srgbClr val="18384B"/>
                </a:solidFill>
                <a:latin typeface="Arial"/>
                <a:ea typeface="Arial"/>
                <a:cs typeface="Arial"/>
              </a:rPr>
              <a:t>Read the limiting condition before changing a decision.</a:t>
            </a:r>
          </a:p>
        </p:txBody>
      </p:sp>
      <p:sp>
        <p:nvSpPr>
          <p:cNvPr id="9" name="In this example, production capacity exhaustion leaves ">
            <a:extLst xmlns:a="http://schemas.openxmlformats.org/drawingml/2006/main">
              <a:ext uri="{FF2B5EF4-FFF2-40B4-BE49-F238E27FC236}">
                <a16:creationId xmlns:a16="http://schemas.microsoft.com/office/drawing/2014/main" id="{E8DBF015-3EBB-49A2-8DA5-E2543E4BED87}"/>
              </a:ext>
            </a:extLst>
          </p:cNvPr>
          <p:cNvSpPr>
            <a:spLocks xmlns:a="http://schemas.openxmlformats.org/drawingml/2006/main" noGrp="1"/>
          </p:cNvSpPr>
          <p:nvPr/>
        </p:nvSpPr>
        <p:spPr>
          <a:xfrm xmlns:a="http://schemas.openxmlformats.org/drawingml/2006/main">
            <a:off x="609600" y="7448550"/>
            <a:ext cx="1390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In this example, production capacity exhaustion leaves 60,000 m³ unmet on each of two days.</a:t>
            </a:r>
          </a:p>
        </p:txBody>
      </p:sp>
      <p:sp>
        <p:nvSpPr>
          <p:cNvPr id="10" name="WIDispatch   /   Client demonstration">
            <a:extLst xmlns:a="http://schemas.openxmlformats.org/drawingml/2006/main">
              <a:ext uri="{FF2B5EF4-FFF2-40B4-BE49-F238E27FC236}">
                <a16:creationId xmlns:a16="http://schemas.microsoft.com/office/drawing/2014/main" id="{7593448C-D464-4BE8-823B-E1A8B61625EA}"/>
              </a:ext>
            </a:extLst>
          </p:cNvPr>
          <p:cNvSpPr>
            <a:spLocks xmlns:a="http://schemas.openxmlformats.org/drawingml/2006/main" noGrp="1"/>
          </p:cNvSpPr>
          <p:nvPr/>
        </p:nvSpPr>
        <p:spPr>
          <a:xfrm xmlns:a="http://schemas.openxmlformats.org/drawingml/2006/main">
            <a:off x="609600" y="81724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275" b="0">
                <a:solidFill>
                  <a:srgbClr val="547080"/>
                </a:solidFill>
                <a:latin typeface="Arial"/>
                <a:ea typeface="Arial"/>
                <a:cs typeface="Arial"/>
              </a:defRPr>
            </a:pPr>
            <a:r>
              <a:rPr sz="1275" b="0">
                <a:solidFill>
                  <a:srgbClr val="547080"/>
                </a:solidFill>
                <a:latin typeface="Arial"/>
                <a:ea typeface="Arial"/>
                <a:cs typeface="Arial"/>
              </a:rPr>
              <a:t>WIDispatch   /   Client demonstration</a:t>
            </a:r>
          </a:p>
        </p:txBody>
      </p:sp>
      <p:sp>
        <p:nvSpPr>
          <p:cNvPr id="11" name="57">
            <a:extLst xmlns:a="http://schemas.openxmlformats.org/drawingml/2006/main">
              <a:ext uri="{FF2B5EF4-FFF2-40B4-BE49-F238E27FC236}">
                <a16:creationId xmlns:a16="http://schemas.microsoft.com/office/drawing/2014/main" id="{AD07166B-81C5-4445-8E85-8CA384EA80AC}"/>
              </a:ext>
            </a:extLst>
          </p:cNvPr>
          <p:cNvSpPr>
            <a:spLocks xmlns:a="http://schemas.openxmlformats.org/drawingml/2006/main" noGrp="1"/>
          </p:cNvSpPr>
          <p:nvPr/>
        </p:nvSpPr>
        <p:spPr>
          <a:xfrm xmlns:a="http://schemas.openxmlformats.org/drawingml/2006/main">
            <a:off x="13906500" y="8115300"/>
            <a:ext cx="723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547080"/>
                </a:solidFill>
                <a:latin typeface="Arial"/>
                <a:ea typeface="Arial"/>
                <a:cs typeface="Arial"/>
              </a:defRPr>
            </a:pPr>
            <a:r>
              <a:rPr sz="1650" b="0">
                <a:solidFill>
                  <a:srgbClr val="547080"/>
                </a:solidFill>
                <a:latin typeface="Arial"/>
                <a:ea typeface="Arial"/>
                <a:cs typeface="Arial"/>
              </a:rPr>
              <a:t>63</a:t>
            </a:r>
          </a:p>
        </p:txBody>
      </p:sp>
    </p:spTree>
    <p:extLst>
      <p:ext uri="{BB962C8B-B14F-4D97-AF65-F5344CB8AC3E}">
        <p14:creationId xmlns:p14="http://schemas.microsoft.com/office/powerpoint/2010/main" val="832798866"/>
      </p:ext>
    </p:extLst>
  </p:cSld>
</p:sld>
</file>

<file path=ppt/slides/slide6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he shortage day on the canvas">
            <a:extLst xmlns:a="http://schemas.openxmlformats.org/drawingml/2006/main">
              <a:ext uri="{FF2B5EF4-FFF2-40B4-BE49-F238E27FC236}">
                <a16:creationId xmlns:a16="http://schemas.microsoft.com/office/drawing/2014/main" id="{19140746-35EA-4510-901F-6B2847A3AE15}"/>
              </a:ext>
            </a:extLst>
          </p:cNvPr>
          <p:cNvSpPr>
            <a:spLocks xmlns:a="http://schemas.openxmlformats.org/drawingml/2006/main" noGrp="1"/>
          </p:cNvSpPr>
          <p:nvPr/>
        </p:nvSpPr>
        <p:spPr>
          <a:xfrm xmlns:a="http://schemas.openxmlformats.org/drawingml/2006/main">
            <a:off x="571500" y="428625"/>
            <a:ext cx="140970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300" b="1">
                <a:solidFill>
                  <a:srgbClr val="12374B"/>
                </a:solidFill>
                <a:latin typeface="Arial"/>
                <a:ea typeface="Arial"/>
                <a:cs typeface="Arial"/>
              </a:defRPr>
            </a:pPr>
            <a:r>
              <a:rPr sz="3300" b="1">
                <a:solidFill>
                  <a:srgbClr val="12374B"/>
                </a:solidFill>
                <a:latin typeface="Arial"/>
                <a:ea typeface="Arial"/>
                <a:cs typeface="Arial"/>
              </a:rPr>
              <a:t>The shortage day on the canvas</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c899c7e3d4dc4f16"/>
          <a:stretch xmlns:a="http://schemas.openxmlformats.org/drawingml/2006/main"/>
        </p:blipFill>
        <p:spPr>
          <a:xfrm xmlns:a="http://schemas.openxmlformats.org/drawingml/2006/main">
            <a:off x="1225822" y="1524000"/>
            <a:ext cx="12788356" cy="5772150"/>
          </a:xfrm>
          <a:prstGeom xmlns:a="http://schemas.openxmlformats.org/drawingml/2006/main" prst="rect">
            <a:avLst/>
          </a:prstGeom>
        </p:spPr>
      </p:pic>
      <p:sp>
        <p:nvSpPr>
          <p:cNvPr id="3" name="Select a day to inspect its flows, binding constraints ">
            <a:extLst xmlns:a="http://schemas.openxmlformats.org/drawingml/2006/main">
              <a:ext uri="{FF2B5EF4-FFF2-40B4-BE49-F238E27FC236}">
                <a16:creationId xmlns:a16="http://schemas.microsoft.com/office/drawing/2014/main" id="{066012A7-4645-4DD0-A9BA-6E7D31F0E2B6}"/>
              </a:ext>
            </a:extLst>
          </p:cNvPr>
          <p:cNvSpPr>
            <a:spLocks xmlns:a="http://schemas.openxmlformats.org/drawingml/2006/main" noGrp="1"/>
          </p:cNvSpPr>
          <p:nvPr/>
        </p:nvSpPr>
        <p:spPr>
          <a:xfrm xmlns:a="http://schemas.openxmlformats.org/drawingml/2006/main">
            <a:off x="609600" y="7448550"/>
            <a:ext cx="1390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Select a day to inspect its flows, binding constraints and city-gate shortage.</a:t>
            </a:r>
          </a:p>
        </p:txBody>
      </p:sp>
      <p:sp>
        <p:nvSpPr>
          <p:cNvPr id="4" name="WIDispatch   /   Client demonstration">
            <a:extLst xmlns:a="http://schemas.openxmlformats.org/drawingml/2006/main">
              <a:ext uri="{FF2B5EF4-FFF2-40B4-BE49-F238E27FC236}">
                <a16:creationId xmlns:a16="http://schemas.microsoft.com/office/drawing/2014/main" id="{F5437652-0BAF-4A66-9E38-A9C0F7356754}"/>
              </a:ext>
            </a:extLst>
          </p:cNvPr>
          <p:cNvSpPr>
            <a:spLocks xmlns:a="http://schemas.openxmlformats.org/drawingml/2006/main" noGrp="1"/>
          </p:cNvSpPr>
          <p:nvPr/>
        </p:nvSpPr>
        <p:spPr>
          <a:xfrm xmlns:a="http://schemas.openxmlformats.org/drawingml/2006/main">
            <a:off x="609600" y="81724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275" b="0">
                <a:solidFill>
                  <a:srgbClr val="547080"/>
                </a:solidFill>
                <a:latin typeface="Arial"/>
                <a:ea typeface="Arial"/>
                <a:cs typeface="Arial"/>
              </a:defRPr>
            </a:pPr>
            <a:r>
              <a:rPr sz="1275" b="0">
                <a:solidFill>
                  <a:srgbClr val="547080"/>
                </a:solidFill>
                <a:latin typeface="Arial"/>
                <a:ea typeface="Arial"/>
                <a:cs typeface="Arial"/>
              </a:rPr>
              <a:t>WIDispatch   /   Client demonstration</a:t>
            </a:r>
          </a:p>
        </p:txBody>
      </p:sp>
      <p:sp>
        <p:nvSpPr>
          <p:cNvPr id="5" name="58">
            <a:extLst xmlns:a="http://schemas.openxmlformats.org/drawingml/2006/main">
              <a:ext uri="{FF2B5EF4-FFF2-40B4-BE49-F238E27FC236}">
                <a16:creationId xmlns:a16="http://schemas.microsoft.com/office/drawing/2014/main" id="{A7FF2790-091A-425A-BFDC-D04B621EFD79}"/>
              </a:ext>
            </a:extLst>
          </p:cNvPr>
          <p:cNvSpPr>
            <a:spLocks xmlns:a="http://schemas.openxmlformats.org/drawingml/2006/main" noGrp="1"/>
          </p:cNvSpPr>
          <p:nvPr/>
        </p:nvSpPr>
        <p:spPr>
          <a:xfrm xmlns:a="http://schemas.openxmlformats.org/drawingml/2006/main">
            <a:off x="13906500" y="8115300"/>
            <a:ext cx="723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547080"/>
                </a:solidFill>
                <a:latin typeface="Arial"/>
                <a:ea typeface="Arial"/>
                <a:cs typeface="Arial"/>
              </a:defRPr>
            </a:pPr>
            <a:r>
              <a:rPr sz="1650" b="0">
                <a:solidFill>
                  <a:srgbClr val="547080"/>
                </a:solidFill>
                <a:latin typeface="Arial"/>
                <a:ea typeface="Arial"/>
                <a:cs typeface="Arial"/>
              </a:rPr>
              <a:t>64</a:t>
            </a:r>
          </a:p>
        </p:txBody>
      </p:sp>
    </p:spTree>
    <p:extLst>
      <p:ext uri="{BB962C8B-B14F-4D97-AF65-F5344CB8AC3E}">
        <p14:creationId xmlns:p14="http://schemas.microsoft.com/office/powerpoint/2010/main" val="113955357"/>
      </p:ext>
    </p:extLst>
  </p:cSld>
</p:sld>
</file>

<file path=ppt/slides/slide6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Binding constraints on the simulation canvas">
            <a:extLst xmlns:a="http://schemas.openxmlformats.org/drawingml/2006/main">
              <a:ext uri="{FF2B5EF4-FFF2-40B4-BE49-F238E27FC236}">
                <a16:creationId xmlns:a16="http://schemas.microsoft.com/office/drawing/2014/main" id="{EC6EA66A-44A5-4608-9501-C61D98CC9E51}"/>
              </a:ext>
            </a:extLst>
          </p:cNvPr>
          <p:cNvSpPr>
            <a:spLocks xmlns:a="http://schemas.openxmlformats.org/drawingml/2006/main" noGrp="1"/>
          </p:cNvSpPr>
          <p:nvPr/>
        </p:nvSpPr>
        <p:spPr>
          <a:xfrm xmlns:a="http://schemas.openxmlformats.org/drawingml/2006/main">
            <a:off x="571500" y="428625"/>
            <a:ext cx="140970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300" b="1">
                <a:solidFill>
                  <a:srgbClr val="12374B"/>
                </a:solidFill>
                <a:latin typeface="Arial"/>
                <a:ea typeface="Arial"/>
                <a:cs typeface="Arial"/>
              </a:defRPr>
            </a:pPr>
            <a:r>
              <a:rPr sz="3300" b="1">
                <a:solidFill>
                  <a:srgbClr val="12374B"/>
                </a:solidFill>
                <a:latin typeface="Arial"/>
                <a:ea typeface="Arial"/>
                <a:cs typeface="Arial"/>
              </a:rPr>
              <a:t>Binding constraints on the simulation canvas</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017ac215d9514c23"/>
          <a:stretch xmlns:a="http://schemas.openxmlformats.org/drawingml/2006/main"/>
        </p:blipFill>
        <p:spPr>
          <a:xfrm xmlns:a="http://schemas.openxmlformats.org/drawingml/2006/main">
            <a:off x="1247973" y="1524000"/>
            <a:ext cx="12744054" cy="5772150"/>
          </a:xfrm>
          <a:prstGeom xmlns:a="http://schemas.openxmlformats.org/drawingml/2006/main" prst="rect">
            <a:avLst/>
          </a:prstGeom>
        </p:spPr>
      </p:pic>
      <p:sp>
        <p:nvSpPr>
          <p:cNvPr id="3" name="The shortage day shows which supplies bind and which ga">
            <a:extLst xmlns:a="http://schemas.openxmlformats.org/drawingml/2006/main">
              <a:ext uri="{FF2B5EF4-FFF2-40B4-BE49-F238E27FC236}">
                <a16:creationId xmlns:a16="http://schemas.microsoft.com/office/drawing/2014/main" id="{DBA81C91-A040-4E0D-8DFB-36930F8C4290}"/>
              </a:ext>
            </a:extLst>
          </p:cNvPr>
          <p:cNvSpPr>
            <a:spLocks xmlns:a="http://schemas.openxmlformats.org/drawingml/2006/main" noGrp="1"/>
          </p:cNvSpPr>
          <p:nvPr/>
        </p:nvSpPr>
        <p:spPr>
          <a:xfrm xmlns:a="http://schemas.openxmlformats.org/drawingml/2006/main">
            <a:off x="609600" y="7448550"/>
            <a:ext cx="1390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The shortage day shows which supplies bind and which gate receives less than requested.</a:t>
            </a:r>
          </a:p>
        </p:txBody>
      </p:sp>
      <p:sp>
        <p:nvSpPr>
          <p:cNvPr id="4" name="WIDispatch   /   Client demonstration">
            <a:extLst xmlns:a="http://schemas.openxmlformats.org/drawingml/2006/main">
              <a:ext uri="{FF2B5EF4-FFF2-40B4-BE49-F238E27FC236}">
                <a16:creationId xmlns:a16="http://schemas.microsoft.com/office/drawing/2014/main" id="{1FBFBBD1-89FE-4613-AD57-F07930EED1FA}"/>
              </a:ext>
            </a:extLst>
          </p:cNvPr>
          <p:cNvSpPr>
            <a:spLocks xmlns:a="http://schemas.openxmlformats.org/drawingml/2006/main" noGrp="1"/>
          </p:cNvSpPr>
          <p:nvPr/>
        </p:nvSpPr>
        <p:spPr>
          <a:xfrm xmlns:a="http://schemas.openxmlformats.org/drawingml/2006/main">
            <a:off x="609600" y="81724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275" b="0">
                <a:solidFill>
                  <a:srgbClr val="547080"/>
                </a:solidFill>
                <a:latin typeface="Arial"/>
                <a:ea typeface="Arial"/>
                <a:cs typeface="Arial"/>
              </a:defRPr>
            </a:pPr>
            <a:r>
              <a:rPr sz="1275" b="0">
                <a:solidFill>
                  <a:srgbClr val="547080"/>
                </a:solidFill>
                <a:latin typeface="Arial"/>
                <a:ea typeface="Arial"/>
                <a:cs typeface="Arial"/>
              </a:rPr>
              <a:t>WIDispatch   /   Client demonstration</a:t>
            </a:r>
          </a:p>
        </p:txBody>
      </p:sp>
      <p:sp>
        <p:nvSpPr>
          <p:cNvPr id="5" name="59">
            <a:extLst xmlns:a="http://schemas.openxmlformats.org/drawingml/2006/main">
              <a:ext uri="{FF2B5EF4-FFF2-40B4-BE49-F238E27FC236}">
                <a16:creationId xmlns:a16="http://schemas.microsoft.com/office/drawing/2014/main" id="{7494D8B6-B431-49A0-8688-A50566A7194A}"/>
              </a:ext>
            </a:extLst>
          </p:cNvPr>
          <p:cNvSpPr>
            <a:spLocks xmlns:a="http://schemas.openxmlformats.org/drawingml/2006/main" noGrp="1"/>
          </p:cNvSpPr>
          <p:nvPr/>
        </p:nvSpPr>
        <p:spPr>
          <a:xfrm xmlns:a="http://schemas.openxmlformats.org/drawingml/2006/main">
            <a:off x="13906500" y="8115300"/>
            <a:ext cx="723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547080"/>
                </a:solidFill>
                <a:latin typeface="Arial"/>
                <a:ea typeface="Arial"/>
                <a:cs typeface="Arial"/>
              </a:defRPr>
            </a:pPr>
            <a:r>
              <a:rPr sz="1650" b="0">
                <a:solidFill>
                  <a:srgbClr val="547080"/>
                </a:solidFill>
                <a:latin typeface="Arial"/>
                <a:ea typeface="Arial"/>
                <a:cs typeface="Arial"/>
              </a:rPr>
              <a:t>65</a:t>
            </a:r>
          </a:p>
        </p:txBody>
      </p:sp>
    </p:spTree>
    <p:extLst>
      <p:ext uri="{BB962C8B-B14F-4D97-AF65-F5344CB8AC3E}">
        <p14:creationId xmlns:p14="http://schemas.microsoft.com/office/powerpoint/2010/main" val="251231091"/>
      </p:ext>
    </p:extLst>
  </p:cSld>
</p:sld>
</file>

<file path=ppt/slides/slide6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racing delivered water after the run">
            <a:extLst xmlns:a="http://schemas.openxmlformats.org/drawingml/2006/main">
              <a:ext uri="{FF2B5EF4-FFF2-40B4-BE49-F238E27FC236}">
                <a16:creationId xmlns:a16="http://schemas.microsoft.com/office/drawing/2014/main" id="{C0C5E529-584F-4831-BE00-B30504B2E437}"/>
              </a:ext>
            </a:extLst>
          </p:cNvPr>
          <p:cNvSpPr>
            <a:spLocks xmlns:a="http://schemas.openxmlformats.org/drawingml/2006/main" noGrp="1"/>
          </p:cNvSpPr>
          <p:nvPr/>
        </p:nvSpPr>
        <p:spPr>
          <a:xfrm xmlns:a="http://schemas.openxmlformats.org/drawingml/2006/main">
            <a:off x="571500" y="428625"/>
            <a:ext cx="140970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300" b="1">
                <a:solidFill>
                  <a:srgbClr val="12374B"/>
                </a:solidFill>
                <a:latin typeface="Arial"/>
                <a:ea typeface="Arial"/>
                <a:cs typeface="Arial"/>
              </a:defRPr>
            </a:pPr>
            <a:r>
              <a:rPr sz="3300" b="1">
                <a:solidFill>
                  <a:srgbClr val="12374B"/>
                </a:solidFill>
                <a:latin typeface="Arial"/>
                <a:ea typeface="Arial"/>
                <a:cs typeface="Arial"/>
              </a:rPr>
              <a:t>Tracing delivered water after the run</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52c0527fc61240f4"/>
          <a:stretch xmlns:a="http://schemas.openxmlformats.org/drawingml/2006/main"/>
        </p:blipFill>
        <p:spPr>
          <a:xfrm xmlns:a="http://schemas.openxmlformats.org/drawingml/2006/main">
            <a:off x="1247973" y="1524000"/>
            <a:ext cx="12744054" cy="5772150"/>
          </a:xfrm>
          <a:prstGeom xmlns:a="http://schemas.openxmlformats.org/drawingml/2006/main" prst="rect">
            <a:avLst/>
          </a:prstGeom>
        </p:spPr>
      </p:pic>
      <p:sp>
        <p:nvSpPr>
          <p:cNvPr id="3" name="Delivered trace follows the selected day’s contributing">
            <a:extLst xmlns:a="http://schemas.openxmlformats.org/drawingml/2006/main">
              <a:ext uri="{FF2B5EF4-FFF2-40B4-BE49-F238E27FC236}">
                <a16:creationId xmlns:a16="http://schemas.microsoft.com/office/drawing/2014/main" id="{5112F56B-102A-4BCA-9524-E8DB9547CE63}"/>
              </a:ext>
            </a:extLst>
          </p:cNvPr>
          <p:cNvSpPr>
            <a:spLocks xmlns:a="http://schemas.openxmlformats.org/drawingml/2006/main" noGrp="1"/>
          </p:cNvSpPr>
          <p:nvPr/>
        </p:nvSpPr>
        <p:spPr>
          <a:xfrm xmlns:a="http://schemas.openxmlformats.org/drawingml/2006/main">
            <a:off x="609600" y="7448550"/>
            <a:ext cx="1390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Delivered trace follows the selected day’s contributing flows to the receiving gate.</a:t>
            </a:r>
          </a:p>
        </p:txBody>
      </p:sp>
      <p:sp>
        <p:nvSpPr>
          <p:cNvPr id="4" name="WIDispatch   /   Client demonstration">
            <a:extLst xmlns:a="http://schemas.openxmlformats.org/drawingml/2006/main">
              <a:ext uri="{FF2B5EF4-FFF2-40B4-BE49-F238E27FC236}">
                <a16:creationId xmlns:a16="http://schemas.microsoft.com/office/drawing/2014/main" id="{15076585-088A-4679-A9CD-29ECCBF23EF6}"/>
              </a:ext>
            </a:extLst>
          </p:cNvPr>
          <p:cNvSpPr>
            <a:spLocks xmlns:a="http://schemas.openxmlformats.org/drawingml/2006/main" noGrp="1"/>
          </p:cNvSpPr>
          <p:nvPr/>
        </p:nvSpPr>
        <p:spPr>
          <a:xfrm xmlns:a="http://schemas.openxmlformats.org/drawingml/2006/main">
            <a:off x="609600" y="81724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275" b="0">
                <a:solidFill>
                  <a:srgbClr val="547080"/>
                </a:solidFill>
                <a:latin typeface="Arial"/>
                <a:ea typeface="Arial"/>
                <a:cs typeface="Arial"/>
              </a:defRPr>
            </a:pPr>
            <a:r>
              <a:rPr sz="1275" b="0">
                <a:solidFill>
                  <a:srgbClr val="547080"/>
                </a:solidFill>
                <a:latin typeface="Arial"/>
                <a:ea typeface="Arial"/>
                <a:cs typeface="Arial"/>
              </a:rPr>
              <a:t>WIDispatch   /   Client demonstration</a:t>
            </a:r>
          </a:p>
        </p:txBody>
      </p:sp>
      <p:sp>
        <p:nvSpPr>
          <p:cNvPr id="5" name="60">
            <a:extLst xmlns:a="http://schemas.openxmlformats.org/drawingml/2006/main">
              <a:ext uri="{FF2B5EF4-FFF2-40B4-BE49-F238E27FC236}">
                <a16:creationId xmlns:a16="http://schemas.microsoft.com/office/drawing/2014/main" id="{8FE18FB8-1FF3-46CE-87DE-DE122DF4C149}"/>
              </a:ext>
            </a:extLst>
          </p:cNvPr>
          <p:cNvSpPr>
            <a:spLocks xmlns:a="http://schemas.openxmlformats.org/drawingml/2006/main" noGrp="1"/>
          </p:cNvSpPr>
          <p:nvPr/>
        </p:nvSpPr>
        <p:spPr>
          <a:xfrm xmlns:a="http://schemas.openxmlformats.org/drawingml/2006/main">
            <a:off x="13906500" y="8115300"/>
            <a:ext cx="723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547080"/>
                </a:solidFill>
                <a:latin typeface="Arial"/>
                <a:ea typeface="Arial"/>
                <a:cs typeface="Arial"/>
              </a:defRPr>
            </a:pPr>
            <a:r>
              <a:rPr sz="1650" b="0">
                <a:solidFill>
                  <a:srgbClr val="547080"/>
                </a:solidFill>
                <a:latin typeface="Arial"/>
                <a:ea typeface="Arial"/>
                <a:cs typeface="Arial"/>
              </a:rPr>
              <a:t>66</a:t>
            </a:r>
          </a:p>
        </p:txBody>
      </p:sp>
    </p:spTree>
    <p:extLst>
      <p:ext uri="{BB962C8B-B14F-4D97-AF65-F5344CB8AC3E}">
        <p14:creationId xmlns:p14="http://schemas.microsoft.com/office/powerpoint/2010/main" val="1099682450"/>
      </p:ext>
    </p:extLst>
  </p:cSld>
</p:sld>
</file>

<file path=ppt/slides/slide6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imulation canvas review tools">
            <a:extLst xmlns:a="http://schemas.openxmlformats.org/drawingml/2006/main">
              <a:ext uri="{FF2B5EF4-FFF2-40B4-BE49-F238E27FC236}">
                <a16:creationId xmlns:a16="http://schemas.microsoft.com/office/drawing/2014/main" id="{1D96A026-F8C9-4E33-BE64-B45CCAA76CD2}"/>
              </a:ext>
            </a:extLst>
          </p:cNvPr>
          <p:cNvSpPr>
            <a:spLocks xmlns:a="http://schemas.openxmlformats.org/drawingml/2006/main" noGrp="1"/>
          </p:cNvSpPr>
          <p:nvPr/>
        </p:nvSpPr>
        <p:spPr>
          <a:xfrm xmlns:a="http://schemas.openxmlformats.org/drawingml/2006/main">
            <a:off x="571500" y="428625"/>
            <a:ext cx="140970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300" b="1">
                <a:solidFill>
                  <a:srgbClr val="12374B"/>
                </a:solidFill>
                <a:latin typeface="Arial"/>
                <a:ea typeface="Arial"/>
                <a:cs typeface="Arial"/>
              </a:defRPr>
            </a:pPr>
            <a:r>
              <a:rPr sz="3300" b="1">
                <a:solidFill>
                  <a:srgbClr val="12374B"/>
                </a:solidFill>
                <a:latin typeface="Arial"/>
                <a:ea typeface="Arial"/>
                <a:cs typeface="Arial"/>
              </a:rPr>
              <a:t>Simulation canvas review tools</a:t>
            </a:r>
          </a:p>
        </p:txBody>
      </p:sp>
      <p:sp>
        <p:nvSpPr>
          <p:cNvPr id="2" name="Time controls">
            <a:extLst xmlns:a="http://schemas.openxmlformats.org/drawingml/2006/main">
              <a:ext uri="{FF2B5EF4-FFF2-40B4-BE49-F238E27FC236}">
                <a16:creationId xmlns:a16="http://schemas.microsoft.com/office/drawing/2014/main" id="{AAA3D496-48F0-4FC0-84DB-E87C451B2D53}"/>
              </a:ext>
            </a:extLst>
          </p:cNvPr>
          <p:cNvSpPr>
            <a:spLocks xmlns:a="http://schemas.openxmlformats.org/drawingml/2006/main" noGrp="1"/>
          </p:cNvSpPr>
          <p:nvPr/>
        </p:nvSpPr>
        <p:spPr>
          <a:xfrm xmlns:a="http://schemas.openxmlformats.org/drawingml/2006/main">
            <a:off x="609600" y="1952625"/>
            <a:ext cx="4267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400" b="1">
                <a:solidFill>
                  <a:srgbClr val="007E92"/>
                </a:solidFill>
                <a:latin typeface="Arial"/>
                <a:ea typeface="Arial"/>
                <a:cs typeface="Arial"/>
              </a:defRPr>
            </a:pPr>
            <a:r>
              <a:rPr sz="2400" b="1">
                <a:solidFill>
                  <a:srgbClr val="007E92"/>
                </a:solidFill>
                <a:latin typeface="Arial"/>
                <a:ea typeface="Arial"/>
                <a:cs typeface="Arial"/>
              </a:rPr>
              <a:t>Time controls</a:t>
            </a:r>
          </a:p>
        </p:txBody>
      </p:sp>
      <p:sp>
        <p:nvSpPr>
          <p:cNvPr id="3" name="Select an individual day, use Previous/Next, or play th">
            <a:extLst xmlns:a="http://schemas.openxmlformats.org/drawingml/2006/main">
              <a:ext uri="{FF2B5EF4-FFF2-40B4-BE49-F238E27FC236}">
                <a16:creationId xmlns:a16="http://schemas.microsoft.com/office/drawing/2014/main" id="{D529A958-755D-480C-A7B9-F1DCA83087B2}"/>
              </a:ext>
            </a:extLst>
          </p:cNvPr>
          <p:cNvSpPr>
            <a:spLocks xmlns:a="http://schemas.openxmlformats.org/drawingml/2006/main" noGrp="1"/>
          </p:cNvSpPr>
          <p:nvPr/>
        </p:nvSpPr>
        <p:spPr>
          <a:xfrm xmlns:a="http://schemas.openxmlformats.org/drawingml/2006/main">
            <a:off x="609600" y="3067050"/>
            <a:ext cx="4238625" cy="3200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325" b="0">
                <a:solidFill>
                  <a:srgbClr val="18384B"/>
                </a:solidFill>
                <a:latin typeface="Arial"/>
                <a:ea typeface="Arial"/>
                <a:cs typeface="Arial"/>
              </a:defRPr>
            </a:pPr>
            <a:r>
              <a:rPr sz="2325" b="0">
                <a:solidFill>
                  <a:srgbClr val="18384B"/>
                </a:solidFill>
                <a:latin typeface="Arial"/>
                <a:ea typeface="Arial"/>
                <a:cs typeface="Arial"/>
              </a:rPr>
              <a:t>Select an individual day, use Previous/Next, or play the horizon. Compare shortage days with fully served days.</a:t>
            </a:r>
          </a:p>
        </p:txBody>
      </p:sp>
      <p:sp>
        <p:nvSpPr>
          <p:cNvPr id="4" name="Network overlays">
            <a:extLst xmlns:a="http://schemas.openxmlformats.org/drawingml/2006/main">
              <a:ext uri="{FF2B5EF4-FFF2-40B4-BE49-F238E27FC236}">
                <a16:creationId xmlns:a16="http://schemas.microsoft.com/office/drawing/2014/main" id="{D2EF1E30-93B7-4B33-A313-F63518106766}"/>
              </a:ext>
            </a:extLst>
          </p:cNvPr>
          <p:cNvSpPr>
            <a:spLocks xmlns:a="http://schemas.openxmlformats.org/drawingml/2006/main" noGrp="1"/>
          </p:cNvSpPr>
          <p:nvPr/>
        </p:nvSpPr>
        <p:spPr>
          <a:xfrm xmlns:a="http://schemas.openxmlformats.org/drawingml/2006/main">
            <a:off x="5419725" y="1952625"/>
            <a:ext cx="4267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400" b="1">
                <a:solidFill>
                  <a:srgbClr val="007E92"/>
                </a:solidFill>
                <a:latin typeface="Arial"/>
                <a:ea typeface="Arial"/>
                <a:cs typeface="Arial"/>
              </a:defRPr>
            </a:pPr>
            <a:r>
              <a:rPr sz="2400" b="1">
                <a:solidFill>
                  <a:srgbClr val="007E92"/>
                </a:solidFill>
                <a:latin typeface="Arial"/>
                <a:ea typeface="Arial"/>
                <a:cs typeface="Arial"/>
              </a:rPr>
              <a:t>Network overlays</a:t>
            </a:r>
          </a:p>
        </p:txBody>
      </p:sp>
      <p:sp>
        <p:nvSpPr>
          <p:cNvPr id="5" name="Toggle Flow, Legend and Bottlenecks. Select an element ">
            <a:extLst xmlns:a="http://schemas.openxmlformats.org/drawingml/2006/main">
              <a:ext uri="{FF2B5EF4-FFF2-40B4-BE49-F238E27FC236}">
                <a16:creationId xmlns:a16="http://schemas.microsoft.com/office/drawing/2014/main" id="{A0D5A12E-0DCE-4798-B85E-926B24463941}"/>
              </a:ext>
            </a:extLst>
          </p:cNvPr>
          <p:cNvSpPr>
            <a:spLocks xmlns:a="http://schemas.openxmlformats.org/drawingml/2006/main" noGrp="1"/>
          </p:cNvSpPr>
          <p:nvPr/>
        </p:nvSpPr>
        <p:spPr>
          <a:xfrm xmlns:a="http://schemas.openxmlformats.org/drawingml/2006/main">
            <a:off x="5419725" y="3067050"/>
            <a:ext cx="4238625" cy="3200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325" b="0">
                <a:solidFill>
                  <a:srgbClr val="18384B"/>
                </a:solidFill>
                <a:latin typeface="Arial"/>
                <a:ea typeface="Arial"/>
                <a:cs typeface="Arial"/>
              </a:defRPr>
            </a:pPr>
            <a:r>
              <a:rPr sz="2325" b="0">
                <a:solidFill>
                  <a:srgbClr val="18384B"/>
                </a:solidFill>
                <a:latin typeface="Arial"/>
                <a:ea typeface="Arial"/>
                <a:cs typeface="Arial"/>
              </a:rPr>
              <a:t>Toggle Flow, Legend and Bottlenecks. Select an element to inspect its daily operating history.</a:t>
            </a:r>
          </a:p>
        </p:txBody>
      </p:sp>
      <p:sp>
        <p:nvSpPr>
          <p:cNvPr id="6" name="Focused review">
            <a:extLst xmlns:a="http://schemas.openxmlformats.org/drawingml/2006/main">
              <a:ext uri="{FF2B5EF4-FFF2-40B4-BE49-F238E27FC236}">
                <a16:creationId xmlns:a16="http://schemas.microsoft.com/office/drawing/2014/main" id="{4368C178-52B0-4FDE-AFB5-B59EA8AEA62C}"/>
              </a:ext>
            </a:extLst>
          </p:cNvPr>
          <p:cNvSpPr>
            <a:spLocks xmlns:a="http://schemas.openxmlformats.org/drawingml/2006/main" noGrp="1"/>
          </p:cNvSpPr>
          <p:nvPr/>
        </p:nvSpPr>
        <p:spPr>
          <a:xfrm xmlns:a="http://schemas.openxmlformats.org/drawingml/2006/main">
            <a:off x="10229850" y="1952625"/>
            <a:ext cx="4267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400" b="1">
                <a:solidFill>
                  <a:srgbClr val="007E92"/>
                </a:solidFill>
                <a:latin typeface="Arial"/>
                <a:ea typeface="Arial"/>
                <a:cs typeface="Arial"/>
              </a:defRPr>
            </a:pPr>
            <a:r>
              <a:rPr sz="2400" b="1">
                <a:solidFill>
                  <a:srgbClr val="007E92"/>
                </a:solidFill>
                <a:latin typeface="Arial"/>
                <a:ea typeface="Arial"/>
                <a:cs typeface="Arial"/>
              </a:rPr>
              <a:t>Focused review</a:t>
            </a:r>
          </a:p>
        </p:txBody>
      </p:sp>
      <p:sp>
        <p:nvSpPr>
          <p:cNvPr id="7" name="Use Trace and Isolate to inspect a path. Fit, Reset and">
            <a:extLst xmlns:a="http://schemas.openxmlformats.org/drawingml/2006/main">
              <a:ext uri="{FF2B5EF4-FFF2-40B4-BE49-F238E27FC236}">
                <a16:creationId xmlns:a16="http://schemas.microsoft.com/office/drawing/2014/main" id="{4C3C6B10-8E7C-4D11-BC30-A004F4245C7E}"/>
              </a:ext>
            </a:extLst>
          </p:cNvPr>
          <p:cNvSpPr>
            <a:spLocks xmlns:a="http://schemas.openxmlformats.org/drawingml/2006/main" noGrp="1"/>
          </p:cNvSpPr>
          <p:nvPr/>
        </p:nvSpPr>
        <p:spPr>
          <a:xfrm xmlns:a="http://schemas.openxmlformats.org/drawingml/2006/main">
            <a:off x="10229850" y="3067050"/>
            <a:ext cx="4238625" cy="3200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325" b="0">
                <a:solidFill>
                  <a:srgbClr val="18384B"/>
                </a:solidFill>
                <a:latin typeface="Arial"/>
                <a:ea typeface="Arial"/>
                <a:cs typeface="Arial"/>
              </a:defRPr>
            </a:pPr>
            <a:r>
              <a:rPr sz="2325" b="0">
                <a:solidFill>
                  <a:srgbClr val="18384B"/>
                </a:solidFill>
                <a:latin typeface="Arial"/>
                <a:ea typeface="Arial"/>
                <a:cs typeface="Arial"/>
              </a:rPr>
              <a:t>Use Trace and Isolate to inspect a path. Fit, Reset and Clear restore a broader view.</a:t>
            </a:r>
          </a:p>
        </p:txBody>
      </p:sp>
      <p:sp>
        <p:nvSpPr>
          <p:cNvPr id="8" name="The simulation canvas explains the saved run. Edit the ">
            <a:extLst xmlns:a="http://schemas.openxmlformats.org/drawingml/2006/main">
              <a:ext uri="{FF2B5EF4-FFF2-40B4-BE49-F238E27FC236}">
                <a16:creationId xmlns:a16="http://schemas.microsoft.com/office/drawing/2014/main" id="{4F8A21EA-3802-449E-BB9B-EE5F9A82EE31}"/>
              </a:ext>
            </a:extLst>
          </p:cNvPr>
          <p:cNvSpPr>
            <a:spLocks xmlns:a="http://schemas.openxmlformats.org/drawingml/2006/main" noGrp="1"/>
          </p:cNvSpPr>
          <p:nvPr/>
        </p:nvSpPr>
        <p:spPr>
          <a:xfrm xmlns:a="http://schemas.openxmlformats.org/drawingml/2006/main">
            <a:off x="609600" y="7448550"/>
            <a:ext cx="1390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The simulation canvas explains the saved run. Edit the model or assumptions before rerunning.</a:t>
            </a:r>
          </a:p>
        </p:txBody>
      </p:sp>
      <p:sp>
        <p:nvSpPr>
          <p:cNvPr id="9" name="WIDispatch   /   Client demonstration">
            <a:extLst xmlns:a="http://schemas.openxmlformats.org/drawingml/2006/main">
              <a:ext uri="{FF2B5EF4-FFF2-40B4-BE49-F238E27FC236}">
                <a16:creationId xmlns:a16="http://schemas.microsoft.com/office/drawing/2014/main" id="{B445703E-2261-47F1-9C49-B645B936A254}"/>
              </a:ext>
            </a:extLst>
          </p:cNvPr>
          <p:cNvSpPr>
            <a:spLocks xmlns:a="http://schemas.openxmlformats.org/drawingml/2006/main" noGrp="1"/>
          </p:cNvSpPr>
          <p:nvPr/>
        </p:nvSpPr>
        <p:spPr>
          <a:xfrm xmlns:a="http://schemas.openxmlformats.org/drawingml/2006/main">
            <a:off x="609600" y="81724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275" b="0">
                <a:solidFill>
                  <a:srgbClr val="547080"/>
                </a:solidFill>
                <a:latin typeface="Arial"/>
                <a:ea typeface="Arial"/>
                <a:cs typeface="Arial"/>
              </a:defRPr>
            </a:pPr>
            <a:r>
              <a:rPr sz="1275" b="0">
                <a:solidFill>
                  <a:srgbClr val="547080"/>
                </a:solidFill>
                <a:latin typeface="Arial"/>
                <a:ea typeface="Arial"/>
                <a:cs typeface="Arial"/>
              </a:rPr>
              <a:t>WIDispatch   /   Client demonstration</a:t>
            </a:r>
          </a:p>
        </p:txBody>
      </p:sp>
      <p:sp>
        <p:nvSpPr>
          <p:cNvPr id="10" name="61">
            <a:extLst xmlns:a="http://schemas.openxmlformats.org/drawingml/2006/main">
              <a:ext uri="{FF2B5EF4-FFF2-40B4-BE49-F238E27FC236}">
                <a16:creationId xmlns:a16="http://schemas.microsoft.com/office/drawing/2014/main" id="{F4B40B6F-C9BE-4FD3-A10A-A84E51354A13}"/>
              </a:ext>
            </a:extLst>
          </p:cNvPr>
          <p:cNvSpPr>
            <a:spLocks xmlns:a="http://schemas.openxmlformats.org/drawingml/2006/main" noGrp="1"/>
          </p:cNvSpPr>
          <p:nvPr/>
        </p:nvSpPr>
        <p:spPr>
          <a:xfrm xmlns:a="http://schemas.openxmlformats.org/drawingml/2006/main">
            <a:off x="13906500" y="8115300"/>
            <a:ext cx="723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547080"/>
                </a:solidFill>
                <a:latin typeface="Arial"/>
                <a:ea typeface="Arial"/>
                <a:cs typeface="Arial"/>
              </a:defRPr>
            </a:pPr>
            <a:r>
              <a:rPr sz="1650" b="0">
                <a:solidFill>
                  <a:srgbClr val="547080"/>
                </a:solidFill>
                <a:latin typeface="Arial"/>
                <a:ea typeface="Arial"/>
                <a:cs typeface="Arial"/>
              </a:rPr>
              <a:t>67</a:t>
            </a:r>
          </a:p>
        </p:txBody>
      </p:sp>
    </p:spTree>
    <p:extLst>
      <p:ext uri="{BB962C8B-B14F-4D97-AF65-F5344CB8AC3E}">
        <p14:creationId xmlns:p14="http://schemas.microsoft.com/office/powerpoint/2010/main" val="992349160"/>
      </p:ext>
    </p:extLst>
  </p:cSld>
</p:sld>
</file>

<file path=ppt/slides/slide6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Draft decisions and proposed publication">
            <a:extLst xmlns:a="http://schemas.openxmlformats.org/drawingml/2006/main">
              <a:ext uri="{FF2B5EF4-FFF2-40B4-BE49-F238E27FC236}">
                <a16:creationId xmlns:a16="http://schemas.microsoft.com/office/drawing/2014/main" id="{DA43FF4A-7AED-45BE-BA46-EA5E3237AD5D}"/>
              </a:ext>
            </a:extLst>
          </p:cNvPr>
          <p:cNvSpPr>
            <a:spLocks xmlns:a="http://schemas.openxmlformats.org/drawingml/2006/main" noGrp="1"/>
          </p:cNvSpPr>
          <p:nvPr/>
        </p:nvSpPr>
        <p:spPr>
          <a:xfrm xmlns:a="http://schemas.openxmlformats.org/drawingml/2006/main">
            <a:off x="571500" y="428625"/>
            <a:ext cx="140970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300" b="1">
                <a:solidFill>
                  <a:srgbClr val="12374B"/>
                </a:solidFill>
                <a:latin typeface="Arial"/>
                <a:ea typeface="Arial"/>
                <a:cs typeface="Arial"/>
              </a:defRPr>
            </a:pPr>
            <a:r>
              <a:rPr sz="3300" b="1">
                <a:solidFill>
                  <a:srgbClr val="12374B"/>
                </a:solidFill>
                <a:latin typeface="Arial"/>
                <a:ea typeface="Arial"/>
                <a:cs typeface="Arial"/>
              </a:rPr>
              <a:t>Draft decisions and proposed publication</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d0895af7f96d41be"/>
          <a:stretch xmlns:a="http://schemas.openxmlformats.org/drawingml/2006/main"/>
        </p:blipFill>
        <p:spPr>
          <a:xfrm xmlns:a="http://schemas.openxmlformats.org/drawingml/2006/main">
            <a:off x="476250" y="1830335"/>
            <a:ext cx="10668000" cy="5102330"/>
          </a:xfrm>
          <a:prstGeom xmlns:a="http://schemas.openxmlformats.org/drawingml/2006/main" prst="rect">
            <a:avLst/>
          </a:prstGeom>
        </p:spPr>
      </p:pic>
      <p:sp>
        <p:nvSpPr>
          <p:cNvPr id="3" name="01">
            <a:extLst xmlns:a="http://schemas.openxmlformats.org/drawingml/2006/main">
              <a:ext uri="{FF2B5EF4-FFF2-40B4-BE49-F238E27FC236}">
                <a16:creationId xmlns:a16="http://schemas.microsoft.com/office/drawing/2014/main" id="{7026C347-BD96-4D11-8845-647211C43AEF}"/>
              </a:ext>
            </a:extLst>
          </p:cNvPr>
          <p:cNvSpPr>
            <a:spLocks xmlns:a="http://schemas.openxmlformats.org/drawingml/2006/main" noGrp="1"/>
          </p:cNvSpPr>
          <p:nvPr/>
        </p:nvSpPr>
        <p:spPr>
          <a:xfrm xmlns:a="http://schemas.openxmlformats.org/drawingml/2006/main">
            <a:off x="11525250" y="1771650"/>
            <a:ext cx="95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01</a:t>
            </a:r>
          </a:p>
        </p:txBody>
      </p:sp>
      <p:sp>
        <p:nvSpPr>
          <p:cNvPr id="4" name="Open Decisions after reviewing Results.">
            <a:extLst xmlns:a="http://schemas.openxmlformats.org/drawingml/2006/main">
              <a:ext uri="{FF2B5EF4-FFF2-40B4-BE49-F238E27FC236}">
                <a16:creationId xmlns:a16="http://schemas.microsoft.com/office/drawing/2014/main" id="{CF2B8FD0-9F48-459C-BAB5-72E39C52BA76}"/>
              </a:ext>
            </a:extLst>
          </p:cNvPr>
          <p:cNvSpPr>
            <a:spLocks xmlns:a="http://schemas.openxmlformats.org/drawingml/2006/main" noGrp="1"/>
          </p:cNvSpPr>
          <p:nvPr/>
        </p:nvSpPr>
        <p:spPr>
          <a:xfrm xmlns:a="http://schemas.openxmlformats.org/drawingml/2006/main">
            <a:off x="11525250" y="2238375"/>
            <a:ext cx="30765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025" b="0">
                <a:solidFill>
                  <a:srgbClr val="18384B"/>
                </a:solidFill>
                <a:latin typeface="Arial"/>
                <a:ea typeface="Arial"/>
                <a:cs typeface="Arial"/>
              </a:defRPr>
            </a:pPr>
            <a:r>
              <a:rPr sz="2025" b="0">
                <a:solidFill>
                  <a:srgbClr val="18384B"/>
                </a:solidFill>
                <a:latin typeface="Arial"/>
                <a:ea typeface="Arial"/>
                <a:cs typeface="Arial"/>
              </a:rPr>
              <a:t>Open Decisions after reviewing Results.</a:t>
            </a:r>
          </a:p>
        </p:txBody>
      </p:sp>
      <p:sp>
        <p:nvSpPr>
          <p:cNvPr id="5" name="02">
            <a:extLst xmlns:a="http://schemas.openxmlformats.org/drawingml/2006/main">
              <a:ext uri="{FF2B5EF4-FFF2-40B4-BE49-F238E27FC236}">
                <a16:creationId xmlns:a16="http://schemas.microsoft.com/office/drawing/2014/main" id="{AC676E50-1DDC-4FCE-BD91-461445EC3D6C}"/>
              </a:ext>
            </a:extLst>
          </p:cNvPr>
          <p:cNvSpPr>
            <a:spLocks xmlns:a="http://schemas.openxmlformats.org/drawingml/2006/main" noGrp="1"/>
          </p:cNvSpPr>
          <p:nvPr/>
        </p:nvSpPr>
        <p:spPr>
          <a:xfrm xmlns:a="http://schemas.openxmlformats.org/drawingml/2006/main">
            <a:off x="11525250" y="3429000"/>
            <a:ext cx="95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02</a:t>
            </a:r>
          </a:p>
        </p:txBody>
      </p:sp>
      <p:sp>
        <p:nvSpPr>
          <p:cNvPr id="6" name="Review maintenance verdicts and city-gate demand.">
            <a:extLst xmlns:a="http://schemas.openxmlformats.org/drawingml/2006/main">
              <a:ext uri="{FF2B5EF4-FFF2-40B4-BE49-F238E27FC236}">
                <a16:creationId xmlns:a16="http://schemas.microsoft.com/office/drawing/2014/main" id="{4F3A885C-0A59-4A2D-822C-61599152CFA0}"/>
              </a:ext>
            </a:extLst>
          </p:cNvPr>
          <p:cNvSpPr>
            <a:spLocks xmlns:a="http://schemas.openxmlformats.org/drawingml/2006/main" noGrp="1"/>
          </p:cNvSpPr>
          <p:nvPr/>
        </p:nvSpPr>
        <p:spPr>
          <a:xfrm xmlns:a="http://schemas.openxmlformats.org/drawingml/2006/main">
            <a:off x="11525250" y="3895725"/>
            <a:ext cx="30765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025" b="0">
                <a:solidFill>
                  <a:srgbClr val="18384B"/>
                </a:solidFill>
                <a:latin typeface="Arial"/>
                <a:ea typeface="Arial"/>
                <a:cs typeface="Arial"/>
              </a:defRPr>
            </a:pPr>
            <a:r>
              <a:rPr sz="2025" b="0">
                <a:solidFill>
                  <a:srgbClr val="18384B"/>
                </a:solidFill>
                <a:latin typeface="Arial"/>
                <a:ea typeface="Arial"/>
                <a:cs typeface="Arial"/>
              </a:rPr>
              <a:t>Review maintenance verdicts and city-gate demand.</a:t>
            </a:r>
          </a:p>
        </p:txBody>
      </p:sp>
      <p:sp>
        <p:nvSpPr>
          <p:cNvPr id="7" name="03">
            <a:extLst xmlns:a="http://schemas.openxmlformats.org/drawingml/2006/main">
              <a:ext uri="{FF2B5EF4-FFF2-40B4-BE49-F238E27FC236}">
                <a16:creationId xmlns:a16="http://schemas.microsoft.com/office/drawing/2014/main" id="{9069845B-E51F-435F-A7EF-C5670197A90A}"/>
              </a:ext>
            </a:extLst>
          </p:cNvPr>
          <p:cNvSpPr>
            <a:spLocks xmlns:a="http://schemas.openxmlformats.org/drawingml/2006/main" noGrp="1"/>
          </p:cNvSpPr>
          <p:nvPr/>
        </p:nvSpPr>
        <p:spPr>
          <a:xfrm xmlns:a="http://schemas.openxmlformats.org/drawingml/2006/main">
            <a:off x="11525250" y="5086350"/>
            <a:ext cx="95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03</a:t>
            </a:r>
          </a:p>
        </p:txBody>
      </p:sp>
      <p:sp>
        <p:nvSpPr>
          <p:cNvPr id="8" name="Check the production allocation grid and publication sc">
            <a:extLst xmlns:a="http://schemas.openxmlformats.org/drawingml/2006/main">
              <a:ext uri="{FF2B5EF4-FFF2-40B4-BE49-F238E27FC236}">
                <a16:creationId xmlns:a16="http://schemas.microsoft.com/office/drawing/2014/main" id="{0FEDDF7A-AB67-41F6-A07D-6A3678A4DC6E}"/>
              </a:ext>
            </a:extLst>
          </p:cNvPr>
          <p:cNvSpPr>
            <a:spLocks xmlns:a="http://schemas.openxmlformats.org/drawingml/2006/main" noGrp="1"/>
          </p:cNvSpPr>
          <p:nvPr/>
        </p:nvSpPr>
        <p:spPr>
          <a:xfrm xmlns:a="http://schemas.openxmlformats.org/drawingml/2006/main">
            <a:off x="11525250" y="5553075"/>
            <a:ext cx="30765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025" b="0">
                <a:solidFill>
                  <a:srgbClr val="18384B"/>
                </a:solidFill>
                <a:latin typeface="Arial"/>
                <a:ea typeface="Arial"/>
                <a:cs typeface="Arial"/>
              </a:defRPr>
            </a:pPr>
            <a:r>
              <a:rPr sz="2025" b="0">
                <a:solidFill>
                  <a:srgbClr val="18384B"/>
                </a:solidFill>
                <a:latin typeface="Arial"/>
                <a:ea typeface="Arial"/>
                <a:cs typeface="Arial"/>
              </a:rPr>
              <a:t>Check the production allocation grid and publication scope.</a:t>
            </a:r>
          </a:p>
        </p:txBody>
      </p:sp>
      <p:sp>
        <p:nvSpPr>
          <p:cNvPr id="9" name="This draft proposes 27 production allocations and 9 dem">
            <a:extLst xmlns:a="http://schemas.openxmlformats.org/drawingml/2006/main">
              <a:ext uri="{FF2B5EF4-FFF2-40B4-BE49-F238E27FC236}">
                <a16:creationId xmlns:a16="http://schemas.microsoft.com/office/drawing/2014/main" id="{C5E9DAE6-9F59-4F88-B08C-525FCC735F9A}"/>
              </a:ext>
            </a:extLst>
          </p:cNvPr>
          <p:cNvSpPr>
            <a:spLocks xmlns:a="http://schemas.openxmlformats.org/drawingml/2006/main" noGrp="1"/>
          </p:cNvSpPr>
          <p:nvPr/>
        </p:nvSpPr>
        <p:spPr>
          <a:xfrm xmlns:a="http://schemas.openxmlformats.org/drawingml/2006/main">
            <a:off x="609600" y="7448550"/>
            <a:ext cx="1390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This draft proposes 27 production allocations and 9 demand decisions.</a:t>
            </a:r>
          </a:p>
        </p:txBody>
      </p:sp>
      <p:sp>
        <p:nvSpPr>
          <p:cNvPr id="10" name="WIDispatch   /   Client demonstration">
            <a:extLst xmlns:a="http://schemas.openxmlformats.org/drawingml/2006/main">
              <a:ext uri="{FF2B5EF4-FFF2-40B4-BE49-F238E27FC236}">
                <a16:creationId xmlns:a16="http://schemas.microsoft.com/office/drawing/2014/main" id="{22569401-9AEB-418F-9234-715BCA998D8D}"/>
              </a:ext>
            </a:extLst>
          </p:cNvPr>
          <p:cNvSpPr>
            <a:spLocks xmlns:a="http://schemas.openxmlformats.org/drawingml/2006/main" noGrp="1"/>
          </p:cNvSpPr>
          <p:nvPr/>
        </p:nvSpPr>
        <p:spPr>
          <a:xfrm xmlns:a="http://schemas.openxmlformats.org/drawingml/2006/main">
            <a:off x="609600" y="81724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275" b="0">
                <a:solidFill>
                  <a:srgbClr val="547080"/>
                </a:solidFill>
                <a:latin typeface="Arial"/>
                <a:ea typeface="Arial"/>
                <a:cs typeface="Arial"/>
              </a:defRPr>
            </a:pPr>
            <a:r>
              <a:rPr sz="1275" b="0">
                <a:solidFill>
                  <a:srgbClr val="547080"/>
                </a:solidFill>
                <a:latin typeface="Arial"/>
                <a:ea typeface="Arial"/>
                <a:cs typeface="Arial"/>
              </a:rPr>
              <a:t>WIDispatch   /   Client demonstration</a:t>
            </a:r>
          </a:p>
        </p:txBody>
      </p:sp>
      <p:sp>
        <p:nvSpPr>
          <p:cNvPr id="11" name="62">
            <a:extLst xmlns:a="http://schemas.openxmlformats.org/drawingml/2006/main">
              <a:ext uri="{FF2B5EF4-FFF2-40B4-BE49-F238E27FC236}">
                <a16:creationId xmlns:a16="http://schemas.microsoft.com/office/drawing/2014/main" id="{6704B4FD-AD02-472D-89E7-A3008963850D}"/>
              </a:ext>
            </a:extLst>
          </p:cNvPr>
          <p:cNvSpPr>
            <a:spLocks xmlns:a="http://schemas.openxmlformats.org/drawingml/2006/main" noGrp="1"/>
          </p:cNvSpPr>
          <p:nvPr/>
        </p:nvSpPr>
        <p:spPr>
          <a:xfrm xmlns:a="http://schemas.openxmlformats.org/drawingml/2006/main">
            <a:off x="13906500" y="8115300"/>
            <a:ext cx="723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547080"/>
                </a:solidFill>
                <a:latin typeface="Arial"/>
                <a:ea typeface="Arial"/>
                <a:cs typeface="Arial"/>
              </a:defRPr>
            </a:pPr>
            <a:r>
              <a:rPr sz="1650" b="0">
                <a:solidFill>
                  <a:srgbClr val="547080"/>
                </a:solidFill>
                <a:latin typeface="Arial"/>
                <a:ea typeface="Arial"/>
                <a:cs typeface="Arial"/>
              </a:rPr>
              <a:t>68</a:t>
            </a:r>
          </a:p>
        </p:txBody>
      </p:sp>
    </p:spTree>
    <p:extLst>
      <p:ext uri="{BB962C8B-B14F-4D97-AF65-F5344CB8AC3E}">
        <p14:creationId xmlns:p14="http://schemas.microsoft.com/office/powerpoint/2010/main" val="182147040"/>
      </p:ext>
    </p:extLst>
  </p:cSld>
</p:sld>
</file>

<file path=ppt/slides/slide6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Editing the daily demand decision">
            <a:extLst xmlns:a="http://schemas.openxmlformats.org/drawingml/2006/main">
              <a:ext uri="{FF2B5EF4-FFF2-40B4-BE49-F238E27FC236}">
                <a16:creationId xmlns:a16="http://schemas.microsoft.com/office/drawing/2014/main" id="{871E3C6A-AB9B-4D81-847A-099B8AD2F910}"/>
              </a:ext>
            </a:extLst>
          </p:cNvPr>
          <p:cNvSpPr>
            <a:spLocks xmlns:a="http://schemas.openxmlformats.org/drawingml/2006/main" noGrp="1"/>
          </p:cNvSpPr>
          <p:nvPr/>
        </p:nvSpPr>
        <p:spPr>
          <a:xfrm xmlns:a="http://schemas.openxmlformats.org/drawingml/2006/main">
            <a:off x="571500" y="428625"/>
            <a:ext cx="140970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300" b="1">
                <a:solidFill>
                  <a:srgbClr val="12374B"/>
                </a:solidFill>
                <a:latin typeface="Arial"/>
                <a:ea typeface="Arial"/>
                <a:cs typeface="Arial"/>
              </a:defRPr>
            </a:pPr>
            <a:r>
              <a:rPr sz="3300" b="1">
                <a:solidFill>
                  <a:srgbClr val="12374B"/>
                </a:solidFill>
                <a:latin typeface="Arial"/>
                <a:ea typeface="Arial"/>
                <a:cs typeface="Arial"/>
              </a:rPr>
              <a:t>Editing the daily demand decision</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f8b4127b7fcb4ee7"/>
          <a:stretch xmlns:a="http://schemas.openxmlformats.org/drawingml/2006/main"/>
        </p:blipFill>
        <p:spPr>
          <a:xfrm xmlns:a="http://schemas.openxmlformats.org/drawingml/2006/main">
            <a:off x="476250" y="1830335"/>
            <a:ext cx="10668000" cy="5102330"/>
          </a:xfrm>
          <a:prstGeom xmlns:a="http://schemas.openxmlformats.org/drawingml/2006/main" prst="rect">
            <a:avLst/>
          </a:prstGeom>
        </p:spPr>
      </p:pic>
      <p:sp>
        <p:nvSpPr>
          <p:cNvPr id="3" name="01">
            <a:extLst xmlns:a="http://schemas.openxmlformats.org/drawingml/2006/main">
              <a:ext uri="{FF2B5EF4-FFF2-40B4-BE49-F238E27FC236}">
                <a16:creationId xmlns:a16="http://schemas.microsoft.com/office/drawing/2014/main" id="{0601E164-C82C-4FF7-A64E-96F5B919047E}"/>
              </a:ext>
            </a:extLst>
          </p:cNvPr>
          <p:cNvSpPr>
            <a:spLocks xmlns:a="http://schemas.openxmlformats.org/drawingml/2006/main" noGrp="1"/>
          </p:cNvSpPr>
          <p:nvPr/>
        </p:nvSpPr>
        <p:spPr>
          <a:xfrm xmlns:a="http://schemas.openxmlformats.org/drawingml/2006/main">
            <a:off x="11525250" y="1771650"/>
            <a:ext cx="95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01</a:t>
            </a:r>
          </a:p>
        </p:txBody>
      </p:sp>
      <p:sp>
        <p:nvSpPr>
          <p:cNvPr id="4" name="Expand the city-gate row.">
            <a:extLst xmlns:a="http://schemas.openxmlformats.org/drawingml/2006/main">
              <a:ext uri="{FF2B5EF4-FFF2-40B4-BE49-F238E27FC236}">
                <a16:creationId xmlns:a16="http://schemas.microsoft.com/office/drawing/2014/main" id="{7F3CD6C6-AB0C-4AD5-9DC6-873E6B025001}"/>
              </a:ext>
            </a:extLst>
          </p:cNvPr>
          <p:cNvSpPr>
            <a:spLocks xmlns:a="http://schemas.openxmlformats.org/drawingml/2006/main" noGrp="1"/>
          </p:cNvSpPr>
          <p:nvPr/>
        </p:nvSpPr>
        <p:spPr>
          <a:xfrm xmlns:a="http://schemas.openxmlformats.org/drawingml/2006/main">
            <a:off x="11525250" y="2238375"/>
            <a:ext cx="30765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025" b="0">
                <a:solidFill>
                  <a:srgbClr val="18384B"/>
                </a:solidFill>
                <a:latin typeface="Arial"/>
                <a:ea typeface="Arial"/>
                <a:cs typeface="Arial"/>
              </a:defRPr>
            </a:pPr>
            <a:r>
              <a:rPr sz="2025" b="0">
                <a:solidFill>
                  <a:srgbClr val="18384B"/>
                </a:solidFill>
                <a:latin typeface="Arial"/>
                <a:ea typeface="Arial"/>
                <a:cs typeface="Arial"/>
              </a:rPr>
              <a:t>Expand the city-gate row.</a:t>
            </a:r>
          </a:p>
        </p:txBody>
      </p:sp>
      <p:sp>
        <p:nvSpPr>
          <p:cNvPr id="5" name="02">
            <a:extLst xmlns:a="http://schemas.openxmlformats.org/drawingml/2006/main">
              <a:ext uri="{FF2B5EF4-FFF2-40B4-BE49-F238E27FC236}">
                <a16:creationId xmlns:a16="http://schemas.microsoft.com/office/drawing/2014/main" id="{236AB163-308A-4066-8559-3AF18CD0320A}"/>
              </a:ext>
            </a:extLst>
          </p:cNvPr>
          <p:cNvSpPr>
            <a:spLocks xmlns:a="http://schemas.openxmlformats.org/drawingml/2006/main" noGrp="1"/>
          </p:cNvSpPr>
          <p:nvPr/>
        </p:nvSpPr>
        <p:spPr>
          <a:xfrm xmlns:a="http://schemas.openxmlformats.org/drawingml/2006/main">
            <a:off x="11525250" y="3429000"/>
            <a:ext cx="95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02</a:t>
            </a:r>
          </a:p>
        </p:txBody>
      </p:sp>
      <p:sp>
        <p:nvSpPr>
          <p:cNvPr id="6" name="Edit the Approved volume for the required day.">
            <a:extLst xmlns:a="http://schemas.openxmlformats.org/drawingml/2006/main">
              <a:ext uri="{FF2B5EF4-FFF2-40B4-BE49-F238E27FC236}">
                <a16:creationId xmlns:a16="http://schemas.microsoft.com/office/drawing/2014/main" id="{8F2581E7-C4AE-4C87-BA10-975214C273C3}"/>
              </a:ext>
            </a:extLst>
          </p:cNvPr>
          <p:cNvSpPr>
            <a:spLocks xmlns:a="http://schemas.openxmlformats.org/drawingml/2006/main" noGrp="1"/>
          </p:cNvSpPr>
          <p:nvPr/>
        </p:nvSpPr>
        <p:spPr>
          <a:xfrm xmlns:a="http://schemas.openxmlformats.org/drawingml/2006/main">
            <a:off x="11525250" y="3895725"/>
            <a:ext cx="30765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025" b="0">
                <a:solidFill>
                  <a:srgbClr val="18384B"/>
                </a:solidFill>
                <a:latin typeface="Arial"/>
                <a:ea typeface="Arial"/>
                <a:cs typeface="Arial"/>
              </a:defRPr>
            </a:pPr>
            <a:r>
              <a:rPr sz="2025" b="0">
                <a:solidFill>
                  <a:srgbClr val="18384B"/>
                </a:solidFill>
                <a:latin typeface="Arial"/>
                <a:ea typeface="Arial"/>
                <a:cs typeface="Arial"/>
              </a:rPr>
              <a:t>Edit the Approved volume for the required day.</a:t>
            </a:r>
          </a:p>
        </p:txBody>
      </p:sp>
      <p:sp>
        <p:nvSpPr>
          <p:cNvPr id="7" name="03">
            <a:extLst xmlns:a="http://schemas.openxmlformats.org/drawingml/2006/main">
              <a:ext uri="{FF2B5EF4-FFF2-40B4-BE49-F238E27FC236}">
                <a16:creationId xmlns:a16="http://schemas.microsoft.com/office/drawing/2014/main" id="{13BD09E3-9045-48E4-96B2-E2E95B063A4B}"/>
              </a:ext>
            </a:extLst>
          </p:cNvPr>
          <p:cNvSpPr>
            <a:spLocks xmlns:a="http://schemas.openxmlformats.org/drawingml/2006/main" noGrp="1"/>
          </p:cNvSpPr>
          <p:nvPr/>
        </p:nvSpPr>
        <p:spPr>
          <a:xfrm xmlns:a="http://schemas.openxmlformats.org/drawingml/2006/main">
            <a:off x="11525250" y="5086350"/>
            <a:ext cx="95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03</a:t>
            </a:r>
          </a:p>
        </p:txBody>
      </p:sp>
      <p:sp>
        <p:nvSpPr>
          <p:cNvPr id="8" name="Add the required comment when approving less than reque">
            <a:extLst xmlns:a="http://schemas.openxmlformats.org/drawingml/2006/main">
              <a:ext uri="{FF2B5EF4-FFF2-40B4-BE49-F238E27FC236}">
                <a16:creationId xmlns:a16="http://schemas.microsoft.com/office/drawing/2014/main" id="{F968B69A-8CED-4DBA-BCF4-F344A12916F0}"/>
              </a:ext>
            </a:extLst>
          </p:cNvPr>
          <p:cNvSpPr>
            <a:spLocks xmlns:a="http://schemas.openxmlformats.org/drawingml/2006/main" noGrp="1"/>
          </p:cNvSpPr>
          <p:nvPr/>
        </p:nvSpPr>
        <p:spPr>
          <a:xfrm xmlns:a="http://schemas.openxmlformats.org/drawingml/2006/main">
            <a:off x="11525250" y="5553075"/>
            <a:ext cx="30765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025" b="0">
                <a:solidFill>
                  <a:srgbClr val="18384B"/>
                </a:solidFill>
                <a:latin typeface="Arial"/>
                <a:ea typeface="Arial"/>
                <a:cs typeface="Arial"/>
              </a:defRPr>
            </a:pPr>
            <a:r>
              <a:rPr sz="2025" b="0">
                <a:solidFill>
                  <a:srgbClr val="18384B"/>
                </a:solidFill>
                <a:latin typeface="Arial"/>
                <a:ea typeface="Arial"/>
                <a:cs typeface="Arial"/>
              </a:rPr>
              <a:t>Add the required comment when approving less than requested.</a:t>
            </a:r>
          </a:p>
        </p:txBody>
      </p:sp>
      <p:sp>
        <p:nvSpPr>
          <p:cNvPr id="9" name="The gate summary is read-only. Daily controls hold the ">
            <a:extLst xmlns:a="http://schemas.openxmlformats.org/drawingml/2006/main">
              <a:ext uri="{FF2B5EF4-FFF2-40B4-BE49-F238E27FC236}">
                <a16:creationId xmlns:a16="http://schemas.microsoft.com/office/drawing/2014/main" id="{75F40582-981C-43A3-B925-4A7D7C02DE0A}"/>
              </a:ext>
            </a:extLst>
          </p:cNvPr>
          <p:cNvSpPr>
            <a:spLocks xmlns:a="http://schemas.openxmlformats.org/drawingml/2006/main" noGrp="1"/>
          </p:cNvSpPr>
          <p:nvPr/>
        </p:nvSpPr>
        <p:spPr>
          <a:xfrm xmlns:a="http://schemas.openxmlformats.org/drawingml/2006/main">
            <a:off x="609600" y="7448550"/>
            <a:ext cx="1390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The gate summary is read-only. Daily controls hold the editable decisions.</a:t>
            </a:r>
          </a:p>
        </p:txBody>
      </p:sp>
      <p:sp>
        <p:nvSpPr>
          <p:cNvPr id="10" name="WIDispatch   /   Client demonstration">
            <a:extLst xmlns:a="http://schemas.openxmlformats.org/drawingml/2006/main">
              <a:ext uri="{FF2B5EF4-FFF2-40B4-BE49-F238E27FC236}">
                <a16:creationId xmlns:a16="http://schemas.microsoft.com/office/drawing/2014/main" id="{7F0CD884-AFA4-4E55-A114-4201AED8CBB6}"/>
              </a:ext>
            </a:extLst>
          </p:cNvPr>
          <p:cNvSpPr>
            <a:spLocks xmlns:a="http://schemas.openxmlformats.org/drawingml/2006/main" noGrp="1"/>
          </p:cNvSpPr>
          <p:nvPr/>
        </p:nvSpPr>
        <p:spPr>
          <a:xfrm xmlns:a="http://schemas.openxmlformats.org/drawingml/2006/main">
            <a:off x="609600" y="81724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275" b="0">
                <a:solidFill>
                  <a:srgbClr val="547080"/>
                </a:solidFill>
                <a:latin typeface="Arial"/>
                <a:ea typeface="Arial"/>
                <a:cs typeface="Arial"/>
              </a:defRPr>
            </a:pPr>
            <a:r>
              <a:rPr sz="1275" b="0">
                <a:solidFill>
                  <a:srgbClr val="547080"/>
                </a:solidFill>
                <a:latin typeface="Arial"/>
                <a:ea typeface="Arial"/>
                <a:cs typeface="Arial"/>
              </a:rPr>
              <a:t>WIDispatch   /   Client demonstration</a:t>
            </a:r>
          </a:p>
        </p:txBody>
      </p:sp>
      <p:sp>
        <p:nvSpPr>
          <p:cNvPr id="11" name="63">
            <a:extLst xmlns:a="http://schemas.openxmlformats.org/drawingml/2006/main">
              <a:ext uri="{FF2B5EF4-FFF2-40B4-BE49-F238E27FC236}">
                <a16:creationId xmlns:a16="http://schemas.microsoft.com/office/drawing/2014/main" id="{CF2B2CE8-8469-4C34-AF85-55A2292A041E}"/>
              </a:ext>
            </a:extLst>
          </p:cNvPr>
          <p:cNvSpPr>
            <a:spLocks xmlns:a="http://schemas.openxmlformats.org/drawingml/2006/main" noGrp="1"/>
          </p:cNvSpPr>
          <p:nvPr/>
        </p:nvSpPr>
        <p:spPr>
          <a:xfrm xmlns:a="http://schemas.openxmlformats.org/drawingml/2006/main">
            <a:off x="13906500" y="8115300"/>
            <a:ext cx="723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547080"/>
                </a:solidFill>
                <a:latin typeface="Arial"/>
                <a:ea typeface="Arial"/>
                <a:cs typeface="Arial"/>
              </a:defRPr>
            </a:pPr>
            <a:r>
              <a:rPr sz="1650" b="0">
                <a:solidFill>
                  <a:srgbClr val="547080"/>
                </a:solidFill>
                <a:latin typeface="Arial"/>
                <a:ea typeface="Arial"/>
                <a:cs typeface="Arial"/>
              </a:rPr>
              <a:t>69</a:t>
            </a:r>
          </a:p>
        </p:txBody>
      </p:sp>
    </p:spTree>
    <p:extLst>
      <p:ext uri="{BB962C8B-B14F-4D97-AF65-F5344CB8AC3E}">
        <p14:creationId xmlns:p14="http://schemas.microsoft.com/office/powerpoint/2010/main" val="246031742"/>
      </p:ext>
    </p:extLst>
  </p:cSld>
</p:sld>
</file>

<file path=ppt/slides/slide7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A useful decision comment">
            <a:extLst xmlns:a="http://schemas.openxmlformats.org/drawingml/2006/main">
              <a:ext uri="{FF2B5EF4-FFF2-40B4-BE49-F238E27FC236}">
                <a16:creationId xmlns:a16="http://schemas.microsoft.com/office/drawing/2014/main" id="{B64AC951-E641-4BFC-93CC-D0E50607388B}"/>
              </a:ext>
            </a:extLst>
          </p:cNvPr>
          <p:cNvSpPr>
            <a:spLocks xmlns:a="http://schemas.openxmlformats.org/drawingml/2006/main" noGrp="1"/>
          </p:cNvSpPr>
          <p:nvPr/>
        </p:nvSpPr>
        <p:spPr>
          <a:xfrm xmlns:a="http://schemas.openxmlformats.org/drawingml/2006/main">
            <a:off x="571500" y="428625"/>
            <a:ext cx="140970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300" b="1">
                <a:solidFill>
                  <a:srgbClr val="12374B"/>
                </a:solidFill>
                <a:latin typeface="Arial"/>
                <a:ea typeface="Arial"/>
                <a:cs typeface="Arial"/>
              </a:defRPr>
            </a:pPr>
            <a:r>
              <a:rPr sz="3300" b="1">
                <a:solidFill>
                  <a:srgbClr val="12374B"/>
                </a:solidFill>
                <a:latin typeface="Arial"/>
                <a:ea typeface="Arial"/>
                <a:cs typeface="Arial"/>
              </a:rPr>
              <a:t>A useful decision comment</a:t>
            </a:r>
          </a:p>
        </p:txBody>
      </p:sp>
      <p:sp>
        <p:nvSpPr>
          <p:cNvPr id="2" name="Approve 240,000 m³ for 15 August. Available production ">
            <a:extLst xmlns:a="http://schemas.openxmlformats.org/drawingml/2006/main">
              <a:ext uri="{FF2B5EF4-FFF2-40B4-BE49-F238E27FC236}">
                <a16:creationId xmlns:a16="http://schemas.microsoft.com/office/drawing/2014/main" id="{478617C2-6766-41F3-B24F-64D067922095}"/>
              </a:ext>
            </a:extLst>
          </p:cNvPr>
          <p:cNvSpPr>
            <a:spLocks xmlns:a="http://schemas.openxmlformats.org/drawingml/2006/main" noGrp="1"/>
          </p:cNvSpPr>
          <p:nvPr/>
        </p:nvSpPr>
        <p:spPr>
          <a:xfrm xmlns:a="http://schemas.openxmlformats.org/drawingml/2006/main">
            <a:off x="876300" y="2000250"/>
            <a:ext cx="1323975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225" b="0">
                <a:solidFill>
                  <a:srgbClr val="12374B"/>
                </a:solidFill>
                <a:latin typeface="Arial"/>
                <a:ea typeface="Arial"/>
                <a:cs typeface="Arial"/>
              </a:defRPr>
            </a:pPr>
            <a:r>
              <a:rPr sz="3225" b="0">
                <a:solidFill>
                  <a:srgbClr val="12374B"/>
                </a:solidFill>
                <a:latin typeface="Arial"/>
                <a:ea typeface="Arial"/>
                <a:cs typeface="Arial"/>
              </a:rPr>
              <a:t>Approve 240,000 m³ for 15 August. Available production and storage cannot cover the 300,000 m³ request. The shortfall is 60,000 m³. Coordinate the operating response and review the next daily plan.</a:t>
            </a:r>
          </a:p>
        </p:txBody>
      </p:sp>
      <p:sp>
        <p:nvSpPr>
          <p:cNvPr id="3" name="Example wording for the demonstrated demand reduction">
            <a:extLst xmlns:a="http://schemas.openxmlformats.org/drawingml/2006/main">
              <a:ext uri="{FF2B5EF4-FFF2-40B4-BE49-F238E27FC236}">
                <a16:creationId xmlns:a16="http://schemas.microsoft.com/office/drawing/2014/main" id="{392D95DA-2B48-451D-9727-6E33D8F5D3F5}"/>
              </a:ext>
            </a:extLst>
          </p:cNvPr>
          <p:cNvSpPr>
            <a:spLocks xmlns:a="http://schemas.openxmlformats.org/drawingml/2006/main" noGrp="1"/>
          </p:cNvSpPr>
          <p:nvPr/>
        </p:nvSpPr>
        <p:spPr>
          <a:xfrm xmlns:a="http://schemas.openxmlformats.org/drawingml/2006/main">
            <a:off x="914400" y="5172075"/>
            <a:ext cx="1323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Example wording for the demonstrated demand reduction</a:t>
            </a:r>
          </a:p>
        </p:txBody>
      </p:sp>
      <p:sp>
        <p:nvSpPr>
          <p:cNvPr id="4" name="State the asset/date, final quantity, constraint and re">
            <a:extLst xmlns:a="http://schemas.openxmlformats.org/drawingml/2006/main">
              <a:ext uri="{FF2B5EF4-FFF2-40B4-BE49-F238E27FC236}">
                <a16:creationId xmlns:a16="http://schemas.microsoft.com/office/drawing/2014/main" id="{50DD977C-5899-4AA3-B569-C725C5FB4246}"/>
              </a:ext>
            </a:extLst>
          </p:cNvPr>
          <p:cNvSpPr>
            <a:spLocks xmlns:a="http://schemas.openxmlformats.org/drawingml/2006/main" noGrp="1"/>
          </p:cNvSpPr>
          <p:nvPr/>
        </p:nvSpPr>
        <p:spPr>
          <a:xfrm xmlns:a="http://schemas.openxmlformats.org/drawingml/2006/main">
            <a:off x="914400" y="6076950"/>
            <a:ext cx="12954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00" b="0">
                <a:solidFill>
                  <a:srgbClr val="547080"/>
                </a:solidFill>
                <a:latin typeface="Arial"/>
                <a:ea typeface="Arial"/>
                <a:cs typeface="Arial"/>
              </a:defRPr>
            </a:pPr>
            <a:r>
              <a:rPr sz="2100" b="0">
                <a:solidFill>
                  <a:srgbClr val="547080"/>
                </a:solidFill>
                <a:latin typeface="Arial"/>
                <a:ea typeface="Arial"/>
                <a:cs typeface="Arial"/>
              </a:rPr>
              <a:t>State the asset/date, final quantity, constraint and required follow-up. Use the actual responsible team and agreed action when recording a real decision.</a:t>
            </a:r>
          </a:p>
        </p:txBody>
      </p:sp>
      <p:sp>
        <p:nvSpPr>
          <p:cNvPr id="5" name="WIDispatch   /   Client demonstration">
            <a:extLst xmlns:a="http://schemas.openxmlformats.org/drawingml/2006/main">
              <a:ext uri="{FF2B5EF4-FFF2-40B4-BE49-F238E27FC236}">
                <a16:creationId xmlns:a16="http://schemas.microsoft.com/office/drawing/2014/main" id="{992FBF4C-16E6-4F0B-8040-016C4119105F}"/>
              </a:ext>
            </a:extLst>
          </p:cNvPr>
          <p:cNvSpPr>
            <a:spLocks xmlns:a="http://schemas.openxmlformats.org/drawingml/2006/main" noGrp="1"/>
          </p:cNvSpPr>
          <p:nvPr/>
        </p:nvSpPr>
        <p:spPr>
          <a:xfrm xmlns:a="http://schemas.openxmlformats.org/drawingml/2006/main">
            <a:off x="609600" y="81724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275" b="0">
                <a:solidFill>
                  <a:srgbClr val="547080"/>
                </a:solidFill>
                <a:latin typeface="Arial"/>
                <a:ea typeface="Arial"/>
                <a:cs typeface="Arial"/>
              </a:defRPr>
            </a:pPr>
            <a:r>
              <a:rPr sz="1275" b="0">
                <a:solidFill>
                  <a:srgbClr val="547080"/>
                </a:solidFill>
                <a:latin typeface="Arial"/>
                <a:ea typeface="Arial"/>
                <a:cs typeface="Arial"/>
              </a:rPr>
              <a:t>WIDispatch   /   Client demonstration</a:t>
            </a:r>
          </a:p>
        </p:txBody>
      </p:sp>
      <p:sp>
        <p:nvSpPr>
          <p:cNvPr id="6" name="64">
            <a:extLst xmlns:a="http://schemas.openxmlformats.org/drawingml/2006/main">
              <a:ext uri="{FF2B5EF4-FFF2-40B4-BE49-F238E27FC236}">
                <a16:creationId xmlns:a16="http://schemas.microsoft.com/office/drawing/2014/main" id="{29C9A8FC-DB76-4773-9C28-A0A3363749F0}"/>
              </a:ext>
            </a:extLst>
          </p:cNvPr>
          <p:cNvSpPr>
            <a:spLocks xmlns:a="http://schemas.openxmlformats.org/drawingml/2006/main" noGrp="1"/>
          </p:cNvSpPr>
          <p:nvPr/>
        </p:nvSpPr>
        <p:spPr>
          <a:xfrm xmlns:a="http://schemas.openxmlformats.org/drawingml/2006/main">
            <a:off x="13906500" y="8115300"/>
            <a:ext cx="723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547080"/>
                </a:solidFill>
                <a:latin typeface="Arial"/>
                <a:ea typeface="Arial"/>
                <a:cs typeface="Arial"/>
              </a:defRPr>
            </a:pPr>
            <a:r>
              <a:rPr sz="1650" b="0">
                <a:solidFill>
                  <a:srgbClr val="547080"/>
                </a:solidFill>
                <a:latin typeface="Arial"/>
                <a:ea typeface="Arial"/>
                <a:cs typeface="Arial"/>
              </a:rPr>
              <a:t>70</a:t>
            </a:r>
          </a:p>
        </p:txBody>
      </p:sp>
    </p:spTree>
    <p:extLst>
      <p:ext uri="{BB962C8B-B14F-4D97-AF65-F5344CB8AC3E}">
        <p14:creationId xmlns:p14="http://schemas.microsoft.com/office/powerpoint/2010/main" val="266620695"/>
      </p:ext>
    </p:extLst>
  </p:cSld>
</p:sld>
</file>

<file path=ppt/slides/slide7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Maintenance decisions and schedule changes">
            <a:extLst xmlns:a="http://schemas.openxmlformats.org/drawingml/2006/main">
              <a:ext uri="{FF2B5EF4-FFF2-40B4-BE49-F238E27FC236}">
                <a16:creationId xmlns:a16="http://schemas.microsoft.com/office/drawing/2014/main" id="{354EC1F6-1818-4393-957E-DF73BFB43FBA}"/>
              </a:ext>
            </a:extLst>
          </p:cNvPr>
          <p:cNvSpPr>
            <a:spLocks xmlns:a="http://schemas.openxmlformats.org/drawingml/2006/main" noGrp="1"/>
          </p:cNvSpPr>
          <p:nvPr/>
        </p:nvSpPr>
        <p:spPr>
          <a:xfrm xmlns:a="http://schemas.openxmlformats.org/drawingml/2006/main">
            <a:off x="571500" y="428625"/>
            <a:ext cx="140970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300" b="1">
                <a:solidFill>
                  <a:srgbClr val="12374B"/>
                </a:solidFill>
                <a:latin typeface="Arial"/>
                <a:ea typeface="Arial"/>
                <a:cs typeface="Arial"/>
              </a:defRPr>
            </a:pPr>
            <a:r>
              <a:rPr sz="3300" b="1">
                <a:solidFill>
                  <a:srgbClr val="12374B"/>
                </a:solidFill>
                <a:latin typeface="Arial"/>
                <a:ea typeface="Arial"/>
                <a:cs typeface="Arial"/>
              </a:rPr>
              <a:t>Maintenance decisions and schedule changes</a:t>
            </a:r>
          </a:p>
        </p:txBody>
      </p:sp>
      <p:sp>
        <p:nvSpPr>
          <p:cNvPr id="2" name="Review the recommendation">
            <a:extLst xmlns:a="http://schemas.openxmlformats.org/drawingml/2006/main">
              <a:ext uri="{FF2B5EF4-FFF2-40B4-BE49-F238E27FC236}">
                <a16:creationId xmlns:a16="http://schemas.microsoft.com/office/drawing/2014/main" id="{E2114824-20A9-41AE-8BE9-FFA22B6EEDD3}"/>
              </a:ext>
            </a:extLst>
          </p:cNvPr>
          <p:cNvSpPr>
            <a:spLocks xmlns:a="http://schemas.openxmlformats.org/drawingml/2006/main" noGrp="1"/>
          </p:cNvSpPr>
          <p:nvPr/>
        </p:nvSpPr>
        <p:spPr>
          <a:xfrm xmlns:a="http://schemas.openxmlformats.org/drawingml/2006/main">
            <a:off x="609600" y="1952625"/>
            <a:ext cx="4267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400" b="1">
                <a:solidFill>
                  <a:srgbClr val="007E92"/>
                </a:solidFill>
                <a:latin typeface="Arial"/>
                <a:ea typeface="Arial"/>
                <a:cs typeface="Arial"/>
              </a:defRPr>
            </a:pPr>
            <a:r>
              <a:rPr sz="2400" b="1">
                <a:solidFill>
                  <a:srgbClr val="007E92"/>
                </a:solidFill>
                <a:latin typeface="Arial"/>
                <a:ea typeface="Arial"/>
                <a:cs typeface="Arial"/>
              </a:rPr>
              <a:t>Review the recommendation</a:t>
            </a:r>
          </a:p>
        </p:txBody>
      </p:sp>
      <p:sp>
        <p:nvSpPr>
          <p:cNvPr id="3" name="Inspect the affected asset, proposed window, shortage c">
            <a:extLst xmlns:a="http://schemas.openxmlformats.org/drawingml/2006/main">
              <a:ext uri="{FF2B5EF4-FFF2-40B4-BE49-F238E27FC236}">
                <a16:creationId xmlns:a16="http://schemas.microsoft.com/office/drawing/2014/main" id="{51F5B4E4-26BC-4DCE-9D74-1BF173A0A350}"/>
              </a:ext>
            </a:extLst>
          </p:cNvPr>
          <p:cNvSpPr>
            <a:spLocks xmlns:a="http://schemas.openxmlformats.org/drawingml/2006/main" noGrp="1"/>
          </p:cNvSpPr>
          <p:nvPr/>
        </p:nvSpPr>
        <p:spPr>
          <a:xfrm xmlns:a="http://schemas.openxmlformats.org/drawingml/2006/main">
            <a:off x="609600" y="3067050"/>
            <a:ext cx="4238625" cy="3200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325" b="0">
                <a:solidFill>
                  <a:srgbClr val="18384B"/>
                </a:solidFill>
                <a:latin typeface="Arial"/>
                <a:ea typeface="Arial"/>
                <a:cs typeface="Arial"/>
              </a:defRPr>
            </a:pPr>
            <a:r>
              <a:rPr sz="2325" b="0">
                <a:solidFill>
                  <a:srgbClr val="18384B"/>
                </a:solidFill>
                <a:latin typeface="Arial"/>
                <a:ea typeface="Arial"/>
                <a:cs typeface="Arial"/>
              </a:rPr>
              <a:t>Inspect the affected asset, proposed window, shortage caused and any affected city gates.</a:t>
            </a:r>
          </a:p>
        </p:txBody>
      </p:sp>
      <p:sp>
        <p:nvSpPr>
          <p:cNvPr id="4" name="Record the decision">
            <a:extLst xmlns:a="http://schemas.openxmlformats.org/drawingml/2006/main">
              <a:ext uri="{FF2B5EF4-FFF2-40B4-BE49-F238E27FC236}">
                <a16:creationId xmlns:a16="http://schemas.microsoft.com/office/drawing/2014/main" id="{94A1809A-542E-4C6F-8E98-D2BF84C44EAB}"/>
              </a:ext>
            </a:extLst>
          </p:cNvPr>
          <p:cNvSpPr>
            <a:spLocks xmlns:a="http://schemas.openxmlformats.org/drawingml/2006/main" noGrp="1"/>
          </p:cNvSpPr>
          <p:nvPr/>
        </p:nvSpPr>
        <p:spPr>
          <a:xfrm xmlns:a="http://schemas.openxmlformats.org/drawingml/2006/main">
            <a:off x="5419725" y="1952625"/>
            <a:ext cx="4267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400" b="1">
                <a:solidFill>
                  <a:srgbClr val="007E92"/>
                </a:solidFill>
                <a:latin typeface="Arial"/>
                <a:ea typeface="Arial"/>
                <a:cs typeface="Arial"/>
              </a:defRPr>
            </a:pPr>
            <a:r>
              <a:rPr sz="2400" b="1">
                <a:solidFill>
                  <a:srgbClr val="007E92"/>
                </a:solidFill>
                <a:latin typeface="Arial"/>
                <a:ea typeface="Arial"/>
                <a:cs typeface="Arial"/>
              </a:rPr>
              <a:t>Record the decision</a:t>
            </a:r>
          </a:p>
        </p:txBody>
      </p:sp>
      <p:sp>
        <p:nvSpPr>
          <p:cNvPr id="5" name="Keep or change the tick/cross decision. A maintenance r">
            <a:extLst xmlns:a="http://schemas.openxmlformats.org/drawingml/2006/main">
              <a:ext uri="{FF2B5EF4-FFF2-40B4-BE49-F238E27FC236}">
                <a16:creationId xmlns:a16="http://schemas.microsoft.com/office/drawing/2014/main" id="{E944E8D1-702C-4FAD-B919-00AD1B49006A}"/>
              </a:ext>
            </a:extLst>
          </p:cNvPr>
          <p:cNvSpPr>
            <a:spLocks xmlns:a="http://schemas.openxmlformats.org/drawingml/2006/main" noGrp="1"/>
          </p:cNvSpPr>
          <p:nvPr/>
        </p:nvSpPr>
        <p:spPr>
          <a:xfrm xmlns:a="http://schemas.openxmlformats.org/drawingml/2006/main">
            <a:off x="5419725" y="3067050"/>
            <a:ext cx="4238625" cy="3200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325" b="0">
                <a:solidFill>
                  <a:srgbClr val="18384B"/>
                </a:solidFill>
                <a:latin typeface="Arial"/>
                <a:ea typeface="Arial"/>
                <a:cs typeface="Arial"/>
              </a:defRPr>
            </a:pPr>
            <a:r>
              <a:rPr sz="2325" b="0">
                <a:solidFill>
                  <a:srgbClr val="18384B"/>
                </a:solidFill>
                <a:latin typeface="Arial"/>
                <a:ea typeface="Arial"/>
                <a:cs typeface="Arial"/>
              </a:rPr>
              <a:t>Keep or change the tick/cross decision. A maintenance rejection needs an operator comment.</a:t>
            </a:r>
          </a:p>
        </p:txBody>
      </p:sp>
      <p:sp>
        <p:nvSpPr>
          <p:cNvPr id="6" name="Coordinate any new window">
            <a:extLst xmlns:a="http://schemas.openxmlformats.org/drawingml/2006/main">
              <a:ext uri="{FF2B5EF4-FFF2-40B4-BE49-F238E27FC236}">
                <a16:creationId xmlns:a16="http://schemas.microsoft.com/office/drawing/2014/main" id="{CE7E2275-5283-4B1B-AE31-E0AAEE4BFFDC}"/>
              </a:ext>
            </a:extLst>
          </p:cNvPr>
          <p:cNvSpPr>
            <a:spLocks xmlns:a="http://schemas.openxmlformats.org/drawingml/2006/main" noGrp="1"/>
          </p:cNvSpPr>
          <p:nvPr/>
        </p:nvSpPr>
        <p:spPr>
          <a:xfrm xmlns:a="http://schemas.openxmlformats.org/drawingml/2006/main">
            <a:off x="10229850" y="1952625"/>
            <a:ext cx="4267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400" b="1">
                <a:solidFill>
                  <a:srgbClr val="007E92"/>
                </a:solidFill>
                <a:latin typeface="Arial"/>
                <a:ea typeface="Arial"/>
                <a:cs typeface="Arial"/>
              </a:defRPr>
            </a:pPr>
            <a:r>
              <a:rPr sz="2400" b="1">
                <a:solidFill>
                  <a:srgbClr val="007E92"/>
                </a:solidFill>
                <a:latin typeface="Arial"/>
                <a:ea typeface="Arial"/>
                <a:cs typeface="Arial"/>
              </a:rPr>
              <a:t>Coordinate any new window</a:t>
            </a:r>
          </a:p>
        </p:txBody>
      </p:sp>
      <p:sp>
        <p:nvSpPr>
          <p:cNvPr id="7" name="Treat an alternative window as a recommendation. The do">
            <a:extLst xmlns:a="http://schemas.openxmlformats.org/drawingml/2006/main">
              <a:ext uri="{FF2B5EF4-FFF2-40B4-BE49-F238E27FC236}">
                <a16:creationId xmlns:a16="http://schemas.microsoft.com/office/drawing/2014/main" id="{C655518E-948F-4B36-A4A2-5F6B5686A39A}"/>
              </a:ext>
            </a:extLst>
          </p:cNvPr>
          <p:cNvSpPr>
            <a:spLocks xmlns:a="http://schemas.openxmlformats.org/drawingml/2006/main" noGrp="1"/>
          </p:cNvSpPr>
          <p:nvPr/>
        </p:nvSpPr>
        <p:spPr>
          <a:xfrm xmlns:a="http://schemas.openxmlformats.org/drawingml/2006/main">
            <a:off x="10229850" y="3067050"/>
            <a:ext cx="4238625" cy="3200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325" b="0">
                <a:solidFill>
                  <a:srgbClr val="18384B"/>
                </a:solidFill>
                <a:latin typeface="Arial"/>
                <a:ea typeface="Arial"/>
                <a:cs typeface="Arial"/>
              </a:defRPr>
            </a:pPr>
            <a:r>
              <a:rPr sz="2325" b="0">
                <a:solidFill>
                  <a:srgbClr val="18384B"/>
                </a:solidFill>
                <a:latin typeface="Arial"/>
                <a:ea typeface="Arial"/>
                <a:cs typeface="Arial"/>
              </a:rPr>
              <a:t>Treat an alternative window as a recommendation. The domain team must revise its schedule through the applicable workflow.</a:t>
            </a:r>
          </a:p>
        </p:txBody>
      </p:sp>
      <p:sp>
        <p:nvSpPr>
          <p:cNvPr id="8" name="A planner decision does not silently rewrite the submit">
            <a:extLst xmlns:a="http://schemas.openxmlformats.org/drawingml/2006/main">
              <a:ext uri="{FF2B5EF4-FFF2-40B4-BE49-F238E27FC236}">
                <a16:creationId xmlns:a16="http://schemas.microsoft.com/office/drawing/2014/main" id="{2663E3F9-71EF-43B8-8E84-5D5919A42E72}"/>
              </a:ext>
            </a:extLst>
          </p:cNvPr>
          <p:cNvSpPr>
            <a:spLocks xmlns:a="http://schemas.openxmlformats.org/drawingml/2006/main" noGrp="1"/>
          </p:cNvSpPr>
          <p:nvPr/>
        </p:nvSpPr>
        <p:spPr>
          <a:xfrm xmlns:a="http://schemas.openxmlformats.org/drawingml/2006/main">
            <a:off x="609600" y="7448550"/>
            <a:ext cx="1390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A planner decision does not silently rewrite the submitted maintenance dates.</a:t>
            </a:r>
          </a:p>
        </p:txBody>
      </p:sp>
      <p:sp>
        <p:nvSpPr>
          <p:cNvPr id="9" name="WIDispatch   /   Client demonstration">
            <a:extLst xmlns:a="http://schemas.openxmlformats.org/drawingml/2006/main">
              <a:ext uri="{FF2B5EF4-FFF2-40B4-BE49-F238E27FC236}">
                <a16:creationId xmlns:a16="http://schemas.microsoft.com/office/drawing/2014/main" id="{8EDD396C-872D-4768-AE4B-C09FEB7F6B8F}"/>
              </a:ext>
            </a:extLst>
          </p:cNvPr>
          <p:cNvSpPr>
            <a:spLocks xmlns:a="http://schemas.openxmlformats.org/drawingml/2006/main" noGrp="1"/>
          </p:cNvSpPr>
          <p:nvPr/>
        </p:nvSpPr>
        <p:spPr>
          <a:xfrm xmlns:a="http://schemas.openxmlformats.org/drawingml/2006/main">
            <a:off x="609600" y="81724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275" b="0">
                <a:solidFill>
                  <a:srgbClr val="547080"/>
                </a:solidFill>
                <a:latin typeface="Arial"/>
                <a:ea typeface="Arial"/>
                <a:cs typeface="Arial"/>
              </a:defRPr>
            </a:pPr>
            <a:r>
              <a:rPr sz="1275" b="0">
                <a:solidFill>
                  <a:srgbClr val="547080"/>
                </a:solidFill>
                <a:latin typeface="Arial"/>
                <a:ea typeface="Arial"/>
                <a:cs typeface="Arial"/>
              </a:rPr>
              <a:t>WIDispatch   /   Client demonstration</a:t>
            </a:r>
          </a:p>
        </p:txBody>
      </p:sp>
      <p:sp>
        <p:nvSpPr>
          <p:cNvPr id="10" name="65">
            <a:extLst xmlns:a="http://schemas.openxmlformats.org/drawingml/2006/main">
              <a:ext uri="{FF2B5EF4-FFF2-40B4-BE49-F238E27FC236}">
                <a16:creationId xmlns:a16="http://schemas.microsoft.com/office/drawing/2014/main" id="{38D26863-6618-43AB-B4C3-4799D35619F4}"/>
              </a:ext>
            </a:extLst>
          </p:cNvPr>
          <p:cNvSpPr>
            <a:spLocks xmlns:a="http://schemas.openxmlformats.org/drawingml/2006/main" noGrp="1"/>
          </p:cNvSpPr>
          <p:nvPr/>
        </p:nvSpPr>
        <p:spPr>
          <a:xfrm xmlns:a="http://schemas.openxmlformats.org/drawingml/2006/main">
            <a:off x="13906500" y="8115300"/>
            <a:ext cx="723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547080"/>
                </a:solidFill>
                <a:latin typeface="Arial"/>
                <a:ea typeface="Arial"/>
                <a:cs typeface="Arial"/>
              </a:defRPr>
            </a:pPr>
            <a:r>
              <a:rPr sz="1650" b="0">
                <a:solidFill>
                  <a:srgbClr val="547080"/>
                </a:solidFill>
                <a:latin typeface="Arial"/>
                <a:ea typeface="Arial"/>
                <a:cs typeface="Arial"/>
              </a:rPr>
              <a:t>71</a:t>
            </a:r>
          </a:p>
        </p:txBody>
      </p:sp>
    </p:spTree>
    <p:extLst>
      <p:ext uri="{BB962C8B-B14F-4D97-AF65-F5344CB8AC3E}">
        <p14:creationId xmlns:p14="http://schemas.microsoft.com/office/powerpoint/2010/main" val="599985732"/>
      </p:ext>
    </p:extLst>
  </p:cSld>
</p:sld>
</file>

<file path=ppt/slides/slide7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When a decision needs a new simulation">
            <a:extLst xmlns:a="http://schemas.openxmlformats.org/drawingml/2006/main">
              <a:ext uri="{FF2B5EF4-FFF2-40B4-BE49-F238E27FC236}">
                <a16:creationId xmlns:a16="http://schemas.microsoft.com/office/drawing/2014/main" id="{D090493A-D2C5-47CE-B00E-49EB862EEB44}"/>
              </a:ext>
            </a:extLst>
          </p:cNvPr>
          <p:cNvSpPr>
            <a:spLocks xmlns:a="http://schemas.openxmlformats.org/drawingml/2006/main" noGrp="1"/>
          </p:cNvSpPr>
          <p:nvPr/>
        </p:nvSpPr>
        <p:spPr>
          <a:xfrm xmlns:a="http://schemas.openxmlformats.org/drawingml/2006/main">
            <a:off x="571500" y="428625"/>
            <a:ext cx="140970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300" b="1">
                <a:solidFill>
                  <a:srgbClr val="12374B"/>
                </a:solidFill>
                <a:latin typeface="Arial"/>
                <a:ea typeface="Arial"/>
                <a:cs typeface="Arial"/>
              </a:defRPr>
            </a:pPr>
            <a:r>
              <a:rPr sz="3300" b="1">
                <a:solidFill>
                  <a:srgbClr val="12374B"/>
                </a:solidFill>
                <a:latin typeface="Arial"/>
                <a:ea typeface="Arial"/>
                <a:cs typeface="Arial"/>
              </a:rPr>
              <a:t>When a decision needs a new simulation</a:t>
            </a:r>
          </a:p>
        </p:txBody>
      </p:sp>
      <p:sp>
        <p:nvSpPr>
          <p:cNvPr id="2" name="Decision annotation">
            <a:extLst xmlns:a="http://schemas.openxmlformats.org/drawingml/2006/main">
              <a:ext uri="{FF2B5EF4-FFF2-40B4-BE49-F238E27FC236}">
                <a16:creationId xmlns:a16="http://schemas.microsoft.com/office/drawing/2014/main" id="{9A742643-A927-4B39-9A8E-FFB47BC2FB0E}"/>
              </a:ext>
            </a:extLst>
          </p:cNvPr>
          <p:cNvSpPr>
            <a:spLocks xmlns:a="http://schemas.openxmlformats.org/drawingml/2006/main" noGrp="1"/>
          </p:cNvSpPr>
          <p:nvPr/>
        </p:nvSpPr>
        <p:spPr>
          <a:xfrm xmlns:a="http://schemas.openxmlformats.org/drawingml/2006/main">
            <a:off x="609600" y="1952625"/>
            <a:ext cx="4267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400" b="1">
                <a:solidFill>
                  <a:srgbClr val="007E92"/>
                </a:solidFill>
                <a:latin typeface="Arial"/>
                <a:ea typeface="Arial"/>
                <a:cs typeface="Arial"/>
              </a:defRPr>
            </a:pPr>
            <a:r>
              <a:rPr sz="2400" b="1">
                <a:solidFill>
                  <a:srgbClr val="007E92"/>
                </a:solidFill>
                <a:latin typeface="Arial"/>
                <a:ea typeface="Arial"/>
                <a:cs typeface="Arial"/>
              </a:rPr>
              <a:t>Decision annotation</a:t>
            </a:r>
          </a:p>
        </p:txBody>
      </p:sp>
      <p:sp>
        <p:nvSpPr>
          <p:cNvPr id="3" name="Explain a reviewed allocation or maintenance decision u">
            <a:extLst xmlns:a="http://schemas.openxmlformats.org/drawingml/2006/main">
              <a:ext uri="{FF2B5EF4-FFF2-40B4-BE49-F238E27FC236}">
                <a16:creationId xmlns:a16="http://schemas.microsoft.com/office/drawing/2014/main" id="{46A8DE1B-B88E-4C18-AAE5-BB14F2D70231}"/>
              </a:ext>
            </a:extLst>
          </p:cNvPr>
          <p:cNvSpPr>
            <a:spLocks xmlns:a="http://schemas.openxmlformats.org/drawingml/2006/main" noGrp="1"/>
          </p:cNvSpPr>
          <p:nvPr/>
        </p:nvSpPr>
        <p:spPr>
          <a:xfrm xmlns:a="http://schemas.openxmlformats.org/drawingml/2006/main">
            <a:off x="609600" y="3067050"/>
            <a:ext cx="4238625" cy="3200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325" b="0">
                <a:solidFill>
                  <a:srgbClr val="18384B"/>
                </a:solidFill>
                <a:latin typeface="Arial"/>
                <a:ea typeface="Arial"/>
                <a:cs typeface="Arial"/>
              </a:defRPr>
            </a:pPr>
            <a:r>
              <a:rPr sz="2325" b="0">
                <a:solidFill>
                  <a:srgbClr val="18384B"/>
                </a:solidFill>
                <a:latin typeface="Arial"/>
                <a:ea typeface="Arial"/>
                <a:cs typeface="Arial"/>
              </a:rPr>
              <a:t>Explain a reviewed allocation or maintenance decision using the supported draft controls.</a:t>
            </a:r>
          </a:p>
        </p:txBody>
      </p:sp>
      <p:sp>
        <p:nvSpPr>
          <p:cNvPr id="4" name="Changed operating assumption">
            <a:extLst xmlns:a="http://schemas.openxmlformats.org/drawingml/2006/main">
              <a:ext uri="{FF2B5EF4-FFF2-40B4-BE49-F238E27FC236}">
                <a16:creationId xmlns:a16="http://schemas.microsoft.com/office/drawing/2014/main" id="{75538CB9-35D3-43F0-AB6F-C2AE0351D714}"/>
              </a:ext>
            </a:extLst>
          </p:cNvPr>
          <p:cNvSpPr>
            <a:spLocks xmlns:a="http://schemas.openxmlformats.org/drawingml/2006/main" noGrp="1"/>
          </p:cNvSpPr>
          <p:nvPr/>
        </p:nvSpPr>
        <p:spPr>
          <a:xfrm xmlns:a="http://schemas.openxmlformats.org/drawingml/2006/main">
            <a:off x="5419725" y="1952625"/>
            <a:ext cx="4267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400" b="1">
                <a:solidFill>
                  <a:srgbClr val="007E92"/>
                </a:solidFill>
                <a:latin typeface="Arial"/>
                <a:ea typeface="Arial"/>
                <a:cs typeface="Arial"/>
              </a:defRPr>
            </a:pPr>
            <a:r>
              <a:rPr sz="2400" b="1">
                <a:solidFill>
                  <a:srgbClr val="007E92"/>
                </a:solidFill>
                <a:latin typeface="Arial"/>
                <a:ea typeface="Arial"/>
                <a:cs typeface="Arial"/>
              </a:rPr>
              <a:t>Changed operating assumption</a:t>
            </a:r>
          </a:p>
        </p:txBody>
      </p:sp>
      <p:sp>
        <p:nvSpPr>
          <p:cNvPr id="5" name="Update capacity, demand, cost, storage or maintenance i">
            <a:extLst xmlns:a="http://schemas.openxmlformats.org/drawingml/2006/main">
              <a:ext uri="{FF2B5EF4-FFF2-40B4-BE49-F238E27FC236}">
                <a16:creationId xmlns:a16="http://schemas.microsoft.com/office/drawing/2014/main" id="{D8D59DEE-2752-48E5-9133-42679544A6DB}"/>
              </a:ext>
            </a:extLst>
          </p:cNvPr>
          <p:cNvSpPr>
            <a:spLocks xmlns:a="http://schemas.openxmlformats.org/drawingml/2006/main" noGrp="1"/>
          </p:cNvSpPr>
          <p:nvPr/>
        </p:nvSpPr>
        <p:spPr>
          <a:xfrm xmlns:a="http://schemas.openxmlformats.org/drawingml/2006/main">
            <a:off x="5419725" y="3067050"/>
            <a:ext cx="4238625" cy="3200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325" b="0">
                <a:solidFill>
                  <a:srgbClr val="18384B"/>
                </a:solidFill>
                <a:latin typeface="Arial"/>
                <a:ea typeface="Arial"/>
                <a:cs typeface="Arial"/>
              </a:defRPr>
            </a:pPr>
            <a:r>
              <a:rPr sz="2325" b="0">
                <a:solidFill>
                  <a:srgbClr val="18384B"/>
                </a:solidFill>
                <a:latin typeface="Arial"/>
                <a:ea typeface="Arial"/>
                <a:cs typeface="Arial"/>
              </a:rPr>
              <a:t>Update capacity, demand, cost, storage or maintenance input when the intended operating plan changes.</a:t>
            </a:r>
          </a:p>
        </p:txBody>
      </p:sp>
      <p:sp>
        <p:nvSpPr>
          <p:cNvPr id="6" name="Fresh assessment">
            <a:extLst xmlns:a="http://schemas.openxmlformats.org/drawingml/2006/main">
              <a:ext uri="{FF2B5EF4-FFF2-40B4-BE49-F238E27FC236}">
                <a16:creationId xmlns:a16="http://schemas.microsoft.com/office/drawing/2014/main" id="{3D295C28-2652-4CD4-A849-74AF91C9D6AA}"/>
              </a:ext>
            </a:extLst>
          </p:cNvPr>
          <p:cNvSpPr>
            <a:spLocks xmlns:a="http://schemas.openxmlformats.org/drawingml/2006/main" noGrp="1"/>
          </p:cNvSpPr>
          <p:nvPr/>
        </p:nvSpPr>
        <p:spPr>
          <a:xfrm xmlns:a="http://schemas.openxmlformats.org/drawingml/2006/main">
            <a:off x="10229850" y="1952625"/>
            <a:ext cx="4267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400" b="1">
                <a:solidFill>
                  <a:srgbClr val="007E92"/>
                </a:solidFill>
                <a:latin typeface="Arial"/>
                <a:ea typeface="Arial"/>
                <a:cs typeface="Arial"/>
              </a:defRPr>
            </a:pPr>
            <a:r>
              <a:rPr sz="2400" b="1">
                <a:solidFill>
                  <a:srgbClr val="007E92"/>
                </a:solidFill>
                <a:latin typeface="Arial"/>
                <a:ea typeface="Arial"/>
                <a:cs typeface="Arial"/>
              </a:rPr>
              <a:t>Fresh assessment</a:t>
            </a:r>
          </a:p>
        </p:txBody>
      </p:sp>
      <p:sp>
        <p:nvSpPr>
          <p:cNvPr id="7" name="Rerun and inspect the resulting flows, costs and shorta">
            <a:extLst xmlns:a="http://schemas.openxmlformats.org/drawingml/2006/main">
              <a:ext uri="{FF2B5EF4-FFF2-40B4-BE49-F238E27FC236}">
                <a16:creationId xmlns:a16="http://schemas.microsoft.com/office/drawing/2014/main" id="{385533E1-8436-479C-91F7-087914565559}"/>
              </a:ext>
            </a:extLst>
          </p:cNvPr>
          <p:cNvSpPr>
            <a:spLocks xmlns:a="http://schemas.openxmlformats.org/drawingml/2006/main" noGrp="1"/>
          </p:cNvSpPr>
          <p:nvPr/>
        </p:nvSpPr>
        <p:spPr>
          <a:xfrm xmlns:a="http://schemas.openxmlformats.org/drawingml/2006/main">
            <a:off x="10229850" y="3067050"/>
            <a:ext cx="4238625" cy="3200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325" b="0">
                <a:solidFill>
                  <a:srgbClr val="18384B"/>
                </a:solidFill>
                <a:latin typeface="Arial"/>
                <a:ea typeface="Arial"/>
                <a:cs typeface="Arial"/>
              </a:defRPr>
            </a:pPr>
            <a:r>
              <a:rPr sz="2325" b="0">
                <a:solidFill>
                  <a:srgbClr val="18384B"/>
                </a:solidFill>
                <a:latin typeface="Arial"/>
                <a:ea typeface="Arial"/>
                <a:cs typeface="Arial"/>
              </a:rPr>
              <a:t>Rerun and inspect the resulting flows, costs and shortages before publishing the replacement plan.</a:t>
            </a:r>
          </a:p>
        </p:txBody>
      </p:sp>
      <p:sp>
        <p:nvSpPr>
          <p:cNvPr id="8" name="A manually edited approved volume does not recalculate ">
            <a:extLst xmlns:a="http://schemas.openxmlformats.org/drawingml/2006/main">
              <a:ext uri="{FF2B5EF4-FFF2-40B4-BE49-F238E27FC236}">
                <a16:creationId xmlns:a16="http://schemas.microsoft.com/office/drawing/2014/main" id="{06ED4051-5761-4D42-955B-240003A75891}"/>
              </a:ext>
            </a:extLst>
          </p:cNvPr>
          <p:cNvSpPr>
            <a:spLocks xmlns:a="http://schemas.openxmlformats.org/drawingml/2006/main" noGrp="1"/>
          </p:cNvSpPr>
          <p:nvPr/>
        </p:nvSpPr>
        <p:spPr>
          <a:xfrm xmlns:a="http://schemas.openxmlformats.org/drawingml/2006/main">
            <a:off x="609600" y="7448550"/>
            <a:ext cx="1390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A manually edited approved volume does not recalculate physical dispatch or the Results charts.</a:t>
            </a:r>
          </a:p>
        </p:txBody>
      </p:sp>
      <p:sp>
        <p:nvSpPr>
          <p:cNvPr id="9" name="WIDispatch   /   Client demonstration">
            <a:extLst xmlns:a="http://schemas.openxmlformats.org/drawingml/2006/main">
              <a:ext uri="{FF2B5EF4-FFF2-40B4-BE49-F238E27FC236}">
                <a16:creationId xmlns:a16="http://schemas.microsoft.com/office/drawing/2014/main" id="{D1F4740B-9737-466F-8DDA-EF6C89D24DAC}"/>
              </a:ext>
            </a:extLst>
          </p:cNvPr>
          <p:cNvSpPr>
            <a:spLocks xmlns:a="http://schemas.openxmlformats.org/drawingml/2006/main" noGrp="1"/>
          </p:cNvSpPr>
          <p:nvPr/>
        </p:nvSpPr>
        <p:spPr>
          <a:xfrm xmlns:a="http://schemas.openxmlformats.org/drawingml/2006/main">
            <a:off x="609600" y="81724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275" b="0">
                <a:solidFill>
                  <a:srgbClr val="547080"/>
                </a:solidFill>
                <a:latin typeface="Arial"/>
                <a:ea typeface="Arial"/>
                <a:cs typeface="Arial"/>
              </a:defRPr>
            </a:pPr>
            <a:r>
              <a:rPr sz="1275" b="0">
                <a:solidFill>
                  <a:srgbClr val="547080"/>
                </a:solidFill>
                <a:latin typeface="Arial"/>
                <a:ea typeface="Arial"/>
                <a:cs typeface="Arial"/>
              </a:rPr>
              <a:t>WIDispatch   /   Client demonstration</a:t>
            </a:r>
          </a:p>
        </p:txBody>
      </p:sp>
      <p:sp>
        <p:nvSpPr>
          <p:cNvPr id="10" name="66">
            <a:extLst xmlns:a="http://schemas.openxmlformats.org/drawingml/2006/main">
              <a:ext uri="{FF2B5EF4-FFF2-40B4-BE49-F238E27FC236}">
                <a16:creationId xmlns:a16="http://schemas.microsoft.com/office/drawing/2014/main" id="{911C0EF7-6491-4985-934F-BAD3E50602E9}"/>
              </a:ext>
            </a:extLst>
          </p:cNvPr>
          <p:cNvSpPr>
            <a:spLocks xmlns:a="http://schemas.openxmlformats.org/drawingml/2006/main" noGrp="1"/>
          </p:cNvSpPr>
          <p:nvPr/>
        </p:nvSpPr>
        <p:spPr>
          <a:xfrm xmlns:a="http://schemas.openxmlformats.org/drawingml/2006/main">
            <a:off x="13906500" y="8115300"/>
            <a:ext cx="723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547080"/>
                </a:solidFill>
                <a:latin typeface="Arial"/>
                <a:ea typeface="Arial"/>
                <a:cs typeface="Arial"/>
              </a:defRPr>
            </a:pPr>
            <a:r>
              <a:rPr sz="1650" b="0">
                <a:solidFill>
                  <a:srgbClr val="547080"/>
                </a:solidFill>
                <a:latin typeface="Arial"/>
                <a:ea typeface="Arial"/>
                <a:cs typeface="Arial"/>
              </a:rPr>
              <a:t>72</a:t>
            </a:r>
          </a:p>
        </p:txBody>
      </p:sp>
    </p:spTree>
    <p:extLst>
      <p:ext uri="{BB962C8B-B14F-4D97-AF65-F5344CB8AC3E}">
        <p14:creationId xmlns:p14="http://schemas.microsoft.com/office/powerpoint/2010/main" val="1554890720"/>
      </p:ext>
    </p:extLst>
  </p:cSld>
</p:sld>
</file>

<file path=ppt/slides/slide7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Publication is the operational handoff">
            <a:extLst xmlns:a="http://schemas.openxmlformats.org/drawingml/2006/main">
              <a:ext uri="{FF2B5EF4-FFF2-40B4-BE49-F238E27FC236}">
                <a16:creationId xmlns:a16="http://schemas.microsoft.com/office/drawing/2014/main" id="{DE2EC39F-0770-414C-98F4-D43D28087BE9}"/>
              </a:ext>
            </a:extLst>
          </p:cNvPr>
          <p:cNvSpPr>
            <a:spLocks xmlns:a="http://schemas.openxmlformats.org/drawingml/2006/main" noGrp="1"/>
          </p:cNvSpPr>
          <p:nvPr/>
        </p:nvSpPr>
        <p:spPr>
          <a:xfrm xmlns:a="http://schemas.openxmlformats.org/drawingml/2006/main">
            <a:off x="571500" y="428625"/>
            <a:ext cx="140970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300" b="1">
                <a:solidFill>
                  <a:srgbClr val="12374B"/>
                </a:solidFill>
                <a:latin typeface="Arial"/>
                <a:ea typeface="Arial"/>
                <a:cs typeface="Arial"/>
              </a:defRPr>
            </a:pPr>
            <a:r>
              <a:rPr sz="3300" b="1">
                <a:solidFill>
                  <a:srgbClr val="12374B"/>
                </a:solidFill>
                <a:latin typeface="Arial"/>
                <a:ea typeface="Arial"/>
                <a:cs typeface="Arial"/>
              </a:rPr>
              <a:t>Publication is the operational handoff</a:t>
            </a:r>
          </a:p>
        </p:txBody>
      </p:sp>
      <p:sp>
        <p:nvSpPr>
          <p:cNvPr id="2" name="Before publishing">
            <a:extLst xmlns:a="http://schemas.openxmlformats.org/drawingml/2006/main">
              <a:ext uri="{FF2B5EF4-FFF2-40B4-BE49-F238E27FC236}">
                <a16:creationId xmlns:a16="http://schemas.microsoft.com/office/drawing/2014/main" id="{52A696B6-52B6-4DD5-834A-433D4517F419}"/>
              </a:ext>
            </a:extLst>
          </p:cNvPr>
          <p:cNvSpPr>
            <a:spLocks xmlns:a="http://schemas.openxmlformats.org/drawingml/2006/main" noGrp="1"/>
          </p:cNvSpPr>
          <p:nvPr/>
        </p:nvSpPr>
        <p:spPr>
          <a:xfrm xmlns:a="http://schemas.openxmlformats.org/drawingml/2006/main">
            <a:off x="609600" y="1952625"/>
            <a:ext cx="4267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400" b="1">
                <a:solidFill>
                  <a:srgbClr val="007E92"/>
                </a:solidFill>
                <a:latin typeface="Arial"/>
                <a:ea typeface="Arial"/>
                <a:cs typeface="Arial"/>
              </a:defRPr>
            </a:pPr>
            <a:r>
              <a:rPr sz="2400" b="1">
                <a:solidFill>
                  <a:srgbClr val="007E92"/>
                </a:solidFill>
                <a:latin typeface="Arial"/>
                <a:ea typeface="Arial"/>
                <a:cs typeface="Arial"/>
              </a:rPr>
              <a:t>Before publishing</a:t>
            </a:r>
          </a:p>
        </p:txBody>
      </p:sp>
      <p:sp>
        <p:nvSpPr>
          <p:cNvPr id="3" name="Check the selected run, dates, final quantities and all">
            <a:extLst xmlns:a="http://schemas.openxmlformats.org/drawingml/2006/main">
              <a:ext uri="{FF2B5EF4-FFF2-40B4-BE49-F238E27FC236}">
                <a16:creationId xmlns:a16="http://schemas.microsoft.com/office/drawing/2014/main" id="{4A6F1779-6AB2-46A0-BF2C-47F293929D86}"/>
              </a:ext>
            </a:extLst>
          </p:cNvPr>
          <p:cNvSpPr>
            <a:spLocks xmlns:a="http://schemas.openxmlformats.org/drawingml/2006/main" noGrp="1"/>
          </p:cNvSpPr>
          <p:nvPr/>
        </p:nvSpPr>
        <p:spPr>
          <a:xfrm xmlns:a="http://schemas.openxmlformats.org/drawingml/2006/main">
            <a:off x="609600" y="3067050"/>
            <a:ext cx="4238625" cy="3200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325" b="0">
                <a:solidFill>
                  <a:srgbClr val="18384B"/>
                </a:solidFill>
                <a:latin typeface="Arial"/>
                <a:ea typeface="Arial"/>
                <a:cs typeface="Arial"/>
              </a:defRPr>
            </a:pPr>
            <a:r>
              <a:rPr sz="2325" b="0">
                <a:solidFill>
                  <a:srgbClr val="18384B"/>
                </a:solidFill>
                <a:latin typeface="Arial"/>
                <a:ea typeface="Arial"/>
                <a:cs typeface="Arial"/>
              </a:rPr>
              <a:t>Check the selected run, dates, final quantities and all required comments. Confirm that source inputs still represent the intended plan.</a:t>
            </a:r>
          </a:p>
        </p:txBody>
      </p:sp>
      <p:sp>
        <p:nvSpPr>
          <p:cNvPr id="4" name="Publish decisions">
            <a:extLst xmlns:a="http://schemas.openxmlformats.org/drawingml/2006/main">
              <a:ext uri="{FF2B5EF4-FFF2-40B4-BE49-F238E27FC236}">
                <a16:creationId xmlns:a16="http://schemas.microsoft.com/office/drawing/2014/main" id="{C04AC19D-FA22-42EA-AA81-029306440105}"/>
              </a:ext>
            </a:extLst>
          </p:cNvPr>
          <p:cNvSpPr>
            <a:spLocks xmlns:a="http://schemas.openxmlformats.org/drawingml/2006/main" noGrp="1"/>
          </p:cNvSpPr>
          <p:nvPr/>
        </p:nvSpPr>
        <p:spPr>
          <a:xfrm xmlns:a="http://schemas.openxmlformats.org/drawingml/2006/main">
            <a:off x="5419725" y="1952625"/>
            <a:ext cx="4267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400" b="1">
                <a:solidFill>
                  <a:srgbClr val="007E92"/>
                </a:solidFill>
                <a:latin typeface="Arial"/>
                <a:ea typeface="Arial"/>
                <a:cs typeface="Arial"/>
              </a:defRPr>
            </a:pPr>
            <a:r>
              <a:rPr sz="2400" b="1">
                <a:solidFill>
                  <a:srgbClr val="007E92"/>
                </a:solidFill>
                <a:latin typeface="Arial"/>
                <a:ea typeface="Arial"/>
                <a:cs typeface="Arial"/>
              </a:rPr>
              <a:t>Publish decisions</a:t>
            </a:r>
          </a:p>
        </p:txBody>
      </p:sp>
      <p:sp>
        <p:nvSpPr>
          <p:cNvPr id="5" name="Use the explicit Publish decisions action. Wait for suc">
            <a:extLst xmlns:a="http://schemas.openxmlformats.org/drawingml/2006/main">
              <a:ext uri="{FF2B5EF4-FFF2-40B4-BE49-F238E27FC236}">
                <a16:creationId xmlns:a16="http://schemas.microsoft.com/office/drawing/2014/main" id="{38067FD3-2AF4-42F6-BD4A-1109BB22A970}"/>
              </a:ext>
            </a:extLst>
          </p:cNvPr>
          <p:cNvSpPr>
            <a:spLocks xmlns:a="http://schemas.openxmlformats.org/drawingml/2006/main" noGrp="1"/>
          </p:cNvSpPr>
          <p:nvPr/>
        </p:nvSpPr>
        <p:spPr>
          <a:xfrm xmlns:a="http://schemas.openxmlformats.org/drawingml/2006/main">
            <a:off x="5419725" y="3067050"/>
            <a:ext cx="4238625" cy="3200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325" b="0">
                <a:solidFill>
                  <a:srgbClr val="18384B"/>
                </a:solidFill>
                <a:latin typeface="Arial"/>
                <a:ea typeface="Arial"/>
                <a:cs typeface="Arial"/>
              </a:defRPr>
            </a:pPr>
            <a:r>
              <a:rPr sz="2325" b="0">
                <a:solidFill>
                  <a:srgbClr val="18384B"/>
                </a:solidFill>
                <a:latin typeface="Arial"/>
                <a:ea typeface="Arial"/>
                <a:cs typeface="Arial"/>
              </a:rPr>
              <a:t>Use the explicit Publish decisions action. Wait for success or a reported error before proceeding.</a:t>
            </a:r>
          </a:p>
        </p:txBody>
      </p:sp>
      <p:sp>
        <p:nvSpPr>
          <p:cNvPr id="6" name="After publishing">
            <a:extLst xmlns:a="http://schemas.openxmlformats.org/drawingml/2006/main">
              <a:ext uri="{FF2B5EF4-FFF2-40B4-BE49-F238E27FC236}">
                <a16:creationId xmlns:a16="http://schemas.microsoft.com/office/drawing/2014/main" id="{F0B57F34-F6AC-4011-805A-8F8EBF4AC42A}"/>
              </a:ext>
            </a:extLst>
          </p:cNvPr>
          <p:cNvSpPr>
            <a:spLocks xmlns:a="http://schemas.openxmlformats.org/drawingml/2006/main" noGrp="1"/>
          </p:cNvSpPr>
          <p:nvPr/>
        </p:nvSpPr>
        <p:spPr>
          <a:xfrm xmlns:a="http://schemas.openxmlformats.org/drawingml/2006/main">
            <a:off x="10229850" y="1952625"/>
            <a:ext cx="4267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400" b="1">
                <a:solidFill>
                  <a:srgbClr val="007E92"/>
                </a:solidFill>
                <a:latin typeface="Arial"/>
                <a:ea typeface="Arial"/>
                <a:cs typeface="Arial"/>
              </a:defRPr>
            </a:pPr>
            <a:r>
              <a:rPr sz="2400" b="1">
                <a:solidFill>
                  <a:srgbClr val="007E92"/>
                </a:solidFill>
                <a:latin typeface="Arial"/>
                <a:ea typeface="Arial"/>
                <a:cs typeface="Arial"/>
              </a:rPr>
              <a:t>After publishing</a:t>
            </a:r>
          </a:p>
        </p:txBody>
      </p:sp>
      <p:sp>
        <p:nvSpPr>
          <p:cNvPr id="7" name="Confirm the published state and inspect the affected po">
            <a:extLst xmlns:a="http://schemas.openxmlformats.org/drawingml/2006/main">
              <a:ext uri="{FF2B5EF4-FFF2-40B4-BE49-F238E27FC236}">
                <a16:creationId xmlns:a16="http://schemas.microsoft.com/office/drawing/2014/main" id="{934E02DF-C56E-41B1-BA8D-EAA0D27902A4}"/>
              </a:ext>
            </a:extLst>
          </p:cNvPr>
          <p:cNvSpPr>
            <a:spLocks xmlns:a="http://schemas.openxmlformats.org/drawingml/2006/main" noGrp="1"/>
          </p:cNvSpPr>
          <p:nvPr/>
        </p:nvSpPr>
        <p:spPr>
          <a:xfrm xmlns:a="http://schemas.openxmlformats.org/drawingml/2006/main">
            <a:off x="10229850" y="3067050"/>
            <a:ext cx="4238625" cy="3200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325" b="0">
                <a:solidFill>
                  <a:srgbClr val="18384B"/>
                </a:solidFill>
                <a:latin typeface="Arial"/>
                <a:ea typeface="Arial"/>
                <a:cs typeface="Arial"/>
              </a:defRPr>
            </a:pPr>
            <a:r>
              <a:rPr sz="2325" b="0">
                <a:solidFill>
                  <a:srgbClr val="18384B"/>
                </a:solidFill>
                <a:latin typeface="Arial"/>
                <a:ea typeface="Arial"/>
                <a:cs typeface="Arial"/>
              </a:rPr>
              <a:t>Confirm the published state and inspect the affected portal records for the same assets and dates.</a:t>
            </a:r>
          </a:p>
        </p:txBody>
      </p:sp>
      <p:sp>
        <p:nvSpPr>
          <p:cNvPr id="8" name="Published plans disable decision editing. A revised pla">
            <a:extLst xmlns:a="http://schemas.openxmlformats.org/drawingml/2006/main">
              <a:ext uri="{FF2B5EF4-FFF2-40B4-BE49-F238E27FC236}">
                <a16:creationId xmlns:a16="http://schemas.microsoft.com/office/drawing/2014/main" id="{312ED417-EED6-433E-A803-03B77DA7EE57}"/>
              </a:ext>
            </a:extLst>
          </p:cNvPr>
          <p:cNvSpPr>
            <a:spLocks xmlns:a="http://schemas.openxmlformats.org/drawingml/2006/main" noGrp="1"/>
          </p:cNvSpPr>
          <p:nvPr/>
        </p:nvSpPr>
        <p:spPr>
          <a:xfrm xmlns:a="http://schemas.openxmlformats.org/drawingml/2006/main">
            <a:off x="609600" y="7448550"/>
            <a:ext cx="1390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Published plans disable decision editing. A revised plan requires a new reviewed run.</a:t>
            </a:r>
          </a:p>
        </p:txBody>
      </p:sp>
      <p:sp>
        <p:nvSpPr>
          <p:cNvPr id="9" name="WIDispatch   /   Client demonstration">
            <a:extLst xmlns:a="http://schemas.openxmlformats.org/drawingml/2006/main">
              <a:ext uri="{FF2B5EF4-FFF2-40B4-BE49-F238E27FC236}">
                <a16:creationId xmlns:a16="http://schemas.microsoft.com/office/drawing/2014/main" id="{6F524232-E977-4048-9609-DC4974BB4276}"/>
              </a:ext>
            </a:extLst>
          </p:cNvPr>
          <p:cNvSpPr>
            <a:spLocks xmlns:a="http://schemas.openxmlformats.org/drawingml/2006/main" noGrp="1"/>
          </p:cNvSpPr>
          <p:nvPr/>
        </p:nvSpPr>
        <p:spPr>
          <a:xfrm xmlns:a="http://schemas.openxmlformats.org/drawingml/2006/main">
            <a:off x="609600" y="81724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275" b="0">
                <a:solidFill>
                  <a:srgbClr val="547080"/>
                </a:solidFill>
                <a:latin typeface="Arial"/>
                <a:ea typeface="Arial"/>
                <a:cs typeface="Arial"/>
              </a:defRPr>
            </a:pPr>
            <a:r>
              <a:rPr sz="1275" b="0">
                <a:solidFill>
                  <a:srgbClr val="547080"/>
                </a:solidFill>
                <a:latin typeface="Arial"/>
                <a:ea typeface="Arial"/>
                <a:cs typeface="Arial"/>
              </a:rPr>
              <a:t>WIDispatch   /   Client demonstration</a:t>
            </a:r>
          </a:p>
        </p:txBody>
      </p:sp>
      <p:sp>
        <p:nvSpPr>
          <p:cNvPr id="10" name="67">
            <a:extLst xmlns:a="http://schemas.openxmlformats.org/drawingml/2006/main">
              <a:ext uri="{FF2B5EF4-FFF2-40B4-BE49-F238E27FC236}">
                <a16:creationId xmlns:a16="http://schemas.microsoft.com/office/drawing/2014/main" id="{1C1E19A2-23FC-4DFE-B53F-93D25E832EAE}"/>
              </a:ext>
            </a:extLst>
          </p:cNvPr>
          <p:cNvSpPr>
            <a:spLocks xmlns:a="http://schemas.openxmlformats.org/drawingml/2006/main" noGrp="1"/>
          </p:cNvSpPr>
          <p:nvPr/>
        </p:nvSpPr>
        <p:spPr>
          <a:xfrm xmlns:a="http://schemas.openxmlformats.org/drawingml/2006/main">
            <a:off x="13906500" y="8115300"/>
            <a:ext cx="723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547080"/>
                </a:solidFill>
                <a:latin typeface="Arial"/>
                <a:ea typeface="Arial"/>
                <a:cs typeface="Arial"/>
              </a:defRPr>
            </a:pPr>
            <a:r>
              <a:rPr sz="1650" b="0">
                <a:solidFill>
                  <a:srgbClr val="547080"/>
                </a:solidFill>
                <a:latin typeface="Arial"/>
                <a:ea typeface="Arial"/>
                <a:cs typeface="Arial"/>
              </a:rPr>
              <a:t>73</a:t>
            </a:r>
          </a:p>
        </p:txBody>
      </p:sp>
    </p:spTree>
    <p:extLst>
      <p:ext uri="{BB962C8B-B14F-4D97-AF65-F5344CB8AC3E}">
        <p14:creationId xmlns:p14="http://schemas.microsoft.com/office/powerpoint/2010/main" val="523687104"/>
      </p:ext>
    </p:extLst>
  </p:cSld>
</p:sld>
</file>

<file path=ppt/slides/slide7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What publication changes">
            <a:extLst xmlns:a="http://schemas.openxmlformats.org/drawingml/2006/main">
              <a:ext uri="{FF2B5EF4-FFF2-40B4-BE49-F238E27FC236}">
                <a16:creationId xmlns:a16="http://schemas.microsoft.com/office/drawing/2014/main" id="{38EEC6F7-A9F4-4064-8DC3-72D437570A06}"/>
              </a:ext>
            </a:extLst>
          </p:cNvPr>
          <p:cNvSpPr>
            <a:spLocks xmlns:a="http://schemas.openxmlformats.org/drawingml/2006/main" noGrp="1"/>
          </p:cNvSpPr>
          <p:nvPr/>
        </p:nvSpPr>
        <p:spPr>
          <a:xfrm xmlns:a="http://schemas.openxmlformats.org/drawingml/2006/main">
            <a:off x="571500" y="428625"/>
            <a:ext cx="140970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300" b="1">
                <a:solidFill>
                  <a:srgbClr val="12374B"/>
                </a:solidFill>
                <a:latin typeface="Arial"/>
                <a:ea typeface="Arial"/>
                <a:cs typeface="Arial"/>
              </a:defRPr>
            </a:pPr>
            <a:r>
              <a:rPr sz="3300" b="1">
                <a:solidFill>
                  <a:srgbClr val="12374B"/>
                </a:solidFill>
                <a:latin typeface="Arial"/>
                <a:ea typeface="Arial"/>
                <a:cs typeface="Arial"/>
              </a:rPr>
              <a:t>What publication changes</a:t>
            </a:r>
          </a:p>
        </p:txBody>
      </p:sp>
      <p:graphicFrame>
        <p:nvGraphicFramePr>
          <p:cNvPr id="9" name=""/>
          <p:cNvGraphicFramePr/>
          <p:nvPr/>
        </p:nvGraphicFramePr>
        <p:xfrm>
          <a:off xmlns:a="http://schemas.openxmlformats.org/drawingml/2006/main" x="609600" y="1752600"/>
          <a:ext xmlns:a="http://schemas.openxmlformats.org/drawingml/2006/main" cx="14020800" cy="4953000"/>
        </p:xfrm>
        <a:graphic xmlns:a="http://schemas.openxmlformats.org/drawingml/2006/main">
          <a:graphicData uri="http://schemas.openxmlformats.org/drawingml/2006/table">
            <a:tbl>
              <a:tblPr/>
              <a:tblGrid>
                <a:gridCol w="3143250"/>
                <a:gridCol w="5334000"/>
                <a:gridCol w="5543550"/>
              </a:tblGrid>
              <a:tr h="990600">
                <a:tc>
                  <a:txBody>
                    <a:bodyPr/>
                    <a:lstStyle/>
                    <a:p>
                      <a:r>
                        <a:rPr sz="1950" b="1">
                          <a:solidFill>
                            <a:srgbClr val="FFFFFF"/>
                          </a:solidFill>
                          <a:latin typeface="Arial"/>
                          <a:ea typeface="Arial"/>
                          <a:cs typeface="Arial"/>
                        </a:rPr>
                        <a:t>Destination</a:t>
                      </a:r>
                    </a:p>
                  </a:txBody>
                  <a:tcPr marL="152400" marR="152400" marT="171450" marB="133350" anchor="ctr">
                    <a:solidFill>
                      <a:srgbClr val="12374B"/>
                    </a:solidFill>
                  </a:tcPr>
                </a:tc>
                <a:tc>
                  <a:txBody>
                    <a:bodyPr/>
                    <a:lstStyle/>
                    <a:p>
                      <a:r>
                        <a:rPr sz="1950" b="1">
                          <a:solidFill>
                            <a:srgbClr val="FFFFFF"/>
                          </a:solidFill>
                          <a:latin typeface="Arial"/>
                          <a:ea typeface="Arial"/>
                          <a:cs typeface="Arial"/>
                        </a:rPr>
                        <a:t>Published information</a:t>
                      </a:r>
                    </a:p>
                  </a:txBody>
                  <a:tcPr marL="152400" marR="152400" marT="171450" marB="133350" anchor="ctr">
                    <a:solidFill>
                      <a:srgbClr val="12374B"/>
                    </a:solidFill>
                  </a:tcPr>
                </a:tc>
                <a:tc>
                  <a:txBody>
                    <a:bodyPr/>
                    <a:lstStyle/>
                    <a:p>
                      <a:r>
                        <a:rPr sz="1950" b="1">
                          <a:solidFill>
                            <a:srgbClr val="FFFFFF"/>
                          </a:solidFill>
                          <a:latin typeface="Arial"/>
                          <a:ea typeface="Arial"/>
                          <a:cs typeface="Arial"/>
                        </a:rPr>
                        <a:t>Information retained separately</a:t>
                      </a:r>
                    </a:p>
                  </a:txBody>
                  <a:tcPr marL="152400" marR="152400" marT="171450" marB="133350" anchor="ctr">
                    <a:solidFill>
                      <a:srgbClr val="12374B"/>
                    </a:solidFill>
                  </a:tcPr>
                </a:tc>
              </a:tr>
              <a:tr h="990600">
                <a:tc>
                  <a:txBody>
                    <a:bodyPr/>
                    <a:lstStyle/>
                    <a:p>
                      <a:r>
                        <a:rPr sz="1950">
                          <a:solidFill>
                            <a:srgbClr val="18384B"/>
                          </a:solidFill>
                          <a:latin typeface="Arial"/>
                          <a:ea typeface="Arial"/>
                          <a:cs typeface="Arial"/>
                        </a:rPr>
                        <a:t>Production</a:t>
                      </a:r>
                    </a:p>
                  </a:txBody>
                  <a:tcPr marL="152400" marR="152400" marT="171450" marB="133350" anchor="ctr">
                    <a:solidFill>
                      <a:srgbClr val="EEF5F7"/>
                    </a:solidFill>
                  </a:tcPr>
                </a:tc>
                <a:tc>
                  <a:txBody>
                    <a:bodyPr/>
                    <a:lstStyle/>
                    <a:p>
                      <a:r>
                        <a:rPr sz="1950">
                          <a:solidFill>
                            <a:srgbClr val="18384B"/>
                          </a:solidFill>
                          <a:latin typeface="Arial"/>
                          <a:ea typeface="Arial"/>
                          <a:cs typeface="Arial"/>
                        </a:rPr>
                        <a:t>Requested production allocation by plant/day</a:t>
                      </a:r>
                    </a:p>
                  </a:txBody>
                  <a:tcPr marL="152400" marR="152400" marT="171450" marB="133350" anchor="ctr">
                    <a:solidFill>
                      <a:srgbClr val="EEF5F7"/>
                    </a:solidFill>
                  </a:tcPr>
                </a:tc>
                <a:tc>
                  <a:txBody>
                    <a:bodyPr/>
                    <a:lstStyle/>
                    <a:p>
                      <a:r>
                        <a:rPr sz="1950">
                          <a:solidFill>
                            <a:srgbClr val="18384B"/>
                          </a:solidFill>
                          <a:latin typeface="Arial"/>
                          <a:ea typeface="Arial"/>
                          <a:cs typeface="Arial"/>
                        </a:rPr>
                        <a:t>Actual production and submission approval</a:t>
                      </a:r>
                    </a:p>
                  </a:txBody>
                  <a:tcPr marL="152400" marR="152400" marT="171450" marB="133350" anchor="ctr">
                    <a:solidFill>
                      <a:srgbClr val="EEF5F7"/>
                    </a:solidFill>
                  </a:tcPr>
                </a:tc>
              </a:tr>
              <a:tr h="990600">
                <a:tc>
                  <a:txBody>
                    <a:bodyPr/>
                    <a:lstStyle/>
                    <a:p>
                      <a:r>
                        <a:rPr sz="1950">
                          <a:solidFill>
                            <a:srgbClr val="18384B"/>
                          </a:solidFill>
                          <a:latin typeface="Arial"/>
                          <a:ea typeface="Arial"/>
                          <a:cs typeface="Arial"/>
                        </a:rPr>
                        <a:t>Demand</a:t>
                      </a:r>
                    </a:p>
                  </a:txBody>
                  <a:tcPr marL="152400" marR="152400" marT="171450" marB="133350" anchor="ctr">
                    <a:solidFill>
                      <a:srgbClr val="FFFFFF"/>
                    </a:solidFill>
                  </a:tcPr>
                </a:tc>
                <a:tc>
                  <a:txBody>
                    <a:bodyPr/>
                    <a:lstStyle/>
                    <a:p>
                      <a:r>
                        <a:rPr sz="1950">
                          <a:solidFill>
                            <a:srgbClr val="18384B"/>
                          </a:solidFill>
                          <a:latin typeface="Arial"/>
                          <a:ea typeface="Arial"/>
                          <a:cs typeface="Arial"/>
                        </a:rPr>
                        <a:t>Approved volume, decision and planner comment</a:t>
                      </a:r>
                    </a:p>
                  </a:txBody>
                  <a:tcPr marL="152400" marR="152400" marT="171450" marB="133350" anchor="ctr">
                    <a:solidFill>
                      <a:srgbClr val="FFFFFF"/>
                    </a:solidFill>
                  </a:tcPr>
                </a:tc>
                <a:tc>
                  <a:txBody>
                    <a:bodyPr/>
                    <a:lstStyle/>
                    <a:p>
                      <a:r>
                        <a:rPr sz="1950">
                          <a:solidFill>
                            <a:srgbClr val="18384B"/>
                          </a:solidFill>
                          <a:latin typeface="Arial"/>
                          <a:ea typeface="Arial"/>
                          <a:cs typeface="Arial"/>
                        </a:rPr>
                        <a:t>Original requested demand and portal approval</a:t>
                      </a:r>
                    </a:p>
                  </a:txBody>
                  <a:tcPr marL="152400" marR="152400" marT="171450" marB="133350" anchor="ctr">
                    <a:solidFill>
                      <a:srgbClr val="FFFFFF"/>
                    </a:solidFill>
                  </a:tcPr>
                </a:tc>
              </a:tr>
              <a:tr h="990600">
                <a:tc>
                  <a:txBody>
                    <a:bodyPr/>
                    <a:lstStyle/>
                    <a:p>
                      <a:r>
                        <a:rPr sz="1950">
                          <a:solidFill>
                            <a:srgbClr val="18384B"/>
                          </a:solidFill>
                          <a:latin typeface="Arial"/>
                          <a:ea typeface="Arial"/>
                          <a:cs typeface="Arial"/>
                        </a:rPr>
                        <a:t>Maintenance</a:t>
                      </a:r>
                    </a:p>
                  </a:txBody>
                  <a:tcPr marL="152400" marR="152400" marT="171450" marB="133350" anchor="ctr">
                    <a:solidFill>
                      <a:srgbClr val="EEF5F7"/>
                    </a:solidFill>
                  </a:tcPr>
                </a:tc>
                <a:tc>
                  <a:txBody>
                    <a:bodyPr/>
                    <a:lstStyle/>
                    <a:p>
                      <a:r>
                        <a:rPr sz="1950">
                          <a:solidFill>
                            <a:srgbClr val="18384B"/>
                          </a:solidFill>
                          <a:latin typeface="Arial"/>
                          <a:ea typeface="Arial"/>
                          <a:cs typeface="Arial"/>
                        </a:rPr>
                        <a:t>Desktop decision, reason and plan reference</a:t>
                      </a:r>
                    </a:p>
                  </a:txBody>
                  <a:tcPr marL="152400" marR="152400" marT="171450" marB="133350" anchor="ctr">
                    <a:solidFill>
                      <a:srgbClr val="EEF5F7"/>
                    </a:solidFill>
                  </a:tcPr>
                </a:tc>
                <a:tc>
                  <a:txBody>
                    <a:bodyPr/>
                    <a:lstStyle/>
                    <a:p>
                      <a:r>
                        <a:rPr sz="1950">
                          <a:solidFill>
                            <a:srgbClr val="18384B"/>
                          </a:solidFill>
                          <a:latin typeface="Arial"/>
                          <a:ea typeface="Arial"/>
                          <a:cs typeface="Arial"/>
                        </a:rPr>
                        <a:t>Submitted maintenance dates and domain workflow</a:t>
                      </a:r>
                    </a:p>
                  </a:txBody>
                  <a:tcPr marL="152400" marR="152400" marT="171450" marB="133350" anchor="ctr">
                    <a:solidFill>
                      <a:srgbClr val="EEF5F7"/>
                    </a:solidFill>
                  </a:tcPr>
                </a:tc>
              </a:tr>
              <a:tr h="990600">
                <a:tc>
                  <a:txBody>
                    <a:bodyPr/>
                    <a:lstStyle/>
                    <a:p>
                      <a:r>
                        <a:rPr sz="1950">
                          <a:solidFill>
                            <a:srgbClr val="18384B"/>
                          </a:solidFill>
                          <a:latin typeface="Arial"/>
                          <a:ea typeface="Arial"/>
                          <a:cs typeface="Arial"/>
                        </a:rPr>
                        <a:t>Transmission / Economics</a:t>
                      </a:r>
                    </a:p>
                  </a:txBody>
                  <a:tcPr marL="152400" marR="152400" marT="171450" marB="133350" anchor="ctr">
                    <a:solidFill>
                      <a:srgbClr val="FFFFFF"/>
                    </a:solidFill>
                  </a:tcPr>
                </a:tc>
                <a:tc>
                  <a:txBody>
                    <a:bodyPr/>
                    <a:lstStyle/>
                    <a:p>
                      <a:r>
                        <a:rPr sz="1950">
                          <a:solidFill>
                            <a:srgbClr val="18384B"/>
                          </a:solidFill>
                          <a:latin typeface="Arial"/>
                          <a:ea typeface="Arial"/>
                          <a:cs typeface="Arial"/>
                        </a:rPr>
                        <a:t>Relevant shared operating records for follow-up</a:t>
                      </a:r>
                    </a:p>
                  </a:txBody>
                  <a:tcPr marL="152400" marR="152400" marT="171450" marB="133350" anchor="ctr">
                    <a:solidFill>
                      <a:srgbClr val="FFFFFF"/>
                    </a:solidFill>
                  </a:tcPr>
                </a:tc>
                <a:tc>
                  <a:txBody>
                    <a:bodyPr/>
                    <a:lstStyle/>
                    <a:p>
                      <a:r>
                        <a:rPr sz="1950">
                          <a:solidFill>
                            <a:srgbClr val="18384B"/>
                          </a:solidFill>
                          <a:latin typeface="Arial"/>
                          <a:ea typeface="Arial"/>
                          <a:cs typeface="Arial"/>
                        </a:rPr>
                        <a:t>Receipt/delivery actuals and financial proposals</a:t>
                      </a:r>
                    </a:p>
                  </a:txBody>
                  <a:tcPr marL="152400" marR="152400" marT="171450" marB="133350" anchor="ctr">
                    <a:solidFill>
                      <a:srgbClr val="FFFFFF"/>
                    </a:solidFill>
                  </a:tcPr>
                </a:tc>
              </a:tr>
            </a:tbl>
          </a:graphicData>
        </a:graphic>
      </p:graphicFrame>
      <p:sp>
        <p:nvSpPr>
          <p:cNvPr id="3" name="The published records carry a dispatch-plan reference f">
            <a:extLst xmlns:a="http://schemas.openxmlformats.org/drawingml/2006/main">
              <a:ext uri="{FF2B5EF4-FFF2-40B4-BE49-F238E27FC236}">
                <a16:creationId xmlns:a16="http://schemas.microsoft.com/office/drawing/2014/main" id="{EB6D31ED-99CF-42F7-8E15-EA5F7CA9B7D8}"/>
              </a:ext>
            </a:extLst>
          </p:cNvPr>
          <p:cNvSpPr>
            <a:spLocks xmlns:a="http://schemas.openxmlformats.org/drawingml/2006/main" noGrp="1"/>
          </p:cNvSpPr>
          <p:nvPr/>
        </p:nvSpPr>
        <p:spPr>
          <a:xfrm xmlns:a="http://schemas.openxmlformats.org/drawingml/2006/main">
            <a:off x="609600" y="7448550"/>
            <a:ext cx="1390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The published records carry a dispatch-plan reference for traceability.</a:t>
            </a:r>
          </a:p>
        </p:txBody>
      </p:sp>
      <p:sp>
        <p:nvSpPr>
          <p:cNvPr id="4" name="WIDispatch   /   Client demonstration">
            <a:extLst xmlns:a="http://schemas.openxmlformats.org/drawingml/2006/main">
              <a:ext uri="{FF2B5EF4-FFF2-40B4-BE49-F238E27FC236}">
                <a16:creationId xmlns:a16="http://schemas.microsoft.com/office/drawing/2014/main" id="{1FF053DC-B89E-4278-B85F-79BCEC274BBE}"/>
              </a:ext>
            </a:extLst>
          </p:cNvPr>
          <p:cNvSpPr>
            <a:spLocks xmlns:a="http://schemas.openxmlformats.org/drawingml/2006/main" noGrp="1"/>
          </p:cNvSpPr>
          <p:nvPr/>
        </p:nvSpPr>
        <p:spPr>
          <a:xfrm xmlns:a="http://schemas.openxmlformats.org/drawingml/2006/main">
            <a:off x="609600" y="81724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275" b="0">
                <a:solidFill>
                  <a:srgbClr val="547080"/>
                </a:solidFill>
                <a:latin typeface="Arial"/>
                <a:ea typeface="Arial"/>
                <a:cs typeface="Arial"/>
              </a:defRPr>
            </a:pPr>
            <a:r>
              <a:rPr sz="1275" b="0">
                <a:solidFill>
                  <a:srgbClr val="547080"/>
                </a:solidFill>
                <a:latin typeface="Arial"/>
                <a:ea typeface="Arial"/>
                <a:cs typeface="Arial"/>
              </a:rPr>
              <a:t>WIDispatch   /   Client demonstration</a:t>
            </a:r>
          </a:p>
        </p:txBody>
      </p:sp>
      <p:sp>
        <p:nvSpPr>
          <p:cNvPr id="5" name="68">
            <a:extLst xmlns:a="http://schemas.openxmlformats.org/drawingml/2006/main">
              <a:ext uri="{FF2B5EF4-FFF2-40B4-BE49-F238E27FC236}">
                <a16:creationId xmlns:a16="http://schemas.microsoft.com/office/drawing/2014/main" id="{A5DFE56B-0893-46D4-A926-01D98A4B6E67}"/>
              </a:ext>
            </a:extLst>
          </p:cNvPr>
          <p:cNvSpPr>
            <a:spLocks xmlns:a="http://schemas.openxmlformats.org/drawingml/2006/main" noGrp="1"/>
          </p:cNvSpPr>
          <p:nvPr/>
        </p:nvSpPr>
        <p:spPr>
          <a:xfrm xmlns:a="http://schemas.openxmlformats.org/drawingml/2006/main">
            <a:off x="13906500" y="8115300"/>
            <a:ext cx="723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547080"/>
                </a:solidFill>
                <a:latin typeface="Arial"/>
                <a:ea typeface="Arial"/>
                <a:cs typeface="Arial"/>
              </a:defRPr>
            </a:pPr>
            <a:r>
              <a:rPr sz="1650" b="0">
                <a:solidFill>
                  <a:srgbClr val="547080"/>
                </a:solidFill>
                <a:latin typeface="Arial"/>
                <a:ea typeface="Arial"/>
                <a:cs typeface="Arial"/>
              </a:rPr>
              <a:t>74</a:t>
            </a:r>
          </a:p>
        </p:txBody>
      </p:sp>
    </p:spTree>
    <p:extLst>
      <p:ext uri="{BB962C8B-B14F-4D97-AF65-F5344CB8AC3E}">
        <p14:creationId xmlns:p14="http://schemas.microsoft.com/office/powerpoint/2010/main" val="898955499"/>
      </p:ext>
    </p:extLst>
  </p:cSld>
</p:sld>
</file>

<file path=ppt/slides/slide7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Production sees the requested allocation">
            <a:extLst xmlns:a="http://schemas.openxmlformats.org/drawingml/2006/main">
              <a:ext uri="{FF2B5EF4-FFF2-40B4-BE49-F238E27FC236}">
                <a16:creationId xmlns:a16="http://schemas.microsoft.com/office/drawing/2014/main" id="{A72DE76C-291B-438A-8319-626361AA2D5B}"/>
              </a:ext>
            </a:extLst>
          </p:cNvPr>
          <p:cNvSpPr>
            <a:spLocks xmlns:a="http://schemas.openxmlformats.org/drawingml/2006/main" noGrp="1"/>
          </p:cNvSpPr>
          <p:nvPr/>
        </p:nvSpPr>
        <p:spPr>
          <a:xfrm xmlns:a="http://schemas.openxmlformats.org/drawingml/2006/main">
            <a:off x="571500" y="428625"/>
            <a:ext cx="140970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300" b="1">
                <a:solidFill>
                  <a:srgbClr val="12374B"/>
                </a:solidFill>
                <a:latin typeface="Arial"/>
                <a:ea typeface="Arial"/>
                <a:cs typeface="Arial"/>
              </a:defRPr>
            </a:pPr>
            <a:r>
              <a:rPr sz="3300" b="1">
                <a:solidFill>
                  <a:srgbClr val="12374B"/>
                </a:solidFill>
                <a:latin typeface="Arial"/>
                <a:ea typeface="Arial"/>
                <a:cs typeface="Arial"/>
              </a:rPr>
              <a:t>Production sees the requested allocation</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dfcb9941c8634ec6"/>
          <a:stretch xmlns:a="http://schemas.openxmlformats.org/drawingml/2006/main"/>
        </p:blipFill>
        <p:spPr>
          <a:xfrm xmlns:a="http://schemas.openxmlformats.org/drawingml/2006/main">
            <a:off x="476250" y="1973947"/>
            <a:ext cx="10668000" cy="4815107"/>
          </a:xfrm>
          <a:prstGeom xmlns:a="http://schemas.openxmlformats.org/drawingml/2006/main" prst="rect">
            <a:avLst/>
          </a:prstGeom>
        </p:spPr>
      </p:pic>
      <p:sp>
        <p:nvSpPr>
          <p:cNvPr id="3" name="01">
            <a:extLst xmlns:a="http://schemas.openxmlformats.org/drawingml/2006/main">
              <a:ext uri="{FF2B5EF4-FFF2-40B4-BE49-F238E27FC236}">
                <a16:creationId xmlns:a16="http://schemas.microsoft.com/office/drawing/2014/main" id="{34D6C92B-A792-4539-AD3B-7B8D30D04C6B}"/>
              </a:ext>
            </a:extLst>
          </p:cNvPr>
          <p:cNvSpPr>
            <a:spLocks xmlns:a="http://schemas.openxmlformats.org/drawingml/2006/main" noGrp="1"/>
          </p:cNvSpPr>
          <p:nvPr/>
        </p:nvSpPr>
        <p:spPr>
          <a:xfrm xmlns:a="http://schemas.openxmlformats.org/drawingml/2006/main">
            <a:off x="11525250" y="1771650"/>
            <a:ext cx="95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01</a:t>
            </a:r>
          </a:p>
        </p:txBody>
      </p:sp>
      <p:sp>
        <p:nvSpPr>
          <p:cNvPr id="4" name="Open the same plant and Production date range.">
            <a:extLst xmlns:a="http://schemas.openxmlformats.org/drawingml/2006/main">
              <a:ext uri="{FF2B5EF4-FFF2-40B4-BE49-F238E27FC236}">
                <a16:creationId xmlns:a16="http://schemas.microsoft.com/office/drawing/2014/main" id="{C4AD2521-B963-4515-A428-4208E519CCA9}"/>
              </a:ext>
            </a:extLst>
          </p:cNvPr>
          <p:cNvSpPr>
            <a:spLocks xmlns:a="http://schemas.openxmlformats.org/drawingml/2006/main" noGrp="1"/>
          </p:cNvSpPr>
          <p:nvPr/>
        </p:nvSpPr>
        <p:spPr>
          <a:xfrm xmlns:a="http://schemas.openxmlformats.org/drawingml/2006/main">
            <a:off x="11525250" y="2238375"/>
            <a:ext cx="30765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025" b="0">
                <a:solidFill>
                  <a:srgbClr val="18384B"/>
                </a:solidFill>
                <a:latin typeface="Arial"/>
                <a:ea typeface="Arial"/>
                <a:cs typeface="Arial"/>
              </a:defRPr>
            </a:pPr>
            <a:r>
              <a:rPr sz="2025" b="0">
                <a:solidFill>
                  <a:srgbClr val="18384B"/>
                </a:solidFill>
                <a:latin typeface="Arial"/>
                <a:ea typeface="Arial"/>
                <a:cs typeface="Arial"/>
              </a:rPr>
              <a:t>Open the same plant and Production date range.</a:t>
            </a:r>
          </a:p>
        </p:txBody>
      </p:sp>
      <p:sp>
        <p:nvSpPr>
          <p:cNvPr id="5" name="02">
            <a:extLst xmlns:a="http://schemas.openxmlformats.org/drawingml/2006/main">
              <a:ext uri="{FF2B5EF4-FFF2-40B4-BE49-F238E27FC236}">
                <a16:creationId xmlns:a16="http://schemas.microsoft.com/office/drawing/2014/main" id="{B9198FF1-2501-47C1-957B-B6D4333876E3}"/>
              </a:ext>
            </a:extLst>
          </p:cNvPr>
          <p:cNvSpPr>
            <a:spLocks xmlns:a="http://schemas.openxmlformats.org/drawingml/2006/main" noGrp="1"/>
          </p:cNvSpPr>
          <p:nvPr/>
        </p:nvSpPr>
        <p:spPr>
          <a:xfrm xmlns:a="http://schemas.openxmlformats.org/drawingml/2006/main">
            <a:off x="11525250" y="3429000"/>
            <a:ext cx="95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02</a:t>
            </a:r>
          </a:p>
        </p:txBody>
      </p:sp>
      <p:sp>
        <p:nvSpPr>
          <p:cNvPr id="6" name="Locate the published requested quantity.">
            <a:extLst xmlns:a="http://schemas.openxmlformats.org/drawingml/2006/main">
              <a:ext uri="{FF2B5EF4-FFF2-40B4-BE49-F238E27FC236}">
                <a16:creationId xmlns:a16="http://schemas.microsoft.com/office/drawing/2014/main" id="{8AA6BCDA-848D-4B51-A7A0-ABFF2A8108C9}"/>
              </a:ext>
            </a:extLst>
          </p:cNvPr>
          <p:cNvSpPr>
            <a:spLocks xmlns:a="http://schemas.openxmlformats.org/drawingml/2006/main" noGrp="1"/>
          </p:cNvSpPr>
          <p:nvPr/>
        </p:nvSpPr>
        <p:spPr>
          <a:xfrm xmlns:a="http://schemas.openxmlformats.org/drawingml/2006/main">
            <a:off x="11525250" y="3895725"/>
            <a:ext cx="30765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025" b="0">
                <a:solidFill>
                  <a:srgbClr val="18384B"/>
                </a:solidFill>
                <a:latin typeface="Arial"/>
                <a:ea typeface="Arial"/>
                <a:cs typeface="Arial"/>
              </a:defRPr>
            </a:pPr>
            <a:r>
              <a:rPr sz="2025" b="0">
                <a:solidFill>
                  <a:srgbClr val="18384B"/>
                </a:solidFill>
                <a:latin typeface="Arial"/>
                <a:ea typeface="Arial"/>
                <a:cs typeface="Arial"/>
              </a:rPr>
              <a:t>Locate the published requested quantity.</a:t>
            </a:r>
          </a:p>
        </p:txBody>
      </p:sp>
      <p:sp>
        <p:nvSpPr>
          <p:cNvPr id="7" name="03">
            <a:extLst xmlns:a="http://schemas.openxmlformats.org/drawingml/2006/main">
              <a:ext uri="{FF2B5EF4-FFF2-40B4-BE49-F238E27FC236}">
                <a16:creationId xmlns:a16="http://schemas.microsoft.com/office/drawing/2014/main" id="{343C5B35-6D87-4240-8330-7DAB0716AE51}"/>
              </a:ext>
            </a:extLst>
          </p:cNvPr>
          <p:cNvSpPr>
            <a:spLocks xmlns:a="http://schemas.openxmlformats.org/drawingml/2006/main" noGrp="1"/>
          </p:cNvSpPr>
          <p:nvPr/>
        </p:nvSpPr>
        <p:spPr>
          <a:xfrm xmlns:a="http://schemas.openxmlformats.org/drawingml/2006/main">
            <a:off x="11525250" y="5086350"/>
            <a:ext cx="95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03</a:t>
            </a:r>
          </a:p>
        </p:txBody>
      </p:sp>
      <p:sp>
        <p:nvSpPr>
          <p:cNvPr id="8" name="Record actual production separately after operation.">
            <a:extLst xmlns:a="http://schemas.openxmlformats.org/drawingml/2006/main">
              <a:ext uri="{FF2B5EF4-FFF2-40B4-BE49-F238E27FC236}">
                <a16:creationId xmlns:a16="http://schemas.microsoft.com/office/drawing/2014/main" id="{60AB3621-5BC7-43F9-B750-C5192301A152}"/>
              </a:ext>
            </a:extLst>
          </p:cNvPr>
          <p:cNvSpPr>
            <a:spLocks xmlns:a="http://schemas.openxmlformats.org/drawingml/2006/main" noGrp="1"/>
          </p:cNvSpPr>
          <p:nvPr/>
        </p:nvSpPr>
        <p:spPr>
          <a:xfrm xmlns:a="http://schemas.openxmlformats.org/drawingml/2006/main">
            <a:off x="11525250" y="5553075"/>
            <a:ext cx="30765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025" b="0">
                <a:solidFill>
                  <a:srgbClr val="18384B"/>
                </a:solidFill>
                <a:latin typeface="Arial"/>
                <a:ea typeface="Arial"/>
                <a:cs typeface="Arial"/>
              </a:defRPr>
            </a:pPr>
            <a:r>
              <a:rPr sz="2025" b="0">
                <a:solidFill>
                  <a:srgbClr val="18384B"/>
                </a:solidFill>
                <a:latin typeface="Arial"/>
                <a:ea typeface="Arial"/>
                <a:cs typeface="Arial"/>
              </a:rPr>
              <a:t>Record actual production separately after operation.</a:t>
            </a:r>
          </a:p>
        </p:txBody>
      </p:sp>
      <p:sp>
        <p:nvSpPr>
          <p:cNvPr id="9" name="A difference between requested and actual production is">
            <a:extLst xmlns:a="http://schemas.openxmlformats.org/drawingml/2006/main">
              <a:ext uri="{FF2B5EF4-FFF2-40B4-BE49-F238E27FC236}">
                <a16:creationId xmlns:a16="http://schemas.microsoft.com/office/drawing/2014/main" id="{CB4F1FAC-BDE8-466E-B82B-1FB94A722869}"/>
              </a:ext>
            </a:extLst>
          </p:cNvPr>
          <p:cNvSpPr>
            <a:spLocks xmlns:a="http://schemas.openxmlformats.org/drawingml/2006/main" noGrp="1"/>
          </p:cNvSpPr>
          <p:nvPr/>
        </p:nvSpPr>
        <p:spPr>
          <a:xfrm xmlns:a="http://schemas.openxmlformats.org/drawingml/2006/main">
            <a:off x="609600" y="7448550"/>
            <a:ext cx="1390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A difference between requested and actual production is a reconciliation item.</a:t>
            </a:r>
          </a:p>
        </p:txBody>
      </p:sp>
      <p:sp>
        <p:nvSpPr>
          <p:cNvPr id="10" name="WIDispatch   /   Client demonstration">
            <a:extLst xmlns:a="http://schemas.openxmlformats.org/drawingml/2006/main">
              <a:ext uri="{FF2B5EF4-FFF2-40B4-BE49-F238E27FC236}">
                <a16:creationId xmlns:a16="http://schemas.microsoft.com/office/drawing/2014/main" id="{A201462F-E156-45DB-AB7A-F6932CF19C33}"/>
              </a:ext>
            </a:extLst>
          </p:cNvPr>
          <p:cNvSpPr>
            <a:spLocks xmlns:a="http://schemas.openxmlformats.org/drawingml/2006/main" noGrp="1"/>
          </p:cNvSpPr>
          <p:nvPr/>
        </p:nvSpPr>
        <p:spPr>
          <a:xfrm xmlns:a="http://schemas.openxmlformats.org/drawingml/2006/main">
            <a:off x="609600" y="81724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275" b="0">
                <a:solidFill>
                  <a:srgbClr val="547080"/>
                </a:solidFill>
                <a:latin typeface="Arial"/>
                <a:ea typeface="Arial"/>
                <a:cs typeface="Arial"/>
              </a:defRPr>
            </a:pPr>
            <a:r>
              <a:rPr sz="1275" b="0">
                <a:solidFill>
                  <a:srgbClr val="547080"/>
                </a:solidFill>
                <a:latin typeface="Arial"/>
                <a:ea typeface="Arial"/>
                <a:cs typeface="Arial"/>
              </a:rPr>
              <a:t>WIDispatch   /   Client demonstration</a:t>
            </a:r>
          </a:p>
        </p:txBody>
      </p:sp>
      <p:sp>
        <p:nvSpPr>
          <p:cNvPr id="11" name="69">
            <a:extLst xmlns:a="http://schemas.openxmlformats.org/drawingml/2006/main">
              <a:ext uri="{FF2B5EF4-FFF2-40B4-BE49-F238E27FC236}">
                <a16:creationId xmlns:a16="http://schemas.microsoft.com/office/drawing/2014/main" id="{9DFBA1E6-B94E-4CB0-B85F-2736AB555521}"/>
              </a:ext>
            </a:extLst>
          </p:cNvPr>
          <p:cNvSpPr>
            <a:spLocks xmlns:a="http://schemas.openxmlformats.org/drawingml/2006/main" noGrp="1"/>
          </p:cNvSpPr>
          <p:nvPr/>
        </p:nvSpPr>
        <p:spPr>
          <a:xfrm xmlns:a="http://schemas.openxmlformats.org/drawingml/2006/main">
            <a:off x="13906500" y="8115300"/>
            <a:ext cx="723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547080"/>
                </a:solidFill>
                <a:latin typeface="Arial"/>
                <a:ea typeface="Arial"/>
                <a:cs typeface="Arial"/>
              </a:defRPr>
            </a:pPr>
            <a:r>
              <a:rPr sz="1650" b="0">
                <a:solidFill>
                  <a:srgbClr val="547080"/>
                </a:solidFill>
                <a:latin typeface="Arial"/>
                <a:ea typeface="Arial"/>
                <a:cs typeface="Arial"/>
              </a:rPr>
              <a:t>75</a:t>
            </a:r>
          </a:p>
        </p:txBody>
      </p:sp>
    </p:spTree>
    <p:extLst>
      <p:ext uri="{BB962C8B-B14F-4D97-AF65-F5344CB8AC3E}">
        <p14:creationId xmlns:p14="http://schemas.microsoft.com/office/powerpoint/2010/main" val="1732416154"/>
      </p:ext>
    </p:extLst>
  </p:cSld>
</p:sld>
</file>

<file path=ppt/slides/slide7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Demand reconciliation after publication">
            <a:extLst xmlns:a="http://schemas.openxmlformats.org/drawingml/2006/main">
              <a:ext uri="{FF2B5EF4-FFF2-40B4-BE49-F238E27FC236}">
                <a16:creationId xmlns:a16="http://schemas.microsoft.com/office/drawing/2014/main" id="{2E42BFA6-AAA2-4CA3-BE6A-B5BC19CDCEDC}"/>
              </a:ext>
            </a:extLst>
          </p:cNvPr>
          <p:cNvSpPr>
            <a:spLocks xmlns:a="http://schemas.openxmlformats.org/drawingml/2006/main" noGrp="1"/>
          </p:cNvSpPr>
          <p:nvPr/>
        </p:nvSpPr>
        <p:spPr>
          <a:xfrm xmlns:a="http://schemas.openxmlformats.org/drawingml/2006/main">
            <a:off x="571500" y="428625"/>
            <a:ext cx="140970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300" b="1">
                <a:solidFill>
                  <a:srgbClr val="12374B"/>
                </a:solidFill>
                <a:latin typeface="Arial"/>
                <a:ea typeface="Arial"/>
                <a:cs typeface="Arial"/>
              </a:defRPr>
            </a:pPr>
            <a:r>
              <a:rPr sz="3300" b="1">
                <a:solidFill>
                  <a:srgbClr val="12374B"/>
                </a:solidFill>
                <a:latin typeface="Arial"/>
                <a:ea typeface="Arial"/>
                <a:cs typeface="Arial"/>
              </a:rPr>
              <a:t>Demand reconciliation after publication</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e14bbaa6416e4d30"/>
          <a:stretch xmlns:a="http://schemas.openxmlformats.org/drawingml/2006/main"/>
        </p:blipFill>
        <p:spPr>
          <a:xfrm xmlns:a="http://schemas.openxmlformats.org/drawingml/2006/main">
            <a:off x="476250" y="1973947"/>
            <a:ext cx="10668000" cy="4815107"/>
          </a:xfrm>
          <a:prstGeom xmlns:a="http://schemas.openxmlformats.org/drawingml/2006/main" prst="rect">
            <a:avLst/>
          </a:prstGeom>
        </p:spPr>
      </p:pic>
      <p:sp>
        <p:nvSpPr>
          <p:cNvPr id="3" name="01">
            <a:extLst xmlns:a="http://schemas.openxmlformats.org/drawingml/2006/main">
              <a:ext uri="{FF2B5EF4-FFF2-40B4-BE49-F238E27FC236}">
                <a16:creationId xmlns:a16="http://schemas.microsoft.com/office/drawing/2014/main" id="{7EE5E134-2F08-45E5-A5D8-8311A39A911E}"/>
              </a:ext>
            </a:extLst>
          </p:cNvPr>
          <p:cNvSpPr>
            <a:spLocks xmlns:a="http://schemas.openxmlformats.org/drawingml/2006/main" noGrp="1"/>
          </p:cNvSpPr>
          <p:nvPr/>
        </p:nvSpPr>
        <p:spPr>
          <a:xfrm xmlns:a="http://schemas.openxmlformats.org/drawingml/2006/main">
            <a:off x="11525250" y="1771650"/>
            <a:ext cx="95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01</a:t>
            </a:r>
          </a:p>
        </p:txBody>
      </p:sp>
      <p:sp>
        <p:nvSpPr>
          <p:cNvPr id="4" name="Open the city gate and matching planning dates.">
            <a:extLst xmlns:a="http://schemas.openxmlformats.org/drawingml/2006/main">
              <a:ext uri="{FF2B5EF4-FFF2-40B4-BE49-F238E27FC236}">
                <a16:creationId xmlns:a16="http://schemas.microsoft.com/office/drawing/2014/main" id="{4973A95C-4CDC-44E6-A5B5-1774D5B7077D}"/>
              </a:ext>
            </a:extLst>
          </p:cNvPr>
          <p:cNvSpPr>
            <a:spLocks xmlns:a="http://schemas.openxmlformats.org/drawingml/2006/main" noGrp="1"/>
          </p:cNvSpPr>
          <p:nvPr/>
        </p:nvSpPr>
        <p:spPr>
          <a:xfrm xmlns:a="http://schemas.openxmlformats.org/drawingml/2006/main">
            <a:off x="11525250" y="2238375"/>
            <a:ext cx="30765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025" b="0">
                <a:solidFill>
                  <a:srgbClr val="18384B"/>
                </a:solidFill>
                <a:latin typeface="Arial"/>
                <a:ea typeface="Arial"/>
                <a:cs typeface="Arial"/>
              </a:defRPr>
            </a:pPr>
            <a:r>
              <a:rPr sz="2025" b="0">
                <a:solidFill>
                  <a:srgbClr val="18384B"/>
                </a:solidFill>
                <a:latin typeface="Arial"/>
                <a:ea typeface="Arial"/>
                <a:cs typeface="Arial"/>
              </a:rPr>
              <a:t>Open the city gate and matching planning dates.</a:t>
            </a:r>
          </a:p>
        </p:txBody>
      </p:sp>
      <p:sp>
        <p:nvSpPr>
          <p:cNvPr id="5" name="02">
            <a:extLst xmlns:a="http://schemas.openxmlformats.org/drawingml/2006/main">
              <a:ext uri="{FF2B5EF4-FFF2-40B4-BE49-F238E27FC236}">
                <a16:creationId xmlns:a16="http://schemas.microsoft.com/office/drawing/2014/main" id="{55AC4EC3-E2A3-4F45-9EAE-9DA70DCD9D4F}"/>
              </a:ext>
            </a:extLst>
          </p:cNvPr>
          <p:cNvSpPr>
            <a:spLocks xmlns:a="http://schemas.openxmlformats.org/drawingml/2006/main" noGrp="1"/>
          </p:cNvSpPr>
          <p:nvPr/>
        </p:nvSpPr>
        <p:spPr>
          <a:xfrm xmlns:a="http://schemas.openxmlformats.org/drawingml/2006/main">
            <a:off x="11525250" y="3429000"/>
            <a:ext cx="95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02</a:t>
            </a:r>
          </a:p>
        </p:txBody>
      </p:sp>
      <p:sp>
        <p:nvSpPr>
          <p:cNvPr id="6" name="Review requested demand, delivery and receipt.">
            <a:extLst xmlns:a="http://schemas.openxmlformats.org/drawingml/2006/main">
              <a:ext uri="{FF2B5EF4-FFF2-40B4-BE49-F238E27FC236}">
                <a16:creationId xmlns:a16="http://schemas.microsoft.com/office/drawing/2014/main" id="{6AC0F8BA-495A-4595-B11A-08A713CB608A}"/>
              </a:ext>
            </a:extLst>
          </p:cNvPr>
          <p:cNvSpPr>
            <a:spLocks xmlns:a="http://schemas.openxmlformats.org/drawingml/2006/main" noGrp="1"/>
          </p:cNvSpPr>
          <p:nvPr/>
        </p:nvSpPr>
        <p:spPr>
          <a:xfrm xmlns:a="http://schemas.openxmlformats.org/drawingml/2006/main">
            <a:off x="11525250" y="3895725"/>
            <a:ext cx="30765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025" b="0">
                <a:solidFill>
                  <a:srgbClr val="18384B"/>
                </a:solidFill>
                <a:latin typeface="Arial"/>
                <a:ea typeface="Arial"/>
                <a:cs typeface="Arial"/>
              </a:defRPr>
            </a:pPr>
            <a:r>
              <a:rPr sz="2025" b="0">
                <a:solidFill>
                  <a:srgbClr val="18384B"/>
                </a:solidFill>
                <a:latin typeface="Arial"/>
                <a:ea typeface="Arial"/>
                <a:cs typeface="Arial"/>
              </a:rPr>
              <a:t>Review requested demand, delivery and receipt.</a:t>
            </a:r>
          </a:p>
        </p:txBody>
      </p:sp>
      <p:sp>
        <p:nvSpPr>
          <p:cNvPr id="7" name="03">
            <a:extLst xmlns:a="http://schemas.openxmlformats.org/drawingml/2006/main">
              <a:ext uri="{FF2B5EF4-FFF2-40B4-BE49-F238E27FC236}">
                <a16:creationId xmlns:a16="http://schemas.microsoft.com/office/drawing/2014/main" id="{17232DA8-DD3E-4613-A5CA-28330D74C0D4}"/>
              </a:ext>
            </a:extLst>
          </p:cNvPr>
          <p:cNvSpPr>
            <a:spLocks xmlns:a="http://schemas.openxmlformats.org/drawingml/2006/main" noGrp="1"/>
          </p:cNvSpPr>
          <p:nvPr/>
        </p:nvSpPr>
        <p:spPr>
          <a:xfrm xmlns:a="http://schemas.openxmlformats.org/drawingml/2006/main">
            <a:off x="11525250" y="5086350"/>
            <a:ext cx="95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03</a:t>
            </a:r>
          </a:p>
        </p:txBody>
      </p:sp>
      <p:sp>
        <p:nvSpPr>
          <p:cNvPr id="8" name="Use Desktop Decisions for the approved quantity and com">
            <a:extLst xmlns:a="http://schemas.openxmlformats.org/drawingml/2006/main">
              <a:ext uri="{FF2B5EF4-FFF2-40B4-BE49-F238E27FC236}">
                <a16:creationId xmlns:a16="http://schemas.microsoft.com/office/drawing/2014/main" id="{913B0CC4-AC8C-4527-AB0C-BD18233127C7}"/>
              </a:ext>
            </a:extLst>
          </p:cNvPr>
          <p:cNvSpPr>
            <a:spLocks xmlns:a="http://schemas.openxmlformats.org/drawingml/2006/main" noGrp="1"/>
          </p:cNvSpPr>
          <p:nvPr/>
        </p:nvSpPr>
        <p:spPr>
          <a:xfrm xmlns:a="http://schemas.openxmlformats.org/drawingml/2006/main">
            <a:off x="11525250" y="5553075"/>
            <a:ext cx="30765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025" b="0">
                <a:solidFill>
                  <a:srgbClr val="18384B"/>
                </a:solidFill>
                <a:latin typeface="Arial"/>
                <a:ea typeface="Arial"/>
                <a:cs typeface="Arial"/>
              </a:defRPr>
            </a:pPr>
            <a:r>
              <a:rPr sz="2025" b="0">
                <a:solidFill>
                  <a:srgbClr val="18384B"/>
                </a:solidFill>
                <a:latin typeface="Arial"/>
                <a:ea typeface="Arial"/>
                <a:cs typeface="Arial"/>
              </a:rPr>
              <a:t>Use Desktop Decisions for the approved quantity and comment.</a:t>
            </a:r>
          </a:p>
        </p:txBody>
      </p:sp>
      <p:sp>
        <p:nvSpPr>
          <p:cNvPr id="9" name="The current Demand table shows requested and actual vol">
            <a:extLst xmlns:a="http://schemas.openxmlformats.org/drawingml/2006/main">
              <a:ext uri="{FF2B5EF4-FFF2-40B4-BE49-F238E27FC236}">
                <a16:creationId xmlns:a16="http://schemas.microsoft.com/office/drawing/2014/main" id="{E4B35B5A-4EEE-4963-87ED-F01D53C4F383}"/>
              </a:ext>
            </a:extLst>
          </p:cNvPr>
          <p:cNvSpPr>
            <a:spLocks xmlns:a="http://schemas.openxmlformats.org/drawingml/2006/main" noGrp="1"/>
          </p:cNvSpPr>
          <p:nvPr/>
        </p:nvSpPr>
        <p:spPr>
          <a:xfrm xmlns:a="http://schemas.openxmlformats.org/drawingml/2006/main">
            <a:off x="609600" y="7448550"/>
            <a:ext cx="1390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The current Demand table shows requested and actual volumes; the planner verdict is reviewed in Desktop.</a:t>
            </a:r>
          </a:p>
        </p:txBody>
      </p:sp>
      <p:sp>
        <p:nvSpPr>
          <p:cNvPr id="10" name="WIDispatch   /   Client demonstration">
            <a:extLst xmlns:a="http://schemas.openxmlformats.org/drawingml/2006/main">
              <a:ext uri="{FF2B5EF4-FFF2-40B4-BE49-F238E27FC236}">
                <a16:creationId xmlns:a16="http://schemas.microsoft.com/office/drawing/2014/main" id="{E793FF0F-640A-42FC-910E-98D59A029D75}"/>
              </a:ext>
            </a:extLst>
          </p:cNvPr>
          <p:cNvSpPr>
            <a:spLocks xmlns:a="http://schemas.openxmlformats.org/drawingml/2006/main" noGrp="1"/>
          </p:cNvSpPr>
          <p:nvPr/>
        </p:nvSpPr>
        <p:spPr>
          <a:xfrm xmlns:a="http://schemas.openxmlformats.org/drawingml/2006/main">
            <a:off x="609600" y="81724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275" b="0">
                <a:solidFill>
                  <a:srgbClr val="547080"/>
                </a:solidFill>
                <a:latin typeface="Arial"/>
                <a:ea typeface="Arial"/>
                <a:cs typeface="Arial"/>
              </a:defRPr>
            </a:pPr>
            <a:r>
              <a:rPr sz="1275" b="0">
                <a:solidFill>
                  <a:srgbClr val="547080"/>
                </a:solidFill>
                <a:latin typeface="Arial"/>
                <a:ea typeface="Arial"/>
                <a:cs typeface="Arial"/>
              </a:rPr>
              <a:t>WIDispatch   /   Client demonstration</a:t>
            </a:r>
          </a:p>
        </p:txBody>
      </p:sp>
      <p:sp>
        <p:nvSpPr>
          <p:cNvPr id="11" name="70">
            <a:extLst xmlns:a="http://schemas.openxmlformats.org/drawingml/2006/main">
              <a:ext uri="{FF2B5EF4-FFF2-40B4-BE49-F238E27FC236}">
                <a16:creationId xmlns:a16="http://schemas.microsoft.com/office/drawing/2014/main" id="{333D5AF6-4080-45B3-A404-4C67F3283AA9}"/>
              </a:ext>
            </a:extLst>
          </p:cNvPr>
          <p:cNvSpPr>
            <a:spLocks xmlns:a="http://schemas.openxmlformats.org/drawingml/2006/main" noGrp="1"/>
          </p:cNvSpPr>
          <p:nvPr/>
        </p:nvSpPr>
        <p:spPr>
          <a:xfrm xmlns:a="http://schemas.openxmlformats.org/drawingml/2006/main">
            <a:off x="13906500" y="8115300"/>
            <a:ext cx="723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547080"/>
                </a:solidFill>
                <a:latin typeface="Arial"/>
                <a:ea typeface="Arial"/>
                <a:cs typeface="Arial"/>
              </a:defRPr>
            </a:pPr>
            <a:r>
              <a:rPr sz="1650" b="0">
                <a:solidFill>
                  <a:srgbClr val="547080"/>
                </a:solidFill>
                <a:latin typeface="Arial"/>
                <a:ea typeface="Arial"/>
                <a:cs typeface="Arial"/>
              </a:rPr>
              <a:t>76</a:t>
            </a:r>
          </a:p>
        </p:txBody>
      </p:sp>
    </p:spTree>
    <p:extLst>
      <p:ext uri="{BB962C8B-B14F-4D97-AF65-F5344CB8AC3E}">
        <p14:creationId xmlns:p14="http://schemas.microsoft.com/office/powerpoint/2010/main" val="712870385"/>
      </p:ext>
    </p:extLst>
  </p:cSld>
</p:sld>
</file>

<file path=ppt/slides/slide7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Transmission records actual receipts">
            <a:extLst xmlns:a="http://schemas.openxmlformats.org/drawingml/2006/main">
              <a:ext uri="{FF2B5EF4-FFF2-40B4-BE49-F238E27FC236}">
                <a16:creationId xmlns:a16="http://schemas.microsoft.com/office/drawing/2014/main" id="{3018F000-0518-4B04-BE11-D425FE2D9359}"/>
              </a:ext>
            </a:extLst>
          </p:cNvPr>
          <p:cNvSpPr>
            <a:spLocks xmlns:a="http://schemas.openxmlformats.org/drawingml/2006/main" noGrp="1"/>
          </p:cNvSpPr>
          <p:nvPr/>
        </p:nvSpPr>
        <p:spPr>
          <a:xfrm xmlns:a="http://schemas.openxmlformats.org/drawingml/2006/main">
            <a:off x="571500" y="428625"/>
            <a:ext cx="140970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300" b="1">
                <a:solidFill>
                  <a:srgbClr val="12374B"/>
                </a:solidFill>
                <a:latin typeface="Arial"/>
                <a:ea typeface="Arial"/>
                <a:cs typeface="Arial"/>
              </a:defRPr>
            </a:pPr>
            <a:r>
              <a:rPr sz="3300" b="1">
                <a:solidFill>
                  <a:srgbClr val="12374B"/>
                </a:solidFill>
                <a:latin typeface="Arial"/>
                <a:ea typeface="Arial"/>
                <a:cs typeface="Arial"/>
              </a:rPr>
              <a:t>Transmission records actual receipts</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05ca98c2d6484008"/>
          <a:stretch xmlns:a="http://schemas.openxmlformats.org/drawingml/2006/main"/>
        </p:blipFill>
        <p:spPr>
          <a:xfrm xmlns:a="http://schemas.openxmlformats.org/drawingml/2006/main">
            <a:off x="2578393" y="1666875"/>
            <a:ext cx="6463715" cy="5429250"/>
          </a:xfrm>
          <a:prstGeom xmlns:a="http://schemas.openxmlformats.org/drawingml/2006/main" prst="rect">
            <a:avLst/>
          </a:prstGeom>
        </p:spPr>
      </p:pic>
      <p:sp>
        <p:nvSpPr>
          <p:cNvPr id="3" name="01">
            <a:extLst xmlns:a="http://schemas.openxmlformats.org/drawingml/2006/main">
              <a:ext uri="{FF2B5EF4-FFF2-40B4-BE49-F238E27FC236}">
                <a16:creationId xmlns:a16="http://schemas.microsoft.com/office/drawing/2014/main" id="{35071BFD-FFA6-43DB-9231-18D1528FAA9D}"/>
              </a:ext>
            </a:extLst>
          </p:cNvPr>
          <p:cNvSpPr>
            <a:spLocks xmlns:a="http://schemas.openxmlformats.org/drawingml/2006/main" noGrp="1"/>
          </p:cNvSpPr>
          <p:nvPr/>
        </p:nvSpPr>
        <p:spPr>
          <a:xfrm xmlns:a="http://schemas.openxmlformats.org/drawingml/2006/main">
            <a:off x="11525250" y="1771650"/>
            <a:ext cx="95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01</a:t>
            </a:r>
          </a:p>
        </p:txBody>
      </p:sp>
      <p:sp>
        <p:nvSpPr>
          <p:cNvPr id="4" name="Open the relevant plant’s Received records.">
            <a:extLst xmlns:a="http://schemas.openxmlformats.org/drawingml/2006/main">
              <a:ext uri="{FF2B5EF4-FFF2-40B4-BE49-F238E27FC236}">
                <a16:creationId xmlns:a16="http://schemas.microsoft.com/office/drawing/2014/main" id="{27A539DA-6A26-4A29-B6BB-38D34B22F22A}"/>
              </a:ext>
            </a:extLst>
          </p:cNvPr>
          <p:cNvSpPr>
            <a:spLocks xmlns:a="http://schemas.openxmlformats.org/drawingml/2006/main" noGrp="1"/>
          </p:cNvSpPr>
          <p:nvPr/>
        </p:nvSpPr>
        <p:spPr>
          <a:xfrm xmlns:a="http://schemas.openxmlformats.org/drawingml/2006/main">
            <a:off x="11525250" y="2238375"/>
            <a:ext cx="30765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025" b="0">
                <a:solidFill>
                  <a:srgbClr val="18384B"/>
                </a:solidFill>
                <a:latin typeface="Arial"/>
                <a:ea typeface="Arial"/>
                <a:cs typeface="Arial"/>
              </a:defRPr>
            </a:pPr>
            <a:r>
              <a:rPr sz="2025" b="0">
                <a:solidFill>
                  <a:srgbClr val="18384B"/>
                </a:solidFill>
                <a:latin typeface="Arial"/>
                <a:ea typeface="Arial"/>
                <a:cs typeface="Arial"/>
              </a:rPr>
              <a:t>Open the relevant plant’s Received records.</a:t>
            </a:r>
          </a:p>
        </p:txBody>
      </p:sp>
      <p:sp>
        <p:nvSpPr>
          <p:cNvPr id="5" name="02">
            <a:extLst xmlns:a="http://schemas.openxmlformats.org/drawingml/2006/main">
              <a:ext uri="{FF2B5EF4-FFF2-40B4-BE49-F238E27FC236}">
                <a16:creationId xmlns:a16="http://schemas.microsoft.com/office/drawing/2014/main" id="{444392A8-BB4E-4C26-8242-D58BC147E646}"/>
              </a:ext>
            </a:extLst>
          </p:cNvPr>
          <p:cNvSpPr>
            <a:spLocks xmlns:a="http://schemas.openxmlformats.org/drawingml/2006/main" noGrp="1"/>
          </p:cNvSpPr>
          <p:nvPr/>
        </p:nvSpPr>
        <p:spPr>
          <a:xfrm xmlns:a="http://schemas.openxmlformats.org/drawingml/2006/main">
            <a:off x="11525250" y="3429000"/>
            <a:ext cx="95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02</a:t>
            </a:r>
          </a:p>
        </p:txBody>
      </p:sp>
      <p:sp>
        <p:nvSpPr>
          <p:cNvPr id="6" name="Enter the past reporting date and received quantity.">
            <a:extLst xmlns:a="http://schemas.openxmlformats.org/drawingml/2006/main">
              <a:ext uri="{FF2B5EF4-FFF2-40B4-BE49-F238E27FC236}">
                <a16:creationId xmlns:a16="http://schemas.microsoft.com/office/drawing/2014/main" id="{55743843-279B-48F0-8A85-36D2CC23D6D6}"/>
              </a:ext>
            </a:extLst>
          </p:cNvPr>
          <p:cNvSpPr>
            <a:spLocks xmlns:a="http://schemas.openxmlformats.org/drawingml/2006/main" noGrp="1"/>
          </p:cNvSpPr>
          <p:nvPr/>
        </p:nvSpPr>
        <p:spPr>
          <a:xfrm xmlns:a="http://schemas.openxmlformats.org/drawingml/2006/main">
            <a:off x="11525250" y="3895725"/>
            <a:ext cx="30765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025" b="0">
                <a:solidFill>
                  <a:srgbClr val="18384B"/>
                </a:solidFill>
                <a:latin typeface="Arial"/>
                <a:ea typeface="Arial"/>
                <a:cs typeface="Arial"/>
              </a:defRPr>
            </a:pPr>
            <a:r>
              <a:rPr sz="2025" b="0">
                <a:solidFill>
                  <a:srgbClr val="18384B"/>
                </a:solidFill>
                <a:latin typeface="Arial"/>
                <a:ea typeface="Arial"/>
                <a:cs typeface="Arial"/>
              </a:rPr>
              <a:t>Enter the past reporting date and received quantity.</a:t>
            </a:r>
          </a:p>
        </p:txBody>
      </p:sp>
      <p:sp>
        <p:nvSpPr>
          <p:cNvPr id="7" name="03">
            <a:extLst xmlns:a="http://schemas.openxmlformats.org/drawingml/2006/main">
              <a:ext uri="{FF2B5EF4-FFF2-40B4-BE49-F238E27FC236}">
                <a16:creationId xmlns:a16="http://schemas.microsoft.com/office/drawing/2014/main" id="{88282723-E9AF-498A-93BD-61F770676ECD}"/>
              </a:ext>
            </a:extLst>
          </p:cNvPr>
          <p:cNvSpPr>
            <a:spLocks xmlns:a="http://schemas.openxmlformats.org/drawingml/2006/main" noGrp="1"/>
          </p:cNvSpPr>
          <p:nvPr/>
        </p:nvSpPr>
        <p:spPr>
          <a:xfrm xmlns:a="http://schemas.openxmlformats.org/drawingml/2006/main">
            <a:off x="11525250" y="5086350"/>
            <a:ext cx="95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03</a:t>
            </a:r>
          </a:p>
        </p:txBody>
      </p:sp>
      <p:sp>
        <p:nvSpPr>
          <p:cNvPr id="8" name="Record quality readings and submit for approval.">
            <a:extLst xmlns:a="http://schemas.openxmlformats.org/drawingml/2006/main">
              <a:ext uri="{FF2B5EF4-FFF2-40B4-BE49-F238E27FC236}">
                <a16:creationId xmlns:a16="http://schemas.microsoft.com/office/drawing/2014/main" id="{225E3DF5-F595-4FA7-94D8-3EC5A691C8C2}"/>
              </a:ext>
            </a:extLst>
          </p:cNvPr>
          <p:cNvSpPr>
            <a:spLocks xmlns:a="http://schemas.openxmlformats.org/drawingml/2006/main" noGrp="1"/>
          </p:cNvSpPr>
          <p:nvPr/>
        </p:nvSpPr>
        <p:spPr>
          <a:xfrm xmlns:a="http://schemas.openxmlformats.org/drawingml/2006/main">
            <a:off x="11525250" y="5553075"/>
            <a:ext cx="30765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025" b="0">
                <a:solidFill>
                  <a:srgbClr val="18384B"/>
                </a:solidFill>
                <a:latin typeface="Arial"/>
                <a:ea typeface="Arial"/>
                <a:cs typeface="Arial"/>
              </a:defRPr>
            </a:pPr>
            <a:r>
              <a:rPr sz="2025" b="0">
                <a:solidFill>
                  <a:srgbClr val="18384B"/>
                </a:solidFill>
                <a:latin typeface="Arial"/>
                <a:ea typeface="Arial"/>
                <a:cs typeface="Arial"/>
              </a:rPr>
              <a:t>Record quality readings and submit for approval.</a:t>
            </a:r>
          </a:p>
        </p:txBody>
      </p:sp>
      <p:sp>
        <p:nvSpPr>
          <p:cNvPr id="9" name="Actual receipt is recorded after operation and does not">
            <a:extLst xmlns:a="http://schemas.openxmlformats.org/drawingml/2006/main">
              <a:ext uri="{FF2B5EF4-FFF2-40B4-BE49-F238E27FC236}">
                <a16:creationId xmlns:a16="http://schemas.microsoft.com/office/drawing/2014/main" id="{F569AC86-28E1-407B-8228-83D700DFD3C6}"/>
              </a:ext>
            </a:extLst>
          </p:cNvPr>
          <p:cNvSpPr>
            <a:spLocks xmlns:a="http://schemas.openxmlformats.org/drawingml/2006/main" noGrp="1"/>
          </p:cNvSpPr>
          <p:nvPr/>
        </p:nvSpPr>
        <p:spPr>
          <a:xfrm xmlns:a="http://schemas.openxmlformats.org/drawingml/2006/main">
            <a:off x="609600" y="7448550"/>
            <a:ext cx="1390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Actual receipt is recorded after operation and does not replace the plan.</a:t>
            </a:r>
          </a:p>
        </p:txBody>
      </p:sp>
      <p:sp>
        <p:nvSpPr>
          <p:cNvPr id="10" name="WIDispatch   /   Client demonstration">
            <a:extLst xmlns:a="http://schemas.openxmlformats.org/drawingml/2006/main">
              <a:ext uri="{FF2B5EF4-FFF2-40B4-BE49-F238E27FC236}">
                <a16:creationId xmlns:a16="http://schemas.microsoft.com/office/drawing/2014/main" id="{97561C73-517E-4E22-811A-3F52F80A988E}"/>
              </a:ext>
            </a:extLst>
          </p:cNvPr>
          <p:cNvSpPr>
            <a:spLocks xmlns:a="http://schemas.openxmlformats.org/drawingml/2006/main" noGrp="1"/>
          </p:cNvSpPr>
          <p:nvPr/>
        </p:nvSpPr>
        <p:spPr>
          <a:xfrm xmlns:a="http://schemas.openxmlformats.org/drawingml/2006/main">
            <a:off x="609600" y="81724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275" b="0">
                <a:solidFill>
                  <a:srgbClr val="547080"/>
                </a:solidFill>
                <a:latin typeface="Arial"/>
                <a:ea typeface="Arial"/>
                <a:cs typeface="Arial"/>
              </a:defRPr>
            </a:pPr>
            <a:r>
              <a:rPr sz="1275" b="0">
                <a:solidFill>
                  <a:srgbClr val="547080"/>
                </a:solidFill>
                <a:latin typeface="Arial"/>
                <a:ea typeface="Arial"/>
                <a:cs typeface="Arial"/>
              </a:rPr>
              <a:t>WIDispatch   /   Client demonstration</a:t>
            </a:r>
          </a:p>
        </p:txBody>
      </p:sp>
      <p:sp>
        <p:nvSpPr>
          <p:cNvPr id="11" name="71">
            <a:extLst xmlns:a="http://schemas.openxmlformats.org/drawingml/2006/main">
              <a:ext uri="{FF2B5EF4-FFF2-40B4-BE49-F238E27FC236}">
                <a16:creationId xmlns:a16="http://schemas.microsoft.com/office/drawing/2014/main" id="{D8AF1F4D-3E81-447C-A872-B9E1EAB86E99}"/>
              </a:ext>
            </a:extLst>
          </p:cNvPr>
          <p:cNvSpPr>
            <a:spLocks xmlns:a="http://schemas.openxmlformats.org/drawingml/2006/main" noGrp="1"/>
          </p:cNvSpPr>
          <p:nvPr/>
        </p:nvSpPr>
        <p:spPr>
          <a:xfrm xmlns:a="http://schemas.openxmlformats.org/drawingml/2006/main">
            <a:off x="13906500" y="8115300"/>
            <a:ext cx="723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547080"/>
                </a:solidFill>
                <a:latin typeface="Arial"/>
                <a:ea typeface="Arial"/>
                <a:cs typeface="Arial"/>
              </a:defRPr>
            </a:pPr>
            <a:r>
              <a:rPr sz="1650" b="0">
                <a:solidFill>
                  <a:srgbClr val="547080"/>
                </a:solidFill>
                <a:latin typeface="Arial"/>
                <a:ea typeface="Arial"/>
                <a:cs typeface="Arial"/>
              </a:rPr>
              <a:t>77</a:t>
            </a:r>
          </a:p>
        </p:txBody>
      </p:sp>
    </p:spTree>
    <p:extLst>
      <p:ext uri="{BB962C8B-B14F-4D97-AF65-F5344CB8AC3E}">
        <p14:creationId xmlns:p14="http://schemas.microsoft.com/office/powerpoint/2010/main" val="1354617402"/>
      </p:ext>
    </p:extLst>
  </p:cSld>
</p:sld>
</file>

<file path=ppt/slides/slide7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Transmission records actual city-gate delivery">
            <a:extLst xmlns:a="http://schemas.openxmlformats.org/drawingml/2006/main">
              <a:ext uri="{FF2B5EF4-FFF2-40B4-BE49-F238E27FC236}">
                <a16:creationId xmlns:a16="http://schemas.microsoft.com/office/drawing/2014/main" id="{D71078F9-C422-4551-AE3F-7E45525D6959}"/>
              </a:ext>
            </a:extLst>
          </p:cNvPr>
          <p:cNvSpPr>
            <a:spLocks xmlns:a="http://schemas.openxmlformats.org/drawingml/2006/main" noGrp="1"/>
          </p:cNvSpPr>
          <p:nvPr/>
        </p:nvSpPr>
        <p:spPr>
          <a:xfrm xmlns:a="http://schemas.openxmlformats.org/drawingml/2006/main">
            <a:off x="571500" y="428625"/>
            <a:ext cx="140970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300" b="1">
                <a:solidFill>
                  <a:srgbClr val="12374B"/>
                </a:solidFill>
                <a:latin typeface="Arial"/>
                <a:ea typeface="Arial"/>
                <a:cs typeface="Arial"/>
              </a:defRPr>
            </a:pPr>
            <a:r>
              <a:rPr sz="3300" b="1">
                <a:solidFill>
                  <a:srgbClr val="12374B"/>
                </a:solidFill>
                <a:latin typeface="Arial"/>
                <a:ea typeface="Arial"/>
                <a:cs typeface="Arial"/>
              </a:rPr>
              <a:t>Transmission records actual city-gate delivery</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a51fe7fcffb347cc"/>
          <a:stretch xmlns:a="http://schemas.openxmlformats.org/drawingml/2006/main"/>
        </p:blipFill>
        <p:spPr>
          <a:xfrm xmlns:a="http://schemas.openxmlformats.org/drawingml/2006/main">
            <a:off x="476250" y="1973947"/>
            <a:ext cx="10668000" cy="4815107"/>
          </a:xfrm>
          <a:prstGeom xmlns:a="http://schemas.openxmlformats.org/drawingml/2006/main" prst="rect">
            <a:avLst/>
          </a:prstGeom>
        </p:spPr>
      </p:pic>
      <p:sp>
        <p:nvSpPr>
          <p:cNvPr id="3" name="01">
            <a:extLst xmlns:a="http://schemas.openxmlformats.org/drawingml/2006/main">
              <a:ext uri="{FF2B5EF4-FFF2-40B4-BE49-F238E27FC236}">
                <a16:creationId xmlns:a16="http://schemas.microsoft.com/office/drawing/2014/main" id="{DB1FE2AB-1A14-41E6-90F9-9423DED88B9F}"/>
              </a:ext>
            </a:extLst>
          </p:cNvPr>
          <p:cNvSpPr>
            <a:spLocks xmlns:a="http://schemas.openxmlformats.org/drawingml/2006/main" noGrp="1"/>
          </p:cNvSpPr>
          <p:nvPr/>
        </p:nvSpPr>
        <p:spPr>
          <a:xfrm xmlns:a="http://schemas.openxmlformats.org/drawingml/2006/main">
            <a:off x="11525250" y="1771650"/>
            <a:ext cx="95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01</a:t>
            </a:r>
          </a:p>
        </p:txBody>
      </p:sp>
      <p:sp>
        <p:nvSpPr>
          <p:cNvPr id="4" name="Open the city-gate Delivered records.">
            <a:extLst xmlns:a="http://schemas.openxmlformats.org/drawingml/2006/main">
              <a:ext uri="{FF2B5EF4-FFF2-40B4-BE49-F238E27FC236}">
                <a16:creationId xmlns:a16="http://schemas.microsoft.com/office/drawing/2014/main" id="{CC3C6B9B-356A-43C2-9039-AEDC070C75D9}"/>
              </a:ext>
            </a:extLst>
          </p:cNvPr>
          <p:cNvSpPr>
            <a:spLocks xmlns:a="http://schemas.openxmlformats.org/drawingml/2006/main" noGrp="1"/>
          </p:cNvSpPr>
          <p:nvPr/>
        </p:nvSpPr>
        <p:spPr>
          <a:xfrm xmlns:a="http://schemas.openxmlformats.org/drawingml/2006/main">
            <a:off x="11525250" y="2238375"/>
            <a:ext cx="30765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025" b="0">
                <a:solidFill>
                  <a:srgbClr val="18384B"/>
                </a:solidFill>
                <a:latin typeface="Arial"/>
                <a:ea typeface="Arial"/>
                <a:cs typeface="Arial"/>
              </a:defRPr>
            </a:pPr>
            <a:r>
              <a:rPr sz="2025" b="0">
                <a:solidFill>
                  <a:srgbClr val="18384B"/>
                </a:solidFill>
                <a:latin typeface="Arial"/>
                <a:ea typeface="Arial"/>
                <a:cs typeface="Arial"/>
              </a:rPr>
              <a:t>Open the city-gate Delivered records.</a:t>
            </a:r>
          </a:p>
        </p:txBody>
      </p:sp>
      <p:sp>
        <p:nvSpPr>
          <p:cNvPr id="5" name="02">
            <a:extLst xmlns:a="http://schemas.openxmlformats.org/drawingml/2006/main">
              <a:ext uri="{FF2B5EF4-FFF2-40B4-BE49-F238E27FC236}">
                <a16:creationId xmlns:a16="http://schemas.microsoft.com/office/drawing/2014/main" id="{DC078F6D-F6BA-4A1A-9126-516064F39DAF}"/>
              </a:ext>
            </a:extLst>
          </p:cNvPr>
          <p:cNvSpPr>
            <a:spLocks xmlns:a="http://schemas.openxmlformats.org/drawingml/2006/main" noGrp="1"/>
          </p:cNvSpPr>
          <p:nvPr/>
        </p:nvSpPr>
        <p:spPr>
          <a:xfrm xmlns:a="http://schemas.openxmlformats.org/drawingml/2006/main">
            <a:off x="11525250" y="3429000"/>
            <a:ext cx="95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02</a:t>
            </a:r>
          </a:p>
        </p:txBody>
      </p:sp>
      <p:sp>
        <p:nvSpPr>
          <p:cNvPr id="6" name="Enter the actual delivered quantity for the past day.">
            <a:extLst xmlns:a="http://schemas.openxmlformats.org/drawingml/2006/main">
              <a:ext uri="{FF2B5EF4-FFF2-40B4-BE49-F238E27FC236}">
                <a16:creationId xmlns:a16="http://schemas.microsoft.com/office/drawing/2014/main" id="{C25849B5-9E6B-48AE-AF8C-D128A4142AF7}"/>
              </a:ext>
            </a:extLst>
          </p:cNvPr>
          <p:cNvSpPr>
            <a:spLocks xmlns:a="http://schemas.openxmlformats.org/drawingml/2006/main" noGrp="1"/>
          </p:cNvSpPr>
          <p:nvPr/>
        </p:nvSpPr>
        <p:spPr>
          <a:xfrm xmlns:a="http://schemas.openxmlformats.org/drawingml/2006/main">
            <a:off x="11525250" y="3895725"/>
            <a:ext cx="30765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025" b="0">
                <a:solidFill>
                  <a:srgbClr val="18384B"/>
                </a:solidFill>
                <a:latin typeface="Arial"/>
                <a:ea typeface="Arial"/>
                <a:cs typeface="Arial"/>
              </a:defRPr>
            </a:pPr>
            <a:r>
              <a:rPr sz="2025" b="0">
                <a:solidFill>
                  <a:srgbClr val="18384B"/>
                </a:solidFill>
                <a:latin typeface="Arial"/>
                <a:ea typeface="Arial"/>
                <a:cs typeface="Arial"/>
              </a:rPr>
              <a:t>Enter the actual delivered quantity for the past day.</a:t>
            </a:r>
          </a:p>
        </p:txBody>
      </p:sp>
      <p:sp>
        <p:nvSpPr>
          <p:cNvPr id="7" name="03">
            <a:extLst xmlns:a="http://schemas.openxmlformats.org/drawingml/2006/main">
              <a:ext uri="{FF2B5EF4-FFF2-40B4-BE49-F238E27FC236}">
                <a16:creationId xmlns:a16="http://schemas.microsoft.com/office/drawing/2014/main" id="{AC01CC30-2505-4608-A8F5-36D93DD0F326}"/>
              </a:ext>
            </a:extLst>
          </p:cNvPr>
          <p:cNvSpPr>
            <a:spLocks xmlns:a="http://schemas.openxmlformats.org/drawingml/2006/main" noGrp="1"/>
          </p:cNvSpPr>
          <p:nvPr/>
        </p:nvSpPr>
        <p:spPr>
          <a:xfrm xmlns:a="http://schemas.openxmlformats.org/drawingml/2006/main">
            <a:off x="11525250" y="5086350"/>
            <a:ext cx="95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03</a:t>
            </a:r>
          </a:p>
        </p:txBody>
      </p:sp>
      <p:sp>
        <p:nvSpPr>
          <p:cNvPr id="8" name="Submit and reconcile against the requested operating qu">
            <a:extLst xmlns:a="http://schemas.openxmlformats.org/drawingml/2006/main">
              <a:ext uri="{FF2B5EF4-FFF2-40B4-BE49-F238E27FC236}">
                <a16:creationId xmlns:a16="http://schemas.microsoft.com/office/drawing/2014/main" id="{EB3C7DF5-6ED0-4268-AD8B-51E353983FD9}"/>
              </a:ext>
            </a:extLst>
          </p:cNvPr>
          <p:cNvSpPr>
            <a:spLocks xmlns:a="http://schemas.openxmlformats.org/drawingml/2006/main" noGrp="1"/>
          </p:cNvSpPr>
          <p:nvPr/>
        </p:nvSpPr>
        <p:spPr>
          <a:xfrm xmlns:a="http://schemas.openxmlformats.org/drawingml/2006/main">
            <a:off x="11525250" y="5553075"/>
            <a:ext cx="30765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025" b="0">
                <a:solidFill>
                  <a:srgbClr val="18384B"/>
                </a:solidFill>
                <a:latin typeface="Arial"/>
                <a:ea typeface="Arial"/>
                <a:cs typeface="Arial"/>
              </a:defRPr>
            </a:pPr>
            <a:r>
              <a:rPr sz="2025" b="0">
                <a:solidFill>
                  <a:srgbClr val="18384B"/>
                </a:solidFill>
                <a:latin typeface="Arial"/>
                <a:ea typeface="Arial"/>
                <a:cs typeface="Arial"/>
              </a:rPr>
              <a:t>Submit and reconcile against the requested operating quantity.</a:t>
            </a:r>
          </a:p>
        </p:txBody>
      </p:sp>
      <p:sp>
        <p:nvSpPr>
          <p:cNvPr id="9" name="Use matching asset identities, dates and units when com">
            <a:extLst xmlns:a="http://schemas.openxmlformats.org/drawingml/2006/main">
              <a:ext uri="{FF2B5EF4-FFF2-40B4-BE49-F238E27FC236}">
                <a16:creationId xmlns:a16="http://schemas.microsoft.com/office/drawing/2014/main" id="{29B5DC70-D8F1-408F-B987-8F14C7F8EE37}"/>
              </a:ext>
            </a:extLst>
          </p:cNvPr>
          <p:cNvSpPr>
            <a:spLocks xmlns:a="http://schemas.openxmlformats.org/drawingml/2006/main" noGrp="1"/>
          </p:cNvSpPr>
          <p:nvPr/>
        </p:nvSpPr>
        <p:spPr>
          <a:xfrm xmlns:a="http://schemas.openxmlformats.org/drawingml/2006/main">
            <a:off x="609600" y="7448550"/>
            <a:ext cx="1390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Use matching asset identities, dates and units when comparing receipt and delivery.</a:t>
            </a:r>
          </a:p>
        </p:txBody>
      </p:sp>
      <p:sp>
        <p:nvSpPr>
          <p:cNvPr id="10" name="WIDispatch   /   Client demonstration">
            <a:extLst xmlns:a="http://schemas.openxmlformats.org/drawingml/2006/main">
              <a:ext uri="{FF2B5EF4-FFF2-40B4-BE49-F238E27FC236}">
                <a16:creationId xmlns:a16="http://schemas.microsoft.com/office/drawing/2014/main" id="{6E7FFE34-739D-427B-9AFF-26DA91C165BF}"/>
              </a:ext>
            </a:extLst>
          </p:cNvPr>
          <p:cNvSpPr>
            <a:spLocks xmlns:a="http://schemas.openxmlformats.org/drawingml/2006/main" noGrp="1"/>
          </p:cNvSpPr>
          <p:nvPr/>
        </p:nvSpPr>
        <p:spPr>
          <a:xfrm xmlns:a="http://schemas.openxmlformats.org/drawingml/2006/main">
            <a:off x="609600" y="81724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275" b="0">
                <a:solidFill>
                  <a:srgbClr val="547080"/>
                </a:solidFill>
                <a:latin typeface="Arial"/>
                <a:ea typeface="Arial"/>
                <a:cs typeface="Arial"/>
              </a:defRPr>
            </a:pPr>
            <a:r>
              <a:rPr sz="1275" b="0">
                <a:solidFill>
                  <a:srgbClr val="547080"/>
                </a:solidFill>
                <a:latin typeface="Arial"/>
                <a:ea typeface="Arial"/>
                <a:cs typeface="Arial"/>
              </a:rPr>
              <a:t>WIDispatch   /   Client demonstration</a:t>
            </a:r>
          </a:p>
        </p:txBody>
      </p:sp>
      <p:sp>
        <p:nvSpPr>
          <p:cNvPr id="11" name="72">
            <a:extLst xmlns:a="http://schemas.openxmlformats.org/drawingml/2006/main">
              <a:ext uri="{FF2B5EF4-FFF2-40B4-BE49-F238E27FC236}">
                <a16:creationId xmlns:a16="http://schemas.microsoft.com/office/drawing/2014/main" id="{1F384502-13D4-4F01-8B1F-267F33FC9C60}"/>
              </a:ext>
            </a:extLst>
          </p:cNvPr>
          <p:cNvSpPr>
            <a:spLocks xmlns:a="http://schemas.openxmlformats.org/drawingml/2006/main" noGrp="1"/>
          </p:cNvSpPr>
          <p:nvPr/>
        </p:nvSpPr>
        <p:spPr>
          <a:xfrm xmlns:a="http://schemas.openxmlformats.org/drawingml/2006/main">
            <a:off x="13906500" y="8115300"/>
            <a:ext cx="723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547080"/>
                </a:solidFill>
                <a:latin typeface="Arial"/>
                <a:ea typeface="Arial"/>
                <a:cs typeface="Arial"/>
              </a:defRPr>
            </a:pPr>
            <a:r>
              <a:rPr sz="1650" b="0">
                <a:solidFill>
                  <a:srgbClr val="547080"/>
                </a:solidFill>
                <a:latin typeface="Arial"/>
                <a:ea typeface="Arial"/>
                <a:cs typeface="Arial"/>
              </a:rPr>
              <a:t>78</a:t>
            </a:r>
          </a:p>
        </p:txBody>
      </p:sp>
    </p:spTree>
    <p:extLst>
      <p:ext uri="{BB962C8B-B14F-4D97-AF65-F5344CB8AC3E}">
        <p14:creationId xmlns:p14="http://schemas.microsoft.com/office/powerpoint/2010/main" val="1475229273"/>
      </p:ext>
    </p:extLst>
  </p:cSld>
</p:sld>
</file>

<file path=ppt/slides/slide7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Approval history and audit trail">
            <a:extLst xmlns:a="http://schemas.openxmlformats.org/drawingml/2006/main">
              <a:ext uri="{FF2B5EF4-FFF2-40B4-BE49-F238E27FC236}">
                <a16:creationId xmlns:a16="http://schemas.microsoft.com/office/drawing/2014/main" id="{67B132FD-66AE-44D0-BFEE-128E421CF27B}"/>
              </a:ext>
            </a:extLst>
          </p:cNvPr>
          <p:cNvSpPr>
            <a:spLocks xmlns:a="http://schemas.openxmlformats.org/drawingml/2006/main" noGrp="1"/>
          </p:cNvSpPr>
          <p:nvPr/>
        </p:nvSpPr>
        <p:spPr>
          <a:xfrm xmlns:a="http://schemas.openxmlformats.org/drawingml/2006/main">
            <a:off x="571500" y="428625"/>
            <a:ext cx="140970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300" b="1">
                <a:solidFill>
                  <a:srgbClr val="12374B"/>
                </a:solidFill>
                <a:latin typeface="Arial"/>
                <a:ea typeface="Arial"/>
                <a:cs typeface="Arial"/>
              </a:defRPr>
            </a:pPr>
            <a:r>
              <a:rPr sz="3300" b="1">
                <a:solidFill>
                  <a:srgbClr val="12374B"/>
                </a:solidFill>
                <a:latin typeface="Arial"/>
                <a:ea typeface="Arial"/>
                <a:cs typeface="Arial"/>
              </a:rPr>
              <a:t>Approval history and audit trail</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466e29595fa441e1"/>
          <a:stretch xmlns:a="http://schemas.openxmlformats.org/drawingml/2006/main"/>
        </p:blipFill>
        <p:spPr>
          <a:xfrm xmlns:a="http://schemas.openxmlformats.org/drawingml/2006/main">
            <a:off x="476250" y="1973947"/>
            <a:ext cx="10668000" cy="4815107"/>
          </a:xfrm>
          <a:prstGeom xmlns:a="http://schemas.openxmlformats.org/drawingml/2006/main" prst="rect">
            <a:avLst/>
          </a:prstGeom>
        </p:spPr>
      </p:pic>
      <p:sp>
        <p:nvSpPr>
          <p:cNvPr id="3" name="01">
            <a:extLst xmlns:a="http://schemas.openxmlformats.org/drawingml/2006/main">
              <a:ext uri="{FF2B5EF4-FFF2-40B4-BE49-F238E27FC236}">
                <a16:creationId xmlns:a16="http://schemas.microsoft.com/office/drawing/2014/main" id="{C756099A-6F34-4D64-B118-DD67CB070C9B}"/>
              </a:ext>
            </a:extLst>
          </p:cNvPr>
          <p:cNvSpPr>
            <a:spLocks xmlns:a="http://schemas.openxmlformats.org/drawingml/2006/main" noGrp="1"/>
          </p:cNvSpPr>
          <p:nvPr/>
        </p:nvSpPr>
        <p:spPr>
          <a:xfrm xmlns:a="http://schemas.openxmlformats.org/drawingml/2006/main">
            <a:off x="11525250" y="1771650"/>
            <a:ext cx="95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01</a:t>
            </a:r>
          </a:p>
        </p:txBody>
      </p:sp>
      <p:sp>
        <p:nvSpPr>
          <p:cNvPr id="4" name="Open Audit Logs within the permitted scope.">
            <a:extLst xmlns:a="http://schemas.openxmlformats.org/drawingml/2006/main">
              <a:ext uri="{FF2B5EF4-FFF2-40B4-BE49-F238E27FC236}">
                <a16:creationId xmlns:a16="http://schemas.microsoft.com/office/drawing/2014/main" id="{7BD6586D-7FD6-47C5-A5AF-E3D3C1DBC3ED}"/>
              </a:ext>
            </a:extLst>
          </p:cNvPr>
          <p:cNvSpPr>
            <a:spLocks xmlns:a="http://schemas.openxmlformats.org/drawingml/2006/main" noGrp="1"/>
          </p:cNvSpPr>
          <p:nvPr/>
        </p:nvSpPr>
        <p:spPr>
          <a:xfrm xmlns:a="http://schemas.openxmlformats.org/drawingml/2006/main">
            <a:off x="11525250" y="2238375"/>
            <a:ext cx="30765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025" b="0">
                <a:solidFill>
                  <a:srgbClr val="18384B"/>
                </a:solidFill>
                <a:latin typeface="Arial"/>
                <a:ea typeface="Arial"/>
                <a:cs typeface="Arial"/>
              </a:defRPr>
            </a:pPr>
            <a:r>
              <a:rPr sz="2025" b="0">
                <a:solidFill>
                  <a:srgbClr val="18384B"/>
                </a:solidFill>
                <a:latin typeface="Arial"/>
                <a:ea typeface="Arial"/>
                <a:cs typeface="Arial"/>
              </a:rPr>
              <a:t>Open Audit Logs within the permitted scope.</a:t>
            </a:r>
          </a:p>
        </p:txBody>
      </p:sp>
      <p:sp>
        <p:nvSpPr>
          <p:cNvPr id="5" name="02">
            <a:extLst xmlns:a="http://schemas.openxmlformats.org/drawingml/2006/main">
              <a:ext uri="{FF2B5EF4-FFF2-40B4-BE49-F238E27FC236}">
                <a16:creationId xmlns:a16="http://schemas.microsoft.com/office/drawing/2014/main" id="{DF81A097-A240-4A92-8D7B-1A545582003A}"/>
              </a:ext>
            </a:extLst>
          </p:cNvPr>
          <p:cNvSpPr>
            <a:spLocks xmlns:a="http://schemas.openxmlformats.org/drawingml/2006/main" noGrp="1"/>
          </p:cNvSpPr>
          <p:nvPr/>
        </p:nvSpPr>
        <p:spPr>
          <a:xfrm xmlns:a="http://schemas.openxmlformats.org/drawingml/2006/main">
            <a:off x="11525250" y="3429000"/>
            <a:ext cx="95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02</a:t>
            </a:r>
          </a:p>
        </p:txBody>
      </p:sp>
      <p:sp>
        <p:nvSpPr>
          <p:cNvPr id="6" name="Filter to the relevant asset, action or period.">
            <a:extLst xmlns:a="http://schemas.openxmlformats.org/drawingml/2006/main">
              <a:ext uri="{FF2B5EF4-FFF2-40B4-BE49-F238E27FC236}">
                <a16:creationId xmlns:a16="http://schemas.microsoft.com/office/drawing/2014/main" id="{D576040D-33E3-4B0B-AFC2-53CAE8BDE66D}"/>
              </a:ext>
            </a:extLst>
          </p:cNvPr>
          <p:cNvSpPr>
            <a:spLocks xmlns:a="http://schemas.openxmlformats.org/drawingml/2006/main" noGrp="1"/>
          </p:cNvSpPr>
          <p:nvPr/>
        </p:nvSpPr>
        <p:spPr>
          <a:xfrm xmlns:a="http://schemas.openxmlformats.org/drawingml/2006/main">
            <a:off x="11525250" y="3895725"/>
            <a:ext cx="30765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025" b="0">
                <a:solidFill>
                  <a:srgbClr val="18384B"/>
                </a:solidFill>
                <a:latin typeface="Arial"/>
                <a:ea typeface="Arial"/>
                <a:cs typeface="Arial"/>
              </a:defRPr>
            </a:pPr>
            <a:r>
              <a:rPr sz="2025" b="0">
                <a:solidFill>
                  <a:srgbClr val="18384B"/>
                </a:solidFill>
                <a:latin typeface="Arial"/>
                <a:ea typeface="Arial"/>
                <a:cs typeface="Arial"/>
              </a:rPr>
              <a:t>Filter to the relevant asset, action or period.</a:t>
            </a:r>
          </a:p>
        </p:txBody>
      </p:sp>
      <p:sp>
        <p:nvSpPr>
          <p:cNvPr id="7" name="03">
            <a:extLst xmlns:a="http://schemas.openxmlformats.org/drawingml/2006/main">
              <a:ext uri="{FF2B5EF4-FFF2-40B4-BE49-F238E27FC236}">
                <a16:creationId xmlns:a16="http://schemas.microsoft.com/office/drawing/2014/main" id="{3AF5DA6E-3A37-4685-8FA5-9DBA1AD0E515}"/>
              </a:ext>
            </a:extLst>
          </p:cNvPr>
          <p:cNvSpPr>
            <a:spLocks xmlns:a="http://schemas.openxmlformats.org/drawingml/2006/main" noGrp="1"/>
          </p:cNvSpPr>
          <p:nvPr/>
        </p:nvSpPr>
        <p:spPr>
          <a:xfrm xmlns:a="http://schemas.openxmlformats.org/drawingml/2006/main">
            <a:off x="11525250" y="5086350"/>
            <a:ext cx="95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03</a:t>
            </a:r>
          </a:p>
        </p:txBody>
      </p:sp>
      <p:sp>
        <p:nvSpPr>
          <p:cNvPr id="8" name="Follow the submission and review history.">
            <a:extLst xmlns:a="http://schemas.openxmlformats.org/drawingml/2006/main">
              <a:ext uri="{FF2B5EF4-FFF2-40B4-BE49-F238E27FC236}">
                <a16:creationId xmlns:a16="http://schemas.microsoft.com/office/drawing/2014/main" id="{B63781FB-5934-4EB2-B38D-6A7C34661512}"/>
              </a:ext>
            </a:extLst>
          </p:cNvPr>
          <p:cNvSpPr>
            <a:spLocks xmlns:a="http://schemas.openxmlformats.org/drawingml/2006/main" noGrp="1"/>
          </p:cNvSpPr>
          <p:nvPr/>
        </p:nvSpPr>
        <p:spPr>
          <a:xfrm xmlns:a="http://schemas.openxmlformats.org/drawingml/2006/main">
            <a:off x="11525250" y="5553075"/>
            <a:ext cx="30765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025" b="0">
                <a:solidFill>
                  <a:srgbClr val="18384B"/>
                </a:solidFill>
                <a:latin typeface="Arial"/>
                <a:ea typeface="Arial"/>
                <a:cs typeface="Arial"/>
              </a:defRPr>
            </a:pPr>
            <a:r>
              <a:rPr sz="2025" b="0">
                <a:solidFill>
                  <a:srgbClr val="18384B"/>
                </a:solidFill>
                <a:latin typeface="Arial"/>
                <a:ea typeface="Arial"/>
                <a:cs typeface="Arial"/>
              </a:rPr>
              <a:t>Follow the submission and review history.</a:t>
            </a:r>
          </a:p>
        </p:txBody>
      </p:sp>
      <p:sp>
        <p:nvSpPr>
          <p:cNvPr id="9" name="Keep domain approval history distinct from the planner’">
            <a:extLst xmlns:a="http://schemas.openxmlformats.org/drawingml/2006/main">
              <a:ext uri="{FF2B5EF4-FFF2-40B4-BE49-F238E27FC236}">
                <a16:creationId xmlns:a16="http://schemas.microsoft.com/office/drawing/2014/main" id="{00419727-6442-460D-BCB0-2431E7225DBD}"/>
              </a:ext>
            </a:extLst>
          </p:cNvPr>
          <p:cNvSpPr>
            <a:spLocks xmlns:a="http://schemas.openxmlformats.org/drawingml/2006/main" noGrp="1"/>
          </p:cNvSpPr>
          <p:nvPr/>
        </p:nvSpPr>
        <p:spPr>
          <a:xfrm xmlns:a="http://schemas.openxmlformats.org/drawingml/2006/main">
            <a:off x="609600" y="7448550"/>
            <a:ext cx="1390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Keep domain approval history distinct from the planner’s dispatch decision.</a:t>
            </a:r>
          </a:p>
        </p:txBody>
      </p:sp>
      <p:sp>
        <p:nvSpPr>
          <p:cNvPr id="10" name="WIDispatch   /   Client demonstration">
            <a:extLst xmlns:a="http://schemas.openxmlformats.org/drawingml/2006/main">
              <a:ext uri="{FF2B5EF4-FFF2-40B4-BE49-F238E27FC236}">
                <a16:creationId xmlns:a16="http://schemas.microsoft.com/office/drawing/2014/main" id="{041C07F2-650B-4B51-986E-FFBDAFABD611}"/>
              </a:ext>
            </a:extLst>
          </p:cNvPr>
          <p:cNvSpPr>
            <a:spLocks xmlns:a="http://schemas.openxmlformats.org/drawingml/2006/main" noGrp="1"/>
          </p:cNvSpPr>
          <p:nvPr/>
        </p:nvSpPr>
        <p:spPr>
          <a:xfrm xmlns:a="http://schemas.openxmlformats.org/drawingml/2006/main">
            <a:off x="609600" y="81724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275" b="0">
                <a:solidFill>
                  <a:srgbClr val="547080"/>
                </a:solidFill>
                <a:latin typeface="Arial"/>
                <a:ea typeface="Arial"/>
                <a:cs typeface="Arial"/>
              </a:defRPr>
            </a:pPr>
            <a:r>
              <a:rPr sz="1275" b="0">
                <a:solidFill>
                  <a:srgbClr val="547080"/>
                </a:solidFill>
                <a:latin typeface="Arial"/>
                <a:ea typeface="Arial"/>
                <a:cs typeface="Arial"/>
              </a:rPr>
              <a:t>WIDispatch   /   Client demonstration</a:t>
            </a:r>
          </a:p>
        </p:txBody>
      </p:sp>
      <p:sp>
        <p:nvSpPr>
          <p:cNvPr id="11" name="73">
            <a:extLst xmlns:a="http://schemas.openxmlformats.org/drawingml/2006/main">
              <a:ext uri="{FF2B5EF4-FFF2-40B4-BE49-F238E27FC236}">
                <a16:creationId xmlns:a16="http://schemas.microsoft.com/office/drawing/2014/main" id="{FC125D86-4CA4-4D80-B315-D6C78229B1CF}"/>
              </a:ext>
            </a:extLst>
          </p:cNvPr>
          <p:cNvSpPr>
            <a:spLocks xmlns:a="http://schemas.openxmlformats.org/drawingml/2006/main" noGrp="1"/>
          </p:cNvSpPr>
          <p:nvPr/>
        </p:nvSpPr>
        <p:spPr>
          <a:xfrm xmlns:a="http://schemas.openxmlformats.org/drawingml/2006/main">
            <a:off x="13906500" y="8115300"/>
            <a:ext cx="723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547080"/>
                </a:solidFill>
                <a:latin typeface="Arial"/>
                <a:ea typeface="Arial"/>
                <a:cs typeface="Arial"/>
              </a:defRPr>
            </a:pPr>
            <a:r>
              <a:rPr sz="1650" b="0">
                <a:solidFill>
                  <a:srgbClr val="547080"/>
                </a:solidFill>
                <a:latin typeface="Arial"/>
                <a:ea typeface="Arial"/>
                <a:cs typeface="Arial"/>
              </a:rPr>
              <a:t>79</a:t>
            </a:r>
          </a:p>
        </p:txBody>
      </p:sp>
    </p:spTree>
    <p:extLst>
      <p:ext uri="{BB962C8B-B14F-4D97-AF65-F5344CB8AC3E}">
        <p14:creationId xmlns:p14="http://schemas.microsoft.com/office/powerpoint/2010/main" val="909977954"/>
      </p:ext>
    </p:extLst>
  </p:cSld>
</p:sld>
</file>

<file path=ppt/slides/slide8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The next operating cycle">
            <a:extLst xmlns:a="http://schemas.openxmlformats.org/drawingml/2006/main">
              <a:ext uri="{FF2B5EF4-FFF2-40B4-BE49-F238E27FC236}">
                <a16:creationId xmlns:a16="http://schemas.microsoft.com/office/drawing/2014/main" id="{5F9BD36F-56DD-4C96-981A-5974B8C09E7A}"/>
              </a:ext>
            </a:extLst>
          </p:cNvPr>
          <p:cNvSpPr>
            <a:spLocks xmlns:a="http://schemas.openxmlformats.org/drawingml/2006/main" noGrp="1"/>
          </p:cNvSpPr>
          <p:nvPr/>
        </p:nvSpPr>
        <p:spPr>
          <a:xfrm xmlns:a="http://schemas.openxmlformats.org/drawingml/2006/main">
            <a:off x="571500" y="428625"/>
            <a:ext cx="140970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300" b="1">
                <a:solidFill>
                  <a:srgbClr val="12374B"/>
                </a:solidFill>
                <a:latin typeface="Arial"/>
                <a:ea typeface="Arial"/>
                <a:cs typeface="Arial"/>
              </a:defRPr>
            </a:pPr>
            <a:r>
              <a:rPr sz="3300" b="1">
                <a:solidFill>
                  <a:srgbClr val="12374B"/>
                </a:solidFill>
                <a:latin typeface="Arial"/>
                <a:ea typeface="Arial"/>
                <a:cs typeface="Arial"/>
              </a:rPr>
              <a:t>The next operating cycle</a:t>
            </a:r>
          </a:p>
        </p:txBody>
      </p:sp>
      <p:sp>
        <p:nvSpPr>
          <p:cNvPr id="2" name="Published plan">
            <a:extLst xmlns:a="http://schemas.openxmlformats.org/drawingml/2006/main">
              <a:ext uri="{FF2B5EF4-FFF2-40B4-BE49-F238E27FC236}">
                <a16:creationId xmlns:a16="http://schemas.microsoft.com/office/drawing/2014/main" id="{B8E42760-58C3-424B-A25C-86112E714DA8}"/>
              </a:ext>
            </a:extLst>
          </p:cNvPr>
          <p:cNvSpPr>
            <a:spLocks xmlns:a="http://schemas.openxmlformats.org/drawingml/2006/main" noGrp="1"/>
          </p:cNvSpPr>
          <p:nvPr/>
        </p:nvSpPr>
        <p:spPr>
          <a:xfrm xmlns:a="http://schemas.openxmlformats.org/drawingml/2006/main">
            <a:off x="609600" y="1952625"/>
            <a:ext cx="4267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400" b="1">
                <a:solidFill>
                  <a:srgbClr val="007E92"/>
                </a:solidFill>
                <a:latin typeface="Arial"/>
                <a:ea typeface="Arial"/>
                <a:cs typeface="Arial"/>
              </a:defRPr>
            </a:pPr>
            <a:r>
              <a:rPr sz="2400" b="1">
                <a:solidFill>
                  <a:srgbClr val="007E92"/>
                </a:solidFill>
                <a:latin typeface="Arial"/>
                <a:ea typeface="Arial"/>
                <a:cs typeface="Arial"/>
              </a:rPr>
              <a:t>Published plan</a:t>
            </a:r>
          </a:p>
        </p:txBody>
      </p:sp>
      <p:sp>
        <p:nvSpPr>
          <p:cNvPr id="3" name="Operators receive the approved allocation and applicabl">
            <a:extLst xmlns:a="http://schemas.openxmlformats.org/drawingml/2006/main">
              <a:ext uri="{FF2B5EF4-FFF2-40B4-BE49-F238E27FC236}">
                <a16:creationId xmlns:a16="http://schemas.microsoft.com/office/drawing/2014/main" id="{764D74C1-4B4E-4469-8125-330C099DD5B0}"/>
              </a:ext>
            </a:extLst>
          </p:cNvPr>
          <p:cNvSpPr>
            <a:spLocks xmlns:a="http://schemas.openxmlformats.org/drawingml/2006/main" noGrp="1"/>
          </p:cNvSpPr>
          <p:nvPr/>
        </p:nvSpPr>
        <p:spPr>
          <a:xfrm xmlns:a="http://schemas.openxmlformats.org/drawingml/2006/main">
            <a:off x="609600" y="3067050"/>
            <a:ext cx="4238625" cy="3200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325" b="0">
                <a:solidFill>
                  <a:srgbClr val="18384B"/>
                </a:solidFill>
                <a:latin typeface="Arial"/>
                <a:ea typeface="Arial"/>
                <a:cs typeface="Arial"/>
              </a:defRPr>
            </a:pPr>
            <a:r>
              <a:rPr sz="2325" b="0">
                <a:solidFill>
                  <a:srgbClr val="18384B"/>
                </a:solidFill>
                <a:latin typeface="Arial"/>
                <a:ea typeface="Arial"/>
                <a:cs typeface="Arial"/>
              </a:rPr>
              <a:t>Operators receive the approved allocation and applicable decisions.</a:t>
            </a:r>
          </a:p>
        </p:txBody>
      </p:sp>
      <p:sp>
        <p:nvSpPr>
          <p:cNvPr id="4" name="Actual outcome">
            <a:extLst xmlns:a="http://schemas.openxmlformats.org/drawingml/2006/main">
              <a:ext uri="{FF2B5EF4-FFF2-40B4-BE49-F238E27FC236}">
                <a16:creationId xmlns:a16="http://schemas.microsoft.com/office/drawing/2014/main" id="{BA2BB045-4EF9-43B3-A90E-91A9602BDEAE}"/>
              </a:ext>
            </a:extLst>
          </p:cNvPr>
          <p:cNvSpPr>
            <a:spLocks xmlns:a="http://schemas.openxmlformats.org/drawingml/2006/main" noGrp="1"/>
          </p:cNvSpPr>
          <p:nvPr/>
        </p:nvSpPr>
        <p:spPr>
          <a:xfrm xmlns:a="http://schemas.openxmlformats.org/drawingml/2006/main">
            <a:off x="5419725" y="1952625"/>
            <a:ext cx="4267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400" b="1">
                <a:solidFill>
                  <a:srgbClr val="007E92"/>
                </a:solidFill>
                <a:latin typeface="Arial"/>
                <a:ea typeface="Arial"/>
                <a:cs typeface="Arial"/>
              </a:defRPr>
            </a:pPr>
            <a:r>
              <a:rPr sz="2400" b="1">
                <a:solidFill>
                  <a:srgbClr val="007E92"/>
                </a:solidFill>
                <a:latin typeface="Arial"/>
                <a:ea typeface="Arial"/>
                <a:cs typeface="Arial"/>
              </a:rPr>
              <a:t>Actual outcome</a:t>
            </a:r>
          </a:p>
        </p:txBody>
      </p:sp>
      <p:sp>
        <p:nvSpPr>
          <p:cNvPr id="5" name="Teams enter actual production, receipts and delivery ag">
            <a:extLst xmlns:a="http://schemas.openxmlformats.org/drawingml/2006/main">
              <a:ext uri="{FF2B5EF4-FFF2-40B4-BE49-F238E27FC236}">
                <a16:creationId xmlns:a16="http://schemas.microsoft.com/office/drawing/2014/main" id="{81852979-CFA2-4106-A603-E31484C79E87}"/>
              </a:ext>
            </a:extLst>
          </p:cNvPr>
          <p:cNvSpPr>
            <a:spLocks xmlns:a="http://schemas.openxmlformats.org/drawingml/2006/main" noGrp="1"/>
          </p:cNvSpPr>
          <p:nvPr/>
        </p:nvSpPr>
        <p:spPr>
          <a:xfrm xmlns:a="http://schemas.openxmlformats.org/drawingml/2006/main">
            <a:off x="5419725" y="3067050"/>
            <a:ext cx="4238625" cy="3200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325" b="0">
                <a:solidFill>
                  <a:srgbClr val="18384B"/>
                </a:solidFill>
                <a:latin typeface="Arial"/>
                <a:ea typeface="Arial"/>
                <a:cs typeface="Arial"/>
              </a:defRPr>
            </a:pPr>
            <a:r>
              <a:rPr sz="2325" b="0">
                <a:solidFill>
                  <a:srgbClr val="18384B"/>
                </a:solidFill>
                <a:latin typeface="Arial"/>
                <a:ea typeface="Arial"/>
                <a:cs typeface="Arial"/>
              </a:rPr>
              <a:t>Teams enter actual production, receipts and delivery against the same date and asset.</a:t>
            </a:r>
          </a:p>
        </p:txBody>
      </p:sp>
      <p:sp>
        <p:nvSpPr>
          <p:cNvPr id="6" name="Next review">
            <a:extLst xmlns:a="http://schemas.openxmlformats.org/drawingml/2006/main">
              <a:ext uri="{FF2B5EF4-FFF2-40B4-BE49-F238E27FC236}">
                <a16:creationId xmlns:a16="http://schemas.microsoft.com/office/drawing/2014/main" id="{C0959134-B892-4297-A423-768ACB65CE8E}"/>
              </a:ext>
            </a:extLst>
          </p:cNvPr>
          <p:cNvSpPr>
            <a:spLocks xmlns:a="http://schemas.openxmlformats.org/drawingml/2006/main" noGrp="1"/>
          </p:cNvSpPr>
          <p:nvPr/>
        </p:nvSpPr>
        <p:spPr>
          <a:xfrm xmlns:a="http://schemas.openxmlformats.org/drawingml/2006/main">
            <a:off x="10229850" y="1952625"/>
            <a:ext cx="4267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400" b="1">
                <a:solidFill>
                  <a:srgbClr val="007E92"/>
                </a:solidFill>
                <a:latin typeface="Arial"/>
                <a:ea typeface="Arial"/>
                <a:cs typeface="Arial"/>
              </a:defRPr>
            </a:pPr>
            <a:r>
              <a:rPr sz="2400" b="1">
                <a:solidFill>
                  <a:srgbClr val="007E92"/>
                </a:solidFill>
                <a:latin typeface="Arial"/>
                <a:ea typeface="Arial"/>
                <a:cs typeface="Arial"/>
              </a:rPr>
              <a:t>Next review</a:t>
            </a:r>
          </a:p>
        </p:txBody>
      </p:sp>
      <p:sp>
        <p:nvSpPr>
          <p:cNvPr id="7" name="Use variance, outages and approval history to prepare t">
            <a:extLst xmlns:a="http://schemas.openxmlformats.org/drawingml/2006/main">
              <a:ext uri="{FF2B5EF4-FFF2-40B4-BE49-F238E27FC236}">
                <a16:creationId xmlns:a16="http://schemas.microsoft.com/office/drawing/2014/main" id="{2C603954-97AF-4017-9407-618EAA50BB0E}"/>
              </a:ext>
            </a:extLst>
          </p:cNvPr>
          <p:cNvSpPr>
            <a:spLocks xmlns:a="http://schemas.openxmlformats.org/drawingml/2006/main" noGrp="1"/>
          </p:cNvSpPr>
          <p:nvPr/>
        </p:nvSpPr>
        <p:spPr>
          <a:xfrm xmlns:a="http://schemas.openxmlformats.org/drawingml/2006/main">
            <a:off x="10229850" y="3067050"/>
            <a:ext cx="4238625" cy="3200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325" b="0">
                <a:solidFill>
                  <a:srgbClr val="18384B"/>
                </a:solidFill>
                <a:latin typeface="Arial"/>
                <a:ea typeface="Arial"/>
                <a:cs typeface="Arial"/>
              </a:defRPr>
            </a:pPr>
            <a:r>
              <a:rPr sz="2325" b="0">
                <a:solidFill>
                  <a:srgbClr val="18384B"/>
                </a:solidFill>
                <a:latin typeface="Arial"/>
                <a:ea typeface="Arial"/>
                <a:cs typeface="Arial"/>
              </a:rPr>
              <a:t>Use variance, outages and approval history to prepare the next scenario.</a:t>
            </a:r>
          </a:p>
        </p:txBody>
      </p:sp>
      <p:sp>
        <p:nvSpPr>
          <p:cNvPr id="8" name="Publication completes a planning cycle. Reconciliation ">
            <a:extLst xmlns:a="http://schemas.openxmlformats.org/drawingml/2006/main">
              <a:ext uri="{FF2B5EF4-FFF2-40B4-BE49-F238E27FC236}">
                <a16:creationId xmlns:a16="http://schemas.microsoft.com/office/drawing/2014/main" id="{314748D4-03A8-42C9-BC27-41BCC63DECC9}"/>
              </a:ext>
            </a:extLst>
          </p:cNvPr>
          <p:cNvSpPr>
            <a:spLocks xmlns:a="http://schemas.openxmlformats.org/drawingml/2006/main" noGrp="1"/>
          </p:cNvSpPr>
          <p:nvPr/>
        </p:nvSpPr>
        <p:spPr>
          <a:xfrm xmlns:a="http://schemas.openxmlformats.org/drawingml/2006/main">
            <a:off x="609600" y="7448550"/>
            <a:ext cx="1390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Publication completes a planning cycle. Reconciliation begins the next one.</a:t>
            </a:r>
          </a:p>
        </p:txBody>
      </p:sp>
      <p:sp>
        <p:nvSpPr>
          <p:cNvPr id="9" name="WIDispatch   /   Client demonstration">
            <a:extLst xmlns:a="http://schemas.openxmlformats.org/drawingml/2006/main">
              <a:ext uri="{FF2B5EF4-FFF2-40B4-BE49-F238E27FC236}">
                <a16:creationId xmlns:a16="http://schemas.microsoft.com/office/drawing/2014/main" id="{8B03BBB3-0446-4F2E-A1A0-0CD5103B14BD}"/>
              </a:ext>
            </a:extLst>
          </p:cNvPr>
          <p:cNvSpPr>
            <a:spLocks xmlns:a="http://schemas.openxmlformats.org/drawingml/2006/main" noGrp="1"/>
          </p:cNvSpPr>
          <p:nvPr/>
        </p:nvSpPr>
        <p:spPr>
          <a:xfrm xmlns:a="http://schemas.openxmlformats.org/drawingml/2006/main">
            <a:off x="609600" y="81724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275" b="0">
                <a:solidFill>
                  <a:srgbClr val="547080"/>
                </a:solidFill>
                <a:latin typeface="Arial"/>
                <a:ea typeface="Arial"/>
                <a:cs typeface="Arial"/>
              </a:defRPr>
            </a:pPr>
            <a:r>
              <a:rPr sz="1275" b="0">
                <a:solidFill>
                  <a:srgbClr val="547080"/>
                </a:solidFill>
                <a:latin typeface="Arial"/>
                <a:ea typeface="Arial"/>
                <a:cs typeface="Arial"/>
              </a:rPr>
              <a:t>WIDispatch   /   Client demonstration</a:t>
            </a:r>
          </a:p>
        </p:txBody>
      </p:sp>
      <p:sp>
        <p:nvSpPr>
          <p:cNvPr id="10" name="74">
            <a:extLst xmlns:a="http://schemas.openxmlformats.org/drawingml/2006/main">
              <a:ext uri="{FF2B5EF4-FFF2-40B4-BE49-F238E27FC236}">
                <a16:creationId xmlns:a16="http://schemas.microsoft.com/office/drawing/2014/main" id="{2C1EA21D-8BD5-4461-8BF7-1849A860B6BD}"/>
              </a:ext>
            </a:extLst>
          </p:cNvPr>
          <p:cNvSpPr>
            <a:spLocks xmlns:a="http://schemas.openxmlformats.org/drawingml/2006/main" noGrp="1"/>
          </p:cNvSpPr>
          <p:nvPr/>
        </p:nvSpPr>
        <p:spPr>
          <a:xfrm xmlns:a="http://schemas.openxmlformats.org/drawingml/2006/main">
            <a:off x="13906500" y="8115300"/>
            <a:ext cx="723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547080"/>
                </a:solidFill>
                <a:latin typeface="Arial"/>
                <a:ea typeface="Arial"/>
                <a:cs typeface="Arial"/>
              </a:defRPr>
            </a:pPr>
            <a:r>
              <a:rPr sz="1650" b="0">
                <a:solidFill>
                  <a:srgbClr val="547080"/>
                </a:solidFill>
                <a:latin typeface="Arial"/>
                <a:ea typeface="Arial"/>
                <a:cs typeface="Arial"/>
              </a:rPr>
              <a:t>80</a:t>
            </a:r>
          </a:p>
        </p:txBody>
      </p:sp>
    </p:spTree>
    <p:extLst>
      <p:ext uri="{BB962C8B-B14F-4D97-AF65-F5344CB8AC3E}">
        <p14:creationId xmlns:p14="http://schemas.microsoft.com/office/powerpoint/2010/main" val="659424140"/>
      </p:ext>
    </p:extLst>
  </p:cSld>
</p:sld>
</file>

<file path=ppt/slides/slide8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Client discussion and rehearsal checkpoints">
            <a:extLst xmlns:a="http://schemas.openxmlformats.org/drawingml/2006/main">
              <a:ext uri="{FF2B5EF4-FFF2-40B4-BE49-F238E27FC236}">
                <a16:creationId xmlns:a16="http://schemas.microsoft.com/office/drawing/2014/main" id="{FBFB2547-3708-4434-9CC9-6449B1DB2643}"/>
              </a:ext>
            </a:extLst>
          </p:cNvPr>
          <p:cNvSpPr>
            <a:spLocks xmlns:a="http://schemas.openxmlformats.org/drawingml/2006/main" noGrp="1"/>
          </p:cNvSpPr>
          <p:nvPr/>
        </p:nvSpPr>
        <p:spPr>
          <a:xfrm xmlns:a="http://schemas.openxmlformats.org/drawingml/2006/main">
            <a:off x="571500" y="428625"/>
            <a:ext cx="140970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300" b="1">
                <a:solidFill>
                  <a:srgbClr val="12374B"/>
                </a:solidFill>
                <a:latin typeface="Arial"/>
                <a:ea typeface="Arial"/>
                <a:cs typeface="Arial"/>
              </a:defRPr>
            </a:pPr>
            <a:r>
              <a:rPr sz="3300" b="1">
                <a:solidFill>
                  <a:srgbClr val="12374B"/>
                </a:solidFill>
                <a:latin typeface="Arial"/>
                <a:ea typeface="Arial"/>
                <a:cs typeface="Arial"/>
              </a:rPr>
              <a:t>Client discussion and rehearsal checkpoints</a:t>
            </a:r>
          </a:p>
        </p:txBody>
      </p:sp>
      <p:sp>
        <p:nvSpPr>
          <p:cNvPr id="2" name="Ownership">
            <a:extLst xmlns:a="http://schemas.openxmlformats.org/drawingml/2006/main">
              <a:ext uri="{FF2B5EF4-FFF2-40B4-BE49-F238E27FC236}">
                <a16:creationId xmlns:a16="http://schemas.microsoft.com/office/drawing/2014/main" id="{24C1A761-3245-45F7-84D8-29D20C30B9CE}"/>
              </a:ext>
            </a:extLst>
          </p:cNvPr>
          <p:cNvSpPr>
            <a:spLocks xmlns:a="http://schemas.openxmlformats.org/drawingml/2006/main" noGrp="1"/>
          </p:cNvSpPr>
          <p:nvPr/>
        </p:nvSpPr>
        <p:spPr>
          <a:xfrm xmlns:a="http://schemas.openxmlformats.org/drawingml/2006/main">
            <a:off x="609600" y="1952625"/>
            <a:ext cx="4267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400" b="1">
                <a:solidFill>
                  <a:srgbClr val="007E92"/>
                </a:solidFill>
                <a:latin typeface="Arial"/>
                <a:ea typeface="Arial"/>
                <a:cs typeface="Arial"/>
              </a:defRPr>
            </a:pPr>
            <a:r>
              <a:rPr sz="2400" b="1">
                <a:solidFill>
                  <a:srgbClr val="007E92"/>
                </a:solidFill>
                <a:latin typeface="Arial"/>
                <a:ea typeface="Arial"/>
                <a:cs typeface="Arial"/>
              </a:rPr>
              <a:t>Ownership</a:t>
            </a:r>
          </a:p>
        </p:txBody>
      </p:sp>
      <p:sp>
        <p:nvSpPr>
          <p:cNvPr id="3" name="Who enters each record, who approves it, and who can pu">
            <a:extLst xmlns:a="http://schemas.openxmlformats.org/drawingml/2006/main">
              <a:ext uri="{FF2B5EF4-FFF2-40B4-BE49-F238E27FC236}">
                <a16:creationId xmlns:a16="http://schemas.microsoft.com/office/drawing/2014/main" id="{25C33EB6-A6D8-4327-B59B-E5D51A23B7FB}"/>
              </a:ext>
            </a:extLst>
          </p:cNvPr>
          <p:cNvSpPr>
            <a:spLocks xmlns:a="http://schemas.openxmlformats.org/drawingml/2006/main" noGrp="1"/>
          </p:cNvSpPr>
          <p:nvPr/>
        </p:nvSpPr>
        <p:spPr>
          <a:xfrm xmlns:a="http://schemas.openxmlformats.org/drawingml/2006/main">
            <a:off x="609600" y="3067050"/>
            <a:ext cx="4238625" cy="3200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325" b="0">
                <a:solidFill>
                  <a:srgbClr val="18384B"/>
                </a:solidFill>
                <a:latin typeface="Arial"/>
                <a:ea typeface="Arial"/>
                <a:cs typeface="Arial"/>
              </a:defRPr>
            </a:pPr>
            <a:r>
              <a:rPr sz="2325" b="0">
                <a:solidFill>
                  <a:srgbClr val="18384B"/>
                </a:solidFill>
                <a:latin typeface="Arial"/>
                <a:ea typeface="Arial"/>
                <a:cs typeface="Arial"/>
              </a:rPr>
              <a:t>Who enters each record, who approves it, and who can publish the dispatch plan?</a:t>
            </a:r>
          </a:p>
        </p:txBody>
      </p:sp>
      <p:sp>
        <p:nvSpPr>
          <p:cNvPr id="4" name="Operating rules">
            <a:extLst xmlns:a="http://schemas.openxmlformats.org/drawingml/2006/main">
              <a:ext uri="{FF2B5EF4-FFF2-40B4-BE49-F238E27FC236}">
                <a16:creationId xmlns:a16="http://schemas.microsoft.com/office/drawing/2014/main" id="{3AA4353E-3148-497D-A6C0-D3B2043D0AF0}"/>
              </a:ext>
            </a:extLst>
          </p:cNvPr>
          <p:cNvSpPr>
            <a:spLocks xmlns:a="http://schemas.openxmlformats.org/drawingml/2006/main" noGrp="1"/>
          </p:cNvSpPr>
          <p:nvPr/>
        </p:nvSpPr>
        <p:spPr>
          <a:xfrm xmlns:a="http://schemas.openxmlformats.org/drawingml/2006/main">
            <a:off x="5419725" y="1952625"/>
            <a:ext cx="4267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400" b="1">
                <a:solidFill>
                  <a:srgbClr val="007E92"/>
                </a:solidFill>
                <a:latin typeface="Arial"/>
                <a:ea typeface="Arial"/>
                <a:cs typeface="Arial"/>
              </a:defRPr>
            </a:pPr>
            <a:r>
              <a:rPr sz="2400" b="1">
                <a:solidFill>
                  <a:srgbClr val="007E92"/>
                </a:solidFill>
                <a:latin typeface="Arial"/>
                <a:ea typeface="Arial"/>
                <a:cs typeface="Arial"/>
              </a:rPr>
              <a:t>Operating rules</a:t>
            </a:r>
          </a:p>
        </p:txBody>
      </p:sp>
      <p:sp>
        <p:nvSpPr>
          <p:cNvPr id="5" name="Which dates, capacity definitions, reserve rules and es">
            <a:extLst xmlns:a="http://schemas.openxmlformats.org/drawingml/2006/main">
              <a:ext uri="{FF2B5EF4-FFF2-40B4-BE49-F238E27FC236}">
                <a16:creationId xmlns:a16="http://schemas.microsoft.com/office/drawing/2014/main" id="{7FA48DC2-7BAE-4DB9-932C-4BBBD1003EF6}"/>
              </a:ext>
            </a:extLst>
          </p:cNvPr>
          <p:cNvSpPr>
            <a:spLocks xmlns:a="http://schemas.openxmlformats.org/drawingml/2006/main" noGrp="1"/>
          </p:cNvSpPr>
          <p:nvPr/>
        </p:nvSpPr>
        <p:spPr>
          <a:xfrm xmlns:a="http://schemas.openxmlformats.org/drawingml/2006/main">
            <a:off x="5419725" y="3067050"/>
            <a:ext cx="4238625" cy="3200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325" b="0">
                <a:solidFill>
                  <a:srgbClr val="18384B"/>
                </a:solidFill>
                <a:latin typeface="Arial"/>
                <a:ea typeface="Arial"/>
                <a:cs typeface="Arial"/>
              </a:defRPr>
            </a:pPr>
            <a:r>
              <a:rPr sz="2325" b="0">
                <a:solidFill>
                  <a:srgbClr val="18384B"/>
                </a:solidFill>
                <a:latin typeface="Arial"/>
                <a:ea typeface="Arial"/>
                <a:cs typeface="Arial"/>
              </a:rPr>
              <a:t>Which dates, capacity definitions, reserve rules and escalation thresholds should the trial use?</a:t>
            </a:r>
          </a:p>
        </p:txBody>
      </p:sp>
      <p:sp>
        <p:nvSpPr>
          <p:cNvPr id="6" name="Acceptance example">
            <a:extLst xmlns:a="http://schemas.openxmlformats.org/drawingml/2006/main">
              <a:ext uri="{FF2B5EF4-FFF2-40B4-BE49-F238E27FC236}">
                <a16:creationId xmlns:a16="http://schemas.microsoft.com/office/drawing/2014/main" id="{6E26E51C-E12C-401B-B2A2-0EAA3C17FDDE}"/>
              </a:ext>
            </a:extLst>
          </p:cNvPr>
          <p:cNvSpPr>
            <a:spLocks xmlns:a="http://schemas.openxmlformats.org/drawingml/2006/main" noGrp="1"/>
          </p:cNvSpPr>
          <p:nvPr/>
        </p:nvSpPr>
        <p:spPr>
          <a:xfrm xmlns:a="http://schemas.openxmlformats.org/drawingml/2006/main">
            <a:off x="10229850" y="1952625"/>
            <a:ext cx="4267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400" b="1">
                <a:solidFill>
                  <a:srgbClr val="007E92"/>
                </a:solidFill>
                <a:latin typeface="Arial"/>
                <a:ea typeface="Arial"/>
                <a:cs typeface="Arial"/>
              </a:defRPr>
            </a:pPr>
            <a:r>
              <a:rPr sz="2400" b="1">
                <a:solidFill>
                  <a:srgbClr val="007E92"/>
                </a:solidFill>
                <a:latin typeface="Arial"/>
                <a:ea typeface="Arial"/>
                <a:cs typeface="Arial"/>
              </a:rPr>
              <a:t>Acceptance example</a:t>
            </a:r>
          </a:p>
        </p:txBody>
      </p:sp>
      <p:sp>
        <p:nvSpPr>
          <p:cNvPr id="7" name="Can the client trace one asset and day from input throu">
            <a:extLst xmlns:a="http://schemas.openxmlformats.org/drawingml/2006/main">
              <a:ext uri="{FF2B5EF4-FFF2-40B4-BE49-F238E27FC236}">
                <a16:creationId xmlns:a16="http://schemas.microsoft.com/office/drawing/2014/main" id="{1F15A255-2887-43CB-AAED-08F24579FD29}"/>
              </a:ext>
            </a:extLst>
          </p:cNvPr>
          <p:cNvSpPr>
            <a:spLocks xmlns:a="http://schemas.openxmlformats.org/drawingml/2006/main" noGrp="1"/>
          </p:cNvSpPr>
          <p:nvPr/>
        </p:nvSpPr>
        <p:spPr>
          <a:xfrm xmlns:a="http://schemas.openxmlformats.org/drawingml/2006/main">
            <a:off x="10229850" y="3067050"/>
            <a:ext cx="4238625" cy="3200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325" b="0">
                <a:solidFill>
                  <a:srgbClr val="18384B"/>
                </a:solidFill>
                <a:latin typeface="Arial"/>
                <a:ea typeface="Arial"/>
                <a:cs typeface="Arial"/>
              </a:defRPr>
            </a:pPr>
            <a:r>
              <a:rPr sz="2325" b="0">
                <a:solidFill>
                  <a:srgbClr val="18384B"/>
                </a:solidFill>
                <a:latin typeface="Arial"/>
                <a:ea typeface="Arial"/>
                <a:cs typeface="Arial"/>
              </a:rPr>
              <a:t>Can the client trace one asset and day from input through approval, decision and actual outcome?</a:t>
            </a:r>
          </a:p>
        </p:txBody>
      </p:sp>
      <p:sp>
        <p:nvSpPr>
          <p:cNvPr id="8" name="Agree one representative trial scenario and its expecte">
            <a:extLst xmlns:a="http://schemas.openxmlformats.org/drawingml/2006/main">
              <a:ext uri="{FF2B5EF4-FFF2-40B4-BE49-F238E27FC236}">
                <a16:creationId xmlns:a16="http://schemas.microsoft.com/office/drawing/2014/main" id="{A257242B-03C2-4749-9CAB-4D73BE8E4D44}"/>
              </a:ext>
            </a:extLst>
          </p:cNvPr>
          <p:cNvSpPr>
            <a:spLocks xmlns:a="http://schemas.openxmlformats.org/drawingml/2006/main" noGrp="1"/>
          </p:cNvSpPr>
          <p:nvPr/>
        </p:nvSpPr>
        <p:spPr>
          <a:xfrm xmlns:a="http://schemas.openxmlformats.org/drawingml/2006/main">
            <a:off x="609600" y="7448550"/>
            <a:ext cx="1390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Agree one representative trial scenario and its expected operating handoffs.</a:t>
            </a:r>
          </a:p>
        </p:txBody>
      </p:sp>
      <p:sp>
        <p:nvSpPr>
          <p:cNvPr id="9" name="WIDispatch   /   Client demonstration">
            <a:extLst xmlns:a="http://schemas.openxmlformats.org/drawingml/2006/main">
              <a:ext uri="{FF2B5EF4-FFF2-40B4-BE49-F238E27FC236}">
                <a16:creationId xmlns:a16="http://schemas.microsoft.com/office/drawing/2014/main" id="{15D1DA5E-CC20-457E-8A92-3A978298F547}"/>
              </a:ext>
            </a:extLst>
          </p:cNvPr>
          <p:cNvSpPr>
            <a:spLocks xmlns:a="http://schemas.openxmlformats.org/drawingml/2006/main" noGrp="1"/>
          </p:cNvSpPr>
          <p:nvPr/>
        </p:nvSpPr>
        <p:spPr>
          <a:xfrm xmlns:a="http://schemas.openxmlformats.org/drawingml/2006/main">
            <a:off x="609600" y="81724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275" b="0">
                <a:solidFill>
                  <a:srgbClr val="547080"/>
                </a:solidFill>
                <a:latin typeface="Arial"/>
                <a:ea typeface="Arial"/>
                <a:cs typeface="Arial"/>
              </a:defRPr>
            </a:pPr>
            <a:r>
              <a:rPr sz="1275" b="0">
                <a:solidFill>
                  <a:srgbClr val="547080"/>
                </a:solidFill>
                <a:latin typeface="Arial"/>
                <a:ea typeface="Arial"/>
                <a:cs typeface="Arial"/>
              </a:rPr>
              <a:t>WIDispatch   /   Client demonstration</a:t>
            </a:r>
          </a:p>
        </p:txBody>
      </p:sp>
      <p:sp>
        <p:nvSpPr>
          <p:cNvPr id="10" name="75">
            <a:extLst xmlns:a="http://schemas.openxmlformats.org/drawingml/2006/main">
              <a:ext uri="{FF2B5EF4-FFF2-40B4-BE49-F238E27FC236}">
                <a16:creationId xmlns:a16="http://schemas.microsoft.com/office/drawing/2014/main" id="{B86DDEB3-CE61-4FB6-86FA-8993C024066B}"/>
              </a:ext>
            </a:extLst>
          </p:cNvPr>
          <p:cNvSpPr>
            <a:spLocks xmlns:a="http://schemas.openxmlformats.org/drawingml/2006/main" noGrp="1"/>
          </p:cNvSpPr>
          <p:nvPr/>
        </p:nvSpPr>
        <p:spPr>
          <a:xfrm xmlns:a="http://schemas.openxmlformats.org/drawingml/2006/main">
            <a:off x="13906500" y="8115300"/>
            <a:ext cx="723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547080"/>
                </a:solidFill>
                <a:latin typeface="Arial"/>
                <a:ea typeface="Arial"/>
                <a:cs typeface="Arial"/>
              </a:defRPr>
            </a:pPr>
            <a:r>
              <a:rPr sz="1650" b="0">
                <a:solidFill>
                  <a:srgbClr val="547080"/>
                </a:solidFill>
                <a:latin typeface="Arial"/>
                <a:ea typeface="Arial"/>
                <a:cs typeface="Arial"/>
              </a:rPr>
              <a:t>81</a:t>
            </a:r>
          </a:p>
        </p:txBody>
      </p:sp>
    </p:spTree>
    <p:extLst>
      <p:ext uri="{BB962C8B-B14F-4D97-AF65-F5344CB8AC3E}">
        <p14:creationId xmlns:p14="http://schemas.microsoft.com/office/powerpoint/2010/main" val="97048361"/>
      </p:ext>
    </p:extLst>
  </p:cSld>
</p:sld>
</file>

<file path=ppt/slides/slide8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Reference: the four portal workflows">
            <a:extLst xmlns:a="http://schemas.openxmlformats.org/drawingml/2006/main">
              <a:ext uri="{FF2B5EF4-FFF2-40B4-BE49-F238E27FC236}">
                <a16:creationId xmlns:a16="http://schemas.microsoft.com/office/drawing/2014/main" id="{FFB03213-EA92-4DCC-8447-0F8A1BC6E3E8}"/>
              </a:ext>
            </a:extLst>
          </p:cNvPr>
          <p:cNvSpPr>
            <a:spLocks xmlns:a="http://schemas.openxmlformats.org/drawingml/2006/main" noGrp="1"/>
          </p:cNvSpPr>
          <p:nvPr/>
        </p:nvSpPr>
        <p:spPr>
          <a:xfrm xmlns:a="http://schemas.openxmlformats.org/drawingml/2006/main">
            <a:off x="571500" y="428625"/>
            <a:ext cx="140970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300" b="1">
                <a:solidFill>
                  <a:srgbClr val="12374B"/>
                </a:solidFill>
                <a:latin typeface="Arial"/>
                <a:ea typeface="Arial"/>
                <a:cs typeface="Arial"/>
              </a:defRPr>
            </a:pPr>
            <a:r>
              <a:rPr sz="3300" b="1">
                <a:solidFill>
                  <a:srgbClr val="12374B"/>
                </a:solidFill>
                <a:latin typeface="Arial"/>
                <a:ea typeface="Arial"/>
                <a:cs typeface="Arial"/>
              </a:rPr>
              <a:t>Reference: the four portal workflows</a:t>
            </a:r>
          </a:p>
        </p:txBody>
      </p:sp>
      <p:graphicFrame>
        <p:nvGraphicFramePr>
          <p:cNvPr id="9" name=""/>
          <p:cNvGraphicFramePr/>
          <p:nvPr/>
        </p:nvGraphicFramePr>
        <p:xfrm>
          <a:off xmlns:a="http://schemas.openxmlformats.org/drawingml/2006/main" x="609600" y="1752600"/>
          <a:ext xmlns:a="http://schemas.openxmlformats.org/drawingml/2006/main" cx="14020800" cy="4953000"/>
        </p:xfrm>
        <a:graphic xmlns:a="http://schemas.openxmlformats.org/drawingml/2006/main">
          <a:graphicData uri="http://schemas.openxmlformats.org/drawingml/2006/table">
            <a:tbl>
              <a:tblPr/>
              <a:tblGrid>
                <a:gridCol w="2286000"/>
                <a:gridCol w="3905250"/>
                <a:gridCol w="3905250"/>
                <a:gridCol w="3924300"/>
              </a:tblGrid>
              <a:tr h="990600">
                <a:tc>
                  <a:txBody>
                    <a:bodyPr/>
                    <a:lstStyle/>
                    <a:p>
                      <a:r>
                        <a:rPr sz="1950" b="1">
                          <a:solidFill>
                            <a:srgbClr val="FFFFFF"/>
                          </a:solidFill>
                          <a:latin typeface="Arial"/>
                          <a:ea typeface="Arial"/>
                          <a:cs typeface="Arial"/>
                        </a:rPr>
                        <a:t>Portal</a:t>
                      </a:r>
                    </a:p>
                  </a:txBody>
                  <a:tcPr marL="152400" marR="152400" marT="171450" marB="133350" anchor="ctr">
                    <a:solidFill>
                      <a:srgbClr val="12374B"/>
                    </a:solidFill>
                  </a:tcPr>
                </a:tc>
                <a:tc>
                  <a:txBody>
                    <a:bodyPr/>
                    <a:lstStyle/>
                    <a:p>
                      <a:r>
                        <a:rPr sz="1950" b="1">
                          <a:solidFill>
                            <a:srgbClr val="FFFFFF"/>
                          </a:solidFill>
                          <a:latin typeface="Arial"/>
                          <a:ea typeface="Arial"/>
                          <a:cs typeface="Arial"/>
                        </a:rPr>
                        <a:t>Input action</a:t>
                      </a:r>
                    </a:p>
                  </a:txBody>
                  <a:tcPr marL="152400" marR="152400" marT="171450" marB="133350" anchor="ctr">
                    <a:solidFill>
                      <a:srgbClr val="12374B"/>
                    </a:solidFill>
                  </a:tcPr>
                </a:tc>
                <a:tc>
                  <a:txBody>
                    <a:bodyPr/>
                    <a:lstStyle/>
                    <a:p>
                      <a:r>
                        <a:rPr sz="1950" b="1">
                          <a:solidFill>
                            <a:srgbClr val="FFFFFF"/>
                          </a:solidFill>
                          <a:latin typeface="Arial"/>
                          <a:ea typeface="Arial"/>
                          <a:cs typeface="Arial"/>
                        </a:rPr>
                        <a:t>Review action</a:t>
                      </a:r>
                    </a:p>
                  </a:txBody>
                  <a:tcPr marL="152400" marR="152400" marT="171450" marB="133350" anchor="ctr">
                    <a:solidFill>
                      <a:srgbClr val="12374B"/>
                    </a:solidFill>
                  </a:tcPr>
                </a:tc>
                <a:tc>
                  <a:txBody>
                    <a:bodyPr/>
                    <a:lstStyle/>
                    <a:p>
                      <a:r>
                        <a:rPr sz="1950" b="1">
                          <a:solidFill>
                            <a:srgbClr val="FFFFFF"/>
                          </a:solidFill>
                          <a:latin typeface="Arial"/>
                          <a:ea typeface="Arial"/>
                          <a:cs typeface="Arial"/>
                        </a:rPr>
                        <a:t>After publication</a:t>
                      </a:r>
                    </a:p>
                  </a:txBody>
                  <a:tcPr marL="152400" marR="152400" marT="171450" marB="133350" anchor="ctr">
                    <a:solidFill>
                      <a:srgbClr val="12374B"/>
                    </a:solidFill>
                  </a:tcPr>
                </a:tc>
              </a:tr>
              <a:tr h="990600">
                <a:tc>
                  <a:txBody>
                    <a:bodyPr/>
                    <a:lstStyle/>
                    <a:p>
                      <a:r>
                        <a:rPr sz="1950">
                          <a:solidFill>
                            <a:srgbClr val="18384B"/>
                          </a:solidFill>
                          <a:latin typeface="Arial"/>
                          <a:ea typeface="Arial"/>
                          <a:cs typeface="Arial"/>
                        </a:rPr>
                        <a:t>Production</a:t>
                      </a:r>
                    </a:p>
                  </a:txBody>
                  <a:tcPr marL="152400" marR="152400" marT="171450" marB="133350" anchor="ctr">
                    <a:solidFill>
                      <a:srgbClr val="EEF5F7"/>
                    </a:solidFill>
                  </a:tcPr>
                </a:tc>
                <a:tc>
                  <a:txBody>
                    <a:bodyPr/>
                    <a:lstStyle/>
                    <a:p>
                      <a:r>
                        <a:rPr sz="1950">
                          <a:solidFill>
                            <a:srgbClr val="18384B"/>
                          </a:solidFill>
                          <a:latin typeface="Arial"/>
                          <a:ea typeface="Arial"/>
                          <a:cs typeface="Arial"/>
                        </a:rPr>
                        <a:t>Record Production / New Maintenance</a:t>
                      </a:r>
                    </a:p>
                  </a:txBody>
                  <a:tcPr marL="152400" marR="152400" marT="171450" marB="133350" anchor="ctr">
                    <a:solidFill>
                      <a:srgbClr val="EEF5F7"/>
                    </a:solidFill>
                  </a:tcPr>
                </a:tc>
                <a:tc>
                  <a:txBody>
                    <a:bodyPr/>
                    <a:lstStyle/>
                    <a:p>
                      <a:r>
                        <a:rPr sz="1950">
                          <a:solidFill>
                            <a:srgbClr val="18384B"/>
                          </a:solidFill>
                          <a:latin typeface="Arial"/>
                          <a:ea typeface="Arial"/>
                          <a:cs typeface="Arial"/>
                        </a:rPr>
                        <a:t>Approvals: Production or Maintenance</a:t>
                      </a:r>
                    </a:p>
                  </a:txBody>
                  <a:tcPr marL="152400" marR="152400" marT="171450" marB="133350" anchor="ctr">
                    <a:solidFill>
                      <a:srgbClr val="EEF5F7"/>
                    </a:solidFill>
                  </a:tcPr>
                </a:tc>
                <a:tc>
                  <a:txBody>
                    <a:bodyPr/>
                    <a:lstStyle/>
                    <a:p>
                      <a:r>
                        <a:rPr sz="1950">
                          <a:solidFill>
                            <a:srgbClr val="18384B"/>
                          </a:solidFill>
                          <a:latin typeface="Arial"/>
                          <a:ea typeface="Arial"/>
                          <a:cs typeface="Arial"/>
                        </a:rPr>
                        <a:t>Requested allocation vs actual output</a:t>
                      </a:r>
                    </a:p>
                  </a:txBody>
                  <a:tcPr marL="152400" marR="152400" marT="171450" marB="133350" anchor="ctr">
                    <a:solidFill>
                      <a:srgbClr val="EEF5F7"/>
                    </a:solidFill>
                  </a:tcPr>
                </a:tc>
              </a:tr>
              <a:tr h="990600">
                <a:tc>
                  <a:txBody>
                    <a:bodyPr/>
                    <a:lstStyle/>
                    <a:p>
                      <a:r>
                        <a:rPr sz="1950">
                          <a:solidFill>
                            <a:srgbClr val="18384B"/>
                          </a:solidFill>
                          <a:latin typeface="Arial"/>
                          <a:ea typeface="Arial"/>
                          <a:cs typeface="Arial"/>
                        </a:rPr>
                        <a:t>Demand</a:t>
                      </a:r>
                    </a:p>
                  </a:txBody>
                  <a:tcPr marL="152400" marR="152400" marT="171450" marB="133350" anchor="ctr">
                    <a:solidFill>
                      <a:srgbClr val="FFFFFF"/>
                    </a:solidFill>
                  </a:tcPr>
                </a:tc>
                <a:tc>
                  <a:txBody>
                    <a:bodyPr/>
                    <a:lstStyle/>
                    <a:p>
                      <a:r>
                        <a:rPr sz="1950">
                          <a:solidFill>
                            <a:srgbClr val="18384B"/>
                          </a:solidFill>
                          <a:latin typeface="Arial"/>
                          <a:ea typeface="Arial"/>
                          <a:cs typeface="Arial"/>
                        </a:rPr>
                        <a:t>Record Demand</a:t>
                      </a:r>
                    </a:p>
                  </a:txBody>
                  <a:tcPr marL="152400" marR="152400" marT="171450" marB="133350" anchor="ctr">
                    <a:solidFill>
                      <a:srgbClr val="FFFFFF"/>
                    </a:solidFill>
                  </a:tcPr>
                </a:tc>
                <a:tc>
                  <a:txBody>
                    <a:bodyPr/>
                    <a:lstStyle/>
                    <a:p>
                      <a:r>
                        <a:rPr sz="1950">
                          <a:solidFill>
                            <a:srgbClr val="18384B"/>
                          </a:solidFill>
                          <a:latin typeface="Arial"/>
                          <a:ea typeface="Arial"/>
                          <a:cs typeface="Arial"/>
                        </a:rPr>
                        <a:t>Approvals: Demand</a:t>
                      </a:r>
                    </a:p>
                  </a:txBody>
                  <a:tcPr marL="152400" marR="152400" marT="171450" marB="133350" anchor="ctr">
                    <a:solidFill>
                      <a:srgbClr val="FFFFFF"/>
                    </a:solidFill>
                  </a:tcPr>
                </a:tc>
                <a:tc>
                  <a:txBody>
                    <a:bodyPr/>
                    <a:lstStyle/>
                    <a:p>
                      <a:r>
                        <a:rPr sz="1950">
                          <a:solidFill>
                            <a:srgbClr val="18384B"/>
                          </a:solidFill>
                          <a:latin typeface="Arial"/>
                          <a:ea typeface="Arial"/>
                          <a:cs typeface="Arial"/>
                        </a:rPr>
                        <a:t>Requested vs actual; verdict in Desktop</a:t>
                      </a:r>
                    </a:p>
                  </a:txBody>
                  <a:tcPr marL="152400" marR="152400" marT="171450" marB="133350" anchor="ctr">
                    <a:solidFill>
                      <a:srgbClr val="FFFFFF"/>
                    </a:solidFill>
                  </a:tcPr>
                </a:tc>
              </a:tr>
              <a:tr h="990600">
                <a:tc>
                  <a:txBody>
                    <a:bodyPr/>
                    <a:lstStyle/>
                    <a:p>
                      <a:r>
                        <a:rPr sz="1950">
                          <a:solidFill>
                            <a:srgbClr val="18384B"/>
                          </a:solidFill>
                          <a:latin typeface="Arial"/>
                          <a:ea typeface="Arial"/>
                          <a:cs typeface="Arial"/>
                        </a:rPr>
                        <a:t>Transmission</a:t>
                      </a:r>
                    </a:p>
                  </a:txBody>
                  <a:tcPr marL="152400" marR="152400" marT="171450" marB="133350" anchor="ctr">
                    <a:solidFill>
                      <a:srgbClr val="EEF5F7"/>
                    </a:solidFill>
                  </a:tcPr>
                </a:tc>
                <a:tc>
                  <a:txBody>
                    <a:bodyPr/>
                    <a:lstStyle/>
                    <a:p>
                      <a:r>
                        <a:rPr sz="1950">
                          <a:solidFill>
                            <a:srgbClr val="18384B"/>
                          </a:solidFill>
                          <a:latin typeface="Arial"/>
                          <a:ea typeface="Arial"/>
                          <a:cs typeface="Arial"/>
                        </a:rPr>
                        <a:t>Pump maintenance / Received / Delivered</a:t>
                      </a:r>
                    </a:p>
                  </a:txBody>
                  <a:tcPr marL="152400" marR="152400" marT="171450" marB="133350" anchor="ctr">
                    <a:solidFill>
                      <a:srgbClr val="EEF5F7"/>
                    </a:solidFill>
                  </a:tcPr>
                </a:tc>
                <a:tc>
                  <a:txBody>
                    <a:bodyPr/>
                    <a:lstStyle/>
                    <a:p>
                      <a:r>
                        <a:rPr sz="1950">
                          <a:solidFill>
                            <a:srgbClr val="18384B"/>
                          </a:solidFill>
                          <a:latin typeface="Arial"/>
                          <a:ea typeface="Arial"/>
                          <a:cs typeface="Arial"/>
                        </a:rPr>
                        <a:t>Three applicable approval queues</a:t>
                      </a:r>
                    </a:p>
                  </a:txBody>
                  <a:tcPr marL="152400" marR="152400" marT="171450" marB="133350" anchor="ctr">
                    <a:solidFill>
                      <a:srgbClr val="EEF5F7"/>
                    </a:solidFill>
                  </a:tcPr>
                </a:tc>
                <a:tc>
                  <a:txBody>
                    <a:bodyPr/>
                    <a:lstStyle/>
                    <a:p>
                      <a:r>
                        <a:rPr sz="1950">
                          <a:solidFill>
                            <a:srgbClr val="18384B"/>
                          </a:solidFill>
                          <a:latin typeface="Arial"/>
                          <a:ea typeface="Arial"/>
                          <a:cs typeface="Arial"/>
                        </a:rPr>
                        <a:t>Receipts and deliveries for reconciliation</a:t>
                      </a:r>
                    </a:p>
                  </a:txBody>
                  <a:tcPr marL="152400" marR="152400" marT="171450" marB="133350" anchor="ctr">
                    <a:solidFill>
                      <a:srgbClr val="EEF5F7"/>
                    </a:solidFill>
                  </a:tcPr>
                </a:tc>
              </a:tr>
              <a:tr h="990600">
                <a:tc>
                  <a:txBody>
                    <a:bodyPr/>
                    <a:lstStyle/>
                    <a:p>
                      <a:r>
                        <a:rPr sz="1950">
                          <a:solidFill>
                            <a:srgbClr val="18384B"/>
                          </a:solidFill>
                          <a:latin typeface="Arial"/>
                          <a:ea typeface="Arial"/>
                          <a:cs typeface="Arial"/>
                        </a:rPr>
                        <a:t>Economics</a:t>
                      </a:r>
                    </a:p>
                  </a:txBody>
                  <a:tcPr marL="152400" marR="152400" marT="171450" marB="133350" anchor="ctr">
                    <a:solidFill>
                      <a:srgbClr val="FFFFFF"/>
                    </a:solidFill>
                  </a:tcPr>
                </a:tc>
                <a:tc>
                  <a:txBody>
                    <a:bodyPr/>
                    <a:lstStyle/>
                    <a:p>
                      <a:r>
                        <a:rPr sz="1950">
                          <a:solidFill>
                            <a:srgbClr val="18384B"/>
                          </a:solidFill>
                          <a:latin typeface="Arial"/>
                          <a:ea typeface="Arial"/>
                          <a:cs typeface="Arial"/>
                        </a:rPr>
                        <a:t>Propose Cost Change</a:t>
                      </a:r>
                    </a:p>
                  </a:txBody>
                  <a:tcPr marL="152400" marR="152400" marT="171450" marB="133350" anchor="ctr">
                    <a:solidFill>
                      <a:srgbClr val="FFFFFF"/>
                    </a:solidFill>
                  </a:tcPr>
                </a:tc>
                <a:tc>
                  <a:txBody>
                    <a:bodyPr/>
                    <a:lstStyle/>
                    <a:p>
                      <a:r>
                        <a:rPr sz="1950">
                          <a:solidFill>
                            <a:srgbClr val="18384B"/>
                          </a:solidFill>
                          <a:latin typeface="Arial"/>
                          <a:ea typeface="Arial"/>
                          <a:cs typeface="Arial"/>
                        </a:rPr>
                        <a:t>Approve / Reject / Revision</a:t>
                      </a:r>
                    </a:p>
                  </a:txBody>
                  <a:tcPr marL="152400" marR="152400" marT="171450" marB="133350" anchor="ctr">
                    <a:solidFill>
                      <a:srgbClr val="FFFFFF"/>
                    </a:solidFill>
                  </a:tcPr>
                </a:tc>
                <a:tc>
                  <a:txBody>
                    <a:bodyPr/>
                    <a:lstStyle/>
                    <a:p>
                      <a:r>
                        <a:rPr sz="1950">
                          <a:solidFill>
                            <a:srgbClr val="18384B"/>
                          </a:solidFill>
                          <a:latin typeface="Arial"/>
                          <a:ea typeface="Arial"/>
                          <a:cs typeface="Arial"/>
                        </a:rPr>
                        <a:t>Cost and operating-performance review</a:t>
                      </a:r>
                    </a:p>
                  </a:txBody>
                  <a:tcPr marL="152400" marR="152400" marT="171450" marB="133350" anchor="ctr">
                    <a:solidFill>
                      <a:srgbClr val="FFFFFF"/>
                    </a:solidFill>
                  </a:tcPr>
                </a:tc>
              </a:tr>
            </a:tbl>
          </a:graphicData>
        </a:graphic>
      </p:graphicFrame>
      <p:sp>
        <p:nvSpPr>
          <p:cNvPr id="3" name="Record-type rules differ. Quality and outage entry may ">
            <a:extLst xmlns:a="http://schemas.openxmlformats.org/drawingml/2006/main">
              <a:ext uri="{FF2B5EF4-FFF2-40B4-BE49-F238E27FC236}">
                <a16:creationId xmlns:a16="http://schemas.microsoft.com/office/drawing/2014/main" id="{B15EC414-5498-4DEF-8C34-8FA779A9F5AE}"/>
              </a:ext>
            </a:extLst>
          </p:cNvPr>
          <p:cNvSpPr>
            <a:spLocks xmlns:a="http://schemas.openxmlformats.org/drawingml/2006/main" noGrp="1"/>
          </p:cNvSpPr>
          <p:nvPr/>
        </p:nvSpPr>
        <p:spPr>
          <a:xfrm xmlns:a="http://schemas.openxmlformats.org/drawingml/2006/main">
            <a:off x="609600" y="7448550"/>
            <a:ext cx="1390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Record-type rules differ. Quality and outage entry may save directly.</a:t>
            </a:r>
          </a:p>
        </p:txBody>
      </p:sp>
      <p:sp>
        <p:nvSpPr>
          <p:cNvPr id="4" name="WIDispatch   /   Client demonstration">
            <a:extLst xmlns:a="http://schemas.openxmlformats.org/drawingml/2006/main">
              <a:ext uri="{FF2B5EF4-FFF2-40B4-BE49-F238E27FC236}">
                <a16:creationId xmlns:a16="http://schemas.microsoft.com/office/drawing/2014/main" id="{D8114177-0649-4556-B290-A00275EADB34}"/>
              </a:ext>
            </a:extLst>
          </p:cNvPr>
          <p:cNvSpPr>
            <a:spLocks xmlns:a="http://schemas.openxmlformats.org/drawingml/2006/main" noGrp="1"/>
          </p:cNvSpPr>
          <p:nvPr/>
        </p:nvSpPr>
        <p:spPr>
          <a:xfrm xmlns:a="http://schemas.openxmlformats.org/drawingml/2006/main">
            <a:off x="609600" y="81724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275" b="0">
                <a:solidFill>
                  <a:srgbClr val="547080"/>
                </a:solidFill>
                <a:latin typeface="Arial"/>
                <a:ea typeface="Arial"/>
                <a:cs typeface="Arial"/>
              </a:defRPr>
            </a:pPr>
            <a:r>
              <a:rPr sz="1275" b="0">
                <a:solidFill>
                  <a:srgbClr val="547080"/>
                </a:solidFill>
                <a:latin typeface="Arial"/>
                <a:ea typeface="Arial"/>
                <a:cs typeface="Arial"/>
              </a:rPr>
              <a:t>WIDispatch   /   Client demonstration</a:t>
            </a:r>
          </a:p>
        </p:txBody>
      </p:sp>
      <p:sp>
        <p:nvSpPr>
          <p:cNvPr id="5" name="76">
            <a:extLst xmlns:a="http://schemas.openxmlformats.org/drawingml/2006/main">
              <a:ext uri="{FF2B5EF4-FFF2-40B4-BE49-F238E27FC236}">
                <a16:creationId xmlns:a16="http://schemas.microsoft.com/office/drawing/2014/main" id="{A1C6F4DA-2221-4A9B-93CA-3C6AD07BB012}"/>
              </a:ext>
            </a:extLst>
          </p:cNvPr>
          <p:cNvSpPr>
            <a:spLocks xmlns:a="http://schemas.openxmlformats.org/drawingml/2006/main" noGrp="1"/>
          </p:cNvSpPr>
          <p:nvPr/>
        </p:nvSpPr>
        <p:spPr>
          <a:xfrm xmlns:a="http://schemas.openxmlformats.org/drawingml/2006/main">
            <a:off x="13906500" y="8115300"/>
            <a:ext cx="723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547080"/>
                </a:solidFill>
                <a:latin typeface="Arial"/>
                <a:ea typeface="Arial"/>
                <a:cs typeface="Arial"/>
              </a:defRPr>
            </a:pPr>
            <a:r>
              <a:rPr sz="1650" b="0">
                <a:solidFill>
                  <a:srgbClr val="547080"/>
                </a:solidFill>
                <a:latin typeface="Arial"/>
                <a:ea typeface="Arial"/>
                <a:cs typeface="Arial"/>
              </a:rPr>
              <a:t>82</a:t>
            </a:r>
          </a:p>
        </p:txBody>
      </p:sp>
    </p:spTree>
    <p:extLst>
      <p:ext uri="{BB962C8B-B14F-4D97-AF65-F5344CB8AC3E}">
        <p14:creationId xmlns:p14="http://schemas.microsoft.com/office/powerpoint/2010/main" val="2066300850"/>
      </p:ext>
    </p:extLst>
  </p:cSld>
</p:sld>
</file>

<file path=ppt/slides/slide8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Reference: sample scenario results">
            <a:extLst xmlns:a="http://schemas.openxmlformats.org/drawingml/2006/main">
              <a:ext uri="{FF2B5EF4-FFF2-40B4-BE49-F238E27FC236}">
                <a16:creationId xmlns:a16="http://schemas.microsoft.com/office/drawing/2014/main" id="{F1760F13-BA4D-4AD8-BF8F-917371755DF2}"/>
              </a:ext>
            </a:extLst>
          </p:cNvPr>
          <p:cNvSpPr>
            <a:spLocks xmlns:a="http://schemas.openxmlformats.org/drawingml/2006/main" noGrp="1"/>
          </p:cNvSpPr>
          <p:nvPr/>
        </p:nvSpPr>
        <p:spPr>
          <a:xfrm xmlns:a="http://schemas.openxmlformats.org/drawingml/2006/main">
            <a:off x="571500" y="428625"/>
            <a:ext cx="140970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300" b="1">
                <a:solidFill>
                  <a:srgbClr val="12374B"/>
                </a:solidFill>
                <a:latin typeface="Arial"/>
                <a:ea typeface="Arial"/>
                <a:cs typeface="Arial"/>
              </a:defRPr>
            </a:pPr>
            <a:r>
              <a:rPr sz="3300" b="1">
                <a:solidFill>
                  <a:srgbClr val="12374B"/>
                </a:solidFill>
                <a:latin typeface="Arial"/>
                <a:ea typeface="Arial"/>
                <a:cs typeface="Arial"/>
              </a:rPr>
              <a:t>Reference: sample scenario results</a:t>
            </a:r>
          </a:p>
        </p:txBody>
      </p:sp>
      <p:graphicFrame>
        <p:nvGraphicFramePr>
          <p:cNvPr id="9" name=""/>
          <p:cNvGraphicFramePr/>
          <p:nvPr/>
        </p:nvGraphicFramePr>
        <p:xfrm>
          <a:off xmlns:a="http://schemas.openxmlformats.org/drawingml/2006/main" x="609600" y="1752600"/>
          <a:ext xmlns:a="http://schemas.openxmlformats.org/drawingml/2006/main" cx="14020800" cy="4953000"/>
        </p:xfrm>
        <a:graphic xmlns:a="http://schemas.openxmlformats.org/drawingml/2006/main">
          <a:graphicData uri="http://schemas.openxmlformats.org/drawingml/2006/table">
            <a:tbl>
              <a:tblPr/>
              <a:tblGrid>
                <a:gridCol w="3143250"/>
                <a:gridCol w="5334000"/>
                <a:gridCol w="5543550"/>
              </a:tblGrid>
              <a:tr h="825500">
                <a:tc>
                  <a:txBody>
                    <a:bodyPr/>
                    <a:lstStyle/>
                    <a:p>
                      <a:r>
                        <a:rPr sz="1950" b="1">
                          <a:solidFill>
                            <a:srgbClr val="FFFFFF"/>
                          </a:solidFill>
                          <a:latin typeface="Arial"/>
                          <a:ea typeface="Arial"/>
                          <a:cs typeface="Arial"/>
                        </a:rPr>
                        <a:t>Measure</a:t>
                      </a:r>
                    </a:p>
                  </a:txBody>
                  <a:tcPr marL="152400" marR="152400" marT="171450" marB="133350" anchor="ctr">
                    <a:solidFill>
                      <a:srgbClr val="12374B"/>
                    </a:solidFill>
                  </a:tcPr>
                </a:tc>
                <a:tc>
                  <a:txBody>
                    <a:bodyPr/>
                    <a:lstStyle/>
                    <a:p>
                      <a:r>
                        <a:rPr sz="1950" b="1">
                          <a:solidFill>
                            <a:srgbClr val="FFFFFF"/>
                          </a:solidFill>
                          <a:latin typeface="Arial"/>
                          <a:ea typeface="Arial"/>
                          <a:cs typeface="Arial"/>
                        </a:rPr>
                        <a:t>Saved scenario value</a:t>
                      </a:r>
                    </a:p>
                  </a:txBody>
                  <a:tcPr marL="152400" marR="152400" marT="171450" marB="133350" anchor="ctr">
                    <a:solidFill>
                      <a:srgbClr val="12374B"/>
                    </a:solidFill>
                  </a:tcPr>
                </a:tc>
                <a:tc>
                  <a:txBody>
                    <a:bodyPr/>
                    <a:lstStyle/>
                    <a:p>
                      <a:r>
                        <a:rPr sz="1950" b="1">
                          <a:solidFill>
                            <a:srgbClr val="FFFFFF"/>
                          </a:solidFill>
                          <a:latin typeface="Arial"/>
                          <a:ea typeface="Arial"/>
                          <a:cs typeface="Arial"/>
                        </a:rPr>
                        <a:t>Interpretation</a:t>
                      </a:r>
                    </a:p>
                  </a:txBody>
                  <a:tcPr marL="152400" marR="152400" marT="171450" marB="133350" anchor="ctr">
                    <a:solidFill>
                      <a:srgbClr val="12374B"/>
                    </a:solidFill>
                  </a:tcPr>
                </a:tc>
              </a:tr>
              <a:tr h="825500">
                <a:tc>
                  <a:txBody>
                    <a:bodyPr/>
                    <a:lstStyle/>
                    <a:p>
                      <a:r>
                        <a:rPr sz="1950">
                          <a:solidFill>
                            <a:srgbClr val="18384B"/>
                          </a:solidFill>
                          <a:latin typeface="Arial"/>
                          <a:ea typeface="Arial"/>
                          <a:cs typeface="Arial"/>
                        </a:rPr>
                        <a:t>Planning horizon</a:t>
                      </a:r>
                    </a:p>
                  </a:txBody>
                  <a:tcPr marL="152400" marR="152400" marT="171450" marB="133350" anchor="ctr">
                    <a:solidFill>
                      <a:srgbClr val="EEF5F7"/>
                    </a:solidFill>
                  </a:tcPr>
                </a:tc>
                <a:tc>
                  <a:txBody>
                    <a:bodyPr/>
                    <a:lstStyle/>
                    <a:p>
                      <a:r>
                        <a:rPr sz="1950">
                          <a:solidFill>
                            <a:srgbClr val="18384B"/>
                          </a:solidFill>
                          <a:latin typeface="Arial"/>
                          <a:ea typeface="Arial"/>
                          <a:cs typeface="Arial"/>
                        </a:rPr>
                        <a:t>10–18 August 2026</a:t>
                      </a:r>
                    </a:p>
                  </a:txBody>
                  <a:tcPr marL="152400" marR="152400" marT="171450" marB="133350" anchor="ctr">
                    <a:solidFill>
                      <a:srgbClr val="EEF5F7"/>
                    </a:solidFill>
                  </a:tcPr>
                </a:tc>
                <a:tc>
                  <a:txBody>
                    <a:bodyPr/>
                    <a:lstStyle/>
                    <a:p>
                      <a:r>
                        <a:rPr sz="1950">
                          <a:solidFill>
                            <a:srgbClr val="18384B"/>
                          </a:solidFill>
                          <a:latin typeface="Arial"/>
                          <a:ea typeface="Arial"/>
                          <a:cs typeface="Arial"/>
                        </a:rPr>
                        <a:t>9 inclusive days</a:t>
                      </a:r>
                    </a:p>
                  </a:txBody>
                  <a:tcPr marL="152400" marR="152400" marT="171450" marB="133350" anchor="ctr">
                    <a:solidFill>
                      <a:srgbClr val="EEF5F7"/>
                    </a:solidFill>
                  </a:tcPr>
                </a:tc>
              </a:tr>
              <a:tr h="825500">
                <a:tc>
                  <a:txBody>
                    <a:bodyPr/>
                    <a:lstStyle/>
                    <a:p>
                      <a:r>
                        <a:rPr sz="1950">
                          <a:solidFill>
                            <a:srgbClr val="18384B"/>
                          </a:solidFill>
                          <a:latin typeface="Arial"/>
                          <a:ea typeface="Arial"/>
                          <a:cs typeface="Arial"/>
                        </a:rPr>
                        <a:t>Requested / delivered</a:t>
                      </a:r>
                    </a:p>
                  </a:txBody>
                  <a:tcPr marL="152400" marR="152400" marT="171450" marB="133350" anchor="ctr">
                    <a:solidFill>
                      <a:srgbClr val="FFFFFF"/>
                    </a:solidFill>
                  </a:tcPr>
                </a:tc>
                <a:tc>
                  <a:txBody>
                    <a:bodyPr/>
                    <a:lstStyle/>
                    <a:p>
                      <a:r>
                        <a:rPr sz="1950">
                          <a:solidFill>
                            <a:srgbClr val="18384B"/>
                          </a:solidFill>
                          <a:latin typeface="Arial"/>
                          <a:ea typeface="Arial"/>
                          <a:cs typeface="Arial"/>
                        </a:rPr>
                        <a:t>2,700,000 / 2,580,000 m³</a:t>
                      </a:r>
                    </a:p>
                  </a:txBody>
                  <a:tcPr marL="152400" marR="152400" marT="171450" marB="133350" anchor="ctr">
                    <a:solidFill>
                      <a:srgbClr val="FFFFFF"/>
                    </a:solidFill>
                  </a:tcPr>
                </a:tc>
                <a:tc>
                  <a:txBody>
                    <a:bodyPr/>
                    <a:lstStyle/>
                    <a:p>
                      <a:r>
                        <a:rPr sz="1950">
                          <a:solidFill>
                            <a:srgbClr val="18384B"/>
                          </a:solidFill>
                          <a:latin typeface="Arial"/>
                          <a:ea typeface="Arial"/>
                          <a:cs typeface="Arial"/>
                        </a:rPr>
                        <a:t>95.556% demand satisfaction</a:t>
                      </a:r>
                    </a:p>
                  </a:txBody>
                  <a:tcPr marL="152400" marR="152400" marT="171450" marB="133350" anchor="ctr">
                    <a:solidFill>
                      <a:srgbClr val="FFFFFF"/>
                    </a:solidFill>
                  </a:tcPr>
                </a:tc>
              </a:tr>
              <a:tr h="825500">
                <a:tc>
                  <a:txBody>
                    <a:bodyPr/>
                    <a:lstStyle/>
                    <a:p>
                      <a:r>
                        <a:rPr sz="1950">
                          <a:solidFill>
                            <a:srgbClr val="18384B"/>
                          </a:solidFill>
                          <a:latin typeface="Arial"/>
                          <a:ea typeface="Arial"/>
                          <a:cs typeface="Arial"/>
                        </a:rPr>
                        <a:t>Shortfall</a:t>
                      </a:r>
                    </a:p>
                  </a:txBody>
                  <a:tcPr marL="152400" marR="152400" marT="171450" marB="133350" anchor="ctr">
                    <a:solidFill>
                      <a:srgbClr val="EEF5F7"/>
                    </a:solidFill>
                  </a:tcPr>
                </a:tc>
                <a:tc>
                  <a:txBody>
                    <a:bodyPr/>
                    <a:lstStyle/>
                    <a:p>
                      <a:r>
                        <a:rPr sz="1950">
                          <a:solidFill>
                            <a:srgbClr val="18384B"/>
                          </a:solidFill>
                          <a:latin typeface="Arial"/>
                          <a:ea typeface="Arial"/>
                          <a:cs typeface="Arial"/>
                        </a:rPr>
                        <a:t>120,000 m³</a:t>
                      </a:r>
                    </a:p>
                  </a:txBody>
                  <a:tcPr marL="152400" marR="152400" marT="171450" marB="133350" anchor="ctr">
                    <a:solidFill>
                      <a:srgbClr val="EEF5F7"/>
                    </a:solidFill>
                  </a:tcPr>
                </a:tc>
                <a:tc>
                  <a:txBody>
                    <a:bodyPr/>
                    <a:lstStyle/>
                    <a:p>
                      <a:r>
                        <a:rPr sz="1950">
                          <a:solidFill>
                            <a:srgbClr val="18384B"/>
                          </a:solidFill>
                          <a:latin typeface="Arial"/>
                          <a:ea typeface="Arial"/>
                          <a:cs typeface="Arial"/>
                        </a:rPr>
                        <a:t>60,000 m³ on 15 and 18 August</a:t>
                      </a:r>
                    </a:p>
                  </a:txBody>
                  <a:tcPr marL="152400" marR="152400" marT="171450" marB="133350" anchor="ctr">
                    <a:solidFill>
                      <a:srgbClr val="EEF5F7"/>
                    </a:solidFill>
                  </a:tcPr>
                </a:tc>
              </a:tr>
              <a:tr h="825500">
                <a:tc>
                  <a:txBody>
                    <a:bodyPr/>
                    <a:lstStyle/>
                    <a:p>
                      <a:r>
                        <a:rPr sz="1950">
                          <a:solidFill>
                            <a:srgbClr val="18384B"/>
                          </a:solidFill>
                          <a:latin typeface="Arial"/>
                          <a:ea typeface="Arial"/>
                          <a:cs typeface="Arial"/>
                        </a:rPr>
                        <a:t>Variable O&amp;M cost</a:t>
                      </a:r>
                    </a:p>
                  </a:txBody>
                  <a:tcPr marL="152400" marR="152400" marT="171450" marB="133350" anchor="ctr">
                    <a:solidFill>
                      <a:srgbClr val="FFFFFF"/>
                    </a:solidFill>
                  </a:tcPr>
                </a:tc>
                <a:tc>
                  <a:txBody>
                    <a:bodyPr/>
                    <a:lstStyle/>
                    <a:p>
                      <a:r>
                        <a:rPr sz="1950">
                          <a:solidFill>
                            <a:srgbClr val="18384B"/>
                          </a:solidFill>
                          <a:latin typeface="Arial"/>
                          <a:ea typeface="Arial"/>
                          <a:cs typeface="Arial"/>
                        </a:rPr>
                        <a:t>SAR 4,932,000</a:t>
                      </a:r>
                    </a:p>
                  </a:txBody>
                  <a:tcPr marL="152400" marR="152400" marT="171450" marB="133350" anchor="ctr">
                    <a:solidFill>
                      <a:srgbClr val="FFFFFF"/>
                    </a:solidFill>
                  </a:tcPr>
                </a:tc>
                <a:tc>
                  <a:txBody>
                    <a:bodyPr/>
                    <a:lstStyle/>
                    <a:p>
                      <a:r>
                        <a:rPr sz="1950">
                          <a:solidFill>
                            <a:srgbClr val="18384B"/>
                          </a:solidFill>
                          <a:latin typeface="Arial"/>
                          <a:ea typeface="Arial"/>
                          <a:cs typeface="Arial"/>
                        </a:rPr>
                        <a:t>SAR 1.91 per delivered m³</a:t>
                      </a:r>
                    </a:p>
                  </a:txBody>
                  <a:tcPr marL="152400" marR="152400" marT="171450" marB="133350" anchor="ctr">
                    <a:solidFill>
                      <a:srgbClr val="FFFFFF"/>
                    </a:solidFill>
                  </a:tcPr>
                </a:tc>
              </a:tr>
              <a:tr h="825500">
                <a:tc>
                  <a:txBody>
                    <a:bodyPr/>
                    <a:lstStyle/>
                    <a:p>
                      <a:r>
                        <a:rPr sz="1950">
                          <a:solidFill>
                            <a:srgbClr val="18384B"/>
                          </a:solidFill>
                          <a:latin typeface="Arial"/>
                          <a:ea typeface="Arial"/>
                          <a:cs typeface="Arial"/>
                        </a:rPr>
                        <a:t>Tank start / end</a:t>
                      </a:r>
                    </a:p>
                  </a:txBody>
                  <a:tcPr marL="152400" marR="152400" marT="171450" marB="133350" anchor="ctr">
                    <a:solidFill>
                      <a:srgbClr val="EEF5F7"/>
                    </a:solidFill>
                  </a:tcPr>
                </a:tc>
                <a:tc>
                  <a:txBody>
                    <a:bodyPr/>
                    <a:lstStyle/>
                    <a:p>
                      <a:r>
                        <a:rPr sz="1950">
                          <a:solidFill>
                            <a:srgbClr val="18384B"/>
                          </a:solidFill>
                          <a:latin typeface="Arial"/>
                          <a:ea typeface="Arial"/>
                          <a:cs typeface="Arial"/>
                        </a:rPr>
                        <a:t>120,000 / 0 m³</a:t>
                      </a:r>
                    </a:p>
                  </a:txBody>
                  <a:tcPr marL="152400" marR="152400" marT="171450" marB="133350" anchor="ctr">
                    <a:solidFill>
                      <a:srgbClr val="EEF5F7"/>
                    </a:solidFill>
                  </a:tcPr>
                </a:tc>
                <a:tc>
                  <a:txBody>
                    <a:bodyPr/>
                    <a:lstStyle/>
                    <a:p>
                      <a:r>
                        <a:rPr sz="1950">
                          <a:solidFill>
                            <a:srgbClr val="18384B"/>
                          </a:solidFill>
                          <a:latin typeface="Arial"/>
                          <a:ea typeface="Arial"/>
                          <a:cs typeface="Arial"/>
                        </a:rPr>
                        <a:t>Inventory declines across the horizon</a:t>
                      </a:r>
                    </a:p>
                  </a:txBody>
                  <a:tcPr marL="152400" marR="152400" marT="171450" marB="133350" anchor="ctr">
                    <a:solidFill>
                      <a:srgbClr val="EEF5F7"/>
                    </a:solidFill>
                  </a:tcPr>
                </a:tc>
              </a:tr>
            </a:tbl>
          </a:graphicData>
        </a:graphic>
      </p:graphicFrame>
      <p:sp>
        <p:nvSpPr>
          <p:cNvPr id="3" name="Demonstration data illustrates the workflow and does no">
            <a:extLst xmlns:a="http://schemas.openxmlformats.org/drawingml/2006/main">
              <a:ext uri="{FF2B5EF4-FFF2-40B4-BE49-F238E27FC236}">
                <a16:creationId xmlns:a16="http://schemas.microsoft.com/office/drawing/2014/main" id="{F2A1E793-2E05-4779-8191-35942CEEA7DA}"/>
              </a:ext>
            </a:extLst>
          </p:cNvPr>
          <p:cNvSpPr>
            <a:spLocks xmlns:a="http://schemas.openxmlformats.org/drawingml/2006/main" noGrp="1"/>
          </p:cNvSpPr>
          <p:nvPr/>
        </p:nvSpPr>
        <p:spPr>
          <a:xfrm xmlns:a="http://schemas.openxmlformats.org/drawingml/2006/main">
            <a:off x="609600" y="7448550"/>
            <a:ext cx="1390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Demonstration data illustrates the workflow and does not represent client performance.</a:t>
            </a:r>
          </a:p>
        </p:txBody>
      </p:sp>
      <p:sp>
        <p:nvSpPr>
          <p:cNvPr id="4" name="WIDispatch   /   Client demonstration">
            <a:extLst xmlns:a="http://schemas.openxmlformats.org/drawingml/2006/main">
              <a:ext uri="{FF2B5EF4-FFF2-40B4-BE49-F238E27FC236}">
                <a16:creationId xmlns:a16="http://schemas.microsoft.com/office/drawing/2014/main" id="{DA56BFD6-F95B-405D-BC14-8F0695F873AD}"/>
              </a:ext>
            </a:extLst>
          </p:cNvPr>
          <p:cNvSpPr>
            <a:spLocks xmlns:a="http://schemas.openxmlformats.org/drawingml/2006/main" noGrp="1"/>
          </p:cNvSpPr>
          <p:nvPr/>
        </p:nvSpPr>
        <p:spPr>
          <a:xfrm xmlns:a="http://schemas.openxmlformats.org/drawingml/2006/main">
            <a:off x="609600" y="81724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275" b="0">
                <a:solidFill>
                  <a:srgbClr val="547080"/>
                </a:solidFill>
                <a:latin typeface="Arial"/>
                <a:ea typeface="Arial"/>
                <a:cs typeface="Arial"/>
              </a:defRPr>
            </a:pPr>
            <a:r>
              <a:rPr sz="1275" b="0">
                <a:solidFill>
                  <a:srgbClr val="547080"/>
                </a:solidFill>
                <a:latin typeface="Arial"/>
                <a:ea typeface="Arial"/>
                <a:cs typeface="Arial"/>
              </a:rPr>
              <a:t>WIDispatch   /   Client demonstration</a:t>
            </a:r>
          </a:p>
        </p:txBody>
      </p:sp>
      <p:sp>
        <p:nvSpPr>
          <p:cNvPr id="5" name="77">
            <a:extLst xmlns:a="http://schemas.openxmlformats.org/drawingml/2006/main">
              <a:ext uri="{FF2B5EF4-FFF2-40B4-BE49-F238E27FC236}">
                <a16:creationId xmlns:a16="http://schemas.microsoft.com/office/drawing/2014/main" id="{9D128CA6-5B1E-4391-A85A-F14D85E3F6D7}"/>
              </a:ext>
            </a:extLst>
          </p:cNvPr>
          <p:cNvSpPr>
            <a:spLocks xmlns:a="http://schemas.openxmlformats.org/drawingml/2006/main" noGrp="1"/>
          </p:cNvSpPr>
          <p:nvPr/>
        </p:nvSpPr>
        <p:spPr>
          <a:xfrm xmlns:a="http://schemas.openxmlformats.org/drawingml/2006/main">
            <a:off x="13906500" y="8115300"/>
            <a:ext cx="723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547080"/>
                </a:solidFill>
                <a:latin typeface="Arial"/>
                <a:ea typeface="Arial"/>
                <a:cs typeface="Arial"/>
              </a:defRPr>
            </a:pPr>
            <a:r>
              <a:rPr sz="1650" b="0">
                <a:solidFill>
                  <a:srgbClr val="547080"/>
                </a:solidFill>
                <a:latin typeface="Arial"/>
                <a:ea typeface="Arial"/>
                <a:cs typeface="Arial"/>
              </a:rPr>
              <a:t>83</a:t>
            </a:r>
          </a:p>
        </p:txBody>
      </p:sp>
    </p:spTree>
    <p:extLst>
      <p:ext uri="{BB962C8B-B14F-4D97-AF65-F5344CB8AC3E}">
        <p14:creationId xmlns:p14="http://schemas.microsoft.com/office/powerpoint/2010/main" val="1863156258"/>
      </p:ext>
    </p:extLst>
  </p:cSld>
</p:sld>
</file>

<file path=ppt/slides/slide8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Reference material">
            <a:extLst xmlns:a="http://schemas.openxmlformats.org/drawingml/2006/main">
              <a:ext uri="{FF2B5EF4-FFF2-40B4-BE49-F238E27FC236}">
                <a16:creationId xmlns:a16="http://schemas.microsoft.com/office/drawing/2014/main" id="{B9664E6D-8877-44C5-801A-26EE32870DFE}"/>
              </a:ext>
            </a:extLst>
          </p:cNvPr>
          <p:cNvSpPr>
            <a:spLocks xmlns:a="http://schemas.openxmlformats.org/drawingml/2006/main" noGrp="1"/>
          </p:cNvSpPr>
          <p:nvPr/>
        </p:nvSpPr>
        <p:spPr>
          <a:xfrm xmlns:a="http://schemas.openxmlformats.org/drawingml/2006/main">
            <a:off x="571500" y="428625"/>
            <a:ext cx="140970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300" b="1">
                <a:solidFill>
                  <a:srgbClr val="12374B"/>
                </a:solidFill>
                <a:latin typeface="Arial"/>
                <a:ea typeface="Arial"/>
                <a:cs typeface="Arial"/>
              </a:defRPr>
            </a:pPr>
            <a:r>
              <a:rPr sz="3300" b="1">
                <a:solidFill>
                  <a:srgbClr val="12374B"/>
                </a:solidFill>
                <a:latin typeface="Arial"/>
                <a:ea typeface="Arial"/>
                <a:cs typeface="Arial"/>
              </a:rPr>
              <a:t>Reference material</a:t>
            </a:r>
          </a:p>
        </p:txBody>
      </p:sp>
      <p:sp>
        <p:nvSpPr>
          <p:cNvPr id="2" name="Business and product">
            <a:extLst xmlns:a="http://schemas.openxmlformats.org/drawingml/2006/main">
              <a:ext uri="{FF2B5EF4-FFF2-40B4-BE49-F238E27FC236}">
                <a16:creationId xmlns:a16="http://schemas.microsoft.com/office/drawing/2014/main" id="{2C7A485D-1A14-47AF-9F98-F78942DCE886}"/>
              </a:ext>
            </a:extLst>
          </p:cNvPr>
          <p:cNvSpPr>
            <a:spLocks xmlns:a="http://schemas.openxmlformats.org/drawingml/2006/main" noGrp="1"/>
          </p:cNvSpPr>
          <p:nvPr/>
        </p:nvSpPr>
        <p:spPr>
          <a:xfrm xmlns:a="http://schemas.openxmlformats.org/drawingml/2006/main">
            <a:off x="609600" y="1952625"/>
            <a:ext cx="4267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400" b="1">
                <a:solidFill>
                  <a:srgbClr val="007E92"/>
                </a:solidFill>
                <a:latin typeface="Arial"/>
                <a:ea typeface="Arial"/>
                <a:cs typeface="Arial"/>
              </a:defRPr>
            </a:pPr>
            <a:r>
              <a:rPr sz="2400" b="1">
                <a:solidFill>
                  <a:srgbClr val="007E92"/>
                </a:solidFill>
                <a:latin typeface="Arial"/>
                <a:ea typeface="Arial"/>
                <a:cs typeface="Arial"/>
              </a:rPr>
              <a:t>Business and product</a:t>
            </a:r>
          </a:p>
        </p:txBody>
      </p:sp>
      <p:sp>
        <p:nvSpPr>
          <p:cNvPr id="3" name="WIDispatch BRD and PRD, version 1.0, 10 September 2026.">
            <a:extLst xmlns:a="http://schemas.openxmlformats.org/drawingml/2006/main">
              <a:ext uri="{FF2B5EF4-FFF2-40B4-BE49-F238E27FC236}">
                <a16:creationId xmlns:a16="http://schemas.microsoft.com/office/drawing/2014/main" id="{E617B9FF-8E0A-4A8C-8B63-08B7F37ECF3E}"/>
              </a:ext>
            </a:extLst>
          </p:cNvPr>
          <p:cNvSpPr>
            <a:spLocks xmlns:a="http://schemas.openxmlformats.org/drawingml/2006/main" noGrp="1"/>
          </p:cNvSpPr>
          <p:nvPr/>
        </p:nvSpPr>
        <p:spPr>
          <a:xfrm xmlns:a="http://schemas.openxmlformats.org/drawingml/2006/main">
            <a:off x="609600" y="3067050"/>
            <a:ext cx="4238625" cy="3200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325" b="0">
                <a:solidFill>
                  <a:srgbClr val="18384B"/>
                </a:solidFill>
                <a:latin typeface="Arial"/>
                <a:ea typeface="Arial"/>
                <a:cs typeface="Arial"/>
              </a:defRPr>
            </a:pPr>
            <a:r>
              <a:rPr sz="2325" b="0">
                <a:solidFill>
                  <a:srgbClr val="18384B"/>
                </a:solidFill>
                <a:latin typeface="Arial"/>
                <a:ea typeface="Arial"/>
                <a:cs typeface="Arial"/>
              </a:rPr>
              <a:t>WIDispatch BRD and PRD, version 1.0, 10 September 2026. Operating roles, workflows and acceptance requirements.</a:t>
            </a:r>
          </a:p>
        </p:txBody>
      </p:sp>
      <p:sp>
        <p:nvSpPr>
          <p:cNvPr id="4" name="Technical behavior">
            <a:extLst xmlns:a="http://schemas.openxmlformats.org/drawingml/2006/main">
              <a:ext uri="{FF2B5EF4-FFF2-40B4-BE49-F238E27FC236}">
                <a16:creationId xmlns:a16="http://schemas.microsoft.com/office/drawing/2014/main" id="{E0382FAC-6459-44E5-BFDA-D5557B8DA646}"/>
              </a:ext>
            </a:extLst>
          </p:cNvPr>
          <p:cNvSpPr>
            <a:spLocks xmlns:a="http://schemas.openxmlformats.org/drawingml/2006/main" noGrp="1"/>
          </p:cNvSpPr>
          <p:nvPr/>
        </p:nvSpPr>
        <p:spPr>
          <a:xfrm xmlns:a="http://schemas.openxmlformats.org/drawingml/2006/main">
            <a:off x="5419725" y="1952625"/>
            <a:ext cx="4267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400" b="1">
                <a:solidFill>
                  <a:srgbClr val="007E92"/>
                </a:solidFill>
                <a:latin typeface="Arial"/>
                <a:ea typeface="Arial"/>
                <a:cs typeface="Arial"/>
              </a:defRPr>
            </a:pPr>
            <a:r>
              <a:rPr sz="2400" b="1">
                <a:solidFill>
                  <a:srgbClr val="007E92"/>
                </a:solidFill>
                <a:latin typeface="Arial"/>
                <a:ea typeface="Arial"/>
                <a:cs typeface="Arial"/>
              </a:rPr>
              <a:t>Technical behavior</a:t>
            </a:r>
          </a:p>
        </p:txBody>
      </p:sp>
      <p:sp>
        <p:nvSpPr>
          <p:cNvPr id="5" name="WIDispatch SRD, version 1.0, 10 September 2026. Dispatc">
            <a:extLst xmlns:a="http://schemas.openxmlformats.org/drawingml/2006/main">
              <a:ext uri="{FF2B5EF4-FFF2-40B4-BE49-F238E27FC236}">
                <a16:creationId xmlns:a16="http://schemas.microsoft.com/office/drawing/2014/main" id="{5C28314F-76DD-4D6B-9CEE-6CAED55C0B02}"/>
              </a:ext>
            </a:extLst>
          </p:cNvPr>
          <p:cNvSpPr>
            <a:spLocks xmlns:a="http://schemas.openxmlformats.org/drawingml/2006/main" noGrp="1"/>
          </p:cNvSpPr>
          <p:nvPr/>
        </p:nvSpPr>
        <p:spPr>
          <a:xfrm xmlns:a="http://schemas.openxmlformats.org/drawingml/2006/main">
            <a:off x="5419725" y="3067050"/>
            <a:ext cx="4238625" cy="3200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325" b="0">
                <a:solidFill>
                  <a:srgbClr val="18384B"/>
                </a:solidFill>
                <a:latin typeface="Arial"/>
                <a:ea typeface="Arial"/>
                <a:cs typeface="Arial"/>
              </a:defRPr>
            </a:pPr>
            <a:r>
              <a:rPr sz="2325" b="0">
                <a:solidFill>
                  <a:srgbClr val="18384B"/>
                </a:solidFill>
                <a:latin typeface="Arial"/>
                <a:ea typeface="Arial"/>
                <a:cs typeface="Arial"/>
              </a:rPr>
              <a:t>WIDispatch SRD, version 1.0, 10 September 2026. Dispatch rules, supported decision edits and publication ownership.</a:t>
            </a:r>
          </a:p>
        </p:txBody>
      </p:sp>
      <p:sp>
        <p:nvSpPr>
          <p:cNvPr id="6" name="Product overview">
            <a:extLst xmlns:a="http://schemas.openxmlformats.org/drawingml/2006/main">
              <a:ext uri="{FF2B5EF4-FFF2-40B4-BE49-F238E27FC236}">
                <a16:creationId xmlns:a16="http://schemas.microsoft.com/office/drawing/2014/main" id="{EEDCE2F8-E9B1-4114-A29B-5E6DBAF25929}"/>
              </a:ext>
            </a:extLst>
          </p:cNvPr>
          <p:cNvSpPr>
            <a:spLocks xmlns:a="http://schemas.openxmlformats.org/drawingml/2006/main" noGrp="1"/>
          </p:cNvSpPr>
          <p:nvPr/>
        </p:nvSpPr>
        <p:spPr>
          <a:xfrm xmlns:a="http://schemas.openxmlformats.org/drawingml/2006/main">
            <a:off x="10229850" y="1952625"/>
            <a:ext cx="4267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400" b="1">
                <a:solidFill>
                  <a:srgbClr val="007E92"/>
                </a:solidFill>
                <a:latin typeface="Arial"/>
                <a:ea typeface="Arial"/>
                <a:cs typeface="Arial"/>
              </a:defRPr>
            </a:pPr>
            <a:r>
              <a:rPr sz="2400" b="1">
                <a:solidFill>
                  <a:srgbClr val="007E92"/>
                </a:solidFill>
                <a:latin typeface="Arial"/>
                <a:ea typeface="Arial"/>
                <a:cs typeface="Arial"/>
              </a:rPr>
              <a:t>Product overview</a:t>
            </a:r>
          </a:p>
        </p:txBody>
      </p:sp>
      <p:sp>
        <p:nvSpPr>
          <p:cNvPr id="7" name="Product Profile and Operating Overview, version 1.0. Sc">
            <a:extLst xmlns:a="http://schemas.openxmlformats.org/drawingml/2006/main">
              <a:ext uri="{FF2B5EF4-FFF2-40B4-BE49-F238E27FC236}">
                <a16:creationId xmlns:a16="http://schemas.microsoft.com/office/drawing/2014/main" id="{DFFD7013-50E5-4F3B-A08B-42EE8CEC9760}"/>
              </a:ext>
            </a:extLst>
          </p:cNvPr>
          <p:cNvSpPr>
            <a:spLocks xmlns:a="http://schemas.openxmlformats.org/drawingml/2006/main" noGrp="1"/>
          </p:cNvSpPr>
          <p:nvPr/>
        </p:nvSpPr>
        <p:spPr>
          <a:xfrm xmlns:a="http://schemas.openxmlformats.org/drawingml/2006/main">
            <a:off x="10229850" y="3067050"/>
            <a:ext cx="4238625" cy="3200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325" b="0">
                <a:solidFill>
                  <a:srgbClr val="18384B"/>
                </a:solidFill>
                <a:latin typeface="Arial"/>
                <a:ea typeface="Arial"/>
                <a:cs typeface="Arial"/>
              </a:defRPr>
            </a:pPr>
            <a:r>
              <a:rPr sz="2325" b="0">
                <a:solidFill>
                  <a:srgbClr val="18384B"/>
                </a:solidFill>
                <a:latin typeface="Arial"/>
                <a:ea typeface="Arial"/>
                <a:cs typeface="Arial"/>
              </a:rPr>
              <a:t>Product Profile and Operating Overview, version 1.0. Scope, operating cycle and demonstration boundaries.</a:t>
            </a:r>
          </a:p>
        </p:txBody>
      </p:sp>
      <p:sp>
        <p:nvSpPr>
          <p:cNvPr id="8" name="Screens show the September 2026 demonstration environme">
            <a:extLst xmlns:a="http://schemas.openxmlformats.org/drawingml/2006/main">
              <a:ext uri="{FF2B5EF4-FFF2-40B4-BE49-F238E27FC236}">
                <a16:creationId xmlns:a16="http://schemas.microsoft.com/office/drawing/2014/main" id="{72AC91FF-37A3-41F2-8BC3-34F00EF86FA3}"/>
              </a:ext>
            </a:extLst>
          </p:cNvPr>
          <p:cNvSpPr>
            <a:spLocks xmlns:a="http://schemas.openxmlformats.org/drawingml/2006/main" noGrp="1"/>
          </p:cNvSpPr>
          <p:nvPr/>
        </p:nvSpPr>
        <p:spPr>
          <a:xfrm xmlns:a="http://schemas.openxmlformats.org/drawingml/2006/main">
            <a:off x="609600" y="7448550"/>
            <a:ext cx="1390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E92"/>
                </a:solidFill>
                <a:latin typeface="Arial"/>
                <a:ea typeface="Arial"/>
                <a:cs typeface="Arial"/>
              </a:defRPr>
            </a:pPr>
            <a:r>
              <a:rPr sz="1875" b="1">
                <a:solidFill>
                  <a:srgbClr val="007E92"/>
                </a:solidFill>
                <a:latin typeface="Arial"/>
                <a:ea typeface="Arial"/>
                <a:cs typeface="Arial"/>
              </a:rPr>
              <a:t>Screens show the September 2026 demonstration environment. Figures are sample data.</a:t>
            </a:r>
          </a:p>
        </p:txBody>
      </p:sp>
      <p:sp>
        <p:nvSpPr>
          <p:cNvPr id="9" name="WIDispatch   /   Client demonstration">
            <a:extLst xmlns:a="http://schemas.openxmlformats.org/drawingml/2006/main">
              <a:ext uri="{FF2B5EF4-FFF2-40B4-BE49-F238E27FC236}">
                <a16:creationId xmlns:a16="http://schemas.microsoft.com/office/drawing/2014/main" id="{83DD08A3-2386-4E7F-8192-D35736A3989E}"/>
              </a:ext>
            </a:extLst>
          </p:cNvPr>
          <p:cNvSpPr>
            <a:spLocks xmlns:a="http://schemas.openxmlformats.org/drawingml/2006/main" noGrp="1"/>
          </p:cNvSpPr>
          <p:nvPr/>
        </p:nvSpPr>
        <p:spPr>
          <a:xfrm xmlns:a="http://schemas.openxmlformats.org/drawingml/2006/main">
            <a:off x="609600" y="81724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275" b="0">
                <a:solidFill>
                  <a:srgbClr val="547080"/>
                </a:solidFill>
                <a:latin typeface="Arial"/>
                <a:ea typeface="Arial"/>
                <a:cs typeface="Arial"/>
              </a:defRPr>
            </a:pPr>
            <a:r>
              <a:rPr sz="1275" b="0">
                <a:solidFill>
                  <a:srgbClr val="547080"/>
                </a:solidFill>
                <a:latin typeface="Arial"/>
                <a:ea typeface="Arial"/>
                <a:cs typeface="Arial"/>
              </a:rPr>
              <a:t>WIDispatch   /   Client demonstration</a:t>
            </a:r>
          </a:p>
        </p:txBody>
      </p:sp>
      <p:sp>
        <p:nvSpPr>
          <p:cNvPr id="10" name="78">
            <a:extLst xmlns:a="http://schemas.openxmlformats.org/drawingml/2006/main">
              <a:ext uri="{FF2B5EF4-FFF2-40B4-BE49-F238E27FC236}">
                <a16:creationId xmlns:a16="http://schemas.microsoft.com/office/drawing/2014/main" id="{91811633-C65D-4A7E-8F90-80F9A6A7F99E}"/>
              </a:ext>
            </a:extLst>
          </p:cNvPr>
          <p:cNvSpPr>
            <a:spLocks xmlns:a="http://schemas.openxmlformats.org/drawingml/2006/main" noGrp="1"/>
          </p:cNvSpPr>
          <p:nvPr/>
        </p:nvSpPr>
        <p:spPr>
          <a:xfrm xmlns:a="http://schemas.openxmlformats.org/drawingml/2006/main">
            <a:off x="13906500" y="8115300"/>
            <a:ext cx="723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547080"/>
                </a:solidFill>
                <a:latin typeface="Arial"/>
                <a:ea typeface="Arial"/>
                <a:cs typeface="Arial"/>
              </a:defRPr>
            </a:pPr>
            <a:r>
              <a:rPr sz="1650" b="0">
                <a:solidFill>
                  <a:srgbClr val="547080"/>
                </a:solidFill>
                <a:latin typeface="Arial"/>
                <a:ea typeface="Arial"/>
                <a:cs typeface="Arial"/>
              </a:rPr>
              <a:t>84</a:t>
            </a:r>
          </a:p>
        </p:txBody>
      </p:sp>
    </p:spTree>
    <p:extLst>
      <p:ext uri="{BB962C8B-B14F-4D97-AF65-F5344CB8AC3E}">
        <p14:creationId xmlns:p14="http://schemas.microsoft.com/office/powerpoint/2010/main" val="40274690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2026-09-28T11:13:31.8390000Z</dcterms:created>
  <dcterms:modified xsi:type="dcterms:W3CDTF">2026-09-28T11:13:31.8390000Z</dcterms:modified>
</coreProperties>
</file>