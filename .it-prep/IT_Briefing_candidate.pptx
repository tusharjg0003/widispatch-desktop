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3454cd0d123493a" /><Relationship Type="http://schemas.openxmlformats.org/officeDocument/2006/relationships/extended-properties" Target="/docProps/app.xml" Id="R2cd4e0f0513b47e1" /><Relationship Type="http://schemas.openxmlformats.org/officeDocument/2006/relationships/officeDocument" Target="/ppt/presentation.xml" Id="Rbb893f28f99e428f" /></Relationships>
</file>

<file path=ppt/presentation.xml><?xml version="1.0" encoding="utf-8"?>
<p:presentation xmlns:p="http://schemas.openxmlformats.org/presentationml/2006/main">
  <p:sldMasterIdLst>
    <p:sldMasterId xmlns:r="http://schemas.openxmlformats.org/officeDocument/2006/relationships" id="2147483648" r:id="R0027553496e34cee"/>
  </p:sldMasterIdLst>
  <p:notesMasterIdLst>
    <p:notesMasterId xmlns:r="http://schemas.openxmlformats.org/officeDocument/2006/relationships" r:id="Rfeea7332999e4458"/>
  </p:notesMasterIdLst>
  <p:sldIdLst>
    <p:sldId xmlns:r="http://schemas.openxmlformats.org/officeDocument/2006/relationships" id="256" r:id="R784642dec15842ce"/>
    <p:sldId xmlns:r="http://schemas.openxmlformats.org/officeDocument/2006/relationships" id="257" r:id="Ra3506380cb4644c4"/>
    <p:sldId xmlns:r="http://schemas.openxmlformats.org/officeDocument/2006/relationships" id="258" r:id="Rf37d728b52c94e2a"/>
    <p:sldId xmlns:r="http://schemas.openxmlformats.org/officeDocument/2006/relationships" id="259" r:id="Re9d45e94a3754d07"/>
    <p:sldId xmlns:r="http://schemas.openxmlformats.org/officeDocument/2006/relationships" id="260" r:id="R399ea904b9934839"/>
    <p:sldId xmlns:r="http://schemas.openxmlformats.org/officeDocument/2006/relationships" id="261" r:id="R27e3ceeba6ae49aa"/>
    <p:sldId xmlns:r="http://schemas.openxmlformats.org/officeDocument/2006/relationships" id="262" r:id="Rd975e6f0d8264b4b"/>
    <p:sldId xmlns:r="http://schemas.openxmlformats.org/officeDocument/2006/relationships" id="263" r:id="Rc316f442266b4286"/>
    <p:sldId xmlns:r="http://schemas.openxmlformats.org/officeDocument/2006/relationships" id="264" r:id="Rf7273b3607c4402b"/>
    <p:sldId xmlns:r="http://schemas.openxmlformats.org/officeDocument/2006/relationships" id="265" r:id="R8dceaf4846b84020"/>
    <p:sldId xmlns:r="http://schemas.openxmlformats.org/officeDocument/2006/relationships" id="266" r:id="R9e899191b8b5491f"/>
    <p:sldId xmlns:r="http://schemas.openxmlformats.org/officeDocument/2006/relationships" id="267" r:id="R880e8981441e46f5"/>
    <p:sldId xmlns:r="http://schemas.openxmlformats.org/officeDocument/2006/relationships" id="268" r:id="R44ee1883b3884a8b"/>
    <p:sldId xmlns:r="http://schemas.openxmlformats.org/officeDocument/2006/relationships" id="269" r:id="Rad509697cd8f46f1"/>
    <p:sldId xmlns:r="http://schemas.openxmlformats.org/officeDocument/2006/relationships" id="270" r:id="Rffeb8e150a0f4086"/>
    <p:sldId xmlns:r="http://schemas.openxmlformats.org/officeDocument/2006/relationships" id="271" r:id="R3dc1d6d7d1154221"/>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0f7dc69d0da453f" /><Relationship Type="http://schemas.openxmlformats.org/officeDocument/2006/relationships/slideMaster" Target="/ppt/slideMasters/slideMaster1.xml" Id="R0027553496e34cee" /><Relationship Type="http://schemas.openxmlformats.org/officeDocument/2006/relationships/notesMaster" Target="/ppt/notesMasters/notesMaster1.xml" Id="Rfeea7332999e4458" /><Relationship Type="http://schemas.openxmlformats.org/officeDocument/2006/relationships/presProps" Target="/ppt/presProps.xml" Id="Rb032c830b40f4661" /><Relationship Type="http://schemas.openxmlformats.org/officeDocument/2006/relationships/tableStyles" Target="/ppt/tableStyles.xml" Id="Rca21be85e7cb4e54" /><Relationship Type="http://schemas.openxmlformats.org/officeDocument/2006/relationships/slide" Target="/ppt/slides/slide1.xml" Id="R784642dec15842ce" /><Relationship Type="http://schemas.openxmlformats.org/officeDocument/2006/relationships/slide" Target="/ppt/slides/slide2.xml" Id="Ra3506380cb4644c4" /><Relationship Type="http://schemas.openxmlformats.org/officeDocument/2006/relationships/slide" Target="/ppt/slides/slide3.xml" Id="Rf37d728b52c94e2a" /><Relationship Type="http://schemas.openxmlformats.org/officeDocument/2006/relationships/slide" Target="/ppt/slides/slide4.xml" Id="Re9d45e94a3754d07" /><Relationship Type="http://schemas.openxmlformats.org/officeDocument/2006/relationships/slide" Target="/ppt/slides/slide5.xml" Id="R399ea904b9934839" /><Relationship Type="http://schemas.openxmlformats.org/officeDocument/2006/relationships/slide" Target="/ppt/slides/slide6.xml" Id="R27e3ceeba6ae49aa" /><Relationship Type="http://schemas.openxmlformats.org/officeDocument/2006/relationships/slide" Target="/ppt/slides/slide7.xml" Id="Rd975e6f0d8264b4b" /><Relationship Type="http://schemas.openxmlformats.org/officeDocument/2006/relationships/slide" Target="/ppt/slides/slide8.xml" Id="Rc316f442266b4286" /><Relationship Type="http://schemas.openxmlformats.org/officeDocument/2006/relationships/slide" Target="/ppt/slides/slide9.xml" Id="Rf7273b3607c4402b" /><Relationship Type="http://schemas.openxmlformats.org/officeDocument/2006/relationships/slide" Target="/ppt/slides/slide10.xml" Id="R8dceaf4846b84020" /><Relationship Type="http://schemas.openxmlformats.org/officeDocument/2006/relationships/slide" Target="/ppt/slides/slide11.xml" Id="R9e899191b8b5491f" /><Relationship Type="http://schemas.openxmlformats.org/officeDocument/2006/relationships/slide" Target="/ppt/slides/slide12.xml" Id="R880e8981441e46f5" /><Relationship Type="http://schemas.openxmlformats.org/officeDocument/2006/relationships/slide" Target="/ppt/slides/slide13.xml" Id="R44ee1883b3884a8b" /><Relationship Type="http://schemas.openxmlformats.org/officeDocument/2006/relationships/slide" Target="/ppt/slides/slide14.xml" Id="Rad509697cd8f46f1" /><Relationship Type="http://schemas.openxmlformats.org/officeDocument/2006/relationships/slide" Target="/ppt/slides/slide15.xml" Id="Rffeb8e150a0f4086" /><Relationship Type="http://schemas.openxmlformats.org/officeDocument/2006/relationships/slide" Target="/ppt/slides/slide16.xml" Id="R3dc1d6d7d115422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ad3a0fbe006444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92e249861424a2c" /><Relationship Type="http://schemas.openxmlformats.org/officeDocument/2006/relationships/notesMaster" Target="/ppt/notesMasters/notesMaster1.xml" Id="R33216353742a4e63" /></Relationships>
</file>

<file path=ppt/notesSlides/_rels/notesSlide2.xml.rels>&#65279;<?xml version="1.0" encoding="utf-8"?><Relationships xmlns="http://schemas.openxmlformats.org/package/2006/relationships"><Relationship Type="http://schemas.openxmlformats.org/officeDocument/2006/relationships/slide" Target="/ppt/slides/slide2.xml" Id="R70356c93d1fc4e7a" /><Relationship Type="http://schemas.openxmlformats.org/officeDocument/2006/relationships/notesMaster" Target="/ppt/notesMasters/notesMaster1.xml" Id="R61521ee443d34100" /></Relationships>
</file>

<file path=ppt/notesSlides/_rels/notesSlide3.xml.rels>&#65279;<?xml version="1.0" encoding="utf-8"?><Relationships xmlns="http://schemas.openxmlformats.org/package/2006/relationships"><Relationship Type="http://schemas.openxmlformats.org/officeDocument/2006/relationships/slide" Target="/ppt/slides/slide3.xml" Id="Rc28ac041196e4172" /><Relationship Type="http://schemas.openxmlformats.org/officeDocument/2006/relationships/notesMaster" Target="/ppt/notesMasters/notesMaster1.xml" Id="Ra84820b3aa294007" /></Relationships>
</file>

<file path=ppt/notesSlides/_rels/notesSlide4.xml.rels>&#65279;<?xml version="1.0" encoding="utf-8"?><Relationships xmlns="http://schemas.openxmlformats.org/package/2006/relationships"><Relationship Type="http://schemas.openxmlformats.org/officeDocument/2006/relationships/slide" Target="/ppt/slides/slide4.xml" Id="R2130ba0b059c47d0" /><Relationship Type="http://schemas.openxmlformats.org/officeDocument/2006/relationships/notesMaster" Target="/ppt/notesMasters/notesMaster1.xml" Id="Rb85f61564ae142c4" /></Relationships>
</file>

<file path=ppt/notesSlides/_rels/notesSlide5.xml.rels>&#65279;<?xml version="1.0" encoding="utf-8"?><Relationships xmlns="http://schemas.openxmlformats.org/package/2006/relationships"><Relationship Type="http://schemas.openxmlformats.org/officeDocument/2006/relationships/slide" Target="/ppt/slides/slide5.xml" Id="Rdfd6567377324566" /><Relationship Type="http://schemas.openxmlformats.org/officeDocument/2006/relationships/notesMaster" Target="/ppt/notesMasters/notesMaster1.xml" Id="R06934587a0584427" /></Relationships>
</file>

<file path=ppt/notesSlides/_rels/notesSlide6.xml.rels>&#65279;<?xml version="1.0" encoding="utf-8"?><Relationships xmlns="http://schemas.openxmlformats.org/package/2006/relationships"><Relationship Type="http://schemas.openxmlformats.org/officeDocument/2006/relationships/slide" Target="/ppt/slides/slide6.xml" Id="Rbb0a25c4e9e647c0" /><Relationship Type="http://schemas.openxmlformats.org/officeDocument/2006/relationships/notesMaster" Target="/ppt/notesMasters/notesMaster1.xml" Id="Rd852ae2687a84e69" /></Relationships>
</file>

<file path=ppt/notesSlides/_rels/notesSlide7.xml.rels>&#65279;<?xml version="1.0" encoding="utf-8"?><Relationships xmlns="http://schemas.openxmlformats.org/package/2006/relationships"><Relationship Type="http://schemas.openxmlformats.org/officeDocument/2006/relationships/slide" Target="/ppt/slides/slide7.xml" Id="R56d40de293d4471c" /><Relationship Type="http://schemas.openxmlformats.org/officeDocument/2006/relationships/notesMaster" Target="/ppt/notesMasters/notesMaster1.xml" Id="R17c08a0b2ffb4461" /></Relationships>
</file>

<file path=ppt/notesSlides/_rels/notesSlide8.xml.rels>&#65279;<?xml version="1.0" encoding="utf-8"?><Relationships xmlns="http://schemas.openxmlformats.org/package/2006/relationships"><Relationship Type="http://schemas.openxmlformats.org/officeDocument/2006/relationships/slide" Target="/ppt/slides/slide8.xml" Id="R6c9018ca5d1c4db9" /><Relationship Type="http://schemas.openxmlformats.org/officeDocument/2006/relationships/notesMaster" Target="/ppt/notesMasters/notesMaster1.xml" Id="Rd8a210d916934cfe" /></Relationships>
</file>

<file path=ppt/notesSlides/_rels/notesSlide9.xml.rels>&#65279;<?xml version="1.0" encoding="utf-8"?><Relationships xmlns="http://schemas.openxmlformats.org/package/2006/relationships"><Relationship Type="http://schemas.openxmlformats.org/officeDocument/2006/relationships/slide" Target="/ppt/slides/slide9.xml" Id="Rbcf78fa9bf7a4cae" /><Relationship Type="http://schemas.openxmlformats.org/officeDocument/2006/relationships/notesMaster" Target="/ppt/notesMasters/notesMaster1.xml" Id="Rffc783b50dca4dc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8cf0f31f38d48e0" /><Relationship Type="http://schemas.openxmlformats.org/officeDocument/2006/relationships/notesMaster" Target="/ppt/notesMasters/notesMaster1.xml" Id="Radcc6436415947f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42fb5d559764ddc" /><Relationship Type="http://schemas.openxmlformats.org/officeDocument/2006/relationships/notesMaster" Target="/ppt/notesMasters/notesMaster1.xml" Id="R191abbd1fc3f417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3aae5a314504720" /><Relationship Type="http://schemas.openxmlformats.org/officeDocument/2006/relationships/notesMaster" Target="/ppt/notesMasters/notesMaster1.xml" Id="R1ccdcb8095ad48b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4d57dec38a9400f" /><Relationship Type="http://schemas.openxmlformats.org/officeDocument/2006/relationships/notesMaster" Target="/ppt/notesMasters/notesMaster1.xml" Id="R200c2ad8e3274b5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6fd7ea07b5d47ce" /><Relationship Type="http://schemas.openxmlformats.org/officeDocument/2006/relationships/notesMaster" Target="/ppt/notesMasters/notesMaster1.xml" Id="Rb44f4299ba0744e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242a2c1a4a84a24" /><Relationship Type="http://schemas.openxmlformats.org/officeDocument/2006/relationships/notesMaster" Target="/ppt/notesMasters/notesMaster1.xml" Id="R6a4d4b971d6a428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b1bf1b4e8b04288" /><Relationship Type="http://schemas.openxmlformats.org/officeDocument/2006/relationships/notesMaster" Target="/ppt/notesMasters/notesMaster1.xml" Id="R61138de8c2854a1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WIDispatch coordinates operational information, network-based dispatch planning and reviewed publication. This briefing explains the current implementation, the deployment decisions and the work/evidence needed for production acceptance. The companion workbook contains detailed matrices, field mappings, evidence and 32 readiness entries. This is a technical discussion pack, not a security certification or a deployment commitment. Suggested use: 15–20 minutes plus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Desktop is a browser workspace, not an installed Windows executable in the inspected source. Each portal has its own Next.js server/API routes. Desktop has a separate Express API. Both use MongoDB collections directly through their server-side code. There is no evidenced integration bus between the five applications. Database selection is inconsistent across helpers and assignment routes, so the shared-data intent needs configuration/code reconciliation. No live connection strings were inspected. Transition: distinguish this current logical arrangement from the proposed deployment boundaries.</a:t>
            </a:r>
          </a:p>
          <a:p xmlns:a="http://schemas.openxmlformats.org/drawingml/2006/main">
            <a:r>
              <a:t/>
            </a:r>
          </a:p>
          <a:p xmlns:a="http://schemas.openxmlformats.org/drawingml/2006/main">
            <a:r>
              <a:t>Evidence basis: current local source inspected 29 September 2026. Source findings do not certify deployment controls.</a:t>
            </a:r>
          </a:p>
          <a:p xmlns:a="http://schemas.openxmlformats.org/drawingml/2006/main">
            <a:r>
              <a:t>[D1] Desktop/backend/src/server.js:31-64 and API routes; Desktop/frontend/src/api/client.js:1-20; package.json in frontend and backend</a:t>
            </a:r>
          </a:p>
          <a:p xmlns:a="http://schemas.openxmlformats.org/drawingml/2006/main">
            <a:r>
              <a:t>[D2] Desktop/backend/src/db.js:9-28; Production/Demand lib/mongodb.ts:38-41; Transmission/Economics lib/mongodb.ts:38-43; Production/Transmission/Economics app/api/users/assign/route.ts:33</a:t>
            </a:r>
          </a:p>
          <a:p xmlns:a="http://schemas.openxmlformats.org/drawingml/2006/main">
            <a:r>
              <a:t>[D4] Desktop/backend/src/simulation/writeback.js:23-130</a:t>
            </a:r>
          </a:p>
          <a:p xmlns:a="http://schemas.openxmlformats.org/drawingml/2006/main">
            <a:r>
              <a:t>[D5] Desktop/backend/src/simulation/dispatch.js:101-145, 178 onward; capacity.js; cost.js:16-67; graph.js; mcmf.js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diagram to ask where the platform will be hosted and who operates it. Proposed HTTPS ingress serves portal routes and Desktop static frontend/API. Private database access, backups and monitoring are deployment controls to establish. SSO federation is not in the inspected login path and requires integration. The SRD trial sizing proposal is 4 vCPU, 16 GB RAM and around 100 GB storage, subject to measured acceptance. Do not present it as a production minimum or certified capacity. Transactions also require application changes; choosing a MongoDB replica set alone does not repair publication. A single-node replica set does not provide HA.</a:t>
            </a:r>
          </a:p>
          <a:p xmlns:a="http://schemas.openxmlformats.org/drawingml/2006/main">
            <a:r>
              <a:t/>
            </a:r>
          </a:p>
          <a:p xmlns:a="http://schemas.openxmlformats.org/drawingml/2006/main">
            <a:r>
              <a:t>Evidence basis: current local source inspected 29 September 2026. Source findings do not certify deployment controls.</a:t>
            </a:r>
          </a:p>
          <a:p xmlns:a="http://schemas.openxmlformats.org/drawingml/2006/main">
            <a:r>
              <a:t>[D1] Desktop/backend/src/server.js:31-64 and API routes; Desktop/frontend/src/api/client.js:1-20; package.json in frontend and backend</a:t>
            </a:r>
          </a:p>
          <a:p xmlns:a="http://schemas.openxmlformats.org/drawingml/2006/main">
            <a:r>
              <a:t>[D2] Desktop/backend/src/db.js:9-28; Production/Demand lib/mongodb.ts:38-41; Transmission/Economics lib/mongodb.ts:38-43; Production/Transmission/Economics app/api/users/assign/route.ts:33</a:t>
            </a:r>
          </a:p>
          <a:p xmlns:a="http://schemas.openxmlformats.org/drawingml/2006/main">
            <a:r>
              <a:t>[P2] All four portals: lib/auth.ts and app/api/auth/login/route.ts:13-49</a:t>
            </a:r>
          </a:p>
          <a:p xmlns:a="http://schemas.openxmlformats.org/drawingml/2006/main">
            <a:r>
              <a:t>[R1] WIDispatch_SRD.docx, internal draft v1.0, 10 September 2026: sections 1, 5, 6 and 7. Proposed requirements and trial targets, not deployment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left to right: viewing scope does not imply approval permission. GM and Dashboard Approver are the approval roles in the inspected helpers. Regional and city heads can manage subordinate user roles. The asset manager retains the internal plant_manager code even where the portal presents city gates or pump assets. The Production GM can be entity-scoped; the other inspected getAccessiblePlants helpers are global for GM. Approval routes require further scope and maker/checker enforcement. The matrix describes code-level rules, not complete authenticated endpoint verification.</a:t>
            </a:r>
          </a:p>
          <a:p xmlns:a="http://schemas.openxmlformats.org/drawingml/2006/main">
            <a:r>
              <a:t/>
            </a:r>
          </a:p>
          <a:p xmlns:a="http://schemas.openxmlformats.org/drawingml/2006/main">
            <a:r>
              <a:t>Evidence basis: current local source inspected 29 September 2026. Source findings do not certify deployment controls.</a:t>
            </a:r>
          </a:p>
          <a:p xmlns:a="http://schemas.openxmlformats.org/drawingml/2006/main">
            <a:r>
              <a:t>[P1] Production, Demand, Transmission, Economics: lib/rbac.ts and lib/types.ts (current working files)</a:t>
            </a:r>
          </a:p>
          <a:p xmlns:a="http://schemas.openxmlformats.org/drawingml/2006/main">
            <a:r>
              <a:t>[P3] All four portals: app/api/submissions/[id]/status/route.ts (role gate, record lookup, status update and audit)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client may ask about separation of duties. Say that input entry, approval, dispatch planning and publication are distinct business responsibilities. The current code does not prove that distinct people must perform every step. The inspected portal approval routes check role and fetch record by ID, without an asset-scope or distinct-submitter gate. The Desktop server has no authentication middleware in the inspected file. The proposed planner, reviewer/publisher and platform-administrator responsibilities therefore need implementation and agreement. No live authorization probes were run.</a:t>
            </a:r>
          </a:p>
          <a:p xmlns:a="http://schemas.openxmlformats.org/drawingml/2006/main">
            <a:r>
              <a:t/>
            </a:r>
          </a:p>
          <a:p xmlns:a="http://schemas.openxmlformats.org/drawingml/2006/main">
            <a:r>
              <a:t>Evidence basis: current local source inspected 29 September 2026. Source findings do not certify deployment controls.</a:t>
            </a:r>
          </a:p>
          <a:p xmlns:a="http://schemas.openxmlformats.org/drawingml/2006/main">
            <a:r>
              <a:t>[D1] Desktop/backend/src/server.js:31-64 and API routes; Desktop/frontend/src/api/client.js:1-20; package.json in frontend and backend</a:t>
            </a:r>
          </a:p>
          <a:p xmlns:a="http://schemas.openxmlformats.org/drawingml/2006/main">
            <a:r>
              <a:t>[P1] Production, Demand, Transmission, Economics: lib/rbac.ts and lib/types.ts (current working files)</a:t>
            </a:r>
          </a:p>
          <a:p xmlns:a="http://schemas.openxmlformats.org/drawingml/2006/main">
            <a:r>
              <a:t>[P3] All four portals: app/api/submissions/[id]/status/route.ts (role gate, record lookup, status update and audit)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workbook gives the underlying collections and field boundaries. Asset stewardship is a proposed responsibility, because more than one app has asset routes. Desktop owns network/configuration/plan authoring in this workflow. Demand requirements, published allocation and actual receipts are separate values. Economics supplies effective-dated approved variable O&amp;M; plant specifications and a 2.10 SAR/m3 default remain fallbacks in code. The dispatch loader uses approved demand, eligible maintenance and approved outages; do not state that every maintenance record must already be approved to affect availability.</a:t>
            </a:r>
          </a:p>
          <a:p xmlns:a="http://schemas.openxmlformats.org/drawingml/2006/main">
            <a:r>
              <a:t/>
            </a:r>
          </a:p>
          <a:p xmlns:a="http://schemas.openxmlformats.org/drawingml/2006/main">
            <a:r>
              <a:t>Evidence basis: current local source inspected 29 September 2026. Source findings do not certify deployment controls.</a:t>
            </a:r>
          </a:p>
          <a:p xmlns:a="http://schemas.openxmlformats.org/drawingml/2006/main">
            <a:r>
              <a:t>[D4] Desktop/backend/src/simulation/writeback.js:23-130</a:t>
            </a:r>
          </a:p>
          <a:p xmlns:a="http://schemas.openxmlformats.org/drawingml/2006/main">
            <a:r>
              <a:t>[D5] Desktop/backend/src/simulation/dispatch.js:101-145, 178 onward; capacity.js; cost.js:16-67; graph.js; mcmf.js</a:t>
            </a:r>
          </a:p>
          <a:p xmlns:a="http://schemas.openxmlformats.org/drawingml/2006/main">
            <a:r>
              <a:t>[D6] Desktop/backend/src/assetRegistry.js:12-23, 221-335; networks.js; transmissionRegistry.js</a:t>
            </a:r>
          </a:p>
          <a:p xmlns:a="http://schemas.openxmlformats.org/drawingml/2006/main">
            <a:r>
              <a:t>[P8] Economics app/api/financial-entries/route.ts; lib/financial-costs.ts; Desktop simulation/cost.js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exact field ownership. Production rows are upserted by plant/date with required_m3 and data_source=desktop_simulation. Existing operating fields are preserved; newly inserted rows begin in draft. Demand rows are updated by gate/date, without upsert. Maintenance matches record IDs and writes decision metadata, not rescheduled dates. Each decision carries plan lineage. Transmission actual receipt/delivery and financial cost snapshots are not rewritten. Publication counts represent modified/upserted documents and do not demonstrate every expected record matched.</a:t>
            </a:r>
          </a:p>
          <a:p xmlns:a="http://schemas.openxmlformats.org/drawingml/2006/main">
            <a:r>
              <a:t/>
            </a:r>
          </a:p>
          <a:p xmlns:a="http://schemas.openxmlformats.org/drawingml/2006/main">
            <a:r>
              <a:t>Evidence basis: current local source inspected 29 September 2026. Source findings do not certify deployment controls.</a:t>
            </a:r>
          </a:p>
          <a:p xmlns:a="http://schemas.openxmlformats.org/drawingml/2006/main">
            <a:r>
              <a:t>[D3] Desktop/backend/src/simulationConfigs.js:38-84, 176-255</a:t>
            </a:r>
          </a:p>
          <a:p xmlns:a="http://schemas.openxmlformats.org/drawingml/2006/main">
            <a:r>
              <a:t>[D4] Desktop/backend/src/simulation/writeback.js:23-130</a:t>
            </a:r>
          </a:p>
          <a:p xmlns:a="http://schemas.openxmlformats.org/drawingml/2006/main">
            <a:r>
              <a:t>[P4] Production components/production/production-input-table.tsx:171-185; Demand equivalent:183-198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Likely question: if I increase a city gate allocation, where does the water come from? Current code only bounds demand edits between zero and required and applies comment rules. It does not re-solve the flows or plant allocations. A feasibility revalidation policy is therefore required. Another question: what if a publish request fails halfway? Current writes are parallel, unordered and not in a transaction. A published-plan guard stops a later ordinary repeat, but is not a concurrent lock or idempotency mechanism. The work register states these gaps and the required acceptance scenarios.</a:t>
            </a:r>
          </a:p>
          <a:p xmlns:a="http://schemas.openxmlformats.org/drawingml/2006/main">
            <a:r>
              <a:t/>
            </a:r>
          </a:p>
          <a:p xmlns:a="http://schemas.openxmlformats.org/drawingml/2006/main">
            <a:r>
              <a:t>Evidence basis: current local source inspected 29 September 2026. Source findings do not certify deployment controls.</a:t>
            </a:r>
          </a:p>
          <a:p xmlns:a="http://schemas.openxmlformats.org/drawingml/2006/main">
            <a:r>
              <a:t>[D3] Desktop/backend/src/simulationConfigs.js:38-84, 176-255</a:t>
            </a:r>
          </a:p>
          <a:p xmlns:a="http://schemas.openxmlformats.org/drawingml/2006/main">
            <a:r>
              <a:t>[D4] Desktop/backend/src/simulation/writeback.js:23-130</a:t>
            </a:r>
          </a:p>
          <a:p xmlns:a="http://schemas.openxmlformats.org/drawingml/2006/main">
            <a:r>
              <a:t>[T1] Desktop backend existing test suite, executed 2026-09-29 with Node --test: 87 tests, 87 passed, 0 failed, 0 skipped; local runner duration 564.0742 ms. Private execution log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Internal integration uses application services and shared database collections. File exchange is user initiated; it should not be sold as continuous GIS integration. Map screens call external OpenStreetMap/ArcGIS tile URLs, so private-network operation requires egress approval or an alternative. Email has provider paths but the default is console, and optional dependencies vary. No email was sent in this review. Confirm sender/recipients and verify delivery on the selected host.</a:t>
            </a:r>
          </a:p>
          <a:p xmlns:a="http://schemas.openxmlformats.org/drawingml/2006/main">
            <a:r>
              <a:t/>
            </a:r>
          </a:p>
          <a:p xmlns:a="http://schemas.openxmlformats.org/drawingml/2006/main">
            <a:r>
              <a:t>Evidence basis: current local source inspected 29 September 2026. Source findings do not certify deployment controls.</a:t>
            </a:r>
          </a:p>
          <a:p xmlns:a="http://schemas.openxmlformats.org/drawingml/2006/main">
            <a:r>
              <a:t>[D1] Desktop/backend/src/server.js:31-64 and API routes; Desktop/frontend/src/api/client.js:1-20; package.json in frontend and backend</a:t>
            </a:r>
          </a:p>
          <a:p xmlns:a="http://schemas.openxmlformats.org/drawingml/2006/main">
            <a:r>
              <a:t>[D2] Desktop/backend/src/db.js:9-28; Production/Demand lib/mongodb.ts:38-41; Transmission/Economics lib/mongodb.ts:38-43; Production/Transmission/Economics app/api/users/assign/route.ts:33</a:t>
            </a:r>
          </a:p>
          <a:p xmlns:a="http://schemas.openxmlformats.org/drawingml/2006/main">
            <a:r>
              <a:t>[G1] Desktop/frontend/src/pages/NetworkBuilderPage.jsx:2896-2905, 3122-3180, 3575-3578; lib/networkKmz.js; components/networkCanvas/NetworkCanvasMapView.jsx:101; AssetDetailPage.jsx:174</a:t>
            </a:r>
          </a:p>
          <a:p xmlns:a="http://schemas.openxmlformats.org/drawingml/2006/main">
            <a:r>
              <a:t>[P5] Production lib/email.ts:7-13, 35-201; other portals lib/email.ts; app/api/test-email/route.ts</a:t>
            </a:r>
          </a:p>
          <a:p xmlns:a="http://schemas.openxmlformats.org/drawingml/2006/main">
            <a:r>
              <a:t>[P6] Production, Demand, Transmission lib/imports.ts; shared excel-import-dialog components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Avoid a blanket yes to integrations. Ask for the system owner, required data, direction, cadence, identifiers, authentication and error-handling expectations. SSO requires federation and role mapping. ERP/EAM/CMMS requires a contract for assets, work orders or costs. Historian ingestion requires daily aggregation and quality rules. Equipment control is a separate design and scope: Publish currently writes database planning fields, not actuator commands. This was a targeted source inventory, not an exhaustive discovery of every deployment integration.</a:t>
            </a:r>
          </a:p>
          <a:p xmlns:a="http://schemas.openxmlformats.org/drawingml/2006/main">
            <a:r>
              <a:t/>
            </a:r>
          </a:p>
          <a:p xmlns:a="http://schemas.openxmlformats.org/drawingml/2006/main">
            <a:r>
              <a:t>Evidence basis: current local source inspected 29 September 2026. Source findings do not certify deployment controls.</a:t>
            </a:r>
          </a:p>
          <a:p xmlns:a="http://schemas.openxmlformats.org/drawingml/2006/main">
            <a:r>
              <a:t>[P2] All four portals: lib/auth.ts and app/api/auth/login/route.ts:13-49</a:t>
            </a:r>
          </a:p>
          <a:p xmlns:a="http://schemas.openxmlformats.org/drawingml/2006/main">
            <a:r>
              <a:t>[D4] Desktop/backend/src/simulation/writeback.js:23-130</a:t>
            </a:r>
          </a:p>
          <a:p xmlns:a="http://schemas.openxmlformats.org/drawingml/2006/main">
            <a:r>
              <a:t>[S1] Source inventory of app/lib/backend/frontend and package manifests in the five supplied repositories, 2026-09-29. Targeted search only, not an exhaustive security or integration audit.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factual wording. Portal local authentication and role helpers are present, but token revocation and every endpoint are not runtime-verified here. Desktop authentication is absent from the inspected Express boundary. Source also includes a signing-secret fallback, unrestricted Desktop CORS and a diagnostic email endpoint. No secret values are included in this pack. TLS, database encryption, key management, hosting region and firewall posture require deployment evidence. Security acceptance must test the whole client environment.</a:t>
            </a:r>
          </a:p>
          <a:p xmlns:a="http://schemas.openxmlformats.org/drawingml/2006/main">
            <a:r>
              <a:t/>
            </a:r>
          </a:p>
          <a:p xmlns:a="http://schemas.openxmlformats.org/drawingml/2006/main">
            <a:r>
              <a:t>Evidence basis: current local source inspected 29 September 2026. Source findings do not certify deployment controls.</a:t>
            </a:r>
          </a:p>
          <a:p xmlns:a="http://schemas.openxmlformats.org/drawingml/2006/main">
            <a:r>
              <a:t>[D1] Desktop/backend/src/server.js:31-64 and API routes; Desktop/frontend/src/api/client.js:1-20; package.json in frontend and backend</a:t>
            </a:r>
          </a:p>
          <a:p xmlns:a="http://schemas.openxmlformats.org/drawingml/2006/main">
            <a:r>
              <a:t>[P1] Production, Demand, Transmission, Economics: lib/rbac.ts and lib/types.ts (current working files)</a:t>
            </a:r>
          </a:p>
          <a:p xmlns:a="http://schemas.openxmlformats.org/drawingml/2006/main">
            <a:r>
              <a:t>[P2] All four portals: lib/auth.ts and app/api/auth/login/route.ts:13-49</a:t>
            </a:r>
          </a:p>
          <a:p xmlns:a="http://schemas.openxmlformats.org/drawingml/2006/main">
            <a:r>
              <a:t>[P3] All four portals: app/api/submissions/[id]/status/route.ts (role gate, record lookup, status update and audit)</a:t>
            </a:r>
          </a:p>
          <a:p xmlns:a="http://schemas.openxmlformats.org/drawingml/2006/main">
            <a:r>
              <a:t>[P5] Production lib/email.ts:7-13, 35-201; other portals lib/email.ts; app/api/test-email/route.ts</a:t>
            </a:r>
          </a:p>
          <a:p xmlns:a="http://schemas.openxmlformats.org/drawingml/2006/main">
            <a:r>
              <a:t>[P7] Production app/api/audit-logs/route.ts; submissions/[id]/status/route.ts:175 onward; lib/rbac.ts audit helpers</a:t>
            </a:r>
          </a:p>
          <a:p xmlns:a="http://schemas.openxmlformats.org/drawingml/2006/main">
            <a:r>
              <a:t>[R1] WIDispatch_SRD.docx, internal draft v1.0, 10 September 2026: sections 1, 5, 6 and 7. Proposed requirements and trial targets, not deployment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ran the current backend test suite using Node --test. All 87 tests passed, with zero failures and zero skips. Coverage includes cost precedence, capacity/outage and standby cases, shortages and bottlenecks, storage carryover and decision bounds/comments. The runner reported 564.0742 ms; do not quote that as a full simulation time or performance promise. No live database or five-app authorization/publication test was executed. The SRD proposes up to 5 test accounts, 1 active run, 50 nodes, 100 edges, 14 days and 50,000 records, with warm p95 reads &lt;=2s and baseline run &lt;=120s on the proposed trial VM. These remain proposed targets, not measured capacity.</a:t>
            </a:r>
          </a:p>
          <a:p xmlns:a="http://schemas.openxmlformats.org/drawingml/2006/main">
            <a:r>
              <a:t/>
            </a:r>
          </a:p>
          <a:p xmlns:a="http://schemas.openxmlformats.org/drawingml/2006/main">
            <a:r>
              <a:t>Evidence basis: current local source inspected 29 September 2026. Source findings do not certify deployment controls.</a:t>
            </a:r>
          </a:p>
          <a:p xmlns:a="http://schemas.openxmlformats.org/drawingml/2006/main">
            <a:r>
              <a:t>[T1] Desktop backend existing test suite, executed 2026-09-29 with Node --test: 87 tests, 87 passed, 0 failed, 0 skipped; local runner duration 564.0742 ms. Private execution log retained.</a:t>
            </a:r>
          </a:p>
          <a:p xmlns:a="http://schemas.openxmlformats.org/drawingml/2006/main">
            <a:r>
              <a:t>[D5] Desktop/backend/src/simulation/dispatch.js:101-145, 178 onward; capacity.js; cost.js:16-67; graph.js; mcmf.js</a:t>
            </a:r>
          </a:p>
          <a:p xmlns:a="http://schemas.openxmlformats.org/drawingml/2006/main">
            <a:r>
              <a:t>[R1] WIDispatch_SRD.docx, internal draft v1.0, 10 September 2026: sections 1, 5, 6 and 7. Proposed requirements and trial targets, not deployment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backup job configuration, restore exercise, HA deployment or failover record was inspected. The SRD trial proposal uses RPO &lt;=24 hours, RTO &lt;=8 hours and 14-day retention. Explain RPO as tolerable data loss and RTO as recovery time, but do not offer the draft values as contractual promises. A restore test should use an isolated target, validate records and a retained dispatch plan, and record elapsed recovery time. Operations also needs alerting, patching, certificate renewal, incident escalation and release/rollback responsibilities.</a:t>
            </a:r>
          </a:p>
          <a:p xmlns:a="http://schemas.openxmlformats.org/drawingml/2006/main">
            <a:r>
              <a:t/>
            </a:r>
          </a:p>
          <a:p xmlns:a="http://schemas.openxmlformats.org/drawingml/2006/main">
            <a:r>
              <a:t>Evidence basis: current local source inspected 29 September 2026. Source findings do not certify deployment controls.</a:t>
            </a:r>
          </a:p>
          <a:p xmlns:a="http://schemas.openxmlformats.org/drawingml/2006/main">
            <a:r>
              <a:t>[R1] WIDispatch_SRD.docx, internal draft v1.0, 10 September 2026: sections 1, 5, 6 and 7. Proposed requirements and trial targets, not deployment evidence.</a:t>
            </a:r>
          </a:p>
          <a:p xmlns:a="http://schemas.openxmlformats.org/drawingml/2006/main">
            <a:r>
              <a:t>[D1] Desktop/backend/src/server.js:31-64 and API routes; Desktop/frontend/src/api/client.js:1-20; package.json in frontend and backend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categories are work categories, not a numerical readiness score. Current capability means code exists, with acceptance still needed. Configuration required includes deployment decisions and evidence work. Development required identifies missing controls or client-specific integration scope. The register has editable action status, named-owner/client-decision and evidence/date columns. All actions start open so nobody mistakes current source presence for accepted deployment. Do not promise a delivery date for these items in the meeting without estimation.</a:t>
            </a:r>
          </a:p>
          <a:p xmlns:a="http://schemas.openxmlformats.org/drawingml/2006/main">
            <a:r>
              <a:t/>
            </a:r>
          </a:p>
          <a:p xmlns:a="http://schemas.openxmlformats.org/drawingml/2006/main">
            <a:r>
              <a:t>Evidence basis: current local source inspected 29 September 2026. Source findings do not certify deployment controls.</a:t>
            </a:r>
          </a:p>
          <a:p xmlns:a="http://schemas.openxmlformats.org/drawingml/2006/main">
            <a:r>
              <a:t>[D1] Desktop/backend/src/server.js:31-64 and API routes; Desktop/frontend/src/api/client.js:1-20; package.json in frontend and backend</a:t>
            </a:r>
          </a:p>
          <a:p xmlns:a="http://schemas.openxmlformats.org/drawingml/2006/main">
            <a:r>
              <a:t>[D2] Desktop/backend/src/db.js:9-28; Production/Demand lib/mongodb.ts:38-41; Transmission/Economics lib/mongodb.ts:38-43; Production/Transmission/Economics app/api/users/assign/route.ts:33</a:t>
            </a:r>
          </a:p>
          <a:p xmlns:a="http://schemas.openxmlformats.org/drawingml/2006/main">
            <a:r>
              <a:t>[D3] Desktop/backend/src/simulationConfigs.js:38-84, 176-255</a:t>
            </a:r>
          </a:p>
          <a:p xmlns:a="http://schemas.openxmlformats.org/drawingml/2006/main">
            <a:r>
              <a:t>[D4] Desktop/backend/src/simulation/writeback.js:23-130</a:t>
            </a:r>
          </a:p>
          <a:p xmlns:a="http://schemas.openxmlformats.org/drawingml/2006/main">
            <a:r>
              <a:t>[D5] Desktop/backend/src/simulation/dispatch.js:101-145, 178 onward; capacity.js; cost.js:16-67; graph.js; mcmf.js</a:t>
            </a:r>
          </a:p>
          <a:p xmlns:a="http://schemas.openxmlformats.org/drawingml/2006/main">
            <a:r>
              <a:t>[P1] Production, Demand, Transmission, Economics: lib/rbac.ts and lib/types.ts (current working files)</a:t>
            </a:r>
          </a:p>
          <a:p xmlns:a="http://schemas.openxmlformats.org/drawingml/2006/main">
            <a:r>
              <a:t>[P2] All four portals: lib/auth.ts and app/api/auth/login/route.ts:13-49</a:t>
            </a:r>
          </a:p>
          <a:p xmlns:a="http://schemas.openxmlformats.org/drawingml/2006/main">
            <a:r>
              <a:t>[R1] WIDispatch_SRD.docx, internal draft v1.0, 10 September 2026: sections 1, 5, 6 and 7. Proposed requirements and trial targets, not deployment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register expands these workstreams into individual actions. Prioritise identity/authorization and publication/data integrity before production operational use. Add failure and concurrency tests; include missing targets and changed input basis. Portal role helper existence should not be reported as universal enforcement. Retain backend unit tests and add scoped API and full-cycle acceptance. Client IT owns requirements and acceptance participation; engineering owns implementation and evidence. These are proposed workstreams, not a committed schedule.</a:t>
            </a:r>
          </a:p>
          <a:p xmlns:a="http://schemas.openxmlformats.org/drawingml/2006/main">
            <a:r>
              <a:t/>
            </a:r>
          </a:p>
          <a:p xmlns:a="http://schemas.openxmlformats.org/drawingml/2006/main">
            <a:r>
              <a:t>Evidence basis: current local source inspected 29 September 2026. Source findings do not certify deployment controls.</a:t>
            </a:r>
          </a:p>
          <a:p xmlns:a="http://schemas.openxmlformats.org/drawingml/2006/main">
            <a:r>
              <a:t>[D1] Desktop/backend/src/server.js:31-64 and API routes; Desktop/frontend/src/api/client.js:1-20; package.json in frontend and backend</a:t>
            </a:r>
          </a:p>
          <a:p xmlns:a="http://schemas.openxmlformats.org/drawingml/2006/main">
            <a:r>
              <a:t>[D2] Desktop/backend/src/db.js:9-28; Production/Demand lib/mongodb.ts:38-41; Transmission/Economics lib/mongodb.ts:38-43; Production/Transmission/Economics app/api/users/assign/route.ts:33</a:t>
            </a:r>
          </a:p>
          <a:p xmlns:a="http://schemas.openxmlformats.org/drawingml/2006/main">
            <a:r>
              <a:t>[D3] Desktop/backend/src/simulationConfigs.js:38-84, 176-255</a:t>
            </a:r>
          </a:p>
          <a:p xmlns:a="http://schemas.openxmlformats.org/drawingml/2006/main">
            <a:r>
              <a:t>[D4] Desktop/backend/src/simulation/writeback.js:23-130</a:t>
            </a:r>
          </a:p>
          <a:p xmlns:a="http://schemas.openxmlformats.org/drawingml/2006/main">
            <a:r>
              <a:t>[P1] Production, Demand, Transmission, Economics: lib/rbac.ts and lib/types.ts (current working files)</a:t>
            </a:r>
          </a:p>
          <a:p xmlns:a="http://schemas.openxmlformats.org/drawingml/2006/main">
            <a:r>
              <a:t>[P3] All four portals: app/api/submissions/[id]/status/route.ts (role gate, record lookup, status update and audit)</a:t>
            </a:r>
          </a:p>
          <a:p xmlns:a="http://schemas.openxmlformats.org/drawingml/2006/main">
            <a:r>
              <a:t>[R1] WIDispatch_SRD.docx, internal draft v1.0, 10 September 2026: sections 1, 5, 6 and 7. Proposed requirements and trial targets, not deployment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asking for the client environment requirements, rather than seeking a blanket approval of the product. Capture hosting/residency, identity roles, external integration priorities, recovery/performance targets and acceptance ownership. Confirm that follow-up technical details will be answered with implementation status and test evidence. For unknowns, say: I need to confirm that implementation detail; we will record the requirement and respond with current capability, required work and how it will be validated. Do not invent completion dates or security commitments.</a:t>
            </a:r>
          </a:p>
          <a:p xmlns:a="http://schemas.openxmlformats.org/drawingml/2006/main">
            <a:r>
              <a:t/>
            </a:r>
          </a:p>
          <a:p xmlns:a="http://schemas.openxmlformats.org/drawingml/2006/main">
            <a:r>
              <a:t>Evidence basis: current local source inspected 29 September 2026. Source findings do not certify deployment controls.</a:t>
            </a:r>
          </a:p>
          <a:p xmlns:a="http://schemas.openxmlformats.org/drawingml/2006/main">
            <a:r>
              <a:t>[R1] WIDispatch_SRD.docx, internal draft v1.0, 10 September 2026: sections 1, 5, 6 and 7. Proposed requirements and trial targets, not deployment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890472afb594f4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9ca1fe54a53471f" /><Relationship Type="http://schemas.openxmlformats.org/officeDocument/2006/relationships/slideLayout" Target="/ppt/slideLayouts/slideLayout1.xml" Id="R5b57f6324858483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b57f6324858483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87861e944204ff6" /><Relationship Type="http://schemas.openxmlformats.org/officeDocument/2006/relationships/notesSlide" Target="/ppt/notesSlides/notesSlide1.xml" Id="R472cae836d6545e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9e9aa26b8d047c5" /><Relationship Type="http://schemas.openxmlformats.org/officeDocument/2006/relationships/notesSlide" Target="/ppt/notesSlides/notesSlide2.xml" Id="Ra0f1ad81927f425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4320442f7b24d9d" /><Relationship Type="http://schemas.openxmlformats.org/officeDocument/2006/relationships/notesSlide" Target="/ppt/notesSlides/notesSlide3.xml" Id="Ra2316e19ca6441e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86e7fccacda4241" /><Relationship Type="http://schemas.openxmlformats.org/officeDocument/2006/relationships/notesSlide" Target="/ppt/notesSlides/notesSlide4.xml" Id="R206b35d18ff8419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096cf51b7f94135" /><Relationship Type="http://schemas.openxmlformats.org/officeDocument/2006/relationships/notesSlide" Target="/ppt/notesSlides/notesSlide5.xml" Id="R7cb974646a67405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8b4821f3aa246de" /><Relationship Type="http://schemas.openxmlformats.org/officeDocument/2006/relationships/notesSlide" Target="/ppt/notesSlides/notesSlide6.xml" Id="R0f73851957954c0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868b716384a4094" /><Relationship Type="http://schemas.openxmlformats.org/officeDocument/2006/relationships/notesSlide" Target="/ppt/notesSlides/notesSlide7.xml" Id="Rc64fda0e4a3b4f7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cb62874fb234a66" /><Relationship Type="http://schemas.openxmlformats.org/officeDocument/2006/relationships/notesSlide" Target="/ppt/notesSlides/notesSlide8.xml" Id="Rf45455e6c6fe4ff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341ff3b8cd04bd0" /><Relationship Type="http://schemas.openxmlformats.org/officeDocument/2006/relationships/notesSlide" Target="/ppt/notesSlides/notesSlide9.xml" Id="R674066a6ddb9448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51eafbb469f4e78" /><Relationship Type="http://schemas.openxmlformats.org/officeDocument/2006/relationships/notesSlide" Target="/ppt/notesSlides/notesSlide10.xml" Id="R2bc8aca539e74f3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ad67475946f4f5f" /><Relationship Type="http://schemas.openxmlformats.org/officeDocument/2006/relationships/notesSlide" Target="/ppt/notesSlides/notesSlide11.xml" Id="R0fe72efa0437449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e2a37ee8cb34f29" /><Relationship Type="http://schemas.openxmlformats.org/officeDocument/2006/relationships/notesSlide" Target="/ppt/notesSlides/notesSlide12.xml" Id="R0fb00ffa5a1c498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a39985172444658" /><Relationship Type="http://schemas.openxmlformats.org/officeDocument/2006/relationships/notesSlide" Target="/ppt/notesSlides/notesSlide13.xml" Id="R6423e97f6ff1485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b80a52a1a8c4176" /><Relationship Type="http://schemas.openxmlformats.org/officeDocument/2006/relationships/notesSlide" Target="/ppt/notesSlides/notesSlide14.xml" Id="R7819e17c086e4de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6f8710fc1b0d496d" /><Relationship Type="http://schemas.openxmlformats.org/officeDocument/2006/relationships/notesSlide" Target="/ppt/notesSlides/notesSlide15.xml" Id="Ra9b8bc519519413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21c3a7b9c584f34" /><Relationship Type="http://schemas.openxmlformats.org/officeDocument/2006/relationships/notesSlide" Target="/ppt/notesSlides/notesSlide16.xml" Id="Rfab939a5657b40a2" /></Relationships>
</file>

<file path=ppt/slides/slide1.xml><?xml version="1.0" encoding="utf-8"?>
<p:sld xmlns:p="http://schemas.openxmlformats.org/presentationml/2006/main">
  <p:cSld>
    <p:bg>
      <p:bgPr>
        <a:solidFill xmlns:a="http://schemas.openxmlformats.org/drawingml/2006/main">
          <a:srgbClr val="12374B"/>
        </a:solidFill>
      </p:bgPr>
    </p:bg>
    <p:spTree>
      <p:nvGrpSpPr>
        <p:cNvPr id="1" name=""/>
        <p:cNvGrpSpPr/>
        <p:nvPr/>
      </p:nvGrpSpPr>
      <p:grpSpPr>
        <a:xfrm xmlns:a="http://schemas.openxmlformats.org/drawingml/2006/main"/>
      </p:grpSpPr>
      <p:sp>
        <p:nvSpPr>
          <p:cNvPr id="6" name="UTILITY OPTIMO">
            <a:extLst xmlns:a="http://schemas.openxmlformats.org/drawingml/2006/main">
              <a:ext uri="{FF2B5EF4-FFF2-40B4-BE49-F238E27FC236}">
                <a16:creationId xmlns:a16="http://schemas.microsoft.com/office/drawing/2014/main" id="{553226E1-CB0E-44ED-B3FE-226CA361E8D7}"/>
              </a:ext>
            </a:extLst>
          </p:cNvPr>
          <p:cNvSpPr>
            <a:spLocks xmlns:a="http://schemas.openxmlformats.org/drawingml/2006/main" noGrp="1"/>
          </p:cNvSpPr>
          <p:nvPr/>
        </p:nvSpPr>
        <p:spPr>
          <a:xfrm xmlns:a="http://schemas.openxmlformats.org/drawingml/2006/main">
            <a:off x="762000" y="809625"/>
            <a:ext cx="1333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8AD6DE"/>
                </a:solidFill>
                <a:latin typeface="Arial"/>
                <a:ea typeface="Arial"/>
                <a:cs typeface="Arial"/>
              </a:defRPr>
            </a:pPr>
            <a:r>
              <a:rPr sz="1800" b="1">
                <a:solidFill>
                  <a:srgbClr val="8AD6DE"/>
                </a:solidFill>
                <a:latin typeface="Arial"/>
                <a:ea typeface="Arial"/>
                <a:cs typeface="Arial"/>
              </a:rPr>
              <a:t>UTILITY OPTIMO</a:t>
            </a:r>
          </a:p>
        </p:txBody>
      </p:sp>
      <p:sp>
        <p:nvSpPr>
          <p:cNvPr id="2" name="WIDispatch">
            <a:extLst xmlns:a="http://schemas.openxmlformats.org/drawingml/2006/main">
              <a:ext uri="{FF2B5EF4-FFF2-40B4-BE49-F238E27FC236}">
                <a16:creationId xmlns:a16="http://schemas.microsoft.com/office/drawing/2014/main" id="{7C0DBAC8-9949-47B2-AFA0-758CA895CFFB}"/>
              </a:ext>
            </a:extLst>
          </p:cNvPr>
          <p:cNvSpPr>
            <a:spLocks xmlns:a="http://schemas.openxmlformats.org/drawingml/2006/main" noGrp="1"/>
          </p:cNvSpPr>
          <p:nvPr/>
        </p:nvSpPr>
        <p:spPr>
          <a:xfrm xmlns:a="http://schemas.openxmlformats.org/drawingml/2006/main">
            <a:off x="762000" y="2095500"/>
            <a:ext cx="13525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7050" b="1">
                <a:solidFill>
                  <a:srgbClr val="FFFFFF"/>
                </a:solidFill>
                <a:latin typeface="Arial"/>
                <a:ea typeface="Arial"/>
                <a:cs typeface="Arial"/>
              </a:defRPr>
            </a:pPr>
            <a:r>
              <a:rPr sz="7050" b="1">
                <a:solidFill>
                  <a:srgbClr val="FFFFFF"/>
                </a:solidFill>
                <a:latin typeface="Arial"/>
                <a:ea typeface="Arial"/>
                <a:cs typeface="Arial"/>
              </a:rPr>
              <a:t>WIDispatch</a:t>
            </a:r>
          </a:p>
        </p:txBody>
      </p:sp>
      <p:sp>
        <p:nvSpPr>
          <p:cNvPr id="3" name="IT architecture and readiness">
            <a:extLst xmlns:a="http://schemas.openxmlformats.org/drawingml/2006/main">
              <a:ext uri="{FF2B5EF4-FFF2-40B4-BE49-F238E27FC236}">
                <a16:creationId xmlns:a16="http://schemas.microsoft.com/office/drawing/2014/main" id="{23165022-293B-42D0-BAF5-B7B0EF7D8C62}"/>
              </a:ext>
            </a:extLst>
          </p:cNvPr>
          <p:cNvSpPr>
            <a:spLocks xmlns:a="http://schemas.openxmlformats.org/drawingml/2006/main" noGrp="1"/>
          </p:cNvSpPr>
          <p:nvPr/>
        </p:nvSpPr>
        <p:spPr>
          <a:xfrm xmlns:a="http://schemas.openxmlformats.org/drawingml/2006/main">
            <a:off x="800100" y="3562350"/>
            <a:ext cx="13620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975" b="0">
                <a:solidFill>
                  <a:srgbClr val="FFFFFF"/>
                </a:solidFill>
                <a:latin typeface="Arial"/>
                <a:ea typeface="Arial"/>
                <a:cs typeface="Arial"/>
              </a:defRPr>
            </a:pPr>
            <a:r>
              <a:rPr sz="3975" b="0">
                <a:solidFill>
                  <a:srgbClr val="FFFFFF"/>
                </a:solidFill>
                <a:latin typeface="Arial"/>
                <a:ea typeface="Arial"/>
                <a:cs typeface="Arial"/>
              </a:rPr>
              <a:t>IT architecture and readiness</a:t>
            </a:r>
          </a:p>
        </p:txBody>
      </p:sp>
      <p:sp>
        <p:nvSpPr>
          <p:cNvPr id="4" name="Desktop and four operational portals">
            <a:extLst xmlns:a="http://schemas.openxmlformats.org/drawingml/2006/main">
              <a:ext uri="{FF2B5EF4-FFF2-40B4-BE49-F238E27FC236}">
                <a16:creationId xmlns:a16="http://schemas.microsoft.com/office/drawing/2014/main" id="{076C1753-CAD0-4841-820A-0314034E7C59}"/>
              </a:ext>
            </a:extLst>
          </p:cNvPr>
          <p:cNvSpPr>
            <a:spLocks xmlns:a="http://schemas.openxmlformats.org/drawingml/2006/main" noGrp="1"/>
          </p:cNvSpPr>
          <p:nvPr/>
        </p:nvSpPr>
        <p:spPr>
          <a:xfrm xmlns:a="http://schemas.openxmlformats.org/drawingml/2006/main">
            <a:off x="819150" y="5095875"/>
            <a:ext cx="1285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0">
                <a:solidFill>
                  <a:srgbClr val="D5E9EE"/>
                </a:solidFill>
                <a:latin typeface="Arial"/>
                <a:ea typeface="Arial"/>
                <a:cs typeface="Arial"/>
              </a:defRPr>
            </a:pPr>
            <a:r>
              <a:rPr sz="2325" b="0">
                <a:solidFill>
                  <a:srgbClr val="D5E9EE"/>
                </a:solidFill>
                <a:latin typeface="Arial"/>
                <a:ea typeface="Arial"/>
                <a:cs typeface="Arial"/>
              </a:rPr>
              <a:t>Desktop and four operational portals</a:t>
            </a:r>
          </a:p>
        </p:txBody>
      </p:sp>
      <p:sp>
        <p:nvSpPr>
          <p:cNvPr id="5" name="29 September 2026">
            <a:extLst xmlns:a="http://schemas.openxmlformats.org/drawingml/2006/main">
              <a:ext uri="{FF2B5EF4-FFF2-40B4-BE49-F238E27FC236}">
                <a16:creationId xmlns:a16="http://schemas.microsoft.com/office/drawing/2014/main" id="{63FB7ACA-A901-499E-96DE-92F7047D7F4B}"/>
              </a:ext>
            </a:extLst>
          </p:cNvPr>
          <p:cNvSpPr>
            <a:spLocks xmlns:a="http://schemas.openxmlformats.org/drawingml/2006/main" noGrp="1"/>
          </p:cNvSpPr>
          <p:nvPr/>
        </p:nvSpPr>
        <p:spPr>
          <a:xfrm xmlns:a="http://schemas.openxmlformats.org/drawingml/2006/main">
            <a:off x="819150" y="7524750"/>
            <a:ext cx="1143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A3C7D3"/>
                </a:solidFill>
                <a:latin typeface="Arial"/>
                <a:ea typeface="Arial"/>
                <a:cs typeface="Arial"/>
              </a:defRPr>
            </a:pPr>
            <a:r>
              <a:rPr sz="1800" b="0">
                <a:solidFill>
                  <a:srgbClr val="A3C7D3"/>
                </a:solidFill>
                <a:latin typeface="Arial"/>
                <a:ea typeface="Arial"/>
                <a:cs typeface="Arial"/>
              </a:rPr>
              <a:t>29 September 2026</a:t>
            </a:r>
          </a:p>
        </p:txBody>
      </p:sp>
    </p:spTree>
    <p:extLst>
      <p:ext uri="{BB962C8B-B14F-4D97-AF65-F5344CB8AC3E}">
        <p14:creationId xmlns:p14="http://schemas.microsoft.com/office/powerpoint/2010/main" val="7335576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8" name=""/>
          <p:cNvCxnSpPr>
            <a:stCxn xmlns:a="http://schemas.openxmlformats.org/drawingml/2006/main" id="9" idx="3"/>
            <a:endCxn xmlns:a="http://schemas.openxmlformats.org/drawingml/2006/main" id="10" idx="1"/>
          </p:cNvCxnSpPr>
          <p:nvPr/>
        </p:nvCxnSpPr>
        <p:spPr>
          <a:xfrm xmlns:a="http://schemas.openxmlformats.org/drawingml/2006/main" flipV="1">
            <a:off x="10810875" y="4167188"/>
            <a:ext cx="904875" cy="1262063"/>
          </a:xfrm>
          <a:prstGeom xmlns:a="http://schemas.openxmlformats.org/drawingml/2006/main" prst="bentConnector3">
            <a:avLst>
              <a:gd name="adj1" fmla="val 50000"/>
            </a:avLst>
          </a:prstGeom>
          <a:ln xmlns:a="http://schemas.openxmlformats.org/drawingml/2006/main" w="28575">
            <a:solidFill>
              <a:srgbClr val="007E92"/>
            </a:solidFill>
            <a:prstDash val="solid"/>
            <a:headEnd type="triangle" w="med" len="med"/>
            <a:tailEnd type="triangle" w="med" len="med"/>
          </a:ln>
        </p:spPr>
      </p:cxnSp>
      <p:cxnSp>
        <p:nvCxnSpPr>
          <p:cNvPr id="19" name=""/>
          <p:cNvCxnSpPr>
            <a:stCxn xmlns:a="http://schemas.openxmlformats.org/drawingml/2006/main" id="6" idx="3"/>
            <a:endCxn xmlns:a="http://schemas.openxmlformats.org/drawingml/2006/main" id="10" idx="1"/>
          </p:cNvCxnSpPr>
          <p:nvPr/>
        </p:nvCxnSpPr>
        <p:spPr>
          <a:xfrm xmlns:a="http://schemas.openxmlformats.org/drawingml/2006/main">
            <a:off x="10525125" y="3028950"/>
            <a:ext cx="1190625" cy="1138238"/>
          </a:xfrm>
          <a:prstGeom xmlns:a="http://schemas.openxmlformats.org/drawingml/2006/main" prst="bentConnector3">
            <a:avLst>
              <a:gd name="adj1" fmla="val 50000"/>
            </a:avLst>
          </a:prstGeom>
          <a:ln xmlns:a="http://schemas.openxmlformats.org/drawingml/2006/main" w="28575">
            <a:solidFill>
              <a:srgbClr val="007E92"/>
            </a:solidFill>
            <a:prstDash val="solid"/>
            <a:headEnd type="triangle" w="med" len="med"/>
            <a:tailEnd type="triangle" w="med" len="med"/>
          </a:ln>
        </p:spPr>
      </p:cxnSp>
      <p:cxnSp>
        <p:nvCxnSpPr>
          <p:cNvPr id="20" name=""/>
          <p:cNvCxnSpPr>
            <a:stCxn xmlns:a="http://schemas.openxmlformats.org/drawingml/2006/main" id="8" idx="3"/>
            <a:endCxn xmlns:a="http://schemas.openxmlformats.org/drawingml/2006/main" id="9" idx="1"/>
          </p:cNvCxnSpPr>
          <p:nvPr/>
        </p:nvCxnSpPr>
        <p:spPr>
          <a:xfrm xmlns:a="http://schemas.openxmlformats.org/drawingml/2006/main">
            <a:off x="7381875" y="5429250"/>
            <a:ext cx="666750" cy="0"/>
          </a:xfrm>
          <a:prstGeom xmlns:a="http://schemas.openxmlformats.org/drawingml/2006/main" prst="straightConnector1">
            <a:avLst/>
          </a:prstGeom>
          <a:ln xmlns:a="http://schemas.openxmlformats.org/drawingml/2006/main" w="28575">
            <a:solidFill>
              <a:srgbClr val="007E92"/>
            </a:solidFill>
            <a:prstDash val="solid"/>
            <a:headEnd type="triangle" w="med" len="med"/>
            <a:tailEnd type="triangle" w="med" len="med"/>
          </a:ln>
        </p:spPr>
      </p:cxnSp>
      <p:cxnSp>
        <p:nvCxnSpPr>
          <p:cNvPr id="21" name=""/>
          <p:cNvCxnSpPr>
            <a:stCxn xmlns:a="http://schemas.openxmlformats.org/drawingml/2006/main" id="7" idx="3"/>
            <a:endCxn xmlns:a="http://schemas.openxmlformats.org/drawingml/2006/main" id="8" idx="1"/>
          </p:cNvCxnSpPr>
          <p:nvPr/>
        </p:nvCxnSpPr>
        <p:spPr>
          <a:xfrm xmlns:a="http://schemas.openxmlformats.org/drawingml/2006/main">
            <a:off x="3562350" y="5429250"/>
            <a:ext cx="962025" cy="0"/>
          </a:xfrm>
          <a:prstGeom xmlns:a="http://schemas.openxmlformats.org/drawingml/2006/main" prst="straightConnector1">
            <a:avLst/>
          </a:prstGeom>
          <a:ln xmlns:a="http://schemas.openxmlformats.org/drawingml/2006/main" w="28575">
            <a:solidFill>
              <a:srgbClr val="007E92"/>
            </a:solidFill>
            <a:prstDash val="solid"/>
            <a:headEnd type="triangle" w="med" len="med"/>
            <a:tailEnd type="triangle" w="med" len="med"/>
          </a:ln>
        </p:spPr>
      </p:cxnSp>
      <p:cxnSp>
        <p:nvCxnSpPr>
          <p:cNvPr id="22" name=""/>
          <p:cNvCxnSpPr>
            <a:stCxn xmlns:a="http://schemas.openxmlformats.org/drawingml/2006/main" id="5" idx="3"/>
            <a:endCxn xmlns:a="http://schemas.openxmlformats.org/drawingml/2006/main" id="6" idx="1"/>
          </p:cNvCxnSpPr>
          <p:nvPr/>
        </p:nvCxnSpPr>
        <p:spPr>
          <a:xfrm xmlns:a="http://schemas.openxmlformats.org/drawingml/2006/main" flipV="1">
            <a:off x="3562350" y="3028950"/>
            <a:ext cx="962025" cy="42863"/>
          </a:xfrm>
          <a:prstGeom xmlns:a="http://schemas.openxmlformats.org/drawingml/2006/main" prst="bentConnector3">
            <a:avLst>
              <a:gd name="adj1" fmla="val 50000"/>
            </a:avLst>
          </a:prstGeom>
          <a:ln xmlns:a="http://schemas.openxmlformats.org/drawingml/2006/main" w="28575">
            <a:solidFill>
              <a:srgbClr val="007E92"/>
            </a:solidFill>
            <a:prstDash val="solid"/>
            <a:headEnd type="triangle" w="med" len="med"/>
            <a:tailEnd type="triangle" w="med" len="med"/>
          </a:ln>
        </p:spPr>
      </p:cxnSp>
      <p:sp>
        <p:nvSpPr>
          <p:cNvPr id="23" name="Current logical architecture">
            <a:extLst xmlns:a="http://schemas.openxmlformats.org/drawingml/2006/main">
              <a:ext uri="{FF2B5EF4-FFF2-40B4-BE49-F238E27FC236}">
                <a16:creationId xmlns:a16="http://schemas.microsoft.com/office/drawing/2014/main" id="{79D11FD1-E300-4F66-AD65-B5BE701A2F7F}"/>
              </a:ext>
            </a:extLst>
          </p:cNvPr>
          <p:cNvSpPr>
            <a:spLocks xmlns:a="http://schemas.openxmlformats.org/drawingml/2006/main" noGrp="1"/>
          </p:cNvSpPr>
          <p:nvPr/>
        </p:nvSpPr>
        <p:spPr>
          <a:xfrm xmlns:a="http://schemas.openxmlformats.org/drawingml/2006/main">
            <a:off x="609600" y="428625"/>
            <a:ext cx="14020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374B"/>
                </a:solidFill>
                <a:latin typeface="Arial"/>
                <a:ea typeface="Arial"/>
                <a:cs typeface="Arial"/>
              </a:defRPr>
            </a:pPr>
            <a:r>
              <a:rPr sz="3300" b="1">
                <a:solidFill>
                  <a:srgbClr val="12374B"/>
                </a:solidFill>
                <a:latin typeface="Arial"/>
                <a:ea typeface="Arial"/>
                <a:cs typeface="Arial"/>
              </a:rPr>
              <a:t>Current logical architecture</a:t>
            </a:r>
          </a:p>
        </p:txBody>
      </p:sp>
      <p:sp>
        <p:nvSpPr>
          <p:cNvPr id="2" name="Source-confirmed application relationships. Hosting and network c">
            <a:extLst xmlns:a="http://schemas.openxmlformats.org/drawingml/2006/main">
              <a:ext uri="{FF2B5EF4-FFF2-40B4-BE49-F238E27FC236}">
                <a16:creationId xmlns:a16="http://schemas.microsoft.com/office/drawing/2014/main" id="{EEC4DE34-D95F-4D7A-A9F7-2965306BF2A2}"/>
              </a:ext>
            </a:extLst>
          </p:cNvPr>
          <p:cNvSpPr>
            <a:spLocks xmlns:a="http://schemas.openxmlformats.org/drawingml/2006/main" noGrp="1"/>
          </p:cNvSpPr>
          <p:nvPr/>
        </p:nvSpPr>
        <p:spPr>
          <a:xfrm xmlns:a="http://schemas.openxmlformats.org/drawingml/2006/main">
            <a:off x="609600" y="1304925"/>
            <a:ext cx="1395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547080"/>
                </a:solidFill>
                <a:latin typeface="Arial"/>
                <a:ea typeface="Arial"/>
                <a:cs typeface="Arial"/>
              </a:defRPr>
            </a:pPr>
            <a:r>
              <a:rPr sz="1875" b="0">
                <a:solidFill>
                  <a:srgbClr val="547080"/>
                </a:solidFill>
                <a:latin typeface="Arial"/>
                <a:ea typeface="Arial"/>
                <a:cs typeface="Arial"/>
              </a:rPr>
              <a:t>Source-confirmed application relationships. Hosting and network controls are environment-specific.</a:t>
            </a:r>
          </a:p>
        </p:txBody>
      </p:sp>
      <p:sp>
        <p:nvSpPr>
          <p:cNvPr id="3" name="WIDispatch   /   IT briefing   /   29 September 2026">
            <a:extLst xmlns:a="http://schemas.openxmlformats.org/drawingml/2006/main">
              <a:ext uri="{FF2B5EF4-FFF2-40B4-BE49-F238E27FC236}">
                <a16:creationId xmlns:a16="http://schemas.microsoft.com/office/drawing/2014/main" id="{E3D94D7D-4BD0-4D78-AE4C-156DBA3B6221}"/>
              </a:ext>
            </a:extLst>
          </p:cNvPr>
          <p:cNvSpPr>
            <a:spLocks xmlns:a="http://schemas.openxmlformats.org/drawingml/2006/main" noGrp="1"/>
          </p:cNvSpPr>
          <p:nvPr/>
        </p:nvSpPr>
        <p:spPr>
          <a:xfrm xmlns:a="http://schemas.openxmlformats.org/drawingml/2006/main">
            <a:off x="609600" y="8172450"/>
            <a:ext cx="1162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547080"/>
                </a:solidFill>
                <a:latin typeface="Arial"/>
                <a:ea typeface="Arial"/>
                <a:cs typeface="Arial"/>
              </a:defRPr>
            </a:pPr>
            <a:r>
              <a:rPr sz="1275" b="0">
                <a:solidFill>
                  <a:srgbClr val="547080"/>
                </a:solidFill>
                <a:latin typeface="Arial"/>
                <a:ea typeface="Arial"/>
                <a:cs typeface="Arial"/>
              </a:rPr>
              <a:t>WIDispatch   /   IT briefing   /   29 September 2026</a:t>
            </a:r>
          </a:p>
        </p:txBody>
      </p:sp>
      <p:sp>
        <p:nvSpPr>
          <p:cNvPr id="4" name="02">
            <a:extLst xmlns:a="http://schemas.openxmlformats.org/drawingml/2006/main">
              <a:ext uri="{FF2B5EF4-FFF2-40B4-BE49-F238E27FC236}">
                <a16:creationId xmlns:a16="http://schemas.microsoft.com/office/drawing/2014/main" id="{2FD6EF33-B614-4984-9699-6796799409BE}"/>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547080"/>
                </a:solidFill>
                <a:latin typeface="Arial"/>
                <a:ea typeface="Arial"/>
                <a:cs typeface="Arial"/>
              </a:defRPr>
            </a:pPr>
            <a:r>
              <a:rPr sz="1650" b="0">
                <a:solidFill>
                  <a:srgbClr val="547080"/>
                </a:solidFill>
                <a:latin typeface="Arial"/>
                <a:ea typeface="Arial"/>
                <a:cs typeface="Arial"/>
              </a:rPr>
              <a:t>02</a:t>
            </a:r>
          </a:p>
        </p:txBody>
      </p:sp>
      <p:sp>
        <p:nvSpPr>
          <p:cNvPr id="5" name="Operational users and approvers Browser">
            <a:extLst xmlns:a="http://schemas.openxmlformats.org/drawingml/2006/main">
              <a:ext uri="{FF2B5EF4-FFF2-40B4-BE49-F238E27FC236}">
                <a16:creationId xmlns:a16="http://schemas.microsoft.com/office/drawing/2014/main" id="{35B3DE37-5B91-4431-A041-D6CF5CC9CAA5}"/>
              </a:ext>
            </a:extLst>
          </p:cNvPr>
          <p:cNvSpPr>
            <a:spLocks xmlns:a="http://schemas.openxmlformats.org/drawingml/2006/main" noGrp="1"/>
          </p:cNvSpPr>
          <p:nvPr/>
        </p:nvSpPr>
        <p:spPr>
          <a:xfrm xmlns:a="http://schemas.openxmlformats.org/drawingml/2006/main">
            <a:off x="609600" y="2333625"/>
            <a:ext cx="2952750" cy="1476375"/>
          </a:xfrm>
          <a:prstGeom xmlns:a="http://schemas.openxmlformats.org/drawingml/2006/main" prst="rect">
            <a:avLst/>
          </a:prstGeom>
          <a:solidFill xmlns:a="http://schemas.openxmlformats.org/drawingml/2006/main">
            <a:srgbClr val="F1F6F8"/>
          </a:solidFill>
          <a:ln xmlns:a="http://schemas.openxmlformats.org/drawingml/2006/main" w="19050">
            <a:solidFill>
              <a:srgbClr val="007E92"/>
            </a:solidFill>
            <a:prstDash val="solid"/>
          </a:ln>
        </p:spPr>
        <p:txBody>
          <a:bodyPr xmlns:a="http://schemas.openxmlformats.org/drawingml/2006/main" lIns="171450" tIns="142875" rIns="171450" bIns="142875" anchor="ctr">
            <a:noAutofit/>
          </a:bodyPr>
          <a:lstStyle xmlns:a="http://schemas.openxmlformats.org/drawingml/2006/main"/>
          <a:p xmlns:a="http://schemas.openxmlformats.org/drawingml/2006/main">
            <a:pPr algn="ctr">
              <a:defRPr sz="2175" b="0">
                <a:solidFill>
                  <a:srgbClr val="12374B"/>
                </a:solidFill>
                <a:latin typeface="Arial"/>
                <a:ea typeface="Arial"/>
                <a:cs typeface="Arial"/>
              </a:defRPr>
            </a:pPr>
            <a:r>
              <a:rPr sz="2175" b="0">
                <a:solidFill>
                  <a:srgbClr val="12374B"/>
                </a:solidFill>
                <a:latin typeface="Arial"/>
                <a:ea typeface="Arial"/>
                <a:cs typeface="Arial"/>
              </a:rPr>
              <a:t>Operational users</a:t>
            </a:r>
          </a:p>
          <a:p xmlns:a="http://schemas.openxmlformats.org/drawingml/2006/main">
            <a:pPr algn="ctr">
              <a:defRPr sz="2175" b="0">
                <a:solidFill>
                  <a:srgbClr val="12374B"/>
                </a:solidFill>
                <a:latin typeface="Arial"/>
                <a:ea typeface="Arial"/>
                <a:cs typeface="Arial"/>
              </a:defRPr>
            </a:pPr>
            <a:r>
              <a:rPr sz="2175" b="0">
                <a:solidFill>
                  <a:srgbClr val="12374B"/>
                </a:solidFill>
                <a:latin typeface="Arial"/>
                <a:ea typeface="Arial"/>
                <a:cs typeface="Arial"/>
              </a:rPr>
              <a:t>and approvers</a:t>
            </a:r>
          </a:p>
          <a:p xmlns:a="http://schemas.openxmlformats.org/drawingml/2006/main">
            <a:pPr algn="ctr">
              <a:defRPr sz="2175" b="0">
                <a:solidFill>
                  <a:srgbClr val="12374B"/>
                </a:solidFill>
                <a:latin typeface="Arial"/>
                <a:ea typeface="Arial"/>
                <a:cs typeface="Arial"/>
              </a:defRPr>
            </a:pPr>
            <a:r>
              <a:rPr sz="2175" b="0">
                <a:solidFill>
                  <a:srgbClr val="12374B"/>
                </a:solidFill>
                <a:latin typeface="Arial"/>
                <a:ea typeface="Arial"/>
                <a:cs typeface="Arial"/>
              </a:rPr>
              <a:t>Browser</a:t>
            </a:r>
          </a:p>
        </p:txBody>
      </p:sp>
      <p:sp>
        <p:nvSpPr>
          <p:cNvPr id="6" name="Four Next.js portal services Production / Demand Transmissio">
            <a:extLst xmlns:a="http://schemas.openxmlformats.org/drawingml/2006/main">
              <a:ext uri="{FF2B5EF4-FFF2-40B4-BE49-F238E27FC236}">
                <a16:creationId xmlns:a16="http://schemas.microsoft.com/office/drawing/2014/main" id="{C661DDAA-0A58-4BD8-8A37-AE992BA46658}"/>
              </a:ext>
            </a:extLst>
          </p:cNvPr>
          <p:cNvSpPr>
            <a:spLocks xmlns:a="http://schemas.openxmlformats.org/drawingml/2006/main" noGrp="1"/>
          </p:cNvSpPr>
          <p:nvPr/>
        </p:nvSpPr>
        <p:spPr>
          <a:xfrm xmlns:a="http://schemas.openxmlformats.org/drawingml/2006/main">
            <a:off x="4524375" y="2076450"/>
            <a:ext cx="6000750" cy="1905000"/>
          </a:xfrm>
          <a:prstGeom xmlns:a="http://schemas.openxmlformats.org/drawingml/2006/main" prst="rect">
            <a:avLst/>
          </a:prstGeom>
          <a:solidFill xmlns:a="http://schemas.openxmlformats.org/drawingml/2006/main">
            <a:srgbClr val="F1F6F8"/>
          </a:solidFill>
          <a:ln xmlns:a="http://schemas.openxmlformats.org/drawingml/2006/main" w="19050">
            <a:solidFill>
              <a:srgbClr val="007E92"/>
            </a:solidFill>
            <a:prstDash val="solid"/>
          </a:ln>
        </p:spPr>
        <p:txBody>
          <a:bodyPr xmlns:a="http://schemas.openxmlformats.org/drawingml/2006/main" lIns="171450" tIns="142875" rIns="171450" bIns="142875" anchor="ctr">
            <a:noAutofit/>
          </a:bodyPr>
          <a:lstStyle xmlns:a="http://schemas.openxmlformats.org/drawingml/2006/main"/>
          <a:p xmlns:a="http://schemas.openxmlformats.org/drawingml/2006/main">
            <a:pPr algn="ctr">
              <a:defRPr sz="2175" b="0">
                <a:solidFill>
                  <a:srgbClr val="12374B"/>
                </a:solidFill>
                <a:latin typeface="Arial"/>
                <a:ea typeface="Arial"/>
                <a:cs typeface="Arial"/>
              </a:defRPr>
            </a:pPr>
            <a:r>
              <a:rPr sz="2175" b="0">
                <a:solidFill>
                  <a:srgbClr val="12374B"/>
                </a:solidFill>
                <a:latin typeface="Arial"/>
                <a:ea typeface="Arial"/>
                <a:cs typeface="Arial"/>
              </a:rPr>
              <a:t>Four Next.js portal services</a:t>
            </a:r>
          </a:p>
          <a:p xmlns:a="http://schemas.openxmlformats.org/drawingml/2006/main">
            <a:pPr algn="ctr">
              <a:defRPr sz="2175" b="0">
                <a:solidFill>
                  <a:srgbClr val="12374B"/>
                </a:solidFill>
                <a:latin typeface="Arial"/>
                <a:ea typeface="Arial"/>
                <a:cs typeface="Arial"/>
              </a:defRPr>
            </a:pPr>
            <a:r>
              <a:rPr sz="2175" b="0">
                <a:solidFill>
                  <a:srgbClr val="12374B"/>
                </a:solidFill>
                <a:latin typeface="Arial"/>
                <a:ea typeface="Arial"/>
                <a:cs typeface="Arial"/>
              </a:rPr>
              <a:t>Production / Demand</a:t>
            </a:r>
          </a:p>
          <a:p xmlns:a="http://schemas.openxmlformats.org/drawingml/2006/main">
            <a:pPr algn="ctr">
              <a:defRPr sz="2175" b="0">
                <a:solidFill>
                  <a:srgbClr val="12374B"/>
                </a:solidFill>
                <a:latin typeface="Arial"/>
                <a:ea typeface="Arial"/>
                <a:cs typeface="Arial"/>
              </a:defRPr>
            </a:pPr>
            <a:r>
              <a:rPr sz="2175" b="0">
                <a:solidFill>
                  <a:srgbClr val="12374B"/>
                </a:solidFill>
                <a:latin typeface="Arial"/>
                <a:ea typeface="Arial"/>
                <a:cs typeface="Arial"/>
              </a:rPr>
              <a:t>Transmission / Economics</a:t>
            </a:r>
          </a:p>
          <a:p xmlns:a="http://schemas.openxmlformats.org/drawingml/2006/main">
            <a:pPr algn="ctr">
              <a:defRPr sz="2175" b="0">
                <a:solidFill>
                  <a:srgbClr val="12374B"/>
                </a:solidFill>
                <a:latin typeface="Arial"/>
                <a:ea typeface="Arial"/>
                <a:cs typeface="Arial"/>
              </a:defRPr>
            </a:pPr>
            <a:r>
              <a:rPr sz="2175" b="0">
                <a:solidFill>
                  <a:srgbClr val="12374B"/>
                </a:solidFill>
                <a:latin typeface="Arial"/>
                <a:ea typeface="Arial"/>
                <a:cs typeface="Arial"/>
              </a:rPr>
              <a:t>UI and API routes</a:t>
            </a:r>
          </a:p>
        </p:txBody>
      </p:sp>
      <p:sp>
        <p:nvSpPr>
          <p:cNvPr id="7" name="Dispatch planners Browser">
            <a:extLst xmlns:a="http://schemas.openxmlformats.org/drawingml/2006/main">
              <a:ext uri="{FF2B5EF4-FFF2-40B4-BE49-F238E27FC236}">
                <a16:creationId xmlns:a16="http://schemas.microsoft.com/office/drawing/2014/main" id="{F21CEE50-8872-45CB-8D00-5877C16C553E}"/>
              </a:ext>
            </a:extLst>
          </p:cNvPr>
          <p:cNvSpPr>
            <a:spLocks xmlns:a="http://schemas.openxmlformats.org/drawingml/2006/main" noGrp="1"/>
          </p:cNvSpPr>
          <p:nvPr/>
        </p:nvSpPr>
        <p:spPr>
          <a:xfrm xmlns:a="http://schemas.openxmlformats.org/drawingml/2006/main">
            <a:off x="609600" y="4810125"/>
            <a:ext cx="2952750" cy="1238250"/>
          </a:xfrm>
          <a:prstGeom xmlns:a="http://schemas.openxmlformats.org/drawingml/2006/main" prst="rect">
            <a:avLst/>
          </a:prstGeom>
          <a:solidFill xmlns:a="http://schemas.openxmlformats.org/drawingml/2006/main">
            <a:srgbClr val="F1F6F8"/>
          </a:solidFill>
          <a:ln xmlns:a="http://schemas.openxmlformats.org/drawingml/2006/main" w="19050">
            <a:solidFill>
              <a:srgbClr val="007E92"/>
            </a:solidFill>
            <a:prstDash val="solid"/>
          </a:ln>
        </p:spPr>
        <p:txBody>
          <a:bodyPr xmlns:a="http://schemas.openxmlformats.org/drawingml/2006/main" lIns="171450" tIns="142875" rIns="171450" bIns="142875" anchor="ctr">
            <a:noAutofit/>
          </a:bodyPr>
          <a:lstStyle xmlns:a="http://schemas.openxmlformats.org/drawingml/2006/main"/>
          <a:p xmlns:a="http://schemas.openxmlformats.org/drawingml/2006/main">
            <a:pPr algn="ctr">
              <a:defRPr sz="2175" b="0">
                <a:solidFill>
                  <a:srgbClr val="12374B"/>
                </a:solidFill>
                <a:latin typeface="Arial"/>
                <a:ea typeface="Arial"/>
                <a:cs typeface="Arial"/>
              </a:defRPr>
            </a:pPr>
            <a:r>
              <a:rPr sz="2175" b="0">
                <a:solidFill>
                  <a:srgbClr val="12374B"/>
                </a:solidFill>
                <a:latin typeface="Arial"/>
                <a:ea typeface="Arial"/>
                <a:cs typeface="Arial"/>
              </a:rPr>
              <a:t>Dispatch planners</a:t>
            </a:r>
          </a:p>
          <a:p xmlns:a="http://schemas.openxmlformats.org/drawingml/2006/main">
            <a:pPr algn="ctr">
              <a:defRPr sz="2175" b="0">
                <a:solidFill>
                  <a:srgbClr val="12374B"/>
                </a:solidFill>
                <a:latin typeface="Arial"/>
                <a:ea typeface="Arial"/>
                <a:cs typeface="Arial"/>
              </a:defRPr>
            </a:pPr>
            <a:r>
              <a:rPr sz="2175" b="0">
                <a:solidFill>
                  <a:srgbClr val="12374B"/>
                </a:solidFill>
                <a:latin typeface="Arial"/>
                <a:ea typeface="Arial"/>
                <a:cs typeface="Arial"/>
              </a:rPr>
              <a:t>Browser</a:t>
            </a:r>
          </a:p>
        </p:txBody>
      </p:sp>
      <p:sp>
        <p:nvSpPr>
          <p:cNvPr id="8" name="Desktop frontend React / Vite">
            <a:extLst xmlns:a="http://schemas.openxmlformats.org/drawingml/2006/main">
              <a:ext uri="{FF2B5EF4-FFF2-40B4-BE49-F238E27FC236}">
                <a16:creationId xmlns:a16="http://schemas.microsoft.com/office/drawing/2014/main" id="{97C80D82-D79C-44D5-A8EB-112497400A76}"/>
              </a:ext>
            </a:extLst>
          </p:cNvPr>
          <p:cNvSpPr>
            <a:spLocks xmlns:a="http://schemas.openxmlformats.org/drawingml/2006/main" noGrp="1"/>
          </p:cNvSpPr>
          <p:nvPr/>
        </p:nvSpPr>
        <p:spPr>
          <a:xfrm xmlns:a="http://schemas.openxmlformats.org/drawingml/2006/main">
            <a:off x="4524375" y="4810125"/>
            <a:ext cx="2857500" cy="1238250"/>
          </a:xfrm>
          <a:prstGeom xmlns:a="http://schemas.openxmlformats.org/drawingml/2006/main" prst="rect">
            <a:avLst/>
          </a:prstGeom>
          <a:solidFill xmlns:a="http://schemas.openxmlformats.org/drawingml/2006/main">
            <a:srgbClr val="F1F6F8"/>
          </a:solidFill>
          <a:ln xmlns:a="http://schemas.openxmlformats.org/drawingml/2006/main" w="19050">
            <a:solidFill>
              <a:srgbClr val="007E92"/>
            </a:solidFill>
            <a:prstDash val="solid"/>
          </a:ln>
        </p:spPr>
        <p:txBody>
          <a:bodyPr xmlns:a="http://schemas.openxmlformats.org/drawingml/2006/main" lIns="171450" tIns="142875" rIns="171450" bIns="142875" anchor="ctr">
            <a:noAutofit/>
          </a:bodyPr>
          <a:lstStyle xmlns:a="http://schemas.openxmlformats.org/drawingml/2006/main"/>
          <a:p xmlns:a="http://schemas.openxmlformats.org/drawingml/2006/main">
            <a:pPr algn="ctr">
              <a:defRPr sz="2175" b="0">
                <a:solidFill>
                  <a:srgbClr val="12374B"/>
                </a:solidFill>
                <a:latin typeface="Arial"/>
                <a:ea typeface="Arial"/>
                <a:cs typeface="Arial"/>
              </a:defRPr>
            </a:pPr>
            <a:r>
              <a:rPr sz="2175" b="0">
                <a:solidFill>
                  <a:srgbClr val="12374B"/>
                </a:solidFill>
                <a:latin typeface="Arial"/>
                <a:ea typeface="Arial"/>
                <a:cs typeface="Arial"/>
              </a:rPr>
              <a:t>Desktop frontend</a:t>
            </a:r>
          </a:p>
          <a:p xmlns:a="http://schemas.openxmlformats.org/drawingml/2006/main">
            <a:pPr algn="ctr">
              <a:defRPr sz="2175" b="0">
                <a:solidFill>
                  <a:srgbClr val="12374B"/>
                </a:solidFill>
                <a:latin typeface="Arial"/>
                <a:ea typeface="Arial"/>
                <a:cs typeface="Arial"/>
              </a:defRPr>
            </a:pPr>
            <a:r>
              <a:rPr sz="2175" b="0">
                <a:solidFill>
                  <a:srgbClr val="12374B"/>
                </a:solidFill>
                <a:latin typeface="Arial"/>
                <a:ea typeface="Arial"/>
                <a:cs typeface="Arial"/>
              </a:rPr>
              <a:t>React / Vite</a:t>
            </a:r>
          </a:p>
        </p:txBody>
      </p:sp>
      <p:sp>
        <p:nvSpPr>
          <p:cNvPr id="9" name="Desktop API Express / Node.js">
            <a:extLst xmlns:a="http://schemas.openxmlformats.org/drawingml/2006/main">
              <a:ext uri="{FF2B5EF4-FFF2-40B4-BE49-F238E27FC236}">
                <a16:creationId xmlns:a16="http://schemas.microsoft.com/office/drawing/2014/main" id="{2500E4A1-272E-4ECD-AAA0-CB0EC81F856A}"/>
              </a:ext>
            </a:extLst>
          </p:cNvPr>
          <p:cNvSpPr>
            <a:spLocks xmlns:a="http://schemas.openxmlformats.org/drawingml/2006/main" noGrp="1"/>
          </p:cNvSpPr>
          <p:nvPr/>
        </p:nvSpPr>
        <p:spPr>
          <a:xfrm xmlns:a="http://schemas.openxmlformats.org/drawingml/2006/main">
            <a:off x="8048625" y="4810125"/>
            <a:ext cx="2762250" cy="1238250"/>
          </a:xfrm>
          <a:prstGeom xmlns:a="http://schemas.openxmlformats.org/drawingml/2006/main" prst="rect">
            <a:avLst/>
          </a:prstGeom>
          <a:solidFill xmlns:a="http://schemas.openxmlformats.org/drawingml/2006/main">
            <a:srgbClr val="F1F6F8"/>
          </a:solidFill>
          <a:ln xmlns:a="http://schemas.openxmlformats.org/drawingml/2006/main" w="19050">
            <a:solidFill>
              <a:srgbClr val="007E92"/>
            </a:solidFill>
            <a:prstDash val="solid"/>
          </a:ln>
        </p:spPr>
        <p:txBody>
          <a:bodyPr xmlns:a="http://schemas.openxmlformats.org/drawingml/2006/main" lIns="171450" tIns="142875" rIns="171450" bIns="142875" anchor="ctr">
            <a:noAutofit/>
          </a:bodyPr>
          <a:lstStyle xmlns:a="http://schemas.openxmlformats.org/drawingml/2006/main"/>
          <a:p xmlns:a="http://schemas.openxmlformats.org/drawingml/2006/main">
            <a:pPr algn="ctr">
              <a:defRPr sz="2175" b="0">
                <a:solidFill>
                  <a:srgbClr val="12374B"/>
                </a:solidFill>
                <a:latin typeface="Arial"/>
                <a:ea typeface="Arial"/>
                <a:cs typeface="Arial"/>
              </a:defRPr>
            </a:pPr>
            <a:r>
              <a:rPr sz="2175" b="0">
                <a:solidFill>
                  <a:srgbClr val="12374B"/>
                </a:solidFill>
                <a:latin typeface="Arial"/>
                <a:ea typeface="Arial"/>
                <a:cs typeface="Arial"/>
              </a:rPr>
              <a:t>Desktop API</a:t>
            </a:r>
          </a:p>
          <a:p xmlns:a="http://schemas.openxmlformats.org/drawingml/2006/main">
            <a:pPr algn="ctr">
              <a:defRPr sz="2175" b="0">
                <a:solidFill>
                  <a:srgbClr val="12374B"/>
                </a:solidFill>
                <a:latin typeface="Arial"/>
                <a:ea typeface="Arial"/>
                <a:cs typeface="Arial"/>
              </a:defRPr>
            </a:pPr>
            <a:r>
              <a:rPr sz="2175" b="0">
                <a:solidFill>
                  <a:srgbClr val="12374B"/>
                </a:solidFill>
                <a:latin typeface="Arial"/>
                <a:ea typeface="Arial"/>
                <a:cs typeface="Arial"/>
              </a:rPr>
              <a:t>Express / Node.js</a:t>
            </a:r>
          </a:p>
        </p:txBody>
      </p:sp>
      <p:sp>
        <p:nvSpPr>
          <p:cNvPr id="10" name="MongoDB  Operational records Assets and networks Costs and p">
            <a:extLst xmlns:a="http://schemas.openxmlformats.org/drawingml/2006/main">
              <a:ext uri="{FF2B5EF4-FFF2-40B4-BE49-F238E27FC236}">
                <a16:creationId xmlns:a16="http://schemas.microsoft.com/office/drawing/2014/main" id="{F3E90828-3C66-4394-8242-36D67EA47D3D}"/>
              </a:ext>
            </a:extLst>
          </p:cNvPr>
          <p:cNvSpPr>
            <a:spLocks xmlns:a="http://schemas.openxmlformats.org/drawingml/2006/main" noGrp="1"/>
          </p:cNvSpPr>
          <p:nvPr/>
        </p:nvSpPr>
        <p:spPr>
          <a:xfrm xmlns:a="http://schemas.openxmlformats.org/drawingml/2006/main">
            <a:off x="11715750" y="2476500"/>
            <a:ext cx="2905125" cy="3381375"/>
          </a:xfrm>
          <a:prstGeom xmlns:a="http://schemas.openxmlformats.org/drawingml/2006/main" prst="rect">
            <a:avLst/>
          </a:prstGeom>
          <a:solidFill xmlns:a="http://schemas.openxmlformats.org/drawingml/2006/main">
            <a:srgbClr val="F1F6F8"/>
          </a:solidFill>
          <a:ln xmlns:a="http://schemas.openxmlformats.org/drawingml/2006/main" w="19050">
            <a:solidFill>
              <a:srgbClr val="007E92"/>
            </a:solidFill>
            <a:prstDash val="solid"/>
          </a:ln>
        </p:spPr>
        <p:txBody>
          <a:bodyPr xmlns:a="http://schemas.openxmlformats.org/drawingml/2006/main" lIns="171450" tIns="142875" rIns="171450" bIns="142875" anchor="ctr">
            <a:noAutofit/>
          </a:bodyPr>
          <a:lstStyle xmlns:a="http://schemas.openxmlformats.org/drawingml/2006/main"/>
          <a:p xmlns:a="http://schemas.openxmlformats.org/drawingml/2006/main">
            <a:pPr algn="ctr">
              <a:defRPr sz="2025" b="0">
                <a:solidFill>
                  <a:srgbClr val="12374B"/>
                </a:solidFill>
                <a:latin typeface="Arial"/>
                <a:ea typeface="Arial"/>
                <a:cs typeface="Arial"/>
              </a:defRPr>
            </a:pPr>
            <a:r>
              <a:rPr sz="2025" b="0">
                <a:solidFill>
                  <a:srgbClr val="12374B"/>
                </a:solidFill>
                <a:latin typeface="Arial"/>
                <a:ea typeface="Arial"/>
                <a:cs typeface="Arial"/>
              </a:rPr>
              <a:t>MongoDB</a:t>
            </a:r>
          </a:p>
          <a:p xmlns:a="http://schemas.openxmlformats.org/drawingml/2006/main">
            <a:r>
              <a:t/>
            </a:r>
          </a:p>
          <a:p xmlns:a="http://schemas.openxmlformats.org/drawingml/2006/main">
            <a:pPr algn="ctr">
              <a:defRPr sz="2025" b="0">
                <a:solidFill>
                  <a:srgbClr val="12374B"/>
                </a:solidFill>
                <a:latin typeface="Arial"/>
                <a:ea typeface="Arial"/>
                <a:cs typeface="Arial"/>
              </a:defRPr>
            </a:pPr>
            <a:r>
              <a:rPr sz="2025" b="0">
                <a:solidFill>
                  <a:srgbClr val="12374B"/>
                </a:solidFill>
                <a:latin typeface="Arial"/>
                <a:ea typeface="Arial"/>
                <a:cs typeface="Arial"/>
              </a:rPr>
              <a:t>Operational records</a:t>
            </a:r>
          </a:p>
          <a:p xmlns:a="http://schemas.openxmlformats.org/drawingml/2006/main">
            <a:pPr algn="ctr">
              <a:defRPr sz="2025" b="0">
                <a:solidFill>
                  <a:srgbClr val="12374B"/>
                </a:solidFill>
                <a:latin typeface="Arial"/>
                <a:ea typeface="Arial"/>
                <a:cs typeface="Arial"/>
              </a:defRPr>
            </a:pPr>
            <a:r>
              <a:rPr sz="2025" b="0">
                <a:solidFill>
                  <a:srgbClr val="12374B"/>
                </a:solidFill>
                <a:latin typeface="Arial"/>
                <a:ea typeface="Arial"/>
                <a:cs typeface="Arial"/>
              </a:rPr>
              <a:t>Assets and networks</a:t>
            </a:r>
          </a:p>
          <a:p xmlns:a="http://schemas.openxmlformats.org/drawingml/2006/main">
            <a:pPr algn="ctr">
              <a:defRPr sz="2025" b="0">
                <a:solidFill>
                  <a:srgbClr val="12374B"/>
                </a:solidFill>
                <a:latin typeface="Arial"/>
                <a:ea typeface="Arial"/>
                <a:cs typeface="Arial"/>
              </a:defRPr>
            </a:pPr>
            <a:r>
              <a:rPr sz="2025" b="0">
                <a:solidFill>
                  <a:srgbClr val="12374B"/>
                </a:solidFill>
                <a:latin typeface="Arial"/>
                <a:ea typeface="Arial"/>
                <a:cs typeface="Arial"/>
              </a:rPr>
              <a:t>Costs and plans</a:t>
            </a:r>
          </a:p>
        </p:txBody>
      </p:sp>
      <p:sp>
        <p:nvSpPr>
          <p:cNvPr id="16" name="Links show request/response and data exchange">
            <a:extLst xmlns:a="http://schemas.openxmlformats.org/drawingml/2006/main">
              <a:ext uri="{FF2B5EF4-FFF2-40B4-BE49-F238E27FC236}">
                <a16:creationId xmlns:a16="http://schemas.microsoft.com/office/drawing/2014/main" id="{D05EE3FD-A760-427D-8353-352AF1ECE20D}"/>
              </a:ext>
            </a:extLst>
          </p:cNvPr>
          <p:cNvSpPr>
            <a:spLocks xmlns:a="http://schemas.openxmlformats.org/drawingml/2006/main" noGrp="1"/>
          </p:cNvSpPr>
          <p:nvPr/>
        </p:nvSpPr>
        <p:spPr>
          <a:xfrm xmlns:a="http://schemas.openxmlformats.org/drawingml/2006/main">
            <a:off x="4524375" y="6457950"/>
            <a:ext cx="904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547080"/>
                </a:solidFill>
                <a:latin typeface="Arial"/>
                <a:ea typeface="Arial"/>
                <a:cs typeface="Arial"/>
              </a:defRPr>
            </a:pPr>
            <a:r>
              <a:rPr sz="1950" b="0">
                <a:solidFill>
                  <a:srgbClr val="547080"/>
                </a:solidFill>
                <a:latin typeface="Arial"/>
                <a:ea typeface="Arial"/>
                <a:cs typeface="Arial"/>
              </a:rPr>
              <a:t>Links show request/response and data exchange</a:t>
            </a:r>
          </a:p>
        </p:txBody>
      </p:sp>
      <p:sp>
        <p:nvSpPr>
          <p:cNvPr id="17" name="Before deployment: reconcile the authoritative database and enfor">
            <a:extLst xmlns:a="http://schemas.openxmlformats.org/drawingml/2006/main">
              <a:ext uri="{FF2B5EF4-FFF2-40B4-BE49-F238E27FC236}">
                <a16:creationId xmlns:a16="http://schemas.microsoft.com/office/drawing/2014/main" id="{B2FFC657-40E8-4E49-BB60-92EB1AB8C5BD}"/>
              </a:ext>
            </a:extLst>
          </p:cNvPr>
          <p:cNvSpPr>
            <a:spLocks xmlns:a="http://schemas.openxmlformats.org/drawingml/2006/main" noGrp="1"/>
          </p:cNvSpPr>
          <p:nvPr/>
        </p:nvSpPr>
        <p:spPr>
          <a:xfrm xmlns:a="http://schemas.openxmlformats.org/drawingml/2006/main">
            <a:off x="609600" y="7362825"/>
            <a:ext cx="14020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07E92"/>
                </a:solidFill>
                <a:latin typeface="Arial"/>
                <a:ea typeface="Arial"/>
                <a:cs typeface="Arial"/>
              </a:defRPr>
            </a:pPr>
            <a:r>
              <a:rPr sz="1875" b="1">
                <a:solidFill>
                  <a:srgbClr val="007E92"/>
                </a:solidFill>
                <a:latin typeface="Arial"/>
                <a:ea typeface="Arial"/>
                <a:cs typeface="Arial"/>
              </a:rPr>
              <a:t>Before deployment: reconcile the authoritative database and enforce Desktop API identity and permissions.</a:t>
            </a:r>
          </a:p>
        </p:txBody>
      </p:sp>
    </p:spTree>
    <p:extLst>
      <p:ext uri="{BB962C8B-B14F-4D97-AF65-F5344CB8AC3E}">
        <p14:creationId xmlns:p14="http://schemas.microsoft.com/office/powerpoint/2010/main" val="89684924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9" name=""/>
          <p:cNvCxnSpPr>
            <a:stCxn xmlns:a="http://schemas.openxmlformats.org/drawingml/2006/main" id="6" idx="3"/>
            <a:endCxn xmlns:a="http://schemas.openxmlformats.org/drawingml/2006/main" id="7" idx="1"/>
          </p:cNvCxnSpPr>
          <p:nvPr/>
        </p:nvCxnSpPr>
        <p:spPr>
          <a:xfrm xmlns:a="http://schemas.openxmlformats.org/drawingml/2006/main">
            <a:off x="9334500" y="2762250"/>
            <a:ext cx="1381125" cy="0"/>
          </a:xfrm>
          <a:prstGeom xmlns:a="http://schemas.openxmlformats.org/drawingml/2006/main" prst="straightConnector1">
            <a:avLst/>
          </a:prstGeom>
          <a:ln xmlns:a="http://schemas.openxmlformats.org/drawingml/2006/main" w="28575">
            <a:solidFill>
              <a:srgbClr val="007E92"/>
            </a:solidFill>
            <a:prstDash val="dash"/>
            <a:headEnd type="triangle" w="med" len="med"/>
            <a:tailEnd type="triangle" w="med" len="med"/>
          </a:ln>
        </p:spPr>
      </p:cxnSp>
      <p:cxnSp>
        <p:nvCxnSpPr>
          <p:cNvPr id="20" name=""/>
          <p:cNvCxnSpPr>
            <a:stCxn xmlns:a="http://schemas.openxmlformats.org/drawingml/2006/main" id="11" idx="2"/>
            <a:endCxn xmlns:a="http://schemas.openxmlformats.org/drawingml/2006/main" id="12" idx="0"/>
          </p:cNvCxnSpPr>
          <p:nvPr/>
        </p:nvCxnSpPr>
        <p:spPr>
          <a:xfrm xmlns:a="http://schemas.openxmlformats.org/drawingml/2006/main">
            <a:off x="12525375" y="5810250"/>
            <a:ext cx="0" cy="409575"/>
          </a:xfrm>
          <a:prstGeom xmlns:a="http://schemas.openxmlformats.org/drawingml/2006/main" prst="straightConnector1">
            <a:avLst/>
          </a:prstGeom>
          <a:ln xmlns:a="http://schemas.openxmlformats.org/drawingml/2006/main" w="28575">
            <a:solidFill>
              <a:srgbClr val="007E92"/>
            </a:solidFill>
            <a:prstDash val="dash"/>
            <a:headEnd type="triangle" w="med" len="med"/>
            <a:tailEnd type="triangle" w="med" len="med"/>
          </a:ln>
        </p:spPr>
      </p:cxnSp>
      <p:cxnSp>
        <p:nvCxnSpPr>
          <p:cNvPr id="21" name=""/>
          <p:cNvCxnSpPr>
            <a:stCxn xmlns:a="http://schemas.openxmlformats.org/drawingml/2006/main" id="10" idx="3"/>
            <a:endCxn xmlns:a="http://schemas.openxmlformats.org/drawingml/2006/main" id="11" idx="1"/>
          </p:cNvCxnSpPr>
          <p:nvPr/>
        </p:nvCxnSpPr>
        <p:spPr>
          <a:xfrm xmlns:a="http://schemas.openxmlformats.org/drawingml/2006/main" flipV="1">
            <a:off x="9334500" y="5286375"/>
            <a:ext cx="1381125" cy="357188"/>
          </a:xfrm>
          <a:prstGeom xmlns:a="http://schemas.openxmlformats.org/drawingml/2006/main" prst="bentConnector3">
            <a:avLst>
              <a:gd name="adj1" fmla="val 50000"/>
            </a:avLst>
          </a:prstGeom>
          <a:ln xmlns:a="http://schemas.openxmlformats.org/drawingml/2006/main" w="28575">
            <a:solidFill>
              <a:srgbClr val="007E92"/>
            </a:solidFill>
            <a:prstDash val="solid"/>
            <a:headEnd type="triangle" w="med" len="med"/>
            <a:tailEnd type="triangle" w="med" len="med"/>
          </a:ln>
        </p:spPr>
      </p:cxnSp>
      <p:cxnSp>
        <p:nvCxnSpPr>
          <p:cNvPr id="22" name=""/>
          <p:cNvCxnSpPr>
            <a:stCxn xmlns:a="http://schemas.openxmlformats.org/drawingml/2006/main" id="6" idx="2"/>
            <a:endCxn xmlns:a="http://schemas.openxmlformats.org/drawingml/2006/main" id="10" idx="0"/>
          </p:cNvCxnSpPr>
          <p:nvPr/>
        </p:nvCxnSpPr>
        <p:spPr>
          <a:xfrm xmlns:a="http://schemas.openxmlformats.org/drawingml/2006/main">
            <a:off x="6858000" y="3429000"/>
            <a:ext cx="0" cy="1428750"/>
          </a:xfrm>
          <a:prstGeom xmlns:a="http://schemas.openxmlformats.org/drawingml/2006/main" prst="straightConnector1">
            <a:avLst/>
          </a:prstGeom>
          <a:ln xmlns:a="http://schemas.openxmlformats.org/drawingml/2006/main" w="28575">
            <a:solidFill>
              <a:srgbClr val="007E92"/>
            </a:solidFill>
            <a:prstDash val="solid"/>
            <a:headEnd type="triangle" w="med" len="med"/>
            <a:tailEnd type="triangle" w="med" len="med"/>
          </a:ln>
        </p:spPr>
      </p:cxnSp>
      <p:cxnSp>
        <p:nvCxnSpPr>
          <p:cNvPr id="23" name=""/>
          <p:cNvCxnSpPr>
            <a:stCxn xmlns:a="http://schemas.openxmlformats.org/drawingml/2006/main" id="5" idx="3"/>
            <a:endCxn xmlns:a="http://schemas.openxmlformats.org/drawingml/2006/main" id="6" idx="1"/>
          </p:cNvCxnSpPr>
          <p:nvPr/>
        </p:nvCxnSpPr>
        <p:spPr>
          <a:xfrm xmlns:a="http://schemas.openxmlformats.org/drawingml/2006/main" flipV="1">
            <a:off x="3333750" y="2762250"/>
            <a:ext cx="1047750" cy="23813"/>
          </a:xfrm>
          <a:prstGeom xmlns:a="http://schemas.openxmlformats.org/drawingml/2006/main" prst="bentConnector3">
            <a:avLst>
              <a:gd name="adj1" fmla="val 50000"/>
            </a:avLst>
          </a:prstGeom>
          <a:ln xmlns:a="http://schemas.openxmlformats.org/drawingml/2006/main" w="28575">
            <a:solidFill>
              <a:srgbClr val="007E92"/>
            </a:solidFill>
            <a:prstDash val="solid"/>
            <a:headEnd type="triangle" w="med" len="med"/>
            <a:tailEnd type="triangle" w="med" len="med"/>
          </a:ln>
        </p:spPr>
      </p:cxnSp>
      <p:sp>
        <p:nvSpPr>
          <p:cNvPr id="24" name="Proposed deployment and trust boundaries">
            <a:extLst xmlns:a="http://schemas.openxmlformats.org/drawingml/2006/main">
              <a:ext uri="{FF2B5EF4-FFF2-40B4-BE49-F238E27FC236}">
                <a16:creationId xmlns:a16="http://schemas.microsoft.com/office/drawing/2014/main" id="{764F0EE5-A270-40BB-87BE-6F22BAADC324}"/>
              </a:ext>
            </a:extLst>
          </p:cNvPr>
          <p:cNvSpPr>
            <a:spLocks xmlns:a="http://schemas.openxmlformats.org/drawingml/2006/main" noGrp="1"/>
          </p:cNvSpPr>
          <p:nvPr/>
        </p:nvSpPr>
        <p:spPr>
          <a:xfrm xmlns:a="http://schemas.openxmlformats.org/drawingml/2006/main">
            <a:off x="609600" y="428625"/>
            <a:ext cx="14020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374B"/>
                </a:solidFill>
                <a:latin typeface="Arial"/>
                <a:ea typeface="Arial"/>
                <a:cs typeface="Arial"/>
              </a:defRPr>
            </a:pPr>
            <a:r>
              <a:rPr sz="3300" b="1">
                <a:solidFill>
                  <a:srgbClr val="12374B"/>
                </a:solidFill>
                <a:latin typeface="Arial"/>
                <a:ea typeface="Arial"/>
                <a:cs typeface="Arial"/>
              </a:rPr>
              <a:t>Proposed deployment and trust boundaries</a:t>
            </a:r>
          </a:p>
        </p:txBody>
      </p:sp>
      <p:sp>
        <p:nvSpPr>
          <p:cNvPr id="2" name="Design for agreement with client IT. This diagram does not repres">
            <a:extLst xmlns:a="http://schemas.openxmlformats.org/drawingml/2006/main">
              <a:ext uri="{FF2B5EF4-FFF2-40B4-BE49-F238E27FC236}">
                <a16:creationId xmlns:a16="http://schemas.microsoft.com/office/drawing/2014/main" id="{A6E74D27-25AC-419E-8A27-D8410298B144}"/>
              </a:ext>
            </a:extLst>
          </p:cNvPr>
          <p:cNvSpPr>
            <a:spLocks xmlns:a="http://schemas.openxmlformats.org/drawingml/2006/main" noGrp="1"/>
          </p:cNvSpPr>
          <p:nvPr/>
        </p:nvSpPr>
        <p:spPr>
          <a:xfrm xmlns:a="http://schemas.openxmlformats.org/drawingml/2006/main">
            <a:off x="609600" y="1304925"/>
            <a:ext cx="1395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547080"/>
                </a:solidFill>
                <a:latin typeface="Arial"/>
                <a:ea typeface="Arial"/>
                <a:cs typeface="Arial"/>
              </a:defRPr>
            </a:pPr>
            <a:r>
              <a:rPr sz="1875" b="0">
                <a:solidFill>
                  <a:srgbClr val="547080"/>
                </a:solidFill>
                <a:latin typeface="Arial"/>
                <a:ea typeface="Arial"/>
                <a:cs typeface="Arial"/>
              </a:rPr>
              <a:t>Design for agreement with client IT. This diagram does not represent a verified production deployment.</a:t>
            </a:r>
          </a:p>
        </p:txBody>
      </p:sp>
      <p:sp>
        <p:nvSpPr>
          <p:cNvPr id="3" name="WIDispatch   /   IT briefing   /   29 September 2026">
            <a:extLst xmlns:a="http://schemas.openxmlformats.org/drawingml/2006/main">
              <a:ext uri="{FF2B5EF4-FFF2-40B4-BE49-F238E27FC236}">
                <a16:creationId xmlns:a16="http://schemas.microsoft.com/office/drawing/2014/main" id="{AD04C462-DDB3-4785-AEFB-C79C5BF7A3E9}"/>
              </a:ext>
            </a:extLst>
          </p:cNvPr>
          <p:cNvSpPr>
            <a:spLocks xmlns:a="http://schemas.openxmlformats.org/drawingml/2006/main" noGrp="1"/>
          </p:cNvSpPr>
          <p:nvPr/>
        </p:nvSpPr>
        <p:spPr>
          <a:xfrm xmlns:a="http://schemas.openxmlformats.org/drawingml/2006/main">
            <a:off x="609600" y="8172450"/>
            <a:ext cx="1162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547080"/>
                </a:solidFill>
                <a:latin typeface="Arial"/>
                <a:ea typeface="Arial"/>
                <a:cs typeface="Arial"/>
              </a:defRPr>
            </a:pPr>
            <a:r>
              <a:rPr sz="1275" b="0">
                <a:solidFill>
                  <a:srgbClr val="547080"/>
                </a:solidFill>
                <a:latin typeface="Arial"/>
                <a:ea typeface="Arial"/>
                <a:cs typeface="Arial"/>
              </a:rPr>
              <a:t>WIDispatch   /   IT briefing   /   29 September 2026</a:t>
            </a:r>
          </a:p>
        </p:txBody>
      </p:sp>
      <p:sp>
        <p:nvSpPr>
          <p:cNvPr id="4" name="03">
            <a:extLst xmlns:a="http://schemas.openxmlformats.org/drawingml/2006/main">
              <a:ext uri="{FF2B5EF4-FFF2-40B4-BE49-F238E27FC236}">
                <a16:creationId xmlns:a16="http://schemas.microsoft.com/office/drawing/2014/main" id="{3C1899E8-6368-4705-968E-0953DFF7C05C}"/>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547080"/>
                </a:solidFill>
                <a:latin typeface="Arial"/>
                <a:ea typeface="Arial"/>
                <a:cs typeface="Arial"/>
              </a:defRPr>
            </a:pPr>
            <a:r>
              <a:rPr sz="1650" b="0">
                <a:solidFill>
                  <a:srgbClr val="547080"/>
                </a:solidFill>
                <a:latin typeface="Arial"/>
                <a:ea typeface="Arial"/>
                <a:cs typeface="Arial"/>
              </a:rPr>
              <a:t>03</a:t>
            </a:r>
          </a:p>
        </p:txBody>
      </p:sp>
      <p:sp>
        <p:nvSpPr>
          <p:cNvPr id="5" name="Client browsers">
            <a:extLst xmlns:a="http://schemas.openxmlformats.org/drawingml/2006/main">
              <a:ext uri="{FF2B5EF4-FFF2-40B4-BE49-F238E27FC236}">
                <a16:creationId xmlns:a16="http://schemas.microsoft.com/office/drawing/2014/main" id="{3FD379BC-6E82-48C3-8EBF-2E0FBFD42F39}"/>
              </a:ext>
            </a:extLst>
          </p:cNvPr>
          <p:cNvSpPr>
            <a:spLocks xmlns:a="http://schemas.openxmlformats.org/drawingml/2006/main" noGrp="1"/>
          </p:cNvSpPr>
          <p:nvPr/>
        </p:nvSpPr>
        <p:spPr>
          <a:xfrm xmlns:a="http://schemas.openxmlformats.org/drawingml/2006/main">
            <a:off x="619125" y="2238375"/>
            <a:ext cx="2714625" cy="1095375"/>
          </a:xfrm>
          <a:prstGeom xmlns:a="http://schemas.openxmlformats.org/drawingml/2006/main" prst="rect">
            <a:avLst/>
          </a:prstGeom>
          <a:solidFill xmlns:a="http://schemas.openxmlformats.org/drawingml/2006/main">
            <a:srgbClr val="F1F6F8"/>
          </a:solidFill>
          <a:ln xmlns:a="http://schemas.openxmlformats.org/drawingml/2006/main" w="19050">
            <a:solidFill>
              <a:srgbClr val="007E92"/>
            </a:solidFill>
            <a:prstDash val="solid"/>
          </a:ln>
        </p:spPr>
        <p:txBody>
          <a:bodyPr xmlns:a="http://schemas.openxmlformats.org/drawingml/2006/main" lIns="171450" tIns="142875" rIns="171450" bIns="142875" anchor="ctr">
            <a:noAutofit/>
          </a:bodyPr>
          <a:lstStyle xmlns:a="http://schemas.openxmlformats.org/drawingml/2006/main"/>
          <a:p xmlns:a="http://schemas.openxmlformats.org/drawingml/2006/main">
            <a:pPr algn="ctr">
              <a:defRPr sz="2175" b="0">
                <a:solidFill>
                  <a:srgbClr val="12374B"/>
                </a:solidFill>
                <a:latin typeface="Arial"/>
                <a:ea typeface="Arial"/>
                <a:cs typeface="Arial"/>
              </a:defRPr>
            </a:pPr>
            <a:r>
              <a:rPr sz="2175" b="0">
                <a:solidFill>
                  <a:srgbClr val="12374B"/>
                </a:solidFill>
                <a:latin typeface="Arial"/>
                <a:ea typeface="Arial"/>
                <a:cs typeface="Arial"/>
              </a:rPr>
              <a:t>Client browsers</a:t>
            </a:r>
          </a:p>
        </p:txBody>
      </p:sp>
      <p:sp>
        <p:nvSpPr>
          <p:cNvPr id="6" name="Approved HTTPS entry point DNS, certificate and reverse prox">
            <a:extLst xmlns:a="http://schemas.openxmlformats.org/drawingml/2006/main">
              <a:ext uri="{FF2B5EF4-FFF2-40B4-BE49-F238E27FC236}">
                <a16:creationId xmlns:a16="http://schemas.microsoft.com/office/drawing/2014/main" id="{5AF1898D-0A30-444A-8618-B867D4076729}"/>
              </a:ext>
            </a:extLst>
          </p:cNvPr>
          <p:cNvSpPr>
            <a:spLocks xmlns:a="http://schemas.openxmlformats.org/drawingml/2006/main" noGrp="1"/>
          </p:cNvSpPr>
          <p:nvPr/>
        </p:nvSpPr>
        <p:spPr>
          <a:xfrm xmlns:a="http://schemas.openxmlformats.org/drawingml/2006/main">
            <a:off x="4381500" y="2095500"/>
            <a:ext cx="4953000" cy="1333500"/>
          </a:xfrm>
          <a:prstGeom xmlns:a="http://schemas.openxmlformats.org/drawingml/2006/main" prst="rect">
            <a:avLst/>
          </a:prstGeom>
          <a:solidFill xmlns:a="http://schemas.openxmlformats.org/drawingml/2006/main">
            <a:srgbClr val="F1F6F8"/>
          </a:solidFill>
          <a:ln xmlns:a="http://schemas.openxmlformats.org/drawingml/2006/main" w="19050">
            <a:solidFill>
              <a:srgbClr val="007E92"/>
            </a:solidFill>
            <a:prstDash val="solid"/>
          </a:ln>
        </p:spPr>
        <p:txBody>
          <a:bodyPr xmlns:a="http://schemas.openxmlformats.org/drawingml/2006/main" lIns="171450" tIns="142875" rIns="171450" bIns="142875" anchor="ctr">
            <a:noAutofit/>
          </a:bodyPr>
          <a:lstStyle xmlns:a="http://schemas.openxmlformats.org/drawingml/2006/main"/>
          <a:p xmlns:a="http://schemas.openxmlformats.org/drawingml/2006/main">
            <a:pPr algn="ctr">
              <a:defRPr sz="2025" b="0">
                <a:solidFill>
                  <a:srgbClr val="12374B"/>
                </a:solidFill>
                <a:latin typeface="Arial"/>
                <a:ea typeface="Arial"/>
                <a:cs typeface="Arial"/>
              </a:defRPr>
            </a:pPr>
            <a:r>
              <a:rPr sz="2025" b="0">
                <a:solidFill>
                  <a:srgbClr val="12374B"/>
                </a:solidFill>
                <a:latin typeface="Arial"/>
                <a:ea typeface="Arial"/>
                <a:cs typeface="Arial"/>
              </a:rPr>
              <a:t>Approved HTTPS entry point</a:t>
            </a:r>
          </a:p>
          <a:p xmlns:a="http://schemas.openxmlformats.org/drawingml/2006/main">
            <a:pPr algn="ctr">
              <a:defRPr sz="2025" b="0">
                <a:solidFill>
                  <a:srgbClr val="12374B"/>
                </a:solidFill>
                <a:latin typeface="Arial"/>
                <a:ea typeface="Arial"/>
                <a:cs typeface="Arial"/>
              </a:defRPr>
            </a:pPr>
            <a:r>
              <a:rPr sz="2025" b="0">
                <a:solidFill>
                  <a:srgbClr val="12374B"/>
                </a:solidFill>
                <a:latin typeface="Arial"/>
                <a:ea typeface="Arial"/>
                <a:cs typeface="Arial"/>
              </a:rPr>
              <a:t>DNS, certificate and reverse proxy</a:t>
            </a:r>
          </a:p>
        </p:txBody>
      </p:sp>
      <p:sp>
        <p:nvSpPr>
          <p:cNvPr id="7" name="Corporate identity provider SSO integration required">
            <a:extLst xmlns:a="http://schemas.openxmlformats.org/drawingml/2006/main">
              <a:ext uri="{FF2B5EF4-FFF2-40B4-BE49-F238E27FC236}">
                <a16:creationId xmlns:a16="http://schemas.microsoft.com/office/drawing/2014/main" id="{49AC6371-D379-48CC-AC18-E2E7B5855E3F}"/>
              </a:ext>
            </a:extLst>
          </p:cNvPr>
          <p:cNvSpPr>
            <a:spLocks xmlns:a="http://schemas.openxmlformats.org/drawingml/2006/main" noGrp="1"/>
          </p:cNvSpPr>
          <p:nvPr/>
        </p:nvSpPr>
        <p:spPr>
          <a:xfrm xmlns:a="http://schemas.openxmlformats.org/drawingml/2006/main">
            <a:off x="10715625" y="2095500"/>
            <a:ext cx="3857625" cy="1333500"/>
          </a:xfrm>
          <a:prstGeom xmlns:a="http://schemas.openxmlformats.org/drawingml/2006/main" prst="rect">
            <a:avLst/>
          </a:prstGeom>
          <a:solidFill xmlns:a="http://schemas.openxmlformats.org/drawingml/2006/main">
            <a:srgbClr val="F1F6F8"/>
          </a:solidFill>
          <a:ln xmlns:a="http://schemas.openxmlformats.org/drawingml/2006/main" w="19050">
            <a:solidFill>
              <a:srgbClr val="007E92"/>
            </a:solidFill>
            <a:prstDash val="dash"/>
          </a:ln>
        </p:spPr>
        <p:txBody>
          <a:bodyPr xmlns:a="http://schemas.openxmlformats.org/drawingml/2006/main" lIns="171450" tIns="142875" rIns="171450" bIns="142875" anchor="ctr">
            <a:noAutofit/>
          </a:bodyPr>
          <a:lstStyle xmlns:a="http://schemas.openxmlformats.org/drawingml/2006/main"/>
          <a:p xmlns:a="http://schemas.openxmlformats.org/drawingml/2006/main">
            <a:pPr algn="ctr">
              <a:defRPr sz="1950" b="0">
                <a:solidFill>
                  <a:srgbClr val="12374B"/>
                </a:solidFill>
                <a:latin typeface="Arial"/>
                <a:ea typeface="Arial"/>
                <a:cs typeface="Arial"/>
              </a:defRPr>
            </a:pPr>
            <a:r>
              <a:rPr sz="1950" b="0">
                <a:solidFill>
                  <a:srgbClr val="12374B"/>
                </a:solidFill>
                <a:latin typeface="Arial"/>
                <a:ea typeface="Arial"/>
                <a:cs typeface="Arial"/>
              </a:rPr>
              <a:t>Corporate identity provider</a:t>
            </a:r>
          </a:p>
          <a:p xmlns:a="http://schemas.openxmlformats.org/drawingml/2006/main">
            <a:pPr algn="ctr">
              <a:defRPr sz="1950" b="0">
                <a:solidFill>
                  <a:srgbClr val="12374B"/>
                </a:solidFill>
                <a:latin typeface="Arial"/>
                <a:ea typeface="Arial"/>
                <a:cs typeface="Arial"/>
              </a:defRPr>
            </a:pPr>
            <a:r>
              <a:rPr sz="1950" b="0">
                <a:solidFill>
                  <a:srgbClr val="12374B"/>
                </a:solidFill>
                <a:latin typeface="Arial"/>
                <a:ea typeface="Arial"/>
                <a:cs typeface="Arial"/>
              </a:rPr>
              <a:t>SSO integration required</a:t>
            </a:r>
          </a:p>
        </p:txBody>
      </p:sp>
      <p:sp>
        <p:nvSpPr>
          <p:cNvPr id="8" name="Proposed private service boundary">
            <a:extLst xmlns:a="http://schemas.openxmlformats.org/drawingml/2006/main">
              <a:ext uri="{FF2B5EF4-FFF2-40B4-BE49-F238E27FC236}">
                <a16:creationId xmlns:a16="http://schemas.microsoft.com/office/drawing/2014/main" id="{B03C1A47-0F2E-460C-B0A7-BF3898E84A79}"/>
              </a:ext>
            </a:extLst>
          </p:cNvPr>
          <p:cNvSpPr>
            <a:spLocks xmlns:a="http://schemas.openxmlformats.org/drawingml/2006/main" noGrp="1"/>
          </p:cNvSpPr>
          <p:nvPr/>
        </p:nvSpPr>
        <p:spPr>
          <a:xfrm xmlns:a="http://schemas.openxmlformats.org/drawingml/2006/main">
            <a:off x="619125" y="3952875"/>
            <a:ext cx="14001750" cy="3048000"/>
          </a:xfrm>
          <a:prstGeom xmlns:a="http://schemas.openxmlformats.org/drawingml/2006/main" prst="rect">
            <a:avLst/>
          </a:prstGeom>
          <a:noFill xmlns:a="http://schemas.openxmlformats.org/drawingml/2006/main"/>
          <a:ln xmlns:a="http://schemas.openxmlformats.org/drawingml/2006/main" w="19050">
            <a:solidFill>
              <a:srgbClr val="547080"/>
            </a:solidFill>
            <a:prstDash val="dash"/>
          </a:ln>
        </p:spPr>
      </p:sp>
      <p:sp>
        <p:nvSpPr>
          <p:cNvPr id="9" name="PRIVATE APPLICATION AND DATA ZONE">
            <a:extLst xmlns:a="http://schemas.openxmlformats.org/drawingml/2006/main">
              <a:ext uri="{FF2B5EF4-FFF2-40B4-BE49-F238E27FC236}">
                <a16:creationId xmlns:a16="http://schemas.microsoft.com/office/drawing/2014/main" id="{B1BC87A7-1C5E-4A1A-8E26-E642C177FF20}"/>
              </a:ext>
            </a:extLst>
          </p:cNvPr>
          <p:cNvSpPr>
            <a:spLocks xmlns:a="http://schemas.openxmlformats.org/drawingml/2006/main" noGrp="1"/>
          </p:cNvSpPr>
          <p:nvPr/>
        </p:nvSpPr>
        <p:spPr>
          <a:xfrm xmlns:a="http://schemas.openxmlformats.org/drawingml/2006/main">
            <a:off x="904875" y="4095750"/>
            <a:ext cx="11430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1">
                <a:solidFill>
                  <a:srgbClr val="547080"/>
                </a:solidFill>
                <a:latin typeface="Arial"/>
                <a:ea typeface="Arial"/>
                <a:cs typeface="Arial"/>
              </a:defRPr>
            </a:pPr>
            <a:r>
              <a:rPr sz="1650" b="1">
                <a:solidFill>
                  <a:srgbClr val="547080"/>
                </a:solidFill>
                <a:latin typeface="Arial"/>
                <a:ea typeface="Arial"/>
                <a:cs typeface="Arial"/>
              </a:rPr>
              <a:t>PRIVATE APPLICATION AND DATA ZONE</a:t>
            </a:r>
          </a:p>
        </p:txBody>
      </p:sp>
      <p:sp>
        <p:nvSpPr>
          <p:cNvPr id="10" name="Four portal services Desktop frontend and Express API">
            <a:extLst xmlns:a="http://schemas.openxmlformats.org/drawingml/2006/main">
              <a:ext uri="{FF2B5EF4-FFF2-40B4-BE49-F238E27FC236}">
                <a16:creationId xmlns:a16="http://schemas.microsoft.com/office/drawing/2014/main" id="{CD143880-7B17-49D9-B965-B4BFBAB880E7}"/>
              </a:ext>
            </a:extLst>
          </p:cNvPr>
          <p:cNvSpPr>
            <a:spLocks xmlns:a="http://schemas.openxmlformats.org/drawingml/2006/main" noGrp="1"/>
          </p:cNvSpPr>
          <p:nvPr/>
        </p:nvSpPr>
        <p:spPr>
          <a:xfrm xmlns:a="http://schemas.openxmlformats.org/drawingml/2006/main">
            <a:off x="4381500" y="4857750"/>
            <a:ext cx="4953000" cy="1571625"/>
          </a:xfrm>
          <a:prstGeom xmlns:a="http://schemas.openxmlformats.org/drawingml/2006/main" prst="rect">
            <a:avLst/>
          </a:prstGeom>
          <a:solidFill xmlns:a="http://schemas.openxmlformats.org/drawingml/2006/main">
            <a:srgbClr val="F1F6F8"/>
          </a:solidFill>
          <a:ln xmlns:a="http://schemas.openxmlformats.org/drawingml/2006/main" w="19050">
            <a:solidFill>
              <a:srgbClr val="007E92"/>
            </a:solidFill>
            <a:prstDash val="solid"/>
          </a:ln>
        </p:spPr>
        <p:txBody>
          <a:bodyPr xmlns:a="http://schemas.openxmlformats.org/drawingml/2006/main" lIns="171450" tIns="142875" rIns="171450" bIns="142875" anchor="ctr">
            <a:noAutofit/>
          </a:bodyPr>
          <a:lstStyle xmlns:a="http://schemas.openxmlformats.org/drawingml/2006/main"/>
          <a:p xmlns:a="http://schemas.openxmlformats.org/drawingml/2006/main">
            <a:pPr algn="ctr">
              <a:defRPr sz="2250" b="0">
                <a:solidFill>
                  <a:srgbClr val="12374B"/>
                </a:solidFill>
                <a:latin typeface="Arial"/>
                <a:ea typeface="Arial"/>
                <a:cs typeface="Arial"/>
              </a:defRPr>
            </a:pPr>
            <a:r>
              <a:rPr sz="2250" b="0">
                <a:solidFill>
                  <a:srgbClr val="12374B"/>
                </a:solidFill>
                <a:latin typeface="Arial"/>
                <a:ea typeface="Arial"/>
                <a:cs typeface="Arial"/>
              </a:rPr>
              <a:t>Four portal services</a:t>
            </a:r>
          </a:p>
          <a:p xmlns:a="http://schemas.openxmlformats.org/drawingml/2006/main">
            <a:pPr algn="ctr">
              <a:defRPr sz="2250" b="0">
                <a:solidFill>
                  <a:srgbClr val="12374B"/>
                </a:solidFill>
                <a:latin typeface="Arial"/>
                <a:ea typeface="Arial"/>
                <a:cs typeface="Arial"/>
              </a:defRPr>
            </a:pPr>
            <a:r>
              <a:rPr sz="2250" b="0">
                <a:solidFill>
                  <a:srgbClr val="12374B"/>
                </a:solidFill>
                <a:latin typeface="Arial"/>
                <a:ea typeface="Arial"/>
                <a:cs typeface="Arial"/>
              </a:rPr>
              <a:t>Desktop frontend and Express API</a:t>
            </a:r>
          </a:p>
        </p:txBody>
      </p:sp>
      <p:sp>
        <p:nvSpPr>
          <p:cNvPr id="11" name="Private MongoDB Environment-specific access">
            <a:extLst xmlns:a="http://schemas.openxmlformats.org/drawingml/2006/main">
              <a:ext uri="{FF2B5EF4-FFF2-40B4-BE49-F238E27FC236}">
                <a16:creationId xmlns:a16="http://schemas.microsoft.com/office/drawing/2014/main" id="{102F02DE-C623-49CA-AF7F-625B96A08650}"/>
              </a:ext>
            </a:extLst>
          </p:cNvPr>
          <p:cNvSpPr>
            <a:spLocks xmlns:a="http://schemas.openxmlformats.org/drawingml/2006/main" noGrp="1"/>
          </p:cNvSpPr>
          <p:nvPr/>
        </p:nvSpPr>
        <p:spPr>
          <a:xfrm xmlns:a="http://schemas.openxmlformats.org/drawingml/2006/main">
            <a:off x="10715625" y="4762500"/>
            <a:ext cx="3619500" cy="1047750"/>
          </a:xfrm>
          <a:prstGeom xmlns:a="http://schemas.openxmlformats.org/drawingml/2006/main" prst="rect">
            <a:avLst/>
          </a:prstGeom>
          <a:solidFill xmlns:a="http://schemas.openxmlformats.org/drawingml/2006/main">
            <a:srgbClr val="F1F6F8"/>
          </a:solidFill>
          <a:ln xmlns:a="http://schemas.openxmlformats.org/drawingml/2006/main" w="19050">
            <a:solidFill>
              <a:srgbClr val="007E92"/>
            </a:solidFill>
            <a:prstDash val="solid"/>
          </a:ln>
        </p:spPr>
        <p:txBody>
          <a:bodyPr xmlns:a="http://schemas.openxmlformats.org/drawingml/2006/main" lIns="171450" tIns="142875" rIns="171450" bIns="142875" anchor="ctr">
            <a:noAutofit/>
          </a:bodyPr>
          <a:lstStyle xmlns:a="http://schemas.openxmlformats.org/drawingml/2006/main"/>
          <a:p xmlns:a="http://schemas.openxmlformats.org/drawingml/2006/main">
            <a:pPr algn="ctr">
              <a:defRPr sz="1950" b="0">
                <a:solidFill>
                  <a:srgbClr val="12374B"/>
                </a:solidFill>
                <a:latin typeface="Arial"/>
                <a:ea typeface="Arial"/>
                <a:cs typeface="Arial"/>
              </a:defRPr>
            </a:pPr>
            <a:r>
              <a:rPr sz="1950" b="0">
                <a:solidFill>
                  <a:srgbClr val="12374B"/>
                </a:solidFill>
                <a:latin typeface="Arial"/>
                <a:ea typeface="Arial"/>
                <a:cs typeface="Arial"/>
              </a:rPr>
              <a:t>Private MongoDB</a:t>
            </a:r>
          </a:p>
          <a:p xmlns:a="http://schemas.openxmlformats.org/drawingml/2006/main">
            <a:pPr algn="ctr">
              <a:defRPr sz="1950" b="0">
                <a:solidFill>
                  <a:srgbClr val="12374B"/>
                </a:solidFill>
                <a:latin typeface="Arial"/>
                <a:ea typeface="Arial"/>
                <a:cs typeface="Arial"/>
              </a:defRPr>
            </a:pPr>
            <a:r>
              <a:rPr sz="1950" b="0">
                <a:solidFill>
                  <a:srgbClr val="12374B"/>
                </a:solidFill>
                <a:latin typeface="Arial"/>
                <a:ea typeface="Arial"/>
                <a:cs typeface="Arial"/>
              </a:rPr>
              <a:t>Environment-specific access</a:t>
            </a:r>
          </a:p>
        </p:txBody>
      </p:sp>
      <p:sp>
        <p:nvSpPr>
          <p:cNvPr id="12" name="Protected backups / monitoring">
            <a:extLst xmlns:a="http://schemas.openxmlformats.org/drawingml/2006/main">
              <a:ext uri="{FF2B5EF4-FFF2-40B4-BE49-F238E27FC236}">
                <a16:creationId xmlns:a16="http://schemas.microsoft.com/office/drawing/2014/main" id="{500DEB21-ECAA-4AA9-BAC1-CB3BF5C8565E}"/>
              </a:ext>
            </a:extLst>
          </p:cNvPr>
          <p:cNvSpPr>
            <a:spLocks xmlns:a="http://schemas.openxmlformats.org/drawingml/2006/main" noGrp="1"/>
          </p:cNvSpPr>
          <p:nvPr/>
        </p:nvSpPr>
        <p:spPr>
          <a:xfrm xmlns:a="http://schemas.openxmlformats.org/drawingml/2006/main">
            <a:off x="10715625" y="6219825"/>
            <a:ext cx="3619500" cy="552450"/>
          </a:xfrm>
          <a:prstGeom xmlns:a="http://schemas.openxmlformats.org/drawingml/2006/main" prst="rect">
            <a:avLst/>
          </a:prstGeom>
          <a:solidFill xmlns:a="http://schemas.openxmlformats.org/drawingml/2006/main">
            <a:srgbClr val="F1F6F8"/>
          </a:solidFill>
          <a:ln xmlns:a="http://schemas.openxmlformats.org/drawingml/2006/main" w="19050">
            <a:solidFill>
              <a:srgbClr val="007E92"/>
            </a:solidFill>
            <a:prstDash val="solid"/>
          </a:ln>
        </p:spPr>
        <p:txBody>
          <a:bodyPr xmlns:a="http://schemas.openxmlformats.org/drawingml/2006/main" lIns="171450" tIns="142875" rIns="171450" bIns="142875" anchor="ctr">
            <a:noAutofit/>
          </a:bodyPr>
          <a:lstStyle xmlns:a="http://schemas.openxmlformats.org/drawingml/2006/main"/>
          <a:p xmlns:a="http://schemas.openxmlformats.org/drawingml/2006/main">
            <a:pPr algn="ctr">
              <a:defRPr sz="1725" b="0">
                <a:solidFill>
                  <a:srgbClr val="12374B"/>
                </a:solidFill>
                <a:latin typeface="Arial"/>
                <a:ea typeface="Arial"/>
                <a:cs typeface="Arial"/>
              </a:defRPr>
            </a:pPr>
            <a:r>
              <a:rPr sz="1725" b="0">
                <a:solidFill>
                  <a:srgbClr val="12374B"/>
                </a:solidFill>
                <a:latin typeface="Arial"/>
                <a:ea typeface="Arial"/>
                <a:cs typeface="Arial"/>
              </a:rPr>
              <a:t>Protected backups / monitoring</a:t>
            </a:r>
          </a:p>
        </p:txBody>
      </p:sp>
      <p:sp>
        <p:nvSpPr>
          <p:cNvPr id="18" name="Agree hosting region, service ownership, recovery targets, networ">
            <a:extLst xmlns:a="http://schemas.openxmlformats.org/drawingml/2006/main">
              <a:ext uri="{FF2B5EF4-FFF2-40B4-BE49-F238E27FC236}">
                <a16:creationId xmlns:a16="http://schemas.microsoft.com/office/drawing/2014/main" id="{E9325F9A-A5E5-4C87-9081-5471A63C5293}"/>
              </a:ext>
            </a:extLst>
          </p:cNvPr>
          <p:cNvSpPr>
            <a:spLocks xmlns:a="http://schemas.openxmlformats.org/drawingml/2006/main" noGrp="1"/>
          </p:cNvSpPr>
          <p:nvPr/>
        </p:nvSpPr>
        <p:spPr>
          <a:xfrm xmlns:a="http://schemas.openxmlformats.org/drawingml/2006/main">
            <a:off x="609600" y="7362825"/>
            <a:ext cx="14020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07E92"/>
                </a:solidFill>
                <a:latin typeface="Arial"/>
                <a:ea typeface="Arial"/>
                <a:cs typeface="Arial"/>
              </a:defRPr>
            </a:pPr>
            <a:r>
              <a:rPr sz="1875" b="1">
                <a:solidFill>
                  <a:srgbClr val="007E92"/>
                </a:solidFill>
                <a:latin typeface="Arial"/>
                <a:ea typeface="Arial"/>
                <a:cs typeface="Arial"/>
              </a:rPr>
              <a:t>Agree hosting region, service ownership, recovery targets, network access and acceptance tests.</a:t>
            </a:r>
          </a:p>
        </p:txBody>
      </p:sp>
    </p:spTree>
    <p:extLst>
      <p:ext uri="{BB962C8B-B14F-4D97-AF65-F5344CB8AC3E}">
        <p14:creationId xmlns:p14="http://schemas.microsoft.com/office/powerpoint/2010/main" val="11665111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Portal role-and-permission matrix">
            <a:extLst xmlns:a="http://schemas.openxmlformats.org/drawingml/2006/main">
              <a:ext uri="{FF2B5EF4-FFF2-40B4-BE49-F238E27FC236}">
                <a16:creationId xmlns:a16="http://schemas.microsoft.com/office/drawing/2014/main" id="{C9F46E47-68BE-43CB-ABDC-B7960B18BCFD}"/>
              </a:ext>
            </a:extLst>
          </p:cNvPr>
          <p:cNvSpPr>
            <a:spLocks xmlns:a="http://schemas.openxmlformats.org/drawingml/2006/main" noGrp="1"/>
          </p:cNvSpPr>
          <p:nvPr/>
        </p:nvSpPr>
        <p:spPr>
          <a:xfrm xmlns:a="http://schemas.openxmlformats.org/drawingml/2006/main">
            <a:off x="609600" y="428625"/>
            <a:ext cx="14020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374B"/>
                </a:solidFill>
                <a:latin typeface="Arial"/>
                <a:ea typeface="Arial"/>
                <a:cs typeface="Arial"/>
              </a:defRPr>
            </a:pPr>
            <a:r>
              <a:rPr sz="3300" b="1">
                <a:solidFill>
                  <a:srgbClr val="12374B"/>
                </a:solidFill>
                <a:latin typeface="Arial"/>
                <a:ea typeface="Arial"/>
                <a:cs typeface="Arial"/>
              </a:rPr>
              <a:t>Portal role-and-permission matrix</a:t>
            </a:r>
          </a:p>
        </p:txBody>
      </p:sp>
      <p:sp>
        <p:nvSpPr>
          <p:cNvPr id="2" name="Helper permissions in the current source. Asset and endpoint exce">
            <a:extLst xmlns:a="http://schemas.openxmlformats.org/drawingml/2006/main">
              <a:ext uri="{FF2B5EF4-FFF2-40B4-BE49-F238E27FC236}">
                <a16:creationId xmlns:a16="http://schemas.microsoft.com/office/drawing/2014/main" id="{CD351FD0-764A-4A3B-AD85-5844A996407A}"/>
              </a:ext>
            </a:extLst>
          </p:cNvPr>
          <p:cNvSpPr>
            <a:spLocks xmlns:a="http://schemas.openxmlformats.org/drawingml/2006/main" noGrp="1"/>
          </p:cNvSpPr>
          <p:nvPr/>
        </p:nvSpPr>
        <p:spPr>
          <a:xfrm xmlns:a="http://schemas.openxmlformats.org/drawingml/2006/main">
            <a:off x="609600" y="1304925"/>
            <a:ext cx="1395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547080"/>
                </a:solidFill>
                <a:latin typeface="Arial"/>
                <a:ea typeface="Arial"/>
                <a:cs typeface="Arial"/>
              </a:defRPr>
            </a:pPr>
            <a:r>
              <a:rPr sz="1875" b="0">
                <a:solidFill>
                  <a:srgbClr val="547080"/>
                </a:solidFill>
                <a:latin typeface="Arial"/>
                <a:ea typeface="Arial"/>
                <a:cs typeface="Arial"/>
              </a:rPr>
              <a:t>Helper permissions in the current source. Asset and endpoint exceptions are detailed in the workbook.</a:t>
            </a:r>
          </a:p>
        </p:txBody>
      </p:sp>
      <p:sp>
        <p:nvSpPr>
          <p:cNvPr id="3" name="WIDispatch   /   IT briefing   /   29 September 2026">
            <a:extLst xmlns:a="http://schemas.openxmlformats.org/drawingml/2006/main">
              <a:ext uri="{FF2B5EF4-FFF2-40B4-BE49-F238E27FC236}">
                <a16:creationId xmlns:a16="http://schemas.microsoft.com/office/drawing/2014/main" id="{370140F1-CC39-419E-9DF1-DFFD8FF551C0}"/>
              </a:ext>
            </a:extLst>
          </p:cNvPr>
          <p:cNvSpPr>
            <a:spLocks xmlns:a="http://schemas.openxmlformats.org/drawingml/2006/main" noGrp="1"/>
          </p:cNvSpPr>
          <p:nvPr/>
        </p:nvSpPr>
        <p:spPr>
          <a:xfrm xmlns:a="http://schemas.openxmlformats.org/drawingml/2006/main">
            <a:off x="609600" y="8172450"/>
            <a:ext cx="1162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547080"/>
                </a:solidFill>
                <a:latin typeface="Arial"/>
                <a:ea typeface="Arial"/>
                <a:cs typeface="Arial"/>
              </a:defRPr>
            </a:pPr>
            <a:r>
              <a:rPr sz="1275" b="0">
                <a:solidFill>
                  <a:srgbClr val="547080"/>
                </a:solidFill>
                <a:latin typeface="Arial"/>
                <a:ea typeface="Arial"/>
                <a:cs typeface="Arial"/>
              </a:rPr>
              <a:t>WIDispatch   /   IT briefing   /   29 September 2026</a:t>
            </a:r>
          </a:p>
        </p:txBody>
      </p:sp>
      <p:sp>
        <p:nvSpPr>
          <p:cNvPr id="4" name="04">
            <a:extLst xmlns:a="http://schemas.openxmlformats.org/drawingml/2006/main">
              <a:ext uri="{FF2B5EF4-FFF2-40B4-BE49-F238E27FC236}">
                <a16:creationId xmlns:a16="http://schemas.microsoft.com/office/drawing/2014/main" id="{EF5AAF72-6329-4A2F-A016-1BE9EDE0DA6D}"/>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547080"/>
                </a:solidFill>
                <a:latin typeface="Arial"/>
                <a:ea typeface="Arial"/>
                <a:cs typeface="Arial"/>
              </a:defRPr>
            </a:pPr>
            <a:r>
              <a:rPr sz="1650" b="0">
                <a:solidFill>
                  <a:srgbClr val="547080"/>
                </a:solidFill>
                <a:latin typeface="Arial"/>
                <a:ea typeface="Arial"/>
                <a:cs typeface="Arial"/>
              </a:rPr>
              <a:t>04</a:t>
            </a:r>
          </a:p>
        </p:txBody>
      </p:sp>
      <p:graphicFrame>
        <p:nvGraphicFramePr>
          <p:cNvPr id="11" name=""/>
          <p:cNvGraphicFramePr/>
          <p:nvPr/>
        </p:nvGraphicFramePr>
        <p:xfrm>
          <a:off xmlns:a="http://schemas.openxmlformats.org/drawingml/2006/main" x="609600" y="2076450"/>
          <a:ext xmlns:a="http://schemas.openxmlformats.org/drawingml/2006/main" cx="14020800" cy="4819650"/>
        </p:xfrm>
        <a:graphic xmlns:a="http://schemas.openxmlformats.org/drawingml/2006/main">
          <a:graphicData uri="http://schemas.openxmlformats.org/drawingml/2006/table">
            <a:tbl>
              <a:tblPr/>
              <a:tblGrid>
                <a:gridCol w="2762250"/>
                <a:gridCol w="2762250"/>
                <a:gridCol w="2238375"/>
                <a:gridCol w="1666875"/>
                <a:gridCol w="2190750"/>
                <a:gridCol w="2400300"/>
              </a:tblGrid>
              <a:tr h="688521">
                <a:tc>
                  <a:txBody>
                    <a:bodyPr/>
                    <a:lstStyle/>
                    <a:p>
                      <a:r>
                        <a:rPr sz="1875" b="1">
                          <a:solidFill>
                            <a:srgbClr val="FFFFFF"/>
                          </a:solidFill>
                          <a:latin typeface="Arial"/>
                          <a:ea typeface="Arial"/>
                          <a:cs typeface="Arial"/>
                        </a:rPr>
                        <a:t>Role</a:t>
                      </a:r>
                    </a:p>
                  </a:txBody>
                  <a:tcPr marL="133350" marR="133350" marT="142875" marB="123825" anchor="ctr">
                    <a:solidFill>
                      <a:srgbClr val="12374B"/>
                    </a:solidFill>
                  </a:tcPr>
                </a:tc>
                <a:tc>
                  <a:txBody>
                    <a:bodyPr/>
                    <a:lstStyle/>
                    <a:p>
                      <a:r>
                        <a:rPr sz="1875" b="1">
                          <a:solidFill>
                            <a:srgbClr val="FFFFFF"/>
                          </a:solidFill>
                          <a:latin typeface="Arial"/>
                          <a:ea typeface="Arial"/>
                          <a:cs typeface="Arial"/>
                        </a:rPr>
                        <a:t>View scope</a:t>
                      </a:r>
                    </a:p>
                  </a:txBody>
                  <a:tcPr marL="133350" marR="133350" marT="142875" marB="123825" anchor="ctr">
                    <a:solidFill>
                      <a:srgbClr val="12374B"/>
                    </a:solidFill>
                  </a:tcPr>
                </a:tc>
                <a:tc>
                  <a:txBody>
                    <a:bodyPr/>
                    <a:lstStyle/>
                    <a:p>
                      <a:r>
                        <a:rPr sz="1875" b="1">
                          <a:solidFill>
                            <a:srgbClr val="FFFFFF"/>
                          </a:solidFill>
                          <a:latin typeface="Arial"/>
                          <a:ea typeface="Arial"/>
                          <a:cs typeface="Arial"/>
                        </a:rPr>
                        <a:t>Edit / submit</a:t>
                      </a:r>
                    </a:p>
                  </a:txBody>
                  <a:tcPr marL="133350" marR="133350" marT="142875" marB="123825" anchor="ctr">
                    <a:solidFill>
                      <a:srgbClr val="12374B"/>
                    </a:solidFill>
                  </a:tcPr>
                </a:tc>
                <a:tc>
                  <a:txBody>
                    <a:bodyPr/>
                    <a:lstStyle/>
                    <a:p>
                      <a:r>
                        <a:rPr sz="1875" b="1">
                          <a:solidFill>
                            <a:srgbClr val="FFFFFF"/>
                          </a:solidFill>
                          <a:latin typeface="Arial"/>
                          <a:ea typeface="Arial"/>
                          <a:cs typeface="Arial"/>
                        </a:rPr>
                        <a:t>Approve</a:t>
                      </a:r>
                    </a:p>
                  </a:txBody>
                  <a:tcPr marL="133350" marR="133350" marT="142875" marB="123825" anchor="ctr">
                    <a:solidFill>
                      <a:srgbClr val="12374B"/>
                    </a:solidFill>
                  </a:tcPr>
                </a:tc>
                <a:tc>
                  <a:txBody>
                    <a:bodyPr/>
                    <a:lstStyle/>
                    <a:p>
                      <a:r>
                        <a:rPr sz="1875" b="1">
                          <a:solidFill>
                            <a:srgbClr val="FFFFFF"/>
                          </a:solidFill>
                          <a:latin typeface="Arial"/>
                          <a:ea typeface="Arial"/>
                          <a:cs typeface="Arial"/>
                        </a:rPr>
                        <a:t>User admin</a:t>
                      </a:r>
                    </a:p>
                  </a:txBody>
                  <a:tcPr marL="133350" marR="133350" marT="142875" marB="123825" anchor="ctr">
                    <a:solidFill>
                      <a:srgbClr val="12374B"/>
                    </a:solidFill>
                  </a:tcPr>
                </a:tc>
                <a:tc>
                  <a:txBody>
                    <a:bodyPr/>
                    <a:lstStyle/>
                    <a:p>
                      <a:r>
                        <a:rPr sz="1875" b="1">
                          <a:solidFill>
                            <a:srgbClr val="FFFFFF"/>
                          </a:solidFill>
                          <a:latin typeface="Arial"/>
                          <a:ea typeface="Arial"/>
                          <a:cs typeface="Arial"/>
                        </a:rPr>
                        <a:t>Audit</a:t>
                      </a:r>
                    </a:p>
                  </a:txBody>
                  <a:tcPr marL="133350" marR="133350" marT="142875" marB="123825" anchor="ctr">
                    <a:solidFill>
                      <a:srgbClr val="12374B"/>
                    </a:solidFill>
                  </a:tcPr>
                </a:tc>
              </a:tr>
              <a:tr h="688521">
                <a:tc>
                  <a:txBody>
                    <a:bodyPr/>
                    <a:lstStyle/>
                    <a:p>
                      <a:r>
                        <a:rPr sz="1875">
                          <a:solidFill>
                            <a:srgbClr val="18384B"/>
                          </a:solidFill>
                          <a:latin typeface="Arial"/>
                          <a:ea typeface="Arial"/>
                          <a:cs typeface="Arial"/>
                        </a:rPr>
                        <a:t>GM / Head</a:t>
                      </a:r>
                    </a:p>
                  </a:txBody>
                  <a:tcPr marL="133350" marR="133350" marT="142875" marB="123825" anchor="ctr">
                    <a:solidFill>
                      <a:srgbClr val="F1F6F8"/>
                    </a:solidFill>
                  </a:tcPr>
                </a:tc>
                <a:tc>
                  <a:txBody>
                    <a:bodyPr/>
                    <a:lstStyle/>
                    <a:p>
                      <a:r>
                        <a:rPr sz="1875">
                          <a:solidFill>
                            <a:srgbClr val="18384B"/>
                          </a:solidFill>
                          <a:latin typeface="Arial"/>
                          <a:ea typeface="Arial"/>
                          <a:cs typeface="Arial"/>
                        </a:rPr>
                        <a:t>Entity / global*</a:t>
                      </a:r>
                    </a:p>
                  </a:txBody>
                  <a:tcPr marL="133350" marR="133350" marT="142875" marB="123825" anchor="ctr">
                    <a:solidFill>
                      <a:srgbClr val="F1F6F8"/>
                    </a:solidFill>
                  </a:tcPr>
                </a:tc>
                <a:tc>
                  <a:txBody>
                    <a:bodyPr/>
                    <a:lstStyle/>
                    <a:p>
                      <a:r>
                        <a:rPr sz="1875">
                          <a:solidFill>
                            <a:srgbClr val="18384B"/>
                          </a:solidFill>
                          <a:latin typeface="Arial"/>
                          <a:ea typeface="Arial"/>
                          <a:cs typeface="Arial"/>
                        </a:rPr>
                        <a:t>Scoped</a:t>
                      </a:r>
                    </a:p>
                  </a:txBody>
                  <a:tcPr marL="133350" marR="133350" marT="142875" marB="123825" anchor="ctr">
                    <a:solidFill>
                      <a:srgbClr val="F1F6F8"/>
                    </a:solidFill>
                  </a:tcPr>
                </a:tc>
                <a:tc>
                  <a:txBody>
                    <a:bodyPr/>
                    <a:lstStyle/>
                    <a:p>
                      <a:r>
                        <a:rPr sz="1875">
                          <a:solidFill>
                            <a:srgbClr val="18384B"/>
                          </a:solidFill>
                          <a:latin typeface="Arial"/>
                          <a:ea typeface="Arial"/>
                          <a:cs typeface="Arial"/>
                        </a:rPr>
                        <a:t>Yes</a:t>
                      </a:r>
                    </a:p>
                  </a:txBody>
                  <a:tcPr marL="133350" marR="133350" marT="142875" marB="123825" anchor="ctr">
                    <a:solidFill>
                      <a:srgbClr val="F1F6F8"/>
                    </a:solidFill>
                  </a:tcPr>
                </a:tc>
                <a:tc>
                  <a:txBody>
                    <a:bodyPr/>
                    <a:lstStyle/>
                    <a:p>
                      <a:r>
                        <a:rPr sz="1875">
                          <a:solidFill>
                            <a:srgbClr val="18384B"/>
                          </a:solidFill>
                          <a:latin typeface="Arial"/>
                          <a:ea typeface="Arial"/>
                          <a:cs typeface="Arial"/>
                        </a:rPr>
                        <a:t>All roles*</a:t>
                      </a:r>
                    </a:p>
                  </a:txBody>
                  <a:tcPr marL="133350" marR="133350" marT="142875" marB="123825" anchor="ctr">
                    <a:solidFill>
                      <a:srgbClr val="F1F6F8"/>
                    </a:solidFill>
                  </a:tcPr>
                </a:tc>
                <a:tc>
                  <a:txBody>
                    <a:bodyPr/>
                    <a:lstStyle/>
                    <a:p>
                      <a:r>
                        <a:rPr sz="1875">
                          <a:solidFill>
                            <a:srgbClr val="18384B"/>
                          </a:solidFill>
                          <a:latin typeface="Arial"/>
                          <a:ea typeface="Arial"/>
                          <a:cs typeface="Arial"/>
                        </a:rPr>
                        <a:t>Hierarchy</a:t>
                      </a:r>
                    </a:p>
                  </a:txBody>
                  <a:tcPr marL="133350" marR="133350" marT="142875" marB="123825" anchor="ctr">
                    <a:solidFill>
                      <a:srgbClr val="F1F6F8"/>
                    </a:solidFill>
                  </a:tcPr>
                </a:tc>
              </a:tr>
              <a:tr h="688521">
                <a:tc>
                  <a:txBody>
                    <a:bodyPr/>
                    <a:lstStyle/>
                    <a:p>
                      <a:r>
                        <a:rPr sz="1875">
                          <a:solidFill>
                            <a:srgbClr val="18384B"/>
                          </a:solidFill>
                          <a:latin typeface="Arial"/>
                          <a:ea typeface="Arial"/>
                          <a:cs typeface="Arial"/>
                        </a:rPr>
                        <a:t>Regional Head</a:t>
                      </a:r>
                    </a:p>
                  </a:txBody>
                  <a:tcPr marL="133350" marR="133350" marT="142875" marB="123825" anchor="ctr">
                    <a:solidFill>
                      <a:srgbClr val="FFFFFF"/>
                    </a:solidFill>
                  </a:tcPr>
                </a:tc>
                <a:tc>
                  <a:txBody>
                    <a:bodyPr/>
                    <a:lstStyle/>
                    <a:p>
                      <a:r>
                        <a:rPr sz="1875">
                          <a:solidFill>
                            <a:srgbClr val="18384B"/>
                          </a:solidFill>
                          <a:latin typeface="Arial"/>
                          <a:ea typeface="Arial"/>
                          <a:cs typeface="Arial"/>
                        </a:rPr>
                        <a:t>Region</a:t>
                      </a:r>
                    </a:p>
                  </a:txBody>
                  <a:tcPr marL="133350" marR="133350" marT="142875" marB="123825" anchor="ctr">
                    <a:solidFill>
                      <a:srgbClr val="FFFFFF"/>
                    </a:solidFill>
                  </a:tcPr>
                </a:tc>
                <a:tc>
                  <a:txBody>
                    <a:bodyPr/>
                    <a:lstStyle/>
                    <a:p>
                      <a:r>
                        <a:rPr sz="1875">
                          <a:solidFill>
                            <a:srgbClr val="18384B"/>
                          </a:solidFill>
                          <a:latin typeface="Arial"/>
                          <a:ea typeface="Arial"/>
                          <a:cs typeface="Arial"/>
                        </a:rPr>
                        <a:t>Scoped</a:t>
                      </a:r>
                    </a:p>
                  </a:txBody>
                  <a:tcPr marL="133350" marR="133350" marT="142875" marB="123825" anchor="ctr">
                    <a:solidFill>
                      <a:srgbClr val="FFFFFF"/>
                    </a:solidFill>
                  </a:tcPr>
                </a:tc>
                <a:tc>
                  <a:txBody>
                    <a:bodyPr/>
                    <a:lstStyle/>
                    <a:p>
                      <a:r>
                        <a:rPr sz="1875">
                          <a:solidFill>
                            <a:srgbClr val="18384B"/>
                          </a:solidFill>
                          <a:latin typeface="Arial"/>
                          <a:ea typeface="Arial"/>
                          <a:cs typeface="Arial"/>
                        </a:rPr>
                        <a:t>No</a:t>
                      </a:r>
                    </a:p>
                  </a:txBody>
                  <a:tcPr marL="133350" marR="133350" marT="142875" marB="123825" anchor="ctr">
                    <a:solidFill>
                      <a:srgbClr val="FFFFFF"/>
                    </a:solidFill>
                  </a:tcPr>
                </a:tc>
                <a:tc>
                  <a:txBody>
                    <a:bodyPr/>
                    <a:lstStyle/>
                    <a:p>
                      <a:r>
                        <a:rPr sz="1875">
                          <a:solidFill>
                            <a:srgbClr val="18384B"/>
                          </a:solidFill>
                          <a:latin typeface="Arial"/>
                          <a:ea typeface="Arial"/>
                          <a:cs typeface="Arial"/>
                        </a:rPr>
                        <a:t>Subordinate</a:t>
                      </a:r>
                    </a:p>
                  </a:txBody>
                  <a:tcPr marL="133350" marR="133350" marT="142875" marB="123825" anchor="ctr">
                    <a:solidFill>
                      <a:srgbClr val="FFFFFF"/>
                    </a:solidFill>
                  </a:tcPr>
                </a:tc>
                <a:tc>
                  <a:txBody>
                    <a:bodyPr/>
                    <a:lstStyle/>
                    <a:p>
                      <a:r>
                        <a:rPr sz="1875">
                          <a:solidFill>
                            <a:srgbClr val="18384B"/>
                          </a:solidFill>
                          <a:latin typeface="Arial"/>
                          <a:ea typeface="Arial"/>
                          <a:cs typeface="Arial"/>
                        </a:rPr>
                        <a:t>Hierarchy</a:t>
                      </a:r>
                    </a:p>
                  </a:txBody>
                  <a:tcPr marL="133350" marR="133350" marT="142875" marB="123825" anchor="ctr">
                    <a:solidFill>
                      <a:srgbClr val="FFFFFF"/>
                    </a:solidFill>
                  </a:tcPr>
                </a:tc>
              </a:tr>
              <a:tr h="688521">
                <a:tc>
                  <a:txBody>
                    <a:bodyPr/>
                    <a:lstStyle/>
                    <a:p>
                      <a:r>
                        <a:rPr sz="1875">
                          <a:solidFill>
                            <a:srgbClr val="18384B"/>
                          </a:solidFill>
                          <a:latin typeface="Arial"/>
                          <a:ea typeface="Arial"/>
                          <a:cs typeface="Arial"/>
                        </a:rPr>
                        <a:t>City / Governorate Head</a:t>
                      </a:r>
                    </a:p>
                  </a:txBody>
                  <a:tcPr marL="133350" marR="133350" marT="142875" marB="123825" anchor="ctr">
                    <a:solidFill>
                      <a:srgbClr val="F1F6F8"/>
                    </a:solidFill>
                  </a:tcPr>
                </a:tc>
                <a:tc>
                  <a:txBody>
                    <a:bodyPr/>
                    <a:lstStyle/>
                    <a:p>
                      <a:r>
                        <a:rPr sz="1875">
                          <a:solidFill>
                            <a:srgbClr val="18384B"/>
                          </a:solidFill>
                          <a:latin typeface="Arial"/>
                          <a:ea typeface="Arial"/>
                          <a:cs typeface="Arial"/>
                        </a:rPr>
                        <a:t>City / governorate</a:t>
                      </a:r>
                    </a:p>
                  </a:txBody>
                  <a:tcPr marL="133350" marR="133350" marT="142875" marB="123825" anchor="ctr">
                    <a:solidFill>
                      <a:srgbClr val="F1F6F8"/>
                    </a:solidFill>
                  </a:tcPr>
                </a:tc>
                <a:tc>
                  <a:txBody>
                    <a:bodyPr/>
                    <a:lstStyle/>
                    <a:p>
                      <a:r>
                        <a:rPr sz="1875">
                          <a:solidFill>
                            <a:srgbClr val="18384B"/>
                          </a:solidFill>
                          <a:latin typeface="Arial"/>
                          <a:ea typeface="Arial"/>
                          <a:cs typeface="Arial"/>
                        </a:rPr>
                        <a:t>Scoped</a:t>
                      </a:r>
                    </a:p>
                  </a:txBody>
                  <a:tcPr marL="133350" marR="133350" marT="142875" marB="123825" anchor="ctr">
                    <a:solidFill>
                      <a:srgbClr val="F1F6F8"/>
                    </a:solidFill>
                  </a:tcPr>
                </a:tc>
                <a:tc>
                  <a:txBody>
                    <a:bodyPr/>
                    <a:lstStyle/>
                    <a:p>
                      <a:r>
                        <a:rPr sz="1875">
                          <a:solidFill>
                            <a:srgbClr val="18384B"/>
                          </a:solidFill>
                          <a:latin typeface="Arial"/>
                          <a:ea typeface="Arial"/>
                          <a:cs typeface="Arial"/>
                        </a:rPr>
                        <a:t>No</a:t>
                      </a:r>
                    </a:p>
                  </a:txBody>
                  <a:tcPr marL="133350" marR="133350" marT="142875" marB="123825" anchor="ctr">
                    <a:solidFill>
                      <a:srgbClr val="F1F6F8"/>
                    </a:solidFill>
                  </a:tcPr>
                </a:tc>
                <a:tc>
                  <a:txBody>
                    <a:bodyPr/>
                    <a:lstStyle/>
                    <a:p>
                      <a:r>
                        <a:rPr sz="1875">
                          <a:solidFill>
                            <a:srgbClr val="18384B"/>
                          </a:solidFill>
                          <a:latin typeface="Arial"/>
                          <a:ea typeface="Arial"/>
                          <a:cs typeface="Arial"/>
                        </a:rPr>
                        <a:t>Subordinate</a:t>
                      </a:r>
                    </a:p>
                  </a:txBody>
                  <a:tcPr marL="133350" marR="133350" marT="142875" marB="123825" anchor="ctr">
                    <a:solidFill>
                      <a:srgbClr val="F1F6F8"/>
                    </a:solidFill>
                  </a:tcPr>
                </a:tc>
                <a:tc>
                  <a:txBody>
                    <a:bodyPr/>
                    <a:lstStyle/>
                    <a:p>
                      <a:r>
                        <a:rPr sz="1875">
                          <a:solidFill>
                            <a:srgbClr val="18384B"/>
                          </a:solidFill>
                          <a:latin typeface="Arial"/>
                          <a:ea typeface="Arial"/>
                          <a:cs typeface="Arial"/>
                        </a:rPr>
                        <a:t>Hierarchy</a:t>
                      </a:r>
                    </a:p>
                  </a:txBody>
                  <a:tcPr marL="133350" marR="133350" marT="142875" marB="123825" anchor="ctr">
                    <a:solidFill>
                      <a:srgbClr val="F1F6F8"/>
                    </a:solidFill>
                  </a:tcPr>
                </a:tc>
              </a:tr>
              <a:tr h="688521">
                <a:tc>
                  <a:txBody>
                    <a:bodyPr/>
                    <a:lstStyle/>
                    <a:p>
                      <a:r>
                        <a:rPr sz="1875">
                          <a:solidFill>
                            <a:srgbClr val="18384B"/>
                          </a:solidFill>
                          <a:latin typeface="Arial"/>
                          <a:ea typeface="Arial"/>
                          <a:cs typeface="Arial"/>
                        </a:rPr>
                        <a:t>Asset manager</a:t>
                      </a:r>
                    </a:p>
                  </a:txBody>
                  <a:tcPr marL="133350" marR="133350" marT="142875" marB="123825" anchor="ctr">
                    <a:solidFill>
                      <a:srgbClr val="FFFFFF"/>
                    </a:solidFill>
                  </a:tcPr>
                </a:tc>
                <a:tc>
                  <a:txBody>
                    <a:bodyPr/>
                    <a:lstStyle/>
                    <a:p>
                      <a:r>
                        <a:rPr sz="1875">
                          <a:solidFill>
                            <a:srgbClr val="18384B"/>
                          </a:solidFill>
                          <a:latin typeface="Arial"/>
                          <a:ea typeface="Arial"/>
                          <a:cs typeface="Arial"/>
                        </a:rPr>
                        <a:t>Assigned assets*</a:t>
                      </a:r>
                    </a:p>
                  </a:txBody>
                  <a:tcPr marL="133350" marR="133350" marT="142875" marB="123825" anchor="ctr">
                    <a:solidFill>
                      <a:srgbClr val="FFFFFF"/>
                    </a:solidFill>
                  </a:tcPr>
                </a:tc>
                <a:tc>
                  <a:txBody>
                    <a:bodyPr/>
                    <a:lstStyle/>
                    <a:p>
                      <a:r>
                        <a:rPr sz="1875">
                          <a:solidFill>
                            <a:srgbClr val="18384B"/>
                          </a:solidFill>
                          <a:latin typeface="Arial"/>
                          <a:ea typeface="Arial"/>
                          <a:cs typeface="Arial"/>
                        </a:rPr>
                        <a:t>Scoped</a:t>
                      </a:r>
                    </a:p>
                  </a:txBody>
                  <a:tcPr marL="133350" marR="133350" marT="142875" marB="123825" anchor="ctr">
                    <a:solidFill>
                      <a:srgbClr val="FFFFFF"/>
                    </a:solidFill>
                  </a:tcPr>
                </a:tc>
                <a:tc>
                  <a:txBody>
                    <a:bodyPr/>
                    <a:lstStyle/>
                    <a:p>
                      <a:r>
                        <a:rPr sz="1875">
                          <a:solidFill>
                            <a:srgbClr val="18384B"/>
                          </a:solidFill>
                          <a:latin typeface="Arial"/>
                          <a:ea typeface="Arial"/>
                          <a:cs typeface="Arial"/>
                        </a:rPr>
                        <a:t>No</a:t>
                      </a:r>
                    </a:p>
                  </a:txBody>
                  <a:tcPr marL="133350" marR="133350" marT="142875" marB="123825" anchor="ctr">
                    <a:solidFill>
                      <a:srgbClr val="FFFFFF"/>
                    </a:solidFill>
                  </a:tcPr>
                </a:tc>
                <a:tc>
                  <a:txBody>
                    <a:bodyPr/>
                    <a:lstStyle/>
                    <a:p>
                      <a:r>
                        <a:rPr sz="1875">
                          <a:solidFill>
                            <a:srgbClr val="18384B"/>
                          </a:solidFill>
                          <a:latin typeface="Arial"/>
                          <a:ea typeface="Arial"/>
                          <a:cs typeface="Arial"/>
                        </a:rPr>
                        <a:t>No</a:t>
                      </a:r>
                    </a:p>
                  </a:txBody>
                  <a:tcPr marL="133350" marR="133350" marT="142875" marB="123825" anchor="ctr">
                    <a:solidFill>
                      <a:srgbClr val="FFFFFF"/>
                    </a:solidFill>
                  </a:tcPr>
                </a:tc>
                <a:tc>
                  <a:txBody>
                    <a:bodyPr/>
                    <a:lstStyle/>
                    <a:p>
                      <a:r>
                        <a:rPr sz="1875">
                          <a:solidFill>
                            <a:srgbClr val="18384B"/>
                          </a:solidFill>
                          <a:latin typeface="Arial"/>
                          <a:ea typeface="Arial"/>
                          <a:cs typeface="Arial"/>
                        </a:rPr>
                        <a:t>No</a:t>
                      </a:r>
                    </a:p>
                  </a:txBody>
                  <a:tcPr marL="133350" marR="133350" marT="142875" marB="123825" anchor="ctr">
                    <a:solidFill>
                      <a:srgbClr val="FFFFFF"/>
                    </a:solidFill>
                  </a:tcPr>
                </a:tc>
              </a:tr>
              <a:tr h="688521">
                <a:tc>
                  <a:txBody>
                    <a:bodyPr/>
                    <a:lstStyle/>
                    <a:p>
                      <a:r>
                        <a:rPr sz="1875">
                          <a:solidFill>
                            <a:srgbClr val="18384B"/>
                          </a:solidFill>
                          <a:latin typeface="Arial"/>
                          <a:ea typeface="Arial"/>
                          <a:cs typeface="Arial"/>
                        </a:rPr>
                        <a:t>Read-only</a:t>
                      </a:r>
                    </a:p>
                  </a:txBody>
                  <a:tcPr marL="133350" marR="133350" marT="142875" marB="123825" anchor="ctr">
                    <a:solidFill>
                      <a:srgbClr val="F1F6F8"/>
                    </a:solidFill>
                  </a:tcPr>
                </a:tc>
                <a:tc>
                  <a:txBody>
                    <a:bodyPr/>
                    <a:lstStyle/>
                    <a:p>
                      <a:r>
                        <a:rPr sz="1875">
                          <a:solidFill>
                            <a:srgbClr val="18384B"/>
                          </a:solidFill>
                          <a:latin typeface="Arial"/>
                          <a:ea typeface="Arial"/>
                          <a:cs typeface="Arial"/>
                        </a:rPr>
                        <a:t>Assigned scope*</a:t>
                      </a:r>
                    </a:p>
                  </a:txBody>
                  <a:tcPr marL="133350" marR="133350" marT="142875" marB="123825" anchor="ctr">
                    <a:solidFill>
                      <a:srgbClr val="F1F6F8"/>
                    </a:solidFill>
                  </a:tcPr>
                </a:tc>
                <a:tc>
                  <a:txBody>
                    <a:bodyPr/>
                    <a:lstStyle/>
                    <a:p>
                      <a:r>
                        <a:rPr sz="1875">
                          <a:solidFill>
                            <a:srgbClr val="18384B"/>
                          </a:solidFill>
                          <a:latin typeface="Arial"/>
                          <a:ea typeface="Arial"/>
                          <a:cs typeface="Arial"/>
                        </a:rPr>
                        <a:t>No</a:t>
                      </a:r>
                    </a:p>
                  </a:txBody>
                  <a:tcPr marL="133350" marR="133350" marT="142875" marB="123825" anchor="ctr">
                    <a:solidFill>
                      <a:srgbClr val="F1F6F8"/>
                    </a:solidFill>
                  </a:tcPr>
                </a:tc>
                <a:tc>
                  <a:txBody>
                    <a:bodyPr/>
                    <a:lstStyle/>
                    <a:p>
                      <a:r>
                        <a:rPr sz="1875">
                          <a:solidFill>
                            <a:srgbClr val="18384B"/>
                          </a:solidFill>
                          <a:latin typeface="Arial"/>
                          <a:ea typeface="Arial"/>
                          <a:cs typeface="Arial"/>
                        </a:rPr>
                        <a:t>No</a:t>
                      </a:r>
                    </a:p>
                  </a:txBody>
                  <a:tcPr marL="133350" marR="133350" marT="142875" marB="123825" anchor="ctr">
                    <a:solidFill>
                      <a:srgbClr val="F1F6F8"/>
                    </a:solidFill>
                  </a:tcPr>
                </a:tc>
                <a:tc>
                  <a:txBody>
                    <a:bodyPr/>
                    <a:lstStyle/>
                    <a:p>
                      <a:r>
                        <a:rPr sz="1875">
                          <a:solidFill>
                            <a:srgbClr val="18384B"/>
                          </a:solidFill>
                          <a:latin typeface="Arial"/>
                          <a:ea typeface="Arial"/>
                          <a:cs typeface="Arial"/>
                        </a:rPr>
                        <a:t>No</a:t>
                      </a:r>
                    </a:p>
                  </a:txBody>
                  <a:tcPr marL="133350" marR="133350" marT="142875" marB="123825" anchor="ctr">
                    <a:solidFill>
                      <a:srgbClr val="F1F6F8"/>
                    </a:solidFill>
                  </a:tcPr>
                </a:tc>
                <a:tc>
                  <a:txBody>
                    <a:bodyPr/>
                    <a:lstStyle/>
                    <a:p>
                      <a:r>
                        <a:rPr sz="1875">
                          <a:solidFill>
                            <a:srgbClr val="18384B"/>
                          </a:solidFill>
                          <a:latin typeface="Arial"/>
                          <a:ea typeface="Arial"/>
                          <a:cs typeface="Arial"/>
                        </a:rPr>
                        <a:t>No</a:t>
                      </a:r>
                    </a:p>
                  </a:txBody>
                  <a:tcPr marL="133350" marR="133350" marT="142875" marB="123825" anchor="ctr">
                    <a:solidFill>
                      <a:srgbClr val="F1F6F8"/>
                    </a:solidFill>
                  </a:tcPr>
                </a:tc>
              </a:tr>
              <a:tr h="688521">
                <a:tc>
                  <a:txBody>
                    <a:bodyPr/>
                    <a:lstStyle/>
                    <a:p>
                      <a:r>
                        <a:rPr sz="1875">
                          <a:solidFill>
                            <a:srgbClr val="18384B"/>
                          </a:solidFill>
                          <a:latin typeface="Arial"/>
                          <a:ea typeface="Arial"/>
                          <a:cs typeface="Arial"/>
                        </a:rPr>
                        <a:t>Dashboard Approver</a:t>
                      </a:r>
                    </a:p>
                  </a:txBody>
                  <a:tcPr marL="133350" marR="133350" marT="142875" marB="123825" anchor="ctr">
                    <a:solidFill>
                      <a:srgbClr val="FFFFFF"/>
                    </a:solidFill>
                  </a:tcPr>
                </a:tc>
                <a:tc>
                  <a:txBody>
                    <a:bodyPr/>
                    <a:lstStyle/>
                    <a:p>
                      <a:r>
                        <a:rPr sz="1875">
                          <a:solidFill>
                            <a:srgbClr val="18384B"/>
                          </a:solidFill>
                          <a:latin typeface="Arial"/>
                          <a:ea typeface="Arial"/>
                          <a:cs typeface="Arial"/>
                        </a:rPr>
                        <a:t>Approvals only</a:t>
                      </a:r>
                    </a:p>
                  </a:txBody>
                  <a:tcPr marL="133350" marR="133350" marT="142875" marB="123825" anchor="ctr">
                    <a:solidFill>
                      <a:srgbClr val="FFFFFF"/>
                    </a:solidFill>
                  </a:tcPr>
                </a:tc>
                <a:tc>
                  <a:txBody>
                    <a:bodyPr/>
                    <a:lstStyle/>
                    <a:p>
                      <a:r>
                        <a:rPr sz="1875">
                          <a:solidFill>
                            <a:srgbClr val="18384B"/>
                          </a:solidFill>
                          <a:latin typeface="Arial"/>
                          <a:ea typeface="Arial"/>
                          <a:cs typeface="Arial"/>
                        </a:rPr>
                        <a:t>No</a:t>
                      </a:r>
                    </a:p>
                  </a:txBody>
                  <a:tcPr marL="133350" marR="133350" marT="142875" marB="123825" anchor="ctr">
                    <a:solidFill>
                      <a:srgbClr val="FFFFFF"/>
                    </a:solidFill>
                  </a:tcPr>
                </a:tc>
                <a:tc>
                  <a:txBody>
                    <a:bodyPr/>
                    <a:lstStyle/>
                    <a:p>
                      <a:r>
                        <a:rPr sz="1875">
                          <a:solidFill>
                            <a:srgbClr val="18384B"/>
                          </a:solidFill>
                          <a:latin typeface="Arial"/>
                          <a:ea typeface="Arial"/>
                          <a:cs typeface="Arial"/>
                        </a:rPr>
                        <a:t>Yes</a:t>
                      </a:r>
                    </a:p>
                  </a:txBody>
                  <a:tcPr marL="133350" marR="133350" marT="142875" marB="123825" anchor="ctr">
                    <a:solidFill>
                      <a:srgbClr val="FFFFFF"/>
                    </a:solidFill>
                  </a:tcPr>
                </a:tc>
                <a:tc>
                  <a:txBody>
                    <a:bodyPr/>
                    <a:lstStyle/>
                    <a:p>
                      <a:r>
                        <a:rPr sz="1875">
                          <a:solidFill>
                            <a:srgbClr val="18384B"/>
                          </a:solidFill>
                          <a:latin typeface="Arial"/>
                          <a:ea typeface="Arial"/>
                          <a:cs typeface="Arial"/>
                        </a:rPr>
                        <a:t>No</a:t>
                      </a:r>
                    </a:p>
                  </a:txBody>
                  <a:tcPr marL="133350" marR="133350" marT="142875" marB="123825" anchor="ctr">
                    <a:solidFill>
                      <a:srgbClr val="FFFFFF"/>
                    </a:solidFill>
                  </a:tcPr>
                </a:tc>
                <a:tc>
                  <a:txBody>
                    <a:bodyPr/>
                    <a:lstStyle/>
                    <a:p>
                      <a:r>
                        <a:rPr sz="1875">
                          <a:solidFill>
                            <a:srgbClr val="18384B"/>
                          </a:solidFill>
                          <a:latin typeface="Arial"/>
                          <a:ea typeface="Arial"/>
                          <a:cs typeface="Arial"/>
                        </a:rPr>
                        <a:t>No</a:t>
                      </a:r>
                    </a:p>
                  </a:txBody>
                  <a:tcPr marL="133350" marR="133350" marT="142875" marB="123825" anchor="ctr">
                    <a:solidFill>
                      <a:srgbClr val="FFFFFF"/>
                    </a:solidFill>
                  </a:tcPr>
                </a:tc>
              </a:tr>
            </a:tbl>
          </a:graphicData>
        </a:graphic>
      </p:graphicFrame>
      <p:sp>
        <p:nvSpPr>
          <p:cNvPr id="6" name="* Scope behaviour varies by portal and asset type. Portal roles d">
            <a:extLst xmlns:a="http://schemas.openxmlformats.org/drawingml/2006/main">
              <a:ext uri="{FF2B5EF4-FFF2-40B4-BE49-F238E27FC236}">
                <a16:creationId xmlns:a16="http://schemas.microsoft.com/office/drawing/2014/main" id="{28523D47-4AA8-4658-BE8D-B10D681AB120}"/>
              </a:ext>
            </a:extLst>
          </p:cNvPr>
          <p:cNvSpPr>
            <a:spLocks xmlns:a="http://schemas.openxmlformats.org/drawingml/2006/main" noGrp="1"/>
          </p:cNvSpPr>
          <p:nvPr/>
        </p:nvSpPr>
        <p:spPr>
          <a:xfrm xmlns:a="http://schemas.openxmlformats.org/drawingml/2006/main">
            <a:off x="609600" y="7362825"/>
            <a:ext cx="14020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07E92"/>
                </a:solidFill>
                <a:latin typeface="Arial"/>
                <a:ea typeface="Arial"/>
                <a:cs typeface="Arial"/>
              </a:defRPr>
            </a:pPr>
            <a:r>
              <a:rPr sz="1875" b="1">
                <a:solidFill>
                  <a:srgbClr val="007E92"/>
                </a:solidFill>
                <a:latin typeface="Arial"/>
                <a:ea typeface="Arial"/>
                <a:cs typeface="Arial"/>
              </a:rPr>
              <a:t>* Scope behaviour varies by portal and asset type. Portal roles do not establish Desktop publish permissions.</a:t>
            </a:r>
          </a:p>
        </p:txBody>
      </p:sp>
    </p:spTree>
    <p:extLst>
      <p:ext uri="{BB962C8B-B14F-4D97-AF65-F5344CB8AC3E}">
        <p14:creationId xmlns:p14="http://schemas.microsoft.com/office/powerpoint/2010/main" val="99951387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Permission boundaries to close">
            <a:extLst xmlns:a="http://schemas.openxmlformats.org/drawingml/2006/main">
              <a:ext uri="{FF2B5EF4-FFF2-40B4-BE49-F238E27FC236}">
                <a16:creationId xmlns:a16="http://schemas.microsoft.com/office/drawing/2014/main" id="{FD4181C0-00CF-4615-8D84-9AAEFC156296}"/>
              </a:ext>
            </a:extLst>
          </p:cNvPr>
          <p:cNvSpPr>
            <a:spLocks xmlns:a="http://schemas.openxmlformats.org/drawingml/2006/main" noGrp="1"/>
          </p:cNvSpPr>
          <p:nvPr/>
        </p:nvSpPr>
        <p:spPr>
          <a:xfrm xmlns:a="http://schemas.openxmlformats.org/drawingml/2006/main">
            <a:off x="609600" y="428625"/>
            <a:ext cx="14020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374B"/>
                </a:solidFill>
                <a:latin typeface="Arial"/>
                <a:ea typeface="Arial"/>
                <a:cs typeface="Arial"/>
              </a:defRPr>
            </a:pPr>
            <a:r>
              <a:rPr sz="3300" b="1">
                <a:solidFill>
                  <a:srgbClr val="12374B"/>
                </a:solidFill>
                <a:latin typeface="Arial"/>
                <a:ea typeface="Arial"/>
                <a:cs typeface="Arial"/>
              </a:rPr>
              <a:t>Permission boundaries to close</a:t>
            </a:r>
          </a:p>
        </p:txBody>
      </p:sp>
      <p:sp>
        <p:nvSpPr>
          <p:cNvPr id="2" name="Production acceptance requires server-side enforcement across eve">
            <a:extLst xmlns:a="http://schemas.openxmlformats.org/drawingml/2006/main">
              <a:ext uri="{FF2B5EF4-FFF2-40B4-BE49-F238E27FC236}">
                <a16:creationId xmlns:a16="http://schemas.microsoft.com/office/drawing/2014/main" id="{0270067E-FE77-4557-A289-801201CC3BF4}"/>
              </a:ext>
            </a:extLst>
          </p:cNvPr>
          <p:cNvSpPr>
            <a:spLocks xmlns:a="http://schemas.openxmlformats.org/drawingml/2006/main" noGrp="1"/>
          </p:cNvSpPr>
          <p:nvPr/>
        </p:nvSpPr>
        <p:spPr>
          <a:xfrm xmlns:a="http://schemas.openxmlformats.org/drawingml/2006/main">
            <a:off x="609600" y="1304925"/>
            <a:ext cx="1395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547080"/>
                </a:solidFill>
                <a:latin typeface="Arial"/>
                <a:ea typeface="Arial"/>
                <a:cs typeface="Arial"/>
              </a:defRPr>
            </a:pPr>
            <a:r>
              <a:rPr sz="1875" b="0">
                <a:solidFill>
                  <a:srgbClr val="547080"/>
                </a:solidFill>
                <a:latin typeface="Arial"/>
                <a:ea typeface="Arial"/>
                <a:cs typeface="Arial"/>
              </a:rPr>
              <a:t>Production acceptance requires server-side enforcement across every relevant route.</a:t>
            </a:r>
          </a:p>
        </p:txBody>
      </p:sp>
      <p:sp>
        <p:nvSpPr>
          <p:cNvPr id="3" name="WIDispatch   /   IT briefing   /   29 September 2026">
            <a:extLst xmlns:a="http://schemas.openxmlformats.org/drawingml/2006/main">
              <a:ext uri="{FF2B5EF4-FFF2-40B4-BE49-F238E27FC236}">
                <a16:creationId xmlns:a16="http://schemas.microsoft.com/office/drawing/2014/main" id="{8D276C98-529C-4E3F-8976-8E5355704A08}"/>
              </a:ext>
            </a:extLst>
          </p:cNvPr>
          <p:cNvSpPr>
            <a:spLocks xmlns:a="http://schemas.openxmlformats.org/drawingml/2006/main" noGrp="1"/>
          </p:cNvSpPr>
          <p:nvPr/>
        </p:nvSpPr>
        <p:spPr>
          <a:xfrm xmlns:a="http://schemas.openxmlformats.org/drawingml/2006/main">
            <a:off x="609600" y="8172450"/>
            <a:ext cx="1162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547080"/>
                </a:solidFill>
                <a:latin typeface="Arial"/>
                <a:ea typeface="Arial"/>
                <a:cs typeface="Arial"/>
              </a:defRPr>
            </a:pPr>
            <a:r>
              <a:rPr sz="1275" b="0">
                <a:solidFill>
                  <a:srgbClr val="547080"/>
                </a:solidFill>
                <a:latin typeface="Arial"/>
                <a:ea typeface="Arial"/>
                <a:cs typeface="Arial"/>
              </a:rPr>
              <a:t>WIDispatch   /   IT briefing   /   29 September 2026</a:t>
            </a:r>
          </a:p>
        </p:txBody>
      </p:sp>
      <p:sp>
        <p:nvSpPr>
          <p:cNvPr id="4" name="05">
            <a:extLst xmlns:a="http://schemas.openxmlformats.org/drawingml/2006/main">
              <a:ext uri="{FF2B5EF4-FFF2-40B4-BE49-F238E27FC236}">
                <a16:creationId xmlns:a16="http://schemas.microsoft.com/office/drawing/2014/main" id="{C027FC64-732F-4D2A-B952-163452116A7C}"/>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547080"/>
                </a:solidFill>
                <a:latin typeface="Arial"/>
                <a:ea typeface="Arial"/>
                <a:cs typeface="Arial"/>
              </a:defRPr>
            </a:pPr>
            <a:r>
              <a:rPr sz="1650" b="0">
                <a:solidFill>
                  <a:srgbClr val="547080"/>
                </a:solidFill>
                <a:latin typeface="Arial"/>
                <a:ea typeface="Arial"/>
                <a:cs typeface="Arial"/>
              </a:rPr>
              <a:t>05</a:t>
            </a:r>
          </a:p>
        </p:txBody>
      </p:sp>
      <p:sp>
        <p:nvSpPr>
          <p:cNvPr id="5" name="Portal scope">
            <a:extLst xmlns:a="http://schemas.openxmlformats.org/drawingml/2006/main">
              <a:ext uri="{FF2B5EF4-FFF2-40B4-BE49-F238E27FC236}">
                <a16:creationId xmlns:a16="http://schemas.microsoft.com/office/drawing/2014/main" id="{4D28B62C-04F4-459A-A936-F83D99B1D87F}"/>
              </a:ext>
            </a:extLst>
          </p:cNvPr>
          <p:cNvSpPr>
            <a:spLocks xmlns:a="http://schemas.openxmlformats.org/drawingml/2006/main" noGrp="1"/>
          </p:cNvSpPr>
          <p:nvPr/>
        </p:nvSpPr>
        <p:spPr>
          <a:xfrm xmlns:a="http://schemas.openxmlformats.org/drawingml/2006/main">
            <a:off x="609600" y="2266950"/>
            <a:ext cx="4286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007E92"/>
                </a:solidFill>
                <a:latin typeface="Arial"/>
                <a:ea typeface="Arial"/>
                <a:cs typeface="Arial"/>
              </a:defRPr>
            </a:pPr>
            <a:r>
              <a:rPr sz="2400" b="1">
                <a:solidFill>
                  <a:srgbClr val="007E92"/>
                </a:solidFill>
                <a:latin typeface="Arial"/>
                <a:ea typeface="Arial"/>
                <a:cs typeface="Arial"/>
              </a:rPr>
              <a:t>Portal scope</a:t>
            </a:r>
          </a:p>
        </p:txBody>
      </p:sp>
      <p:sp>
        <p:nvSpPr>
          <p:cNvPr id="6" name="Approval endpoints need record-level scope checks and an agreed r">
            <a:extLst xmlns:a="http://schemas.openxmlformats.org/drawingml/2006/main">
              <a:ext uri="{FF2B5EF4-FFF2-40B4-BE49-F238E27FC236}">
                <a16:creationId xmlns:a16="http://schemas.microsoft.com/office/drawing/2014/main" id="{66CEBF8C-9C26-401B-BF10-3FDC1BF93543}"/>
              </a:ext>
            </a:extLst>
          </p:cNvPr>
          <p:cNvSpPr>
            <a:spLocks xmlns:a="http://schemas.openxmlformats.org/drawingml/2006/main" noGrp="1"/>
          </p:cNvSpPr>
          <p:nvPr/>
        </p:nvSpPr>
        <p:spPr>
          <a:xfrm xmlns:a="http://schemas.openxmlformats.org/drawingml/2006/main">
            <a:off x="609600" y="3343275"/>
            <a:ext cx="4238625"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18384B"/>
                </a:solidFill>
                <a:latin typeface="Arial"/>
                <a:ea typeface="Arial"/>
                <a:cs typeface="Arial"/>
              </a:defRPr>
            </a:pPr>
            <a:r>
              <a:rPr sz="2175" b="0">
                <a:solidFill>
                  <a:srgbClr val="18384B"/>
                </a:solidFill>
                <a:latin typeface="Arial"/>
                <a:ea typeface="Arial"/>
                <a:cs typeface="Arial"/>
              </a:rPr>
              <a:t>Approval endpoints need record-level scope checks and an agreed rule for self-approval. Non-plant asset scope also varies by portal.</a:t>
            </a:r>
          </a:p>
        </p:txBody>
      </p:sp>
      <p:sp>
        <p:nvSpPr>
          <p:cNvPr id="7" name="Desktop actions">
            <a:extLst xmlns:a="http://schemas.openxmlformats.org/drawingml/2006/main">
              <a:ext uri="{FF2B5EF4-FFF2-40B4-BE49-F238E27FC236}">
                <a16:creationId xmlns:a16="http://schemas.microsoft.com/office/drawing/2014/main" id="{A289E647-6812-4BC3-8297-51846B220C7F}"/>
              </a:ext>
            </a:extLst>
          </p:cNvPr>
          <p:cNvSpPr>
            <a:spLocks xmlns:a="http://schemas.openxmlformats.org/drawingml/2006/main" noGrp="1"/>
          </p:cNvSpPr>
          <p:nvPr/>
        </p:nvSpPr>
        <p:spPr>
          <a:xfrm xmlns:a="http://schemas.openxmlformats.org/drawingml/2006/main">
            <a:off x="5419725" y="2266950"/>
            <a:ext cx="4286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007E92"/>
                </a:solidFill>
                <a:latin typeface="Arial"/>
                <a:ea typeface="Arial"/>
                <a:cs typeface="Arial"/>
              </a:defRPr>
            </a:pPr>
            <a:r>
              <a:rPr sz="2400" b="1">
                <a:solidFill>
                  <a:srgbClr val="007E92"/>
                </a:solidFill>
                <a:latin typeface="Arial"/>
                <a:ea typeface="Arial"/>
                <a:cs typeface="Arial"/>
              </a:rPr>
              <a:t>Desktop actions</a:t>
            </a:r>
          </a:p>
        </p:txBody>
      </p:sp>
      <p:sp>
        <p:nvSpPr>
          <p:cNvPr id="8" name="Define who may change assets, edit networks, run simulations, ove">
            <a:extLst xmlns:a="http://schemas.openxmlformats.org/drawingml/2006/main">
              <a:ext uri="{FF2B5EF4-FFF2-40B4-BE49-F238E27FC236}">
                <a16:creationId xmlns:a16="http://schemas.microsoft.com/office/drawing/2014/main" id="{66D88A98-8CC6-4BA9-BB65-E4890AC1A9F2}"/>
              </a:ext>
            </a:extLst>
          </p:cNvPr>
          <p:cNvSpPr>
            <a:spLocks xmlns:a="http://schemas.openxmlformats.org/drawingml/2006/main" noGrp="1"/>
          </p:cNvSpPr>
          <p:nvPr/>
        </p:nvSpPr>
        <p:spPr>
          <a:xfrm xmlns:a="http://schemas.openxmlformats.org/drawingml/2006/main">
            <a:off x="5419725" y="3343275"/>
            <a:ext cx="4238625"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18384B"/>
                </a:solidFill>
                <a:latin typeface="Arial"/>
                <a:ea typeface="Arial"/>
                <a:cs typeface="Arial"/>
              </a:defRPr>
            </a:pPr>
            <a:r>
              <a:rPr sz="2175" b="0">
                <a:solidFill>
                  <a:srgbClr val="18384B"/>
                </a:solidFill>
                <a:latin typeface="Arial"/>
                <a:ea typeface="Arial"/>
                <a:cs typeface="Arial"/>
              </a:rPr>
              <a:t>Define who may change assets, edit networks, run simulations, override decisions and publish. Enforce these permissions in the API.</a:t>
            </a:r>
          </a:p>
        </p:txBody>
      </p:sp>
      <p:sp>
        <p:nvSpPr>
          <p:cNvPr id="9" name="Administration">
            <a:extLst xmlns:a="http://schemas.openxmlformats.org/drawingml/2006/main">
              <a:ext uri="{FF2B5EF4-FFF2-40B4-BE49-F238E27FC236}">
                <a16:creationId xmlns:a16="http://schemas.microsoft.com/office/drawing/2014/main" id="{272C922E-3668-427D-834D-BCABC4379DCE}"/>
              </a:ext>
            </a:extLst>
          </p:cNvPr>
          <p:cNvSpPr>
            <a:spLocks xmlns:a="http://schemas.openxmlformats.org/drawingml/2006/main" noGrp="1"/>
          </p:cNvSpPr>
          <p:nvPr/>
        </p:nvSpPr>
        <p:spPr>
          <a:xfrm xmlns:a="http://schemas.openxmlformats.org/drawingml/2006/main">
            <a:off x="10229850" y="2266950"/>
            <a:ext cx="4286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007E92"/>
                </a:solidFill>
                <a:latin typeface="Arial"/>
                <a:ea typeface="Arial"/>
                <a:cs typeface="Arial"/>
              </a:defRPr>
            </a:pPr>
            <a:r>
              <a:rPr sz="2400" b="1">
                <a:solidFill>
                  <a:srgbClr val="007E92"/>
                </a:solidFill>
                <a:latin typeface="Arial"/>
                <a:ea typeface="Arial"/>
                <a:cs typeface="Arial"/>
              </a:rPr>
              <a:t>Administration</a:t>
            </a:r>
          </a:p>
        </p:txBody>
      </p:sp>
      <p:sp>
        <p:nvSpPr>
          <p:cNvPr id="10" name="Separate application user management from hosting, database, back">
            <a:extLst xmlns:a="http://schemas.openxmlformats.org/drawingml/2006/main">
              <a:ext uri="{FF2B5EF4-FFF2-40B4-BE49-F238E27FC236}">
                <a16:creationId xmlns:a16="http://schemas.microsoft.com/office/drawing/2014/main" id="{B1DC1D0A-1DF1-407F-BCEC-E74D2264EC49}"/>
              </a:ext>
            </a:extLst>
          </p:cNvPr>
          <p:cNvSpPr>
            <a:spLocks xmlns:a="http://schemas.openxmlformats.org/drawingml/2006/main" noGrp="1"/>
          </p:cNvSpPr>
          <p:nvPr/>
        </p:nvSpPr>
        <p:spPr>
          <a:xfrm xmlns:a="http://schemas.openxmlformats.org/drawingml/2006/main">
            <a:off x="10229850" y="3343275"/>
            <a:ext cx="4238625"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18384B"/>
                </a:solidFill>
                <a:latin typeface="Arial"/>
                <a:ea typeface="Arial"/>
                <a:cs typeface="Arial"/>
              </a:defRPr>
            </a:pPr>
            <a:r>
              <a:rPr sz="2175" b="0">
                <a:solidFill>
                  <a:srgbClr val="18384B"/>
                </a:solidFill>
                <a:latin typeface="Arial"/>
                <a:ea typeface="Arial"/>
                <a:cs typeface="Arial"/>
              </a:rPr>
              <a:t>Separate application user management from hosting, database, backup and security administration. Agree offboarding and audit access.</a:t>
            </a:r>
          </a:p>
        </p:txBody>
      </p:sp>
      <p:sp>
        <p:nvSpPr>
          <p:cNvPr id="11" name="Acceptance: anonymous access, cross-scope access and prohibited s">
            <a:extLst xmlns:a="http://schemas.openxmlformats.org/drawingml/2006/main">
              <a:ext uri="{FF2B5EF4-FFF2-40B4-BE49-F238E27FC236}">
                <a16:creationId xmlns:a16="http://schemas.microsoft.com/office/drawing/2014/main" id="{576EE0CD-C66A-49A8-818C-0A270FC4A15B}"/>
              </a:ext>
            </a:extLst>
          </p:cNvPr>
          <p:cNvSpPr>
            <a:spLocks xmlns:a="http://schemas.openxmlformats.org/drawingml/2006/main" noGrp="1"/>
          </p:cNvSpPr>
          <p:nvPr/>
        </p:nvSpPr>
        <p:spPr>
          <a:xfrm xmlns:a="http://schemas.openxmlformats.org/drawingml/2006/main">
            <a:off x="609600" y="7362825"/>
            <a:ext cx="14020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07E92"/>
                </a:solidFill>
                <a:latin typeface="Arial"/>
                <a:ea typeface="Arial"/>
                <a:cs typeface="Arial"/>
              </a:defRPr>
            </a:pPr>
            <a:r>
              <a:rPr sz="1875" b="1">
                <a:solidFill>
                  <a:srgbClr val="007E92"/>
                </a:solidFill>
                <a:latin typeface="Arial"/>
                <a:ea typeface="Arial"/>
                <a:cs typeface="Arial"/>
              </a:rPr>
              <a:t>Acceptance: anonymous access, cross-scope access and prohibited self-approval fail without changing data.</a:t>
            </a:r>
          </a:p>
        </p:txBody>
      </p:sp>
    </p:spTree>
    <p:extLst>
      <p:ext uri="{BB962C8B-B14F-4D97-AF65-F5344CB8AC3E}">
        <p14:creationId xmlns:p14="http://schemas.microsoft.com/office/powerpoint/2010/main" val="142737454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Data ownership and planning inputs">
            <a:extLst xmlns:a="http://schemas.openxmlformats.org/drawingml/2006/main">
              <a:ext uri="{FF2B5EF4-FFF2-40B4-BE49-F238E27FC236}">
                <a16:creationId xmlns:a16="http://schemas.microsoft.com/office/drawing/2014/main" id="{3B6EC379-20F3-44A7-A72F-DAB71C34B241}"/>
              </a:ext>
            </a:extLst>
          </p:cNvPr>
          <p:cNvSpPr>
            <a:spLocks xmlns:a="http://schemas.openxmlformats.org/drawingml/2006/main" noGrp="1"/>
          </p:cNvSpPr>
          <p:nvPr/>
        </p:nvSpPr>
        <p:spPr>
          <a:xfrm xmlns:a="http://schemas.openxmlformats.org/drawingml/2006/main">
            <a:off x="609600" y="428625"/>
            <a:ext cx="14020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374B"/>
                </a:solidFill>
                <a:latin typeface="Arial"/>
                <a:ea typeface="Arial"/>
                <a:cs typeface="Arial"/>
              </a:defRPr>
            </a:pPr>
            <a:r>
              <a:rPr sz="3300" b="1">
                <a:solidFill>
                  <a:srgbClr val="12374B"/>
                </a:solidFill>
                <a:latin typeface="Arial"/>
                <a:ea typeface="Arial"/>
                <a:cs typeface="Arial"/>
              </a:rPr>
              <a:t>Data ownership and planning inputs</a:t>
            </a:r>
          </a:p>
        </p:txBody>
      </p:sp>
      <p:sp>
        <p:nvSpPr>
          <p:cNvPr id="2" name="Business ownership should follow the records each team maintains.">
            <a:extLst xmlns:a="http://schemas.openxmlformats.org/drawingml/2006/main">
              <a:ext uri="{FF2B5EF4-FFF2-40B4-BE49-F238E27FC236}">
                <a16:creationId xmlns:a16="http://schemas.microsoft.com/office/drawing/2014/main" id="{C9FD3F2A-0A9E-4773-8E21-32A66763F2AB}"/>
              </a:ext>
            </a:extLst>
          </p:cNvPr>
          <p:cNvSpPr>
            <a:spLocks xmlns:a="http://schemas.openxmlformats.org/drawingml/2006/main" noGrp="1"/>
          </p:cNvSpPr>
          <p:nvPr/>
        </p:nvSpPr>
        <p:spPr>
          <a:xfrm xmlns:a="http://schemas.openxmlformats.org/drawingml/2006/main">
            <a:off x="609600" y="1304925"/>
            <a:ext cx="1395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547080"/>
                </a:solidFill>
                <a:latin typeface="Arial"/>
                <a:ea typeface="Arial"/>
                <a:cs typeface="Arial"/>
              </a:defRPr>
            </a:pPr>
            <a:r>
              <a:rPr sz="1875" b="0">
                <a:solidFill>
                  <a:srgbClr val="547080"/>
                </a:solidFill>
                <a:latin typeface="Arial"/>
                <a:ea typeface="Arial"/>
                <a:cs typeface="Arial"/>
              </a:rPr>
              <a:t>Business ownership should follow the records each team maintains. Stable asset IDs connect the cycle.</a:t>
            </a:r>
          </a:p>
        </p:txBody>
      </p:sp>
      <p:sp>
        <p:nvSpPr>
          <p:cNvPr id="3" name="WIDispatch   /   IT briefing   /   29 September 2026">
            <a:extLst xmlns:a="http://schemas.openxmlformats.org/drawingml/2006/main">
              <a:ext uri="{FF2B5EF4-FFF2-40B4-BE49-F238E27FC236}">
                <a16:creationId xmlns:a16="http://schemas.microsoft.com/office/drawing/2014/main" id="{5F8C7750-BA1B-4106-A4E2-0F7D88876D14}"/>
              </a:ext>
            </a:extLst>
          </p:cNvPr>
          <p:cNvSpPr>
            <a:spLocks xmlns:a="http://schemas.openxmlformats.org/drawingml/2006/main" noGrp="1"/>
          </p:cNvSpPr>
          <p:nvPr/>
        </p:nvSpPr>
        <p:spPr>
          <a:xfrm xmlns:a="http://schemas.openxmlformats.org/drawingml/2006/main">
            <a:off x="609600" y="8172450"/>
            <a:ext cx="1162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547080"/>
                </a:solidFill>
                <a:latin typeface="Arial"/>
                <a:ea typeface="Arial"/>
                <a:cs typeface="Arial"/>
              </a:defRPr>
            </a:pPr>
            <a:r>
              <a:rPr sz="1275" b="0">
                <a:solidFill>
                  <a:srgbClr val="547080"/>
                </a:solidFill>
                <a:latin typeface="Arial"/>
                <a:ea typeface="Arial"/>
                <a:cs typeface="Arial"/>
              </a:rPr>
              <a:t>WIDispatch   /   IT briefing   /   29 September 2026</a:t>
            </a:r>
          </a:p>
        </p:txBody>
      </p:sp>
      <p:sp>
        <p:nvSpPr>
          <p:cNvPr id="4" name="06">
            <a:extLst xmlns:a="http://schemas.openxmlformats.org/drawingml/2006/main">
              <a:ext uri="{FF2B5EF4-FFF2-40B4-BE49-F238E27FC236}">
                <a16:creationId xmlns:a16="http://schemas.microsoft.com/office/drawing/2014/main" id="{4C83013E-0874-4A0D-B17E-DEA9569E92C9}"/>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547080"/>
                </a:solidFill>
                <a:latin typeface="Arial"/>
                <a:ea typeface="Arial"/>
                <a:cs typeface="Arial"/>
              </a:defRPr>
            </a:pPr>
            <a:r>
              <a:rPr sz="1650" b="0">
                <a:solidFill>
                  <a:srgbClr val="547080"/>
                </a:solidFill>
                <a:latin typeface="Arial"/>
                <a:ea typeface="Arial"/>
                <a:cs typeface="Arial"/>
              </a:rPr>
              <a:t>06</a:t>
            </a:r>
          </a:p>
        </p:txBody>
      </p:sp>
      <p:graphicFrame>
        <p:nvGraphicFramePr>
          <p:cNvPr id="11" name=""/>
          <p:cNvGraphicFramePr/>
          <p:nvPr/>
        </p:nvGraphicFramePr>
        <p:xfrm>
          <a:off xmlns:a="http://schemas.openxmlformats.org/drawingml/2006/main" x="609600" y="2076450"/>
          <a:ext xmlns:a="http://schemas.openxmlformats.org/drawingml/2006/main" cx="14020800" cy="5105400"/>
        </p:xfrm>
        <a:graphic xmlns:a="http://schemas.openxmlformats.org/drawingml/2006/main">
          <a:graphicData uri="http://schemas.openxmlformats.org/drawingml/2006/table">
            <a:tbl>
              <a:tblPr/>
              <a:tblGrid>
                <a:gridCol w="3333750"/>
                <a:gridCol w="4476750"/>
                <a:gridCol w="6210300"/>
              </a:tblGrid>
              <a:tr h="638175">
                <a:tc>
                  <a:txBody>
                    <a:bodyPr/>
                    <a:lstStyle/>
                    <a:p>
                      <a:r>
                        <a:rPr sz="1875" b="1">
                          <a:solidFill>
                            <a:srgbClr val="FFFFFF"/>
                          </a:solidFill>
                          <a:latin typeface="Arial"/>
                          <a:ea typeface="Arial"/>
                          <a:cs typeface="Arial"/>
                        </a:rPr>
                        <a:t>Information</a:t>
                      </a:r>
                    </a:p>
                  </a:txBody>
                  <a:tcPr marL="133350" marR="133350" marT="142875" marB="123825" anchor="ctr">
                    <a:solidFill>
                      <a:srgbClr val="12374B"/>
                    </a:solidFill>
                  </a:tcPr>
                </a:tc>
                <a:tc>
                  <a:txBody>
                    <a:bodyPr/>
                    <a:lstStyle/>
                    <a:p>
                      <a:r>
                        <a:rPr sz="1875" b="1">
                          <a:solidFill>
                            <a:srgbClr val="FFFFFF"/>
                          </a:solidFill>
                          <a:latin typeface="Arial"/>
                          <a:ea typeface="Arial"/>
                          <a:cs typeface="Arial"/>
                        </a:rPr>
                        <a:t>Operational author / steward</a:t>
                      </a:r>
                    </a:p>
                  </a:txBody>
                  <a:tcPr marL="133350" marR="133350" marT="142875" marB="123825" anchor="ctr">
                    <a:solidFill>
                      <a:srgbClr val="12374B"/>
                    </a:solidFill>
                  </a:tcPr>
                </a:tc>
                <a:tc>
                  <a:txBody>
                    <a:bodyPr/>
                    <a:lstStyle/>
                    <a:p>
                      <a:r>
                        <a:rPr sz="1875" b="1">
                          <a:solidFill>
                            <a:srgbClr val="FFFFFF"/>
                          </a:solidFill>
                          <a:latin typeface="Arial"/>
                          <a:ea typeface="Arial"/>
                          <a:cs typeface="Arial"/>
                        </a:rPr>
                        <a:t>Planning or reconciliation use</a:t>
                      </a:r>
                    </a:p>
                  </a:txBody>
                  <a:tcPr marL="133350" marR="133350" marT="142875" marB="123825" anchor="ctr">
                    <a:solidFill>
                      <a:srgbClr val="12374B"/>
                    </a:solidFill>
                  </a:tcPr>
                </a:tc>
              </a:tr>
              <a:tr h="638175">
                <a:tc>
                  <a:txBody>
                    <a:bodyPr/>
                    <a:lstStyle/>
                    <a:p>
                      <a:r>
                        <a:rPr sz="1875">
                          <a:solidFill>
                            <a:srgbClr val="18384B"/>
                          </a:solidFill>
                          <a:latin typeface="Arial"/>
                          <a:ea typeface="Arial"/>
                          <a:cs typeface="Arial"/>
                        </a:rPr>
                        <a:t>Assets / topology</a:t>
                      </a:r>
                    </a:p>
                  </a:txBody>
                  <a:tcPr marL="133350" marR="133350" marT="142875" marB="123825" anchor="ctr">
                    <a:solidFill>
                      <a:srgbClr val="F1F6F8"/>
                    </a:solidFill>
                  </a:tcPr>
                </a:tc>
                <a:tc>
                  <a:txBody>
                    <a:bodyPr/>
                    <a:lstStyle/>
                    <a:p>
                      <a:r>
                        <a:rPr sz="1875">
                          <a:solidFill>
                            <a:srgbClr val="18384B"/>
                          </a:solidFill>
                          <a:latin typeface="Arial"/>
                          <a:ea typeface="Arial"/>
                          <a:cs typeface="Arial"/>
                        </a:rPr>
                        <a:t>Asset steward / Desktop planner</a:t>
                      </a:r>
                    </a:p>
                  </a:txBody>
                  <a:tcPr marL="133350" marR="133350" marT="142875" marB="123825" anchor="ctr">
                    <a:solidFill>
                      <a:srgbClr val="F1F6F8"/>
                    </a:solidFill>
                  </a:tcPr>
                </a:tc>
                <a:tc>
                  <a:txBody>
                    <a:bodyPr/>
                    <a:lstStyle/>
                    <a:p>
                      <a:r>
                        <a:rPr sz="1875">
                          <a:solidFill>
                            <a:srgbClr val="18384B"/>
                          </a:solidFill>
                          <a:latin typeface="Arial"/>
                          <a:ea typeface="Arial"/>
                          <a:cs typeface="Arial"/>
                        </a:rPr>
                        <a:t>Shared identity, network connectivity and capacities</a:t>
                      </a:r>
                    </a:p>
                  </a:txBody>
                  <a:tcPr marL="133350" marR="133350" marT="142875" marB="123825" anchor="ctr">
                    <a:solidFill>
                      <a:srgbClr val="F1F6F8"/>
                    </a:solidFill>
                  </a:tcPr>
                </a:tc>
              </a:tr>
              <a:tr h="638175">
                <a:tc>
                  <a:txBody>
                    <a:bodyPr/>
                    <a:lstStyle/>
                    <a:p>
                      <a:r>
                        <a:rPr sz="1875">
                          <a:solidFill>
                            <a:srgbClr val="18384B"/>
                          </a:solidFill>
                          <a:latin typeface="Arial"/>
                          <a:ea typeface="Arial"/>
                          <a:cs typeface="Arial"/>
                        </a:rPr>
                        <a:t>Production</a:t>
                      </a:r>
                    </a:p>
                  </a:txBody>
                  <a:tcPr marL="133350" marR="133350" marT="142875" marB="123825" anchor="ctr">
                    <a:solidFill>
                      <a:srgbClr val="FFFFFF"/>
                    </a:solidFill>
                  </a:tcPr>
                </a:tc>
                <a:tc>
                  <a:txBody>
                    <a:bodyPr/>
                    <a:lstStyle/>
                    <a:p>
                      <a:r>
                        <a:rPr sz="1875">
                          <a:solidFill>
                            <a:srgbClr val="18384B"/>
                          </a:solidFill>
                          <a:latin typeface="Arial"/>
                          <a:ea typeface="Arial"/>
                          <a:cs typeface="Arial"/>
                        </a:rPr>
                        <a:t>Production team</a:t>
                      </a:r>
                    </a:p>
                  </a:txBody>
                  <a:tcPr marL="133350" marR="133350" marT="142875" marB="123825" anchor="ctr">
                    <a:solidFill>
                      <a:srgbClr val="FFFFFF"/>
                    </a:solidFill>
                  </a:tcPr>
                </a:tc>
                <a:tc>
                  <a:txBody>
                    <a:bodyPr/>
                    <a:lstStyle/>
                    <a:p>
                      <a:r>
                        <a:rPr sz="1875">
                          <a:solidFill>
                            <a:srgbClr val="18384B"/>
                          </a:solidFill>
                          <a:latin typeface="Arial"/>
                          <a:ea typeface="Arial"/>
                          <a:cs typeface="Arial"/>
                        </a:rPr>
                        <a:t>Capacity context, operating records and actual output</a:t>
                      </a:r>
                    </a:p>
                  </a:txBody>
                  <a:tcPr marL="133350" marR="133350" marT="142875" marB="123825" anchor="ctr">
                    <a:solidFill>
                      <a:srgbClr val="FFFFFF"/>
                    </a:solidFill>
                  </a:tcPr>
                </a:tc>
              </a:tr>
              <a:tr h="638175">
                <a:tc>
                  <a:txBody>
                    <a:bodyPr/>
                    <a:lstStyle/>
                    <a:p>
                      <a:r>
                        <a:rPr sz="1875">
                          <a:solidFill>
                            <a:srgbClr val="18384B"/>
                          </a:solidFill>
                          <a:latin typeface="Arial"/>
                          <a:ea typeface="Arial"/>
                          <a:cs typeface="Arial"/>
                        </a:rPr>
                        <a:t>Demand / receipts</a:t>
                      </a:r>
                    </a:p>
                  </a:txBody>
                  <a:tcPr marL="133350" marR="133350" marT="142875" marB="123825" anchor="ctr">
                    <a:solidFill>
                      <a:srgbClr val="F1F6F8"/>
                    </a:solidFill>
                  </a:tcPr>
                </a:tc>
                <a:tc>
                  <a:txBody>
                    <a:bodyPr/>
                    <a:lstStyle/>
                    <a:p>
                      <a:r>
                        <a:rPr sz="1875">
                          <a:solidFill>
                            <a:srgbClr val="18384B"/>
                          </a:solidFill>
                          <a:latin typeface="Arial"/>
                          <a:ea typeface="Arial"/>
                          <a:cs typeface="Arial"/>
                        </a:rPr>
                        <a:t>Demand team</a:t>
                      </a:r>
                    </a:p>
                  </a:txBody>
                  <a:tcPr marL="133350" marR="133350" marT="142875" marB="123825" anchor="ctr">
                    <a:solidFill>
                      <a:srgbClr val="F1F6F8"/>
                    </a:solidFill>
                  </a:tcPr>
                </a:tc>
                <a:tc>
                  <a:txBody>
                    <a:bodyPr/>
                    <a:lstStyle/>
                    <a:p>
                      <a:r>
                        <a:rPr sz="1875">
                          <a:solidFill>
                            <a:srgbClr val="18384B"/>
                          </a:solidFill>
                          <a:latin typeface="Arial"/>
                          <a:ea typeface="Arial"/>
                          <a:cs typeface="Arial"/>
                        </a:rPr>
                        <a:t>Approved requirements and actual received volume</a:t>
                      </a:r>
                    </a:p>
                  </a:txBody>
                  <a:tcPr marL="133350" marR="133350" marT="142875" marB="123825" anchor="ctr">
                    <a:solidFill>
                      <a:srgbClr val="F1F6F8"/>
                    </a:solidFill>
                  </a:tcPr>
                </a:tc>
              </a:tr>
              <a:tr h="638175">
                <a:tc>
                  <a:txBody>
                    <a:bodyPr/>
                    <a:lstStyle/>
                    <a:p>
                      <a:r>
                        <a:rPr sz="1875">
                          <a:solidFill>
                            <a:srgbClr val="18384B"/>
                          </a:solidFill>
                          <a:latin typeface="Arial"/>
                          <a:ea typeface="Arial"/>
                          <a:cs typeface="Arial"/>
                        </a:rPr>
                        <a:t>Maintenance / outages</a:t>
                      </a:r>
                    </a:p>
                  </a:txBody>
                  <a:tcPr marL="133350" marR="133350" marT="142875" marB="123825" anchor="ctr">
                    <a:solidFill>
                      <a:srgbClr val="FFFFFF"/>
                    </a:solidFill>
                  </a:tcPr>
                </a:tc>
                <a:tc>
                  <a:txBody>
                    <a:bodyPr/>
                    <a:lstStyle/>
                    <a:p>
                      <a:r>
                        <a:rPr sz="1875">
                          <a:solidFill>
                            <a:srgbClr val="18384B"/>
                          </a:solidFill>
                          <a:latin typeface="Arial"/>
                          <a:ea typeface="Arial"/>
                          <a:cs typeface="Arial"/>
                        </a:rPr>
                        <a:t>Relevant asset operations team</a:t>
                      </a:r>
                    </a:p>
                  </a:txBody>
                  <a:tcPr marL="133350" marR="133350" marT="142875" marB="123825" anchor="ctr">
                    <a:solidFill>
                      <a:srgbClr val="FFFFFF"/>
                    </a:solidFill>
                  </a:tcPr>
                </a:tc>
                <a:tc>
                  <a:txBody>
                    <a:bodyPr/>
                    <a:lstStyle/>
                    <a:p>
                      <a:r>
                        <a:rPr sz="1875">
                          <a:solidFill>
                            <a:srgbClr val="18384B"/>
                          </a:solidFill>
                          <a:latin typeface="Arial"/>
                          <a:ea typeface="Arial"/>
                          <a:cs typeface="Arial"/>
                        </a:rPr>
                        <a:t>Availability losses and operating constraints</a:t>
                      </a:r>
                    </a:p>
                  </a:txBody>
                  <a:tcPr marL="133350" marR="133350" marT="142875" marB="123825" anchor="ctr">
                    <a:solidFill>
                      <a:srgbClr val="FFFFFF"/>
                    </a:solidFill>
                  </a:tcPr>
                </a:tc>
              </a:tr>
              <a:tr h="638175">
                <a:tc>
                  <a:txBody>
                    <a:bodyPr/>
                    <a:lstStyle/>
                    <a:p>
                      <a:r>
                        <a:rPr sz="1875">
                          <a:solidFill>
                            <a:srgbClr val="18384B"/>
                          </a:solidFill>
                          <a:latin typeface="Arial"/>
                          <a:ea typeface="Arial"/>
                          <a:cs typeface="Arial"/>
                        </a:rPr>
                        <a:t>Water movement</a:t>
                      </a:r>
                    </a:p>
                  </a:txBody>
                  <a:tcPr marL="133350" marR="133350" marT="142875" marB="123825" anchor="ctr">
                    <a:solidFill>
                      <a:srgbClr val="F1F6F8"/>
                    </a:solidFill>
                  </a:tcPr>
                </a:tc>
                <a:tc>
                  <a:txBody>
                    <a:bodyPr/>
                    <a:lstStyle/>
                    <a:p>
                      <a:r>
                        <a:rPr sz="1875">
                          <a:solidFill>
                            <a:srgbClr val="18384B"/>
                          </a:solidFill>
                          <a:latin typeface="Arial"/>
                          <a:ea typeface="Arial"/>
                          <a:cs typeface="Arial"/>
                        </a:rPr>
                        <a:t>Transmission team</a:t>
                      </a:r>
                    </a:p>
                  </a:txBody>
                  <a:tcPr marL="133350" marR="133350" marT="142875" marB="123825" anchor="ctr">
                    <a:solidFill>
                      <a:srgbClr val="F1F6F8"/>
                    </a:solidFill>
                  </a:tcPr>
                </a:tc>
                <a:tc>
                  <a:txBody>
                    <a:bodyPr/>
                    <a:lstStyle/>
                    <a:p>
                      <a:r>
                        <a:rPr sz="1875">
                          <a:solidFill>
                            <a:srgbClr val="18384B"/>
                          </a:solidFill>
                          <a:latin typeface="Arial"/>
                          <a:ea typeface="Arial"/>
                          <a:cs typeface="Arial"/>
                        </a:rPr>
                        <a:t>Receipt and delivery reconciliation</a:t>
                      </a:r>
                    </a:p>
                  </a:txBody>
                  <a:tcPr marL="133350" marR="133350" marT="142875" marB="123825" anchor="ctr">
                    <a:solidFill>
                      <a:srgbClr val="F1F6F8"/>
                    </a:solidFill>
                  </a:tcPr>
                </a:tc>
              </a:tr>
              <a:tr h="638175">
                <a:tc>
                  <a:txBody>
                    <a:bodyPr/>
                    <a:lstStyle/>
                    <a:p>
                      <a:r>
                        <a:rPr sz="1875">
                          <a:solidFill>
                            <a:srgbClr val="18384B"/>
                          </a:solidFill>
                          <a:latin typeface="Arial"/>
                          <a:ea typeface="Arial"/>
                          <a:cs typeface="Arial"/>
                        </a:rPr>
                        <a:t>Cost assumptions</a:t>
                      </a:r>
                    </a:p>
                  </a:txBody>
                  <a:tcPr marL="133350" marR="133350" marT="142875" marB="123825" anchor="ctr">
                    <a:solidFill>
                      <a:srgbClr val="FFFFFF"/>
                    </a:solidFill>
                  </a:tcPr>
                </a:tc>
                <a:tc>
                  <a:txBody>
                    <a:bodyPr/>
                    <a:lstStyle/>
                    <a:p>
                      <a:r>
                        <a:rPr sz="1875">
                          <a:solidFill>
                            <a:srgbClr val="18384B"/>
                          </a:solidFill>
                          <a:latin typeface="Arial"/>
                          <a:ea typeface="Arial"/>
                          <a:cs typeface="Arial"/>
                        </a:rPr>
                        <a:t>Economics team and approvers</a:t>
                      </a:r>
                    </a:p>
                  </a:txBody>
                  <a:tcPr marL="133350" marR="133350" marT="142875" marB="123825" anchor="ctr">
                    <a:solidFill>
                      <a:srgbClr val="FFFFFF"/>
                    </a:solidFill>
                  </a:tcPr>
                </a:tc>
                <a:tc>
                  <a:txBody>
                    <a:bodyPr/>
                    <a:lstStyle/>
                    <a:p>
                      <a:r>
                        <a:rPr sz="1875">
                          <a:solidFill>
                            <a:srgbClr val="18384B"/>
                          </a:solidFill>
                          <a:latin typeface="Arial"/>
                          <a:ea typeface="Arial"/>
                          <a:cs typeface="Arial"/>
                        </a:rPr>
                        <a:t>Effective variable O&amp;M for dispatch</a:t>
                      </a:r>
                    </a:p>
                  </a:txBody>
                  <a:tcPr marL="133350" marR="133350" marT="142875" marB="123825" anchor="ctr">
                    <a:solidFill>
                      <a:srgbClr val="FFFFFF"/>
                    </a:solidFill>
                  </a:tcPr>
                </a:tc>
              </a:tr>
              <a:tr h="638175">
                <a:tc>
                  <a:txBody>
                    <a:bodyPr/>
                    <a:lstStyle/>
                    <a:p>
                      <a:r>
                        <a:rPr sz="1875">
                          <a:solidFill>
                            <a:srgbClr val="18384B"/>
                          </a:solidFill>
                          <a:latin typeface="Arial"/>
                          <a:ea typeface="Arial"/>
                          <a:cs typeface="Arial"/>
                        </a:rPr>
                        <a:t>Configuration / plans</a:t>
                      </a:r>
                    </a:p>
                  </a:txBody>
                  <a:tcPr marL="133350" marR="133350" marT="142875" marB="123825" anchor="ctr">
                    <a:solidFill>
                      <a:srgbClr val="F1F6F8"/>
                    </a:solidFill>
                  </a:tcPr>
                </a:tc>
                <a:tc>
                  <a:txBody>
                    <a:bodyPr/>
                    <a:lstStyle/>
                    <a:p>
                      <a:r>
                        <a:rPr sz="1875">
                          <a:solidFill>
                            <a:srgbClr val="18384B"/>
                          </a:solidFill>
                          <a:latin typeface="Arial"/>
                          <a:ea typeface="Arial"/>
                          <a:cs typeface="Arial"/>
                        </a:rPr>
                        <a:t>Desktop planner</a:t>
                      </a:r>
                    </a:p>
                  </a:txBody>
                  <a:tcPr marL="133350" marR="133350" marT="142875" marB="123825" anchor="ctr">
                    <a:solidFill>
                      <a:srgbClr val="F1F6F8"/>
                    </a:solidFill>
                  </a:tcPr>
                </a:tc>
                <a:tc>
                  <a:txBody>
                    <a:bodyPr/>
                    <a:lstStyle/>
                    <a:p>
                      <a:r>
                        <a:rPr sz="1875">
                          <a:solidFill>
                            <a:srgbClr val="18384B"/>
                          </a:solidFill>
                          <a:latin typeface="Arial"/>
                          <a:ea typeface="Arial"/>
                          <a:cs typeface="Arial"/>
                        </a:rPr>
                        <a:t>Scenario assumptions, results and reviewed decisions</a:t>
                      </a:r>
                    </a:p>
                  </a:txBody>
                  <a:tcPr marL="133350" marR="133350" marT="142875" marB="123825" anchor="ctr">
                    <a:solidFill>
                      <a:srgbClr val="F1F6F8"/>
                    </a:solidFill>
                  </a:tcPr>
                </a:tc>
              </a:tr>
            </a:tbl>
          </a:graphicData>
        </a:graphic>
      </p:graphicFrame>
      <p:sp>
        <p:nvSpPr>
          <p:cNvPr id="6" name="Portal input approval, simulation, decision review and publicatio">
            <a:extLst xmlns:a="http://schemas.openxmlformats.org/drawingml/2006/main">
              <a:ext uri="{FF2B5EF4-FFF2-40B4-BE49-F238E27FC236}">
                <a16:creationId xmlns:a16="http://schemas.microsoft.com/office/drawing/2014/main" id="{601E2AE9-BC87-4100-B1FE-C98A15D6DB9C}"/>
              </a:ext>
            </a:extLst>
          </p:cNvPr>
          <p:cNvSpPr>
            <a:spLocks xmlns:a="http://schemas.openxmlformats.org/drawingml/2006/main" noGrp="1"/>
          </p:cNvSpPr>
          <p:nvPr/>
        </p:nvSpPr>
        <p:spPr>
          <a:xfrm xmlns:a="http://schemas.openxmlformats.org/drawingml/2006/main">
            <a:off x="609600" y="7362825"/>
            <a:ext cx="14020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07E92"/>
                </a:solidFill>
                <a:latin typeface="Arial"/>
                <a:ea typeface="Arial"/>
                <a:cs typeface="Arial"/>
              </a:defRPr>
            </a:pPr>
            <a:r>
              <a:rPr sz="1875" b="1">
                <a:solidFill>
                  <a:srgbClr val="007E92"/>
                </a:solidFill>
                <a:latin typeface="Arial"/>
                <a:ea typeface="Arial"/>
                <a:cs typeface="Arial"/>
              </a:rPr>
              <a:t>Portal input approval, simulation, decision review and publication remain distinct steps.</a:t>
            </a:r>
          </a:p>
        </p:txBody>
      </p:sp>
    </p:spTree>
    <p:extLst>
      <p:ext uri="{BB962C8B-B14F-4D97-AF65-F5344CB8AC3E}">
        <p14:creationId xmlns:p14="http://schemas.microsoft.com/office/powerpoint/2010/main" val="41305700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What publication writes back">
            <a:extLst xmlns:a="http://schemas.openxmlformats.org/drawingml/2006/main">
              <a:ext uri="{FF2B5EF4-FFF2-40B4-BE49-F238E27FC236}">
                <a16:creationId xmlns:a16="http://schemas.microsoft.com/office/drawing/2014/main" id="{2FF80BDA-9B84-4D90-B5FA-F32003364001}"/>
              </a:ext>
            </a:extLst>
          </p:cNvPr>
          <p:cNvSpPr>
            <a:spLocks xmlns:a="http://schemas.openxmlformats.org/drawingml/2006/main" noGrp="1"/>
          </p:cNvSpPr>
          <p:nvPr/>
        </p:nvSpPr>
        <p:spPr>
          <a:xfrm xmlns:a="http://schemas.openxmlformats.org/drawingml/2006/main">
            <a:off x="609600" y="428625"/>
            <a:ext cx="14020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374B"/>
                </a:solidFill>
                <a:latin typeface="Arial"/>
                <a:ea typeface="Arial"/>
                <a:cs typeface="Arial"/>
              </a:defRPr>
            </a:pPr>
            <a:r>
              <a:rPr sz="3300" b="1">
                <a:solidFill>
                  <a:srgbClr val="12374B"/>
                </a:solidFill>
                <a:latin typeface="Arial"/>
                <a:ea typeface="Arial"/>
                <a:cs typeface="Arial"/>
              </a:rPr>
              <a:t>What publication writes back</a:t>
            </a:r>
          </a:p>
        </p:txBody>
      </p:sp>
      <p:sp>
        <p:nvSpPr>
          <p:cNvPr id="2" name="The inspected publish path updates three operational collections,">
            <a:extLst xmlns:a="http://schemas.openxmlformats.org/drawingml/2006/main">
              <a:ext uri="{FF2B5EF4-FFF2-40B4-BE49-F238E27FC236}">
                <a16:creationId xmlns:a16="http://schemas.microsoft.com/office/drawing/2014/main" id="{378C10EA-50D4-4704-BFF2-EEF2654E5BC5}"/>
              </a:ext>
            </a:extLst>
          </p:cNvPr>
          <p:cNvSpPr>
            <a:spLocks xmlns:a="http://schemas.openxmlformats.org/drawingml/2006/main" noGrp="1"/>
          </p:cNvSpPr>
          <p:nvPr/>
        </p:nvSpPr>
        <p:spPr>
          <a:xfrm xmlns:a="http://schemas.openxmlformats.org/drawingml/2006/main">
            <a:off x="609600" y="1304925"/>
            <a:ext cx="1395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547080"/>
                </a:solidFill>
                <a:latin typeface="Arial"/>
                <a:ea typeface="Arial"/>
                <a:cs typeface="Arial"/>
              </a:defRPr>
            </a:pPr>
            <a:r>
              <a:rPr sz="1875" b="0">
                <a:solidFill>
                  <a:srgbClr val="547080"/>
                </a:solidFill>
                <a:latin typeface="Arial"/>
                <a:ea typeface="Arial"/>
                <a:cs typeface="Arial"/>
              </a:rPr>
              <a:t>The inspected publish path updates three operational collections, then marks the plan as published.</a:t>
            </a:r>
          </a:p>
        </p:txBody>
      </p:sp>
      <p:sp>
        <p:nvSpPr>
          <p:cNvPr id="3" name="WIDispatch   /   IT briefing   /   29 September 2026">
            <a:extLst xmlns:a="http://schemas.openxmlformats.org/drawingml/2006/main">
              <a:ext uri="{FF2B5EF4-FFF2-40B4-BE49-F238E27FC236}">
                <a16:creationId xmlns:a16="http://schemas.microsoft.com/office/drawing/2014/main" id="{DB868824-9DDA-4CD2-8B47-79E16E5CAE97}"/>
              </a:ext>
            </a:extLst>
          </p:cNvPr>
          <p:cNvSpPr>
            <a:spLocks xmlns:a="http://schemas.openxmlformats.org/drawingml/2006/main" noGrp="1"/>
          </p:cNvSpPr>
          <p:nvPr/>
        </p:nvSpPr>
        <p:spPr>
          <a:xfrm xmlns:a="http://schemas.openxmlformats.org/drawingml/2006/main">
            <a:off x="609600" y="8172450"/>
            <a:ext cx="1162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547080"/>
                </a:solidFill>
                <a:latin typeface="Arial"/>
                <a:ea typeface="Arial"/>
                <a:cs typeface="Arial"/>
              </a:defRPr>
            </a:pPr>
            <a:r>
              <a:rPr sz="1275" b="0">
                <a:solidFill>
                  <a:srgbClr val="547080"/>
                </a:solidFill>
                <a:latin typeface="Arial"/>
                <a:ea typeface="Arial"/>
                <a:cs typeface="Arial"/>
              </a:rPr>
              <a:t>WIDispatch   /   IT briefing   /   29 September 2026</a:t>
            </a:r>
          </a:p>
        </p:txBody>
      </p:sp>
      <p:sp>
        <p:nvSpPr>
          <p:cNvPr id="4" name="07">
            <a:extLst xmlns:a="http://schemas.openxmlformats.org/drawingml/2006/main">
              <a:ext uri="{FF2B5EF4-FFF2-40B4-BE49-F238E27FC236}">
                <a16:creationId xmlns:a16="http://schemas.microsoft.com/office/drawing/2014/main" id="{6EE65F98-692C-4FBE-8028-58C1CB96239D}"/>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547080"/>
                </a:solidFill>
                <a:latin typeface="Arial"/>
                <a:ea typeface="Arial"/>
                <a:cs typeface="Arial"/>
              </a:defRPr>
            </a:pPr>
            <a:r>
              <a:rPr sz="1650" b="0">
                <a:solidFill>
                  <a:srgbClr val="547080"/>
                </a:solidFill>
                <a:latin typeface="Arial"/>
                <a:ea typeface="Arial"/>
                <a:cs typeface="Arial"/>
              </a:rPr>
              <a:t>07</a:t>
            </a:r>
          </a:p>
        </p:txBody>
      </p:sp>
      <p:graphicFrame>
        <p:nvGraphicFramePr>
          <p:cNvPr id="11" name=""/>
          <p:cNvGraphicFramePr/>
          <p:nvPr/>
        </p:nvGraphicFramePr>
        <p:xfrm>
          <a:off xmlns:a="http://schemas.openxmlformats.org/drawingml/2006/main" x="609600" y="2076450"/>
          <a:ext xmlns:a="http://schemas.openxmlformats.org/drawingml/2006/main" cx="14020800" cy="4857750"/>
        </p:xfrm>
        <a:graphic xmlns:a="http://schemas.openxmlformats.org/drawingml/2006/main">
          <a:graphicData uri="http://schemas.openxmlformats.org/drawingml/2006/table">
            <a:tbl>
              <a:tblPr/>
              <a:tblGrid>
                <a:gridCol w="3190875"/>
                <a:gridCol w="5619750"/>
                <a:gridCol w="5210175"/>
              </a:tblGrid>
              <a:tr h="809625">
                <a:tc>
                  <a:txBody>
                    <a:bodyPr/>
                    <a:lstStyle/>
                    <a:p>
                      <a:r>
                        <a:rPr sz="1875" b="1">
                          <a:solidFill>
                            <a:srgbClr val="FFFFFF"/>
                          </a:solidFill>
                          <a:latin typeface="Arial"/>
                          <a:ea typeface="Arial"/>
                          <a:cs typeface="Arial"/>
                        </a:rPr>
                        <a:t>Destination</a:t>
                      </a:r>
                    </a:p>
                  </a:txBody>
                  <a:tcPr marL="133350" marR="133350" marT="142875" marB="123825" anchor="ctr">
                    <a:solidFill>
                      <a:srgbClr val="12374B"/>
                    </a:solidFill>
                  </a:tcPr>
                </a:tc>
                <a:tc>
                  <a:txBody>
                    <a:bodyPr/>
                    <a:lstStyle/>
                    <a:p>
                      <a:r>
                        <a:rPr sz="1875" b="1">
                          <a:solidFill>
                            <a:srgbClr val="FFFFFF"/>
                          </a:solidFill>
                          <a:latin typeface="Arial"/>
                          <a:ea typeface="Arial"/>
                          <a:cs typeface="Arial"/>
                        </a:rPr>
                        <a:t>Published values</a:t>
                      </a:r>
                    </a:p>
                  </a:txBody>
                  <a:tcPr marL="133350" marR="133350" marT="142875" marB="123825" anchor="ctr">
                    <a:solidFill>
                      <a:srgbClr val="12374B"/>
                    </a:solidFill>
                  </a:tcPr>
                </a:tc>
                <a:tc>
                  <a:txBody>
                    <a:bodyPr/>
                    <a:lstStyle/>
                    <a:p>
                      <a:r>
                        <a:rPr sz="1875" b="1">
                          <a:solidFill>
                            <a:srgbClr val="FFFFFF"/>
                          </a:solidFill>
                          <a:latin typeface="Arial"/>
                          <a:ea typeface="Arial"/>
                          <a:cs typeface="Arial"/>
                        </a:rPr>
                        <a:t>Preserved / important limit</a:t>
                      </a:r>
                    </a:p>
                  </a:txBody>
                  <a:tcPr marL="133350" marR="133350" marT="142875" marB="123825" anchor="ctr">
                    <a:solidFill>
                      <a:srgbClr val="12374B"/>
                    </a:solidFill>
                  </a:tcPr>
                </a:tc>
              </a:tr>
              <a:tr h="809625">
                <a:tc>
                  <a:txBody>
                    <a:bodyPr/>
                    <a:lstStyle/>
                    <a:p>
                      <a:r>
                        <a:rPr sz="1875">
                          <a:solidFill>
                            <a:srgbClr val="18384B"/>
                          </a:solidFill>
                          <a:latin typeface="Arial"/>
                          <a:ea typeface="Arial"/>
                          <a:cs typeface="Arial"/>
                        </a:rPr>
                        <a:t>Production inputs</a:t>
                      </a:r>
                    </a:p>
                  </a:txBody>
                  <a:tcPr marL="133350" marR="133350" marT="142875" marB="123825" anchor="ctr">
                    <a:solidFill>
                      <a:srgbClr val="F1F6F8"/>
                    </a:solidFill>
                  </a:tcPr>
                </a:tc>
                <a:tc>
                  <a:txBody>
                    <a:bodyPr/>
                    <a:lstStyle/>
                    <a:p>
                      <a:r>
                        <a:rPr sz="1875">
                          <a:solidFill>
                            <a:srgbClr val="18384B"/>
                          </a:solidFill>
                          <a:latin typeface="Arial"/>
                          <a:ea typeface="Arial"/>
                          <a:cs typeface="Arial"/>
                        </a:rPr>
                        <a:t>Requested production, decision status and plan ID</a:t>
                      </a:r>
                    </a:p>
                  </a:txBody>
                  <a:tcPr marL="133350" marR="133350" marT="142875" marB="123825" anchor="ctr">
                    <a:solidFill>
                      <a:srgbClr val="F1F6F8"/>
                    </a:solidFill>
                  </a:tcPr>
                </a:tc>
                <a:tc>
                  <a:txBody>
                    <a:bodyPr/>
                    <a:lstStyle/>
                    <a:p>
                      <a:r>
                        <a:rPr sz="1875">
                          <a:solidFill>
                            <a:srgbClr val="18384B"/>
                          </a:solidFill>
                          <a:latin typeface="Arial"/>
                          <a:ea typeface="Arial"/>
                          <a:cs typeface="Arial"/>
                        </a:rPr>
                        <a:t>Actual output and existing portal approval state</a:t>
                      </a:r>
                    </a:p>
                  </a:txBody>
                  <a:tcPr marL="133350" marR="133350" marT="142875" marB="123825" anchor="ctr">
                    <a:solidFill>
                      <a:srgbClr val="F1F6F8"/>
                    </a:solidFill>
                  </a:tcPr>
                </a:tc>
              </a:tr>
              <a:tr h="809625">
                <a:tc>
                  <a:txBody>
                    <a:bodyPr/>
                    <a:lstStyle/>
                    <a:p>
                      <a:r>
                        <a:rPr sz="1875">
                          <a:solidFill>
                            <a:srgbClr val="18384B"/>
                          </a:solidFill>
                          <a:latin typeface="Arial"/>
                          <a:ea typeface="Arial"/>
                          <a:cs typeface="Arial"/>
                        </a:rPr>
                        <a:t>Demand inputs</a:t>
                      </a:r>
                    </a:p>
                  </a:txBody>
                  <a:tcPr marL="133350" marR="133350" marT="142875" marB="123825" anchor="ctr">
                    <a:solidFill>
                      <a:srgbClr val="FFFFFF"/>
                    </a:solidFill>
                  </a:tcPr>
                </a:tc>
                <a:tc>
                  <a:txBody>
                    <a:bodyPr/>
                    <a:lstStyle/>
                    <a:p>
                      <a:r>
                        <a:rPr sz="1875">
                          <a:solidFill>
                            <a:srgbClr val="18384B"/>
                          </a:solidFill>
                          <a:latin typeface="Arial"/>
                          <a:ea typeface="Arial"/>
                          <a:cs typeface="Arial"/>
                        </a:rPr>
                        <a:t>Approved allocation, recommendation, rationale and plan ID</a:t>
                      </a:r>
                    </a:p>
                  </a:txBody>
                  <a:tcPr marL="133350" marR="133350" marT="142875" marB="123825" anchor="ctr">
                    <a:solidFill>
                      <a:srgbClr val="FFFFFF"/>
                    </a:solidFill>
                  </a:tcPr>
                </a:tc>
                <a:tc>
                  <a:txBody>
                    <a:bodyPr/>
                    <a:lstStyle/>
                    <a:p>
                      <a:r>
                        <a:rPr sz="1875">
                          <a:solidFill>
                            <a:srgbClr val="18384B"/>
                          </a:solidFill>
                          <a:latin typeface="Arial"/>
                          <a:ea typeface="Arial"/>
                          <a:cs typeface="Arial"/>
                        </a:rPr>
                        <a:t>Original requirement and actual receipts; update only</a:t>
                      </a:r>
                    </a:p>
                  </a:txBody>
                  <a:tcPr marL="133350" marR="133350" marT="142875" marB="123825" anchor="ctr">
                    <a:solidFill>
                      <a:srgbClr val="FFFFFF"/>
                    </a:solidFill>
                  </a:tcPr>
                </a:tc>
              </a:tr>
              <a:tr h="809625">
                <a:tc>
                  <a:txBody>
                    <a:bodyPr/>
                    <a:lstStyle/>
                    <a:p>
                      <a:r>
                        <a:rPr sz="1875">
                          <a:solidFill>
                            <a:srgbClr val="18384B"/>
                          </a:solidFill>
                          <a:latin typeface="Arial"/>
                          <a:ea typeface="Arial"/>
                          <a:cs typeface="Arial"/>
                        </a:rPr>
                        <a:t>Maintenance records</a:t>
                      </a:r>
                    </a:p>
                  </a:txBody>
                  <a:tcPr marL="133350" marR="133350" marT="142875" marB="123825" anchor="ctr">
                    <a:solidFill>
                      <a:srgbClr val="F1F6F8"/>
                    </a:solidFill>
                  </a:tcPr>
                </a:tc>
                <a:tc>
                  <a:txBody>
                    <a:bodyPr/>
                    <a:lstStyle/>
                    <a:p>
                      <a:r>
                        <a:rPr sz="1875">
                          <a:solidFill>
                            <a:srgbClr val="18384B"/>
                          </a:solidFill>
                          <a:latin typeface="Arial"/>
                          <a:ea typeface="Arial"/>
                          <a:cs typeface="Arial"/>
                        </a:rPr>
                        <a:t>Decision, recommendation, comments and plan ID</a:t>
                      </a:r>
                    </a:p>
                  </a:txBody>
                  <a:tcPr marL="133350" marR="133350" marT="142875" marB="123825" anchor="ctr">
                    <a:solidFill>
                      <a:srgbClr val="F1F6F8"/>
                    </a:solidFill>
                  </a:tcPr>
                </a:tc>
                <a:tc>
                  <a:txBody>
                    <a:bodyPr/>
                    <a:lstStyle/>
                    <a:p>
                      <a:r>
                        <a:rPr sz="1875">
                          <a:solidFill>
                            <a:srgbClr val="18384B"/>
                          </a:solidFill>
                          <a:latin typeface="Arial"/>
                          <a:ea typeface="Arial"/>
                          <a:cs typeface="Arial"/>
                        </a:rPr>
                        <a:t>Maintenance dates and portal submission state</a:t>
                      </a:r>
                    </a:p>
                  </a:txBody>
                  <a:tcPr marL="133350" marR="133350" marT="142875" marB="123825" anchor="ctr">
                    <a:solidFill>
                      <a:srgbClr val="F1F6F8"/>
                    </a:solidFill>
                  </a:tcPr>
                </a:tc>
              </a:tr>
              <a:tr h="809625">
                <a:tc>
                  <a:txBody>
                    <a:bodyPr/>
                    <a:lstStyle/>
                    <a:p>
                      <a:r>
                        <a:rPr sz="1875">
                          <a:solidFill>
                            <a:srgbClr val="18384B"/>
                          </a:solidFill>
                          <a:latin typeface="Arial"/>
                          <a:ea typeface="Arial"/>
                          <a:cs typeface="Arial"/>
                        </a:rPr>
                        <a:t>Dispatch plan</a:t>
                      </a:r>
                    </a:p>
                  </a:txBody>
                  <a:tcPr marL="133350" marR="133350" marT="142875" marB="123825" anchor="ctr">
                    <a:solidFill>
                      <a:srgbClr val="FFFFFF"/>
                    </a:solidFill>
                  </a:tcPr>
                </a:tc>
                <a:tc>
                  <a:txBody>
                    <a:bodyPr/>
                    <a:lstStyle/>
                    <a:p>
                      <a:r>
                        <a:rPr sz="1875">
                          <a:solidFill>
                            <a:srgbClr val="18384B"/>
                          </a:solidFill>
                          <a:latin typeface="Arial"/>
                          <a:ea typeface="Arial"/>
                          <a:cs typeface="Arial"/>
                        </a:rPr>
                        <a:t>Published status, timestamp and write counts</a:t>
                      </a:r>
                    </a:p>
                  </a:txBody>
                  <a:tcPr marL="133350" marR="133350" marT="142875" marB="123825" anchor="ctr">
                    <a:solidFill>
                      <a:srgbClr val="FFFFFF"/>
                    </a:solidFill>
                  </a:tcPr>
                </a:tc>
                <a:tc>
                  <a:txBody>
                    <a:bodyPr/>
                    <a:lstStyle/>
                    <a:p>
                      <a:r>
                        <a:rPr sz="1875">
                          <a:solidFill>
                            <a:srgbClr val="18384B"/>
                          </a:solidFill>
                          <a:latin typeface="Arial"/>
                          <a:ea typeface="Arial"/>
                          <a:cs typeface="Arial"/>
                        </a:rPr>
                        <a:t>Status changes after operational collection writes</a:t>
                      </a:r>
                    </a:p>
                  </a:txBody>
                  <a:tcPr marL="133350" marR="133350" marT="142875" marB="123825" anchor="ctr">
                    <a:solidFill>
                      <a:srgbClr val="FFFFFF"/>
                    </a:solidFill>
                  </a:tcPr>
                </a:tc>
              </a:tr>
              <a:tr h="809625">
                <a:tc>
                  <a:txBody>
                    <a:bodyPr/>
                    <a:lstStyle/>
                    <a:p>
                      <a:r>
                        <a:rPr sz="1875">
                          <a:solidFill>
                            <a:srgbClr val="18384B"/>
                          </a:solidFill>
                          <a:latin typeface="Arial"/>
                          <a:ea typeface="Arial"/>
                          <a:cs typeface="Arial"/>
                        </a:rPr>
                        <a:t>Transmission / Economics</a:t>
                      </a:r>
                    </a:p>
                  </a:txBody>
                  <a:tcPr marL="133350" marR="133350" marT="142875" marB="123825" anchor="ctr">
                    <a:solidFill>
                      <a:srgbClr val="F1F6F8"/>
                    </a:solidFill>
                  </a:tcPr>
                </a:tc>
                <a:tc>
                  <a:txBody>
                    <a:bodyPr/>
                    <a:lstStyle/>
                    <a:p>
                      <a:r>
                        <a:rPr sz="1875">
                          <a:solidFill>
                            <a:srgbClr val="18384B"/>
                          </a:solidFill>
                          <a:latin typeface="Arial"/>
                          <a:ea typeface="Arial"/>
                          <a:cs typeface="Arial"/>
                        </a:rPr>
                        <a:t>No direct writes to actual movement or cost records</a:t>
                      </a:r>
                    </a:p>
                  </a:txBody>
                  <a:tcPr marL="133350" marR="133350" marT="142875" marB="123825" anchor="ctr">
                    <a:solidFill>
                      <a:srgbClr val="F1F6F8"/>
                    </a:solidFill>
                  </a:tcPr>
                </a:tc>
                <a:tc>
                  <a:txBody>
                    <a:bodyPr/>
                    <a:lstStyle/>
                    <a:p>
                      <a:r>
                        <a:rPr sz="1875">
                          <a:solidFill>
                            <a:srgbClr val="18384B"/>
                          </a:solidFill>
                          <a:latin typeface="Arial"/>
                          <a:ea typeface="Arial"/>
                          <a:cs typeface="Arial"/>
                        </a:rPr>
                        <a:t>Saved systems and economic approval have separate lifecycles</a:t>
                      </a:r>
                    </a:p>
                  </a:txBody>
                  <a:tcPr marL="133350" marR="133350" marT="142875" marB="123825" anchor="ctr">
                    <a:solidFill>
                      <a:srgbClr val="F1F6F8"/>
                    </a:solidFill>
                  </a:tcPr>
                </a:tc>
              </a:tr>
            </a:tbl>
          </a:graphicData>
        </a:graphic>
      </p:graphicFrame>
      <p:sp>
        <p:nvSpPr>
          <p:cNvPr id="6" name="Demand daily-table display does not currently map every published">
            <a:extLst xmlns:a="http://schemas.openxmlformats.org/drawingml/2006/main">
              <a:ext uri="{FF2B5EF4-FFF2-40B4-BE49-F238E27FC236}">
                <a16:creationId xmlns:a16="http://schemas.microsoft.com/office/drawing/2014/main" id="{F29AEA73-6598-4FCA-8A9B-3FF6B628214A}"/>
              </a:ext>
            </a:extLst>
          </p:cNvPr>
          <p:cNvSpPr>
            <a:spLocks xmlns:a="http://schemas.openxmlformats.org/drawingml/2006/main" noGrp="1"/>
          </p:cNvSpPr>
          <p:nvPr/>
        </p:nvSpPr>
        <p:spPr>
          <a:xfrm xmlns:a="http://schemas.openxmlformats.org/drawingml/2006/main">
            <a:off x="609600" y="7362825"/>
            <a:ext cx="14020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07E92"/>
                </a:solidFill>
                <a:latin typeface="Arial"/>
                <a:ea typeface="Arial"/>
                <a:cs typeface="Arial"/>
              </a:defRPr>
            </a:pPr>
            <a:r>
              <a:rPr sz="1875" b="1">
                <a:solidFill>
                  <a:srgbClr val="007E92"/>
                </a:solidFill>
                <a:latin typeface="Arial"/>
                <a:ea typeface="Arial"/>
                <a:cs typeface="Arial"/>
              </a:rPr>
              <a:t>Demand daily-table display does not currently map every published decision field. Validate the agreed user view.</a:t>
            </a:r>
          </a:p>
        </p:txBody>
      </p:sp>
    </p:spTree>
    <p:extLst>
      <p:ext uri="{BB962C8B-B14F-4D97-AF65-F5344CB8AC3E}">
        <p14:creationId xmlns:p14="http://schemas.microsoft.com/office/powerpoint/2010/main" val="25729088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Decision edits and publication integrity">
            <a:extLst xmlns:a="http://schemas.openxmlformats.org/drawingml/2006/main">
              <a:ext uri="{FF2B5EF4-FFF2-40B4-BE49-F238E27FC236}">
                <a16:creationId xmlns:a16="http://schemas.microsoft.com/office/drawing/2014/main" id="{5F881EFE-60F2-41B3-ABD4-D676C7750A59}"/>
              </a:ext>
            </a:extLst>
          </p:cNvPr>
          <p:cNvSpPr>
            <a:spLocks xmlns:a="http://schemas.openxmlformats.org/drawingml/2006/main" noGrp="1"/>
          </p:cNvSpPr>
          <p:nvPr/>
        </p:nvSpPr>
        <p:spPr>
          <a:xfrm xmlns:a="http://schemas.openxmlformats.org/drawingml/2006/main">
            <a:off x="609600" y="428625"/>
            <a:ext cx="14020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374B"/>
                </a:solidFill>
                <a:latin typeface="Arial"/>
                <a:ea typeface="Arial"/>
                <a:cs typeface="Arial"/>
              </a:defRPr>
            </a:pPr>
            <a:r>
              <a:rPr sz="3300" b="1">
                <a:solidFill>
                  <a:srgbClr val="12374B"/>
                </a:solidFill>
                <a:latin typeface="Arial"/>
                <a:ea typeface="Arial"/>
                <a:cs typeface="Arial"/>
              </a:rPr>
              <a:t>Decision edits and publication integrity</a:t>
            </a:r>
          </a:p>
        </p:txBody>
      </p:sp>
      <p:sp>
        <p:nvSpPr>
          <p:cNvPr id="2" name="Existing review controls are useful, but they do not establish a ">
            <a:extLst xmlns:a="http://schemas.openxmlformats.org/drawingml/2006/main">
              <a:ext uri="{FF2B5EF4-FFF2-40B4-BE49-F238E27FC236}">
                <a16:creationId xmlns:a16="http://schemas.microsoft.com/office/drawing/2014/main" id="{4FAAAA6B-DFFE-4142-8332-0E604F1F7873}"/>
              </a:ext>
            </a:extLst>
          </p:cNvPr>
          <p:cNvSpPr>
            <a:spLocks xmlns:a="http://schemas.openxmlformats.org/drawingml/2006/main" noGrp="1"/>
          </p:cNvSpPr>
          <p:nvPr/>
        </p:nvSpPr>
        <p:spPr>
          <a:xfrm xmlns:a="http://schemas.openxmlformats.org/drawingml/2006/main">
            <a:off x="609600" y="1304925"/>
            <a:ext cx="1395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547080"/>
                </a:solidFill>
                <a:latin typeface="Arial"/>
                <a:ea typeface="Arial"/>
                <a:cs typeface="Arial"/>
              </a:defRPr>
            </a:pPr>
            <a:r>
              <a:rPr sz="1875" b="0">
                <a:solidFill>
                  <a:srgbClr val="547080"/>
                </a:solidFill>
                <a:latin typeface="Arial"/>
                <a:ea typeface="Arial"/>
                <a:cs typeface="Arial"/>
              </a:rPr>
              <a:t>Existing review controls are useful, but they do not establish a fully protected publication transaction.</a:t>
            </a:r>
          </a:p>
        </p:txBody>
      </p:sp>
      <p:sp>
        <p:nvSpPr>
          <p:cNvPr id="3" name="WIDispatch   /   IT briefing   /   29 September 2026">
            <a:extLst xmlns:a="http://schemas.openxmlformats.org/drawingml/2006/main">
              <a:ext uri="{FF2B5EF4-FFF2-40B4-BE49-F238E27FC236}">
                <a16:creationId xmlns:a16="http://schemas.microsoft.com/office/drawing/2014/main" id="{6A5E3822-01EB-43EE-A80C-58CCC3272DB4}"/>
              </a:ext>
            </a:extLst>
          </p:cNvPr>
          <p:cNvSpPr>
            <a:spLocks xmlns:a="http://schemas.openxmlformats.org/drawingml/2006/main" noGrp="1"/>
          </p:cNvSpPr>
          <p:nvPr/>
        </p:nvSpPr>
        <p:spPr>
          <a:xfrm xmlns:a="http://schemas.openxmlformats.org/drawingml/2006/main">
            <a:off x="609600" y="8172450"/>
            <a:ext cx="1162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547080"/>
                </a:solidFill>
                <a:latin typeface="Arial"/>
                <a:ea typeface="Arial"/>
                <a:cs typeface="Arial"/>
              </a:defRPr>
            </a:pPr>
            <a:r>
              <a:rPr sz="1275" b="0">
                <a:solidFill>
                  <a:srgbClr val="547080"/>
                </a:solidFill>
                <a:latin typeface="Arial"/>
                <a:ea typeface="Arial"/>
                <a:cs typeface="Arial"/>
              </a:rPr>
              <a:t>WIDispatch   /   IT briefing   /   29 September 2026</a:t>
            </a:r>
          </a:p>
        </p:txBody>
      </p:sp>
      <p:sp>
        <p:nvSpPr>
          <p:cNvPr id="4" name="08">
            <a:extLst xmlns:a="http://schemas.openxmlformats.org/drawingml/2006/main">
              <a:ext uri="{FF2B5EF4-FFF2-40B4-BE49-F238E27FC236}">
                <a16:creationId xmlns:a16="http://schemas.microsoft.com/office/drawing/2014/main" id="{8483A579-AFD7-47AF-92DF-1D05248B526B}"/>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547080"/>
                </a:solidFill>
                <a:latin typeface="Arial"/>
                <a:ea typeface="Arial"/>
                <a:cs typeface="Arial"/>
              </a:defRPr>
            </a:pPr>
            <a:r>
              <a:rPr sz="1650" b="0">
                <a:solidFill>
                  <a:srgbClr val="547080"/>
                </a:solidFill>
                <a:latin typeface="Arial"/>
                <a:ea typeface="Arial"/>
                <a:cs typeface="Arial"/>
              </a:rPr>
              <a:t>08</a:t>
            </a:r>
          </a:p>
        </p:txBody>
      </p:sp>
      <p:sp>
        <p:nvSpPr>
          <p:cNvPr id="5" name="Current controls">
            <a:extLst xmlns:a="http://schemas.openxmlformats.org/drawingml/2006/main">
              <a:ext uri="{FF2B5EF4-FFF2-40B4-BE49-F238E27FC236}">
                <a16:creationId xmlns:a16="http://schemas.microsoft.com/office/drawing/2014/main" id="{173CAB93-C6F1-44DF-98A9-5265FBDC1C7C}"/>
              </a:ext>
            </a:extLst>
          </p:cNvPr>
          <p:cNvSpPr>
            <a:spLocks xmlns:a="http://schemas.openxmlformats.org/drawingml/2006/main" noGrp="1"/>
          </p:cNvSpPr>
          <p:nvPr/>
        </p:nvSpPr>
        <p:spPr>
          <a:xfrm xmlns:a="http://schemas.openxmlformats.org/drawingml/2006/main">
            <a:off x="609600" y="2266950"/>
            <a:ext cx="4286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007E92"/>
                </a:solidFill>
                <a:latin typeface="Arial"/>
                <a:ea typeface="Arial"/>
                <a:cs typeface="Arial"/>
              </a:defRPr>
            </a:pPr>
            <a:r>
              <a:rPr sz="2400" b="1">
                <a:solidFill>
                  <a:srgbClr val="007E92"/>
                </a:solidFill>
                <a:latin typeface="Arial"/>
                <a:ea typeface="Arial"/>
                <a:cs typeface="Arial"/>
              </a:rPr>
              <a:t>Current controls</a:t>
            </a:r>
          </a:p>
        </p:txBody>
      </p:sp>
      <p:sp>
        <p:nvSpPr>
          <p:cNvPr id="6" name="Demand bounds and comments. Draft-only decision editing. Plan lin">
            <a:extLst xmlns:a="http://schemas.openxmlformats.org/drawingml/2006/main">
              <a:ext uri="{FF2B5EF4-FFF2-40B4-BE49-F238E27FC236}">
                <a16:creationId xmlns:a16="http://schemas.microsoft.com/office/drawing/2014/main" id="{6030CA0E-7D25-431B-A459-8DE89793EA89}"/>
              </a:ext>
            </a:extLst>
          </p:cNvPr>
          <p:cNvSpPr>
            <a:spLocks xmlns:a="http://schemas.openxmlformats.org/drawingml/2006/main" noGrp="1"/>
          </p:cNvSpPr>
          <p:nvPr/>
        </p:nvSpPr>
        <p:spPr>
          <a:xfrm xmlns:a="http://schemas.openxmlformats.org/drawingml/2006/main">
            <a:off x="609600" y="3343275"/>
            <a:ext cx="4238625"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8384B"/>
                </a:solidFill>
                <a:latin typeface="Arial"/>
                <a:ea typeface="Arial"/>
                <a:cs typeface="Arial"/>
              </a:defRPr>
            </a:pPr>
            <a:r>
              <a:rPr sz="2100" b="0">
                <a:solidFill>
                  <a:srgbClr val="18384B"/>
                </a:solidFill>
                <a:latin typeface="Arial"/>
                <a:ea typeface="Arial"/>
                <a:cs typeface="Arial"/>
              </a:rPr>
              <a:t>Demand bounds and comments. Draft-only decision editing. Plan lineage. Rejection of a later publish request for an already published plan.</a:t>
            </a:r>
          </a:p>
        </p:txBody>
      </p:sp>
      <p:sp>
        <p:nvSpPr>
          <p:cNvPr id="7" name="Development required">
            <a:extLst xmlns:a="http://schemas.openxmlformats.org/drawingml/2006/main">
              <a:ext uri="{FF2B5EF4-FFF2-40B4-BE49-F238E27FC236}">
                <a16:creationId xmlns:a16="http://schemas.microsoft.com/office/drawing/2014/main" id="{E8030D3E-ACB7-4527-A5E1-508FCAAC2E88}"/>
              </a:ext>
            </a:extLst>
          </p:cNvPr>
          <p:cNvSpPr>
            <a:spLocks xmlns:a="http://schemas.openxmlformats.org/drawingml/2006/main" noGrp="1"/>
          </p:cNvSpPr>
          <p:nvPr/>
        </p:nvSpPr>
        <p:spPr>
          <a:xfrm xmlns:a="http://schemas.openxmlformats.org/drawingml/2006/main">
            <a:off x="5419725" y="2266950"/>
            <a:ext cx="4286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007E92"/>
                </a:solidFill>
                <a:latin typeface="Arial"/>
                <a:ea typeface="Arial"/>
                <a:cs typeface="Arial"/>
              </a:defRPr>
            </a:pPr>
            <a:r>
              <a:rPr sz="2400" b="1">
                <a:solidFill>
                  <a:srgbClr val="007E92"/>
                </a:solidFill>
                <a:latin typeface="Arial"/>
                <a:ea typeface="Arial"/>
                <a:cs typeface="Arial"/>
              </a:rPr>
              <a:t>Development required</a:t>
            </a:r>
          </a:p>
        </p:txBody>
      </p:sp>
      <p:sp>
        <p:nvSpPr>
          <p:cNvPr id="8" name="Feasibility revalidation after edits. Versioned drafts and input ">
            <a:extLst xmlns:a="http://schemas.openxmlformats.org/drawingml/2006/main">
              <a:ext uri="{FF2B5EF4-FFF2-40B4-BE49-F238E27FC236}">
                <a16:creationId xmlns:a16="http://schemas.microsoft.com/office/drawing/2014/main" id="{26847738-0B0F-46A4-BD89-3B353CE18AB3}"/>
              </a:ext>
            </a:extLst>
          </p:cNvPr>
          <p:cNvSpPr>
            <a:spLocks xmlns:a="http://schemas.openxmlformats.org/drawingml/2006/main" noGrp="1"/>
          </p:cNvSpPr>
          <p:nvPr/>
        </p:nvSpPr>
        <p:spPr>
          <a:xfrm xmlns:a="http://schemas.openxmlformats.org/drawingml/2006/main">
            <a:off x="5419725" y="3343275"/>
            <a:ext cx="4238625"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8384B"/>
                </a:solidFill>
                <a:latin typeface="Arial"/>
                <a:ea typeface="Arial"/>
                <a:cs typeface="Arial"/>
              </a:defRPr>
            </a:pPr>
            <a:r>
              <a:rPr sz="2100" b="0">
                <a:solidFill>
                  <a:srgbClr val="18384B"/>
                </a:solidFill>
                <a:latin typeface="Arial"/>
                <a:ea typeface="Arial"/>
                <a:cs typeface="Arial"/>
              </a:rPr>
              <a:t>Feasibility revalidation after edits. Versioned drafts and input snapshots. Atomic writes, safe retries and expected-record checks.</a:t>
            </a:r>
          </a:p>
        </p:txBody>
      </p:sp>
      <p:sp>
        <p:nvSpPr>
          <p:cNvPr id="9" name="Acceptance evidence">
            <a:extLst xmlns:a="http://schemas.openxmlformats.org/drawingml/2006/main">
              <a:ext uri="{FF2B5EF4-FFF2-40B4-BE49-F238E27FC236}">
                <a16:creationId xmlns:a16="http://schemas.microsoft.com/office/drawing/2014/main" id="{C00A1923-15A0-4339-91F5-862358B1785B}"/>
              </a:ext>
            </a:extLst>
          </p:cNvPr>
          <p:cNvSpPr>
            <a:spLocks xmlns:a="http://schemas.openxmlformats.org/drawingml/2006/main" noGrp="1"/>
          </p:cNvSpPr>
          <p:nvPr/>
        </p:nvSpPr>
        <p:spPr>
          <a:xfrm xmlns:a="http://schemas.openxmlformats.org/drawingml/2006/main">
            <a:off x="10229850" y="2266950"/>
            <a:ext cx="4286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007E92"/>
                </a:solidFill>
                <a:latin typeface="Arial"/>
                <a:ea typeface="Arial"/>
                <a:cs typeface="Arial"/>
              </a:defRPr>
            </a:pPr>
            <a:r>
              <a:rPr sz="2400" b="1">
                <a:solidFill>
                  <a:srgbClr val="007E92"/>
                </a:solidFill>
                <a:latin typeface="Arial"/>
                <a:ea typeface="Arial"/>
                <a:cs typeface="Arial"/>
              </a:rPr>
              <a:t>Acceptance evidence</a:t>
            </a:r>
          </a:p>
        </p:txBody>
      </p:sp>
      <p:sp>
        <p:nvSpPr>
          <p:cNvPr id="10" name="Simultaneous edits/publishes. Changed inputs. Retry after timeout">
            <a:extLst xmlns:a="http://schemas.openxmlformats.org/drawingml/2006/main">
              <a:ext uri="{FF2B5EF4-FFF2-40B4-BE49-F238E27FC236}">
                <a16:creationId xmlns:a16="http://schemas.microsoft.com/office/drawing/2014/main" id="{2AD7FB17-F9FF-47C0-8056-D79EDE03B117}"/>
              </a:ext>
            </a:extLst>
          </p:cNvPr>
          <p:cNvSpPr>
            <a:spLocks xmlns:a="http://schemas.openxmlformats.org/drawingml/2006/main" noGrp="1"/>
          </p:cNvSpPr>
          <p:nvPr/>
        </p:nvSpPr>
        <p:spPr>
          <a:xfrm xmlns:a="http://schemas.openxmlformats.org/drawingml/2006/main">
            <a:off x="10229850" y="3343275"/>
            <a:ext cx="4238625"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8384B"/>
                </a:solidFill>
                <a:latin typeface="Arial"/>
                <a:ea typeface="Arial"/>
                <a:cs typeface="Arial"/>
              </a:defRPr>
            </a:pPr>
            <a:r>
              <a:rPr sz="2100" b="0">
                <a:solidFill>
                  <a:srgbClr val="18384B"/>
                </a:solidFill>
                <a:latin typeface="Arial"/>
                <a:ea typeface="Arial"/>
                <a:cs typeface="Arial"/>
              </a:rPr>
              <a:t>Simultaneous edits/publishes. Changed inputs. Retry after timeout. Missing target records. Failure injected between write stages.</a:t>
            </a:r>
          </a:p>
        </p:txBody>
      </p:sp>
      <p:sp>
        <p:nvSpPr>
          <p:cNvPr id="11" name="Treat the reviewed decision and the simulated physical allocation">
            <a:extLst xmlns:a="http://schemas.openxmlformats.org/drawingml/2006/main">
              <a:ext uri="{FF2B5EF4-FFF2-40B4-BE49-F238E27FC236}">
                <a16:creationId xmlns:a16="http://schemas.microsoft.com/office/drawing/2014/main" id="{34D4E0B6-45FF-4047-B550-2C3C87309964}"/>
              </a:ext>
            </a:extLst>
          </p:cNvPr>
          <p:cNvSpPr>
            <a:spLocks xmlns:a="http://schemas.openxmlformats.org/drawingml/2006/main" noGrp="1"/>
          </p:cNvSpPr>
          <p:nvPr/>
        </p:nvSpPr>
        <p:spPr>
          <a:xfrm xmlns:a="http://schemas.openxmlformats.org/drawingml/2006/main">
            <a:off x="609600" y="7362825"/>
            <a:ext cx="14020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07E92"/>
                </a:solidFill>
                <a:latin typeface="Arial"/>
                <a:ea typeface="Arial"/>
                <a:cs typeface="Arial"/>
              </a:defRPr>
            </a:pPr>
            <a:r>
              <a:rPr sz="1875" b="1">
                <a:solidFill>
                  <a:srgbClr val="007E92"/>
                </a:solidFill>
                <a:latin typeface="Arial"/>
                <a:ea typeface="Arial"/>
                <a:cs typeface="Arial"/>
              </a:rPr>
              <a:t>Treat the reviewed decision and the simulated physical allocation as consistent only after an explicit check.</a:t>
            </a:r>
          </a:p>
        </p:txBody>
      </p:sp>
    </p:spTree>
    <p:extLst>
      <p:ext uri="{BB962C8B-B14F-4D97-AF65-F5344CB8AC3E}">
        <p14:creationId xmlns:p14="http://schemas.microsoft.com/office/powerpoint/2010/main" val="11766352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Integration inventory: existing mechanisms">
            <a:extLst xmlns:a="http://schemas.openxmlformats.org/drawingml/2006/main">
              <a:ext uri="{FF2B5EF4-FFF2-40B4-BE49-F238E27FC236}">
                <a16:creationId xmlns:a16="http://schemas.microsoft.com/office/drawing/2014/main" id="{1C06DD92-3A68-4BEA-80ED-E8F8E62033E0}"/>
              </a:ext>
            </a:extLst>
          </p:cNvPr>
          <p:cNvSpPr>
            <a:spLocks xmlns:a="http://schemas.openxmlformats.org/drawingml/2006/main" noGrp="1"/>
          </p:cNvSpPr>
          <p:nvPr/>
        </p:nvSpPr>
        <p:spPr>
          <a:xfrm xmlns:a="http://schemas.openxmlformats.org/drawingml/2006/main">
            <a:off x="609600" y="428625"/>
            <a:ext cx="14020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374B"/>
                </a:solidFill>
                <a:latin typeface="Arial"/>
                <a:ea typeface="Arial"/>
                <a:cs typeface="Arial"/>
              </a:defRPr>
            </a:pPr>
            <a:r>
              <a:rPr sz="3300" b="1">
                <a:solidFill>
                  <a:srgbClr val="12374B"/>
                </a:solidFill>
                <a:latin typeface="Arial"/>
                <a:ea typeface="Arial"/>
                <a:cs typeface="Arial"/>
              </a:rPr>
              <a:t>Integration inventory: existing mechanisms</a:t>
            </a:r>
          </a:p>
        </p:txBody>
      </p:sp>
      <p:sp>
        <p:nvSpPr>
          <p:cNvPr id="2" name="An implementation path in source does not prove a configured, acc">
            <a:extLst xmlns:a="http://schemas.openxmlformats.org/drawingml/2006/main">
              <a:ext uri="{FF2B5EF4-FFF2-40B4-BE49-F238E27FC236}">
                <a16:creationId xmlns:a16="http://schemas.microsoft.com/office/drawing/2014/main" id="{19799F51-0275-46E2-A7AE-BAFB2A02E0C9}"/>
              </a:ext>
            </a:extLst>
          </p:cNvPr>
          <p:cNvSpPr>
            <a:spLocks xmlns:a="http://schemas.openxmlformats.org/drawingml/2006/main" noGrp="1"/>
          </p:cNvSpPr>
          <p:nvPr/>
        </p:nvSpPr>
        <p:spPr>
          <a:xfrm xmlns:a="http://schemas.openxmlformats.org/drawingml/2006/main">
            <a:off x="609600" y="1304925"/>
            <a:ext cx="1395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547080"/>
                </a:solidFill>
                <a:latin typeface="Arial"/>
                <a:ea typeface="Arial"/>
                <a:cs typeface="Arial"/>
              </a:defRPr>
            </a:pPr>
            <a:r>
              <a:rPr sz="1875" b="0">
                <a:solidFill>
                  <a:srgbClr val="547080"/>
                </a:solidFill>
                <a:latin typeface="Arial"/>
                <a:ea typeface="Arial"/>
                <a:cs typeface="Arial"/>
              </a:rPr>
              <a:t>An implementation path in source does not prove a configured, accepted connection in the client environment.</a:t>
            </a:r>
          </a:p>
        </p:txBody>
      </p:sp>
      <p:sp>
        <p:nvSpPr>
          <p:cNvPr id="3" name="WIDispatch   /   IT briefing   /   29 September 2026">
            <a:extLst xmlns:a="http://schemas.openxmlformats.org/drawingml/2006/main">
              <a:ext uri="{FF2B5EF4-FFF2-40B4-BE49-F238E27FC236}">
                <a16:creationId xmlns:a16="http://schemas.microsoft.com/office/drawing/2014/main" id="{18FEA5B9-18AF-40E7-949F-5ACF9FBACA57}"/>
              </a:ext>
            </a:extLst>
          </p:cNvPr>
          <p:cNvSpPr>
            <a:spLocks xmlns:a="http://schemas.openxmlformats.org/drawingml/2006/main" noGrp="1"/>
          </p:cNvSpPr>
          <p:nvPr/>
        </p:nvSpPr>
        <p:spPr>
          <a:xfrm xmlns:a="http://schemas.openxmlformats.org/drawingml/2006/main">
            <a:off x="609600" y="8172450"/>
            <a:ext cx="1162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547080"/>
                </a:solidFill>
                <a:latin typeface="Arial"/>
                <a:ea typeface="Arial"/>
                <a:cs typeface="Arial"/>
              </a:defRPr>
            </a:pPr>
            <a:r>
              <a:rPr sz="1275" b="0">
                <a:solidFill>
                  <a:srgbClr val="547080"/>
                </a:solidFill>
                <a:latin typeface="Arial"/>
                <a:ea typeface="Arial"/>
                <a:cs typeface="Arial"/>
              </a:rPr>
              <a:t>WIDispatch   /   IT briefing   /   29 September 2026</a:t>
            </a:r>
          </a:p>
        </p:txBody>
      </p:sp>
      <p:sp>
        <p:nvSpPr>
          <p:cNvPr id="4" name="09">
            <a:extLst xmlns:a="http://schemas.openxmlformats.org/drawingml/2006/main">
              <a:ext uri="{FF2B5EF4-FFF2-40B4-BE49-F238E27FC236}">
                <a16:creationId xmlns:a16="http://schemas.microsoft.com/office/drawing/2014/main" id="{FEB62DDF-B4B2-4856-B21C-0893D5B77A81}"/>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547080"/>
                </a:solidFill>
                <a:latin typeface="Arial"/>
                <a:ea typeface="Arial"/>
                <a:cs typeface="Arial"/>
              </a:defRPr>
            </a:pPr>
            <a:r>
              <a:rPr sz="1650" b="0">
                <a:solidFill>
                  <a:srgbClr val="547080"/>
                </a:solidFill>
                <a:latin typeface="Arial"/>
                <a:ea typeface="Arial"/>
                <a:cs typeface="Arial"/>
              </a:rPr>
              <a:t>09</a:t>
            </a:r>
          </a:p>
        </p:txBody>
      </p:sp>
      <p:graphicFrame>
        <p:nvGraphicFramePr>
          <p:cNvPr id="11" name=""/>
          <p:cNvGraphicFramePr/>
          <p:nvPr/>
        </p:nvGraphicFramePr>
        <p:xfrm>
          <a:off xmlns:a="http://schemas.openxmlformats.org/drawingml/2006/main" x="609600" y="2076450"/>
          <a:ext xmlns:a="http://schemas.openxmlformats.org/drawingml/2006/main" cx="14020800" cy="4857750"/>
        </p:xfrm>
        <a:graphic xmlns:a="http://schemas.openxmlformats.org/drawingml/2006/main">
          <a:graphicData uri="http://schemas.openxmlformats.org/drawingml/2006/table">
            <a:tbl>
              <a:tblPr/>
              <a:tblGrid>
                <a:gridCol w="3143250"/>
                <a:gridCol w="5429250"/>
                <a:gridCol w="5448300"/>
              </a:tblGrid>
              <a:tr h="809625">
                <a:tc>
                  <a:txBody>
                    <a:bodyPr/>
                    <a:lstStyle/>
                    <a:p>
                      <a:r>
                        <a:rPr sz="1950" b="1">
                          <a:solidFill>
                            <a:srgbClr val="FFFFFF"/>
                          </a:solidFill>
                          <a:latin typeface="Arial"/>
                          <a:ea typeface="Arial"/>
                          <a:cs typeface="Arial"/>
                        </a:rPr>
                        <a:t>Mechanism</a:t>
                      </a:r>
                    </a:p>
                  </a:txBody>
                  <a:tcPr marL="133350" marR="133350" marT="142875" marB="123825" anchor="ctr">
                    <a:solidFill>
                      <a:srgbClr val="12374B"/>
                    </a:solidFill>
                  </a:tcPr>
                </a:tc>
                <a:tc>
                  <a:txBody>
                    <a:bodyPr/>
                    <a:lstStyle/>
                    <a:p>
                      <a:r>
                        <a:rPr sz="1950" b="1">
                          <a:solidFill>
                            <a:srgbClr val="FFFFFF"/>
                          </a:solidFill>
                          <a:latin typeface="Arial"/>
                          <a:ea typeface="Arial"/>
                          <a:cs typeface="Arial"/>
                        </a:rPr>
                        <a:t>Current source capability</a:t>
                      </a:r>
                    </a:p>
                  </a:txBody>
                  <a:tcPr marL="133350" marR="133350" marT="142875" marB="123825" anchor="ctr">
                    <a:solidFill>
                      <a:srgbClr val="12374B"/>
                    </a:solidFill>
                  </a:tcPr>
                </a:tc>
                <a:tc>
                  <a:txBody>
                    <a:bodyPr/>
                    <a:lstStyle/>
                    <a:p>
                      <a:r>
                        <a:rPr sz="1950" b="1">
                          <a:solidFill>
                            <a:srgbClr val="FFFFFF"/>
                          </a:solidFill>
                          <a:latin typeface="Arial"/>
                          <a:ea typeface="Arial"/>
                          <a:cs typeface="Arial"/>
                        </a:rPr>
                        <a:t>Configuration / acceptance</a:t>
                      </a:r>
                    </a:p>
                  </a:txBody>
                  <a:tcPr marL="133350" marR="133350" marT="142875" marB="123825" anchor="ctr">
                    <a:solidFill>
                      <a:srgbClr val="12374B"/>
                    </a:solidFill>
                  </a:tcPr>
                </a:tc>
              </a:tr>
              <a:tr h="809625">
                <a:tc>
                  <a:txBody>
                    <a:bodyPr/>
                    <a:lstStyle/>
                    <a:p>
                      <a:r>
                        <a:rPr sz="1950">
                          <a:solidFill>
                            <a:srgbClr val="18384B"/>
                          </a:solidFill>
                          <a:latin typeface="Arial"/>
                          <a:ea typeface="Arial"/>
                          <a:cs typeface="Arial"/>
                        </a:rPr>
                        <a:t>Internal data sharing</a:t>
                      </a:r>
                    </a:p>
                  </a:txBody>
                  <a:tcPr marL="133350" marR="133350" marT="142875" marB="123825" anchor="ctr">
                    <a:solidFill>
                      <a:srgbClr val="F1F6F8"/>
                    </a:solidFill>
                  </a:tcPr>
                </a:tc>
                <a:tc>
                  <a:txBody>
                    <a:bodyPr/>
                    <a:lstStyle/>
                    <a:p>
                      <a:r>
                        <a:rPr sz="1950">
                          <a:solidFill>
                            <a:srgbClr val="18384B"/>
                          </a:solidFill>
                          <a:latin typeface="Arial"/>
                          <a:ea typeface="Arial"/>
                          <a:cs typeface="Arial"/>
                        </a:rPr>
                        <a:t>MongoDB collections and Desktop REST calls</a:t>
                      </a:r>
                    </a:p>
                  </a:txBody>
                  <a:tcPr marL="133350" marR="133350" marT="142875" marB="123825" anchor="ctr">
                    <a:solidFill>
                      <a:srgbClr val="F1F6F8"/>
                    </a:solidFill>
                  </a:tcPr>
                </a:tc>
                <a:tc>
                  <a:txBody>
                    <a:bodyPr/>
                    <a:lstStyle/>
                    <a:p>
                      <a:r>
                        <a:rPr sz="1950">
                          <a:solidFill>
                            <a:srgbClr val="18384B"/>
                          </a:solidFill>
                          <a:latin typeface="Arial"/>
                          <a:ea typeface="Arial"/>
                          <a:cs typeface="Arial"/>
                        </a:rPr>
                        <a:t>Database naming, schema ownership and API protection</a:t>
                      </a:r>
                    </a:p>
                  </a:txBody>
                  <a:tcPr marL="133350" marR="133350" marT="142875" marB="123825" anchor="ctr">
                    <a:solidFill>
                      <a:srgbClr val="F1F6F8"/>
                    </a:solidFill>
                  </a:tcPr>
                </a:tc>
              </a:tr>
              <a:tr h="809625">
                <a:tc>
                  <a:txBody>
                    <a:bodyPr/>
                    <a:lstStyle/>
                    <a:p>
                      <a:r>
                        <a:rPr sz="1950">
                          <a:solidFill>
                            <a:srgbClr val="18384B"/>
                          </a:solidFill>
                          <a:latin typeface="Arial"/>
                          <a:ea typeface="Arial"/>
                          <a:cs typeface="Arial"/>
                        </a:rPr>
                        <a:t>Spreadsheet exchange</a:t>
                      </a:r>
                    </a:p>
                  </a:txBody>
                  <a:tcPr marL="133350" marR="133350" marT="142875" marB="123825" anchor="ctr">
                    <a:solidFill>
                      <a:srgbClr val="FFFFFF"/>
                    </a:solidFill>
                  </a:tcPr>
                </a:tc>
                <a:tc>
                  <a:txBody>
                    <a:bodyPr/>
                    <a:lstStyle/>
                    <a:p>
                      <a:r>
                        <a:rPr sz="1950">
                          <a:solidFill>
                            <a:srgbClr val="18384B"/>
                          </a:solidFill>
                          <a:latin typeface="Arial"/>
                          <a:ea typeface="Arial"/>
                          <a:cs typeface="Arial"/>
                        </a:rPr>
                        <a:t>Import mappings and file dialogs</a:t>
                      </a:r>
                    </a:p>
                  </a:txBody>
                  <a:tcPr marL="133350" marR="133350" marT="142875" marB="123825" anchor="ctr">
                    <a:solidFill>
                      <a:srgbClr val="FFFFFF"/>
                    </a:solidFill>
                  </a:tcPr>
                </a:tc>
                <a:tc>
                  <a:txBody>
                    <a:bodyPr/>
                    <a:lstStyle/>
                    <a:p>
                      <a:r>
                        <a:rPr sz="1950">
                          <a:solidFill>
                            <a:srgbClr val="18384B"/>
                          </a:solidFill>
                          <a:latin typeface="Arial"/>
                          <a:ea typeface="Arial"/>
                          <a:cs typeface="Arial"/>
                        </a:rPr>
                        <a:t>Module templates, units, dates and error handling</a:t>
                      </a:r>
                    </a:p>
                  </a:txBody>
                  <a:tcPr marL="133350" marR="133350" marT="142875" marB="123825" anchor="ctr">
                    <a:solidFill>
                      <a:srgbClr val="FFFFFF"/>
                    </a:solidFill>
                  </a:tcPr>
                </a:tc>
              </a:tr>
              <a:tr h="809625">
                <a:tc>
                  <a:txBody>
                    <a:bodyPr/>
                    <a:lstStyle/>
                    <a:p>
                      <a:r>
                        <a:rPr sz="1950">
                          <a:solidFill>
                            <a:srgbClr val="18384B"/>
                          </a:solidFill>
                          <a:latin typeface="Arial"/>
                          <a:ea typeface="Arial"/>
                          <a:cs typeface="Arial"/>
                        </a:rPr>
                        <a:t>Network / GIS files</a:t>
                      </a:r>
                    </a:p>
                  </a:txBody>
                  <a:tcPr marL="133350" marR="133350" marT="142875" marB="123825" anchor="ctr">
                    <a:solidFill>
                      <a:srgbClr val="F1F6F8"/>
                    </a:solidFill>
                  </a:tcPr>
                </a:tc>
                <a:tc>
                  <a:txBody>
                    <a:bodyPr/>
                    <a:lstStyle/>
                    <a:p>
                      <a:r>
                        <a:rPr sz="1950">
                          <a:solidFill>
                            <a:srgbClr val="18384B"/>
                          </a:solidFill>
                          <a:latin typeface="Arial"/>
                          <a:ea typeface="Arial"/>
                          <a:cs typeface="Arial"/>
                        </a:rPr>
                        <a:t>JSON / KMZ / KML import; CSV / KMZ export</a:t>
                      </a:r>
                    </a:p>
                  </a:txBody>
                  <a:tcPr marL="133350" marR="133350" marT="142875" marB="123825" anchor="ctr">
                    <a:solidFill>
                      <a:srgbClr val="F1F6F8"/>
                    </a:solidFill>
                  </a:tcPr>
                </a:tc>
                <a:tc>
                  <a:txBody>
                    <a:bodyPr/>
                    <a:lstStyle/>
                    <a:p>
                      <a:r>
                        <a:rPr sz="1950">
                          <a:solidFill>
                            <a:srgbClr val="18384B"/>
                          </a:solidFill>
                          <a:latin typeface="Arial"/>
                          <a:ea typeface="Arial"/>
                          <a:cs typeface="Arial"/>
                        </a:rPr>
                        <a:t>Geometry, asset IDs and round-trip validation</a:t>
                      </a:r>
                    </a:p>
                  </a:txBody>
                  <a:tcPr marL="133350" marR="133350" marT="142875" marB="123825" anchor="ctr">
                    <a:solidFill>
                      <a:srgbClr val="F1F6F8"/>
                    </a:solidFill>
                  </a:tcPr>
                </a:tc>
              </a:tr>
              <a:tr h="809625">
                <a:tc>
                  <a:txBody>
                    <a:bodyPr/>
                    <a:lstStyle/>
                    <a:p>
                      <a:r>
                        <a:rPr sz="1950">
                          <a:solidFill>
                            <a:srgbClr val="18384B"/>
                          </a:solidFill>
                          <a:latin typeface="Arial"/>
                          <a:ea typeface="Arial"/>
                          <a:cs typeface="Arial"/>
                        </a:rPr>
                        <a:t>Map services</a:t>
                      </a:r>
                    </a:p>
                  </a:txBody>
                  <a:tcPr marL="133350" marR="133350" marT="142875" marB="123825" anchor="ctr">
                    <a:solidFill>
                      <a:srgbClr val="FFFFFF"/>
                    </a:solidFill>
                  </a:tcPr>
                </a:tc>
                <a:tc>
                  <a:txBody>
                    <a:bodyPr/>
                    <a:lstStyle/>
                    <a:p>
                      <a:r>
                        <a:rPr sz="1950">
                          <a:solidFill>
                            <a:srgbClr val="18384B"/>
                          </a:solidFill>
                          <a:latin typeface="Arial"/>
                          <a:ea typeface="Arial"/>
                          <a:cs typeface="Arial"/>
                        </a:rPr>
                        <a:t>External map tiles / imagery</a:t>
                      </a:r>
                    </a:p>
                  </a:txBody>
                  <a:tcPr marL="133350" marR="133350" marT="142875" marB="123825" anchor="ctr">
                    <a:solidFill>
                      <a:srgbClr val="FFFFFF"/>
                    </a:solidFill>
                  </a:tcPr>
                </a:tc>
                <a:tc>
                  <a:txBody>
                    <a:bodyPr/>
                    <a:lstStyle/>
                    <a:p>
                      <a:r>
                        <a:rPr sz="1950">
                          <a:solidFill>
                            <a:srgbClr val="18384B"/>
                          </a:solidFill>
                          <a:latin typeface="Arial"/>
                          <a:ea typeface="Arial"/>
                          <a:cs typeface="Arial"/>
                        </a:rPr>
                        <a:t>Approved egress or internal map alternative</a:t>
                      </a:r>
                    </a:p>
                  </a:txBody>
                  <a:tcPr marL="133350" marR="133350" marT="142875" marB="123825" anchor="ctr">
                    <a:solidFill>
                      <a:srgbClr val="FFFFFF"/>
                    </a:solidFill>
                  </a:tcPr>
                </a:tc>
              </a:tr>
              <a:tr h="809625">
                <a:tc>
                  <a:txBody>
                    <a:bodyPr/>
                    <a:lstStyle/>
                    <a:p>
                      <a:r>
                        <a:rPr sz="1950">
                          <a:solidFill>
                            <a:srgbClr val="18384B"/>
                          </a:solidFill>
                          <a:latin typeface="Arial"/>
                          <a:ea typeface="Arial"/>
                          <a:cs typeface="Arial"/>
                        </a:rPr>
                        <a:t>Notifications</a:t>
                      </a:r>
                    </a:p>
                  </a:txBody>
                  <a:tcPr marL="133350" marR="133350" marT="142875" marB="123825" anchor="ctr">
                    <a:solidFill>
                      <a:srgbClr val="F1F6F8"/>
                    </a:solidFill>
                  </a:tcPr>
                </a:tc>
                <a:tc>
                  <a:txBody>
                    <a:bodyPr/>
                    <a:lstStyle/>
                    <a:p>
                      <a:r>
                        <a:rPr sz="1950">
                          <a:solidFill>
                            <a:srgbClr val="18384B"/>
                          </a:solidFill>
                          <a:latin typeface="Arial"/>
                          <a:ea typeface="Arial"/>
                          <a:cs typeface="Arial"/>
                        </a:rPr>
                        <a:t>Email adapter paths and in-app notifications</a:t>
                      </a:r>
                    </a:p>
                  </a:txBody>
                  <a:tcPr marL="133350" marR="133350" marT="142875" marB="123825" anchor="ctr">
                    <a:solidFill>
                      <a:srgbClr val="F1F6F8"/>
                    </a:solidFill>
                  </a:tcPr>
                </a:tc>
                <a:tc>
                  <a:txBody>
                    <a:bodyPr/>
                    <a:lstStyle/>
                    <a:p>
                      <a:r>
                        <a:rPr sz="1950">
                          <a:solidFill>
                            <a:srgbClr val="18384B"/>
                          </a:solidFill>
                          <a:latin typeface="Arial"/>
                          <a:ea typeface="Arial"/>
                          <a:cs typeface="Arial"/>
                        </a:rPr>
                        <a:t>Provider, dependencies, sender, recipients and delivery test</a:t>
                      </a:r>
                    </a:p>
                  </a:txBody>
                  <a:tcPr marL="133350" marR="133350" marT="142875" marB="123825" anchor="ctr">
                    <a:solidFill>
                      <a:srgbClr val="F1F6F8"/>
                    </a:solidFill>
                  </a:tcPr>
                </a:tc>
              </a:tr>
            </a:tbl>
          </a:graphicData>
        </a:graphic>
      </p:graphicFrame>
      <p:sp>
        <p:nvSpPr>
          <p:cNvPr id="6" name="Configuration and validation are required before calling a connec">
            <a:extLst xmlns:a="http://schemas.openxmlformats.org/drawingml/2006/main">
              <a:ext uri="{FF2B5EF4-FFF2-40B4-BE49-F238E27FC236}">
                <a16:creationId xmlns:a16="http://schemas.microsoft.com/office/drawing/2014/main" id="{3C39E601-CD56-4B24-B544-F90807208055}"/>
              </a:ext>
            </a:extLst>
          </p:cNvPr>
          <p:cNvSpPr>
            <a:spLocks xmlns:a="http://schemas.openxmlformats.org/drawingml/2006/main" noGrp="1"/>
          </p:cNvSpPr>
          <p:nvPr/>
        </p:nvSpPr>
        <p:spPr>
          <a:xfrm xmlns:a="http://schemas.openxmlformats.org/drawingml/2006/main">
            <a:off x="609600" y="7362825"/>
            <a:ext cx="14020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07E92"/>
                </a:solidFill>
                <a:latin typeface="Arial"/>
                <a:ea typeface="Arial"/>
                <a:cs typeface="Arial"/>
              </a:defRPr>
            </a:pPr>
            <a:r>
              <a:rPr sz="1875" b="1">
                <a:solidFill>
                  <a:srgbClr val="007E92"/>
                </a:solidFill>
                <a:latin typeface="Arial"/>
                <a:ea typeface="Arial"/>
                <a:cs typeface="Arial"/>
              </a:rPr>
              <a:t>Configuration and validation are required before calling a connection operational.</a:t>
            </a:r>
          </a:p>
        </p:txBody>
      </p:sp>
    </p:spTree>
    <p:extLst>
      <p:ext uri="{BB962C8B-B14F-4D97-AF65-F5344CB8AC3E}">
        <p14:creationId xmlns:p14="http://schemas.microsoft.com/office/powerpoint/2010/main" val="6708149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Integration inventory: client-specific scope">
            <a:extLst xmlns:a="http://schemas.openxmlformats.org/drawingml/2006/main">
              <a:ext uri="{FF2B5EF4-FFF2-40B4-BE49-F238E27FC236}">
                <a16:creationId xmlns:a16="http://schemas.microsoft.com/office/drawing/2014/main" id="{CF884574-B000-40FB-B02D-4B23E686334A}"/>
              </a:ext>
            </a:extLst>
          </p:cNvPr>
          <p:cNvSpPr>
            <a:spLocks xmlns:a="http://schemas.openxmlformats.org/drawingml/2006/main" noGrp="1"/>
          </p:cNvSpPr>
          <p:nvPr/>
        </p:nvSpPr>
        <p:spPr>
          <a:xfrm xmlns:a="http://schemas.openxmlformats.org/drawingml/2006/main">
            <a:off x="609600" y="428625"/>
            <a:ext cx="14020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374B"/>
                </a:solidFill>
                <a:latin typeface="Arial"/>
                <a:ea typeface="Arial"/>
                <a:cs typeface="Arial"/>
              </a:defRPr>
            </a:pPr>
            <a:r>
              <a:rPr sz="3300" b="1">
                <a:solidFill>
                  <a:srgbClr val="12374B"/>
                </a:solidFill>
                <a:latin typeface="Arial"/>
                <a:ea typeface="Arial"/>
                <a:cs typeface="Arial"/>
              </a:rPr>
              <a:t>Integration inventory: client-specific scope</a:t>
            </a:r>
          </a:p>
        </p:txBody>
      </p:sp>
      <p:sp>
        <p:nvSpPr>
          <p:cNvPr id="2" name="No ready-made implementation was identified for the following con">
            <a:extLst xmlns:a="http://schemas.openxmlformats.org/drawingml/2006/main">
              <a:ext uri="{FF2B5EF4-FFF2-40B4-BE49-F238E27FC236}">
                <a16:creationId xmlns:a16="http://schemas.microsoft.com/office/drawing/2014/main" id="{F75C8B7F-0B2F-47A7-99FD-48A2D1E95AC1}"/>
              </a:ext>
            </a:extLst>
          </p:cNvPr>
          <p:cNvSpPr>
            <a:spLocks xmlns:a="http://schemas.openxmlformats.org/drawingml/2006/main" noGrp="1"/>
          </p:cNvSpPr>
          <p:nvPr/>
        </p:nvSpPr>
        <p:spPr>
          <a:xfrm xmlns:a="http://schemas.openxmlformats.org/drawingml/2006/main">
            <a:off x="609600" y="1304925"/>
            <a:ext cx="1395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547080"/>
                </a:solidFill>
                <a:latin typeface="Arial"/>
                <a:ea typeface="Arial"/>
                <a:cs typeface="Arial"/>
              </a:defRPr>
            </a:pPr>
            <a:r>
              <a:rPr sz="1875" b="0">
                <a:solidFill>
                  <a:srgbClr val="547080"/>
                </a:solidFill>
                <a:latin typeface="Arial"/>
                <a:ea typeface="Arial"/>
                <a:cs typeface="Arial"/>
              </a:rPr>
              <a:t>No ready-made implementation was identified for the following connectors in the inspected application paths.</a:t>
            </a:r>
          </a:p>
        </p:txBody>
      </p:sp>
      <p:sp>
        <p:nvSpPr>
          <p:cNvPr id="3" name="WIDispatch   /   IT briefing   /   29 September 2026">
            <a:extLst xmlns:a="http://schemas.openxmlformats.org/drawingml/2006/main">
              <a:ext uri="{FF2B5EF4-FFF2-40B4-BE49-F238E27FC236}">
                <a16:creationId xmlns:a16="http://schemas.microsoft.com/office/drawing/2014/main" id="{76CA8AD0-0769-4B58-A6F4-608945DE140F}"/>
              </a:ext>
            </a:extLst>
          </p:cNvPr>
          <p:cNvSpPr>
            <a:spLocks xmlns:a="http://schemas.openxmlformats.org/drawingml/2006/main" noGrp="1"/>
          </p:cNvSpPr>
          <p:nvPr/>
        </p:nvSpPr>
        <p:spPr>
          <a:xfrm xmlns:a="http://schemas.openxmlformats.org/drawingml/2006/main">
            <a:off x="609600" y="8172450"/>
            <a:ext cx="1162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547080"/>
                </a:solidFill>
                <a:latin typeface="Arial"/>
                <a:ea typeface="Arial"/>
                <a:cs typeface="Arial"/>
              </a:defRPr>
            </a:pPr>
            <a:r>
              <a:rPr sz="1275" b="0">
                <a:solidFill>
                  <a:srgbClr val="547080"/>
                </a:solidFill>
                <a:latin typeface="Arial"/>
                <a:ea typeface="Arial"/>
                <a:cs typeface="Arial"/>
              </a:rPr>
              <a:t>WIDispatch   /   IT briefing   /   29 September 2026</a:t>
            </a:r>
          </a:p>
        </p:txBody>
      </p:sp>
      <p:sp>
        <p:nvSpPr>
          <p:cNvPr id="4" name="10">
            <a:extLst xmlns:a="http://schemas.openxmlformats.org/drawingml/2006/main">
              <a:ext uri="{FF2B5EF4-FFF2-40B4-BE49-F238E27FC236}">
                <a16:creationId xmlns:a16="http://schemas.microsoft.com/office/drawing/2014/main" id="{08645E08-3D5B-42E6-BED9-9E87FC2959A2}"/>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547080"/>
                </a:solidFill>
                <a:latin typeface="Arial"/>
                <a:ea typeface="Arial"/>
                <a:cs typeface="Arial"/>
              </a:defRPr>
            </a:pPr>
            <a:r>
              <a:rPr sz="1650" b="0">
                <a:solidFill>
                  <a:srgbClr val="547080"/>
                </a:solidFill>
                <a:latin typeface="Arial"/>
                <a:ea typeface="Arial"/>
                <a:cs typeface="Arial"/>
              </a:rPr>
              <a:t>10</a:t>
            </a:r>
          </a:p>
        </p:txBody>
      </p:sp>
      <p:graphicFrame>
        <p:nvGraphicFramePr>
          <p:cNvPr id="11" name=""/>
          <p:cNvGraphicFramePr/>
          <p:nvPr/>
        </p:nvGraphicFramePr>
        <p:xfrm>
          <a:off xmlns:a="http://schemas.openxmlformats.org/drawingml/2006/main" x="609600" y="2076450"/>
          <a:ext xmlns:a="http://schemas.openxmlformats.org/drawingml/2006/main" cx="14020800" cy="4857750"/>
        </p:xfrm>
        <a:graphic xmlns:a="http://schemas.openxmlformats.org/drawingml/2006/main">
          <a:graphicData uri="http://schemas.openxmlformats.org/drawingml/2006/table">
            <a:tbl>
              <a:tblPr/>
              <a:tblGrid>
                <a:gridCol w="3333750"/>
                <a:gridCol w="5810250"/>
                <a:gridCol w="4876800"/>
              </a:tblGrid>
              <a:tr h="809625">
                <a:tc>
                  <a:txBody>
                    <a:bodyPr/>
                    <a:lstStyle/>
                    <a:p>
                      <a:r>
                        <a:rPr sz="1950" b="1">
                          <a:solidFill>
                            <a:srgbClr val="FFFFFF"/>
                          </a:solidFill>
                          <a:latin typeface="Arial"/>
                          <a:ea typeface="Arial"/>
                          <a:cs typeface="Arial"/>
                        </a:rPr>
                        <a:t>Integration</a:t>
                      </a:r>
                    </a:p>
                  </a:txBody>
                  <a:tcPr marL="133350" marR="133350" marT="142875" marB="123825" anchor="ctr">
                    <a:solidFill>
                      <a:srgbClr val="12374B"/>
                    </a:solidFill>
                  </a:tcPr>
                </a:tc>
                <a:tc>
                  <a:txBody>
                    <a:bodyPr/>
                    <a:lstStyle/>
                    <a:p>
                      <a:r>
                        <a:rPr sz="1950" b="1">
                          <a:solidFill>
                            <a:srgbClr val="FFFFFF"/>
                          </a:solidFill>
                          <a:latin typeface="Arial"/>
                          <a:ea typeface="Arial"/>
                          <a:cs typeface="Arial"/>
                        </a:rPr>
                        <a:t>Client decisions needed</a:t>
                      </a:r>
                    </a:p>
                  </a:txBody>
                  <a:tcPr marL="133350" marR="133350" marT="142875" marB="123825" anchor="ctr">
                    <a:solidFill>
                      <a:srgbClr val="12374B"/>
                    </a:solidFill>
                  </a:tcPr>
                </a:tc>
                <a:tc>
                  <a:txBody>
                    <a:bodyPr/>
                    <a:lstStyle/>
                    <a:p>
                      <a:r>
                        <a:rPr sz="1950" b="1">
                          <a:solidFill>
                            <a:srgbClr val="FFFFFF"/>
                          </a:solidFill>
                          <a:latin typeface="Arial"/>
                          <a:ea typeface="Arial"/>
                          <a:cs typeface="Arial"/>
                        </a:rPr>
                        <a:t>Delivery position</a:t>
                      </a:r>
                    </a:p>
                  </a:txBody>
                  <a:tcPr marL="133350" marR="133350" marT="142875" marB="123825" anchor="ctr">
                    <a:solidFill>
                      <a:srgbClr val="12374B"/>
                    </a:solidFill>
                  </a:tcPr>
                </a:tc>
              </a:tr>
              <a:tr h="809625">
                <a:tc>
                  <a:txBody>
                    <a:bodyPr/>
                    <a:lstStyle/>
                    <a:p>
                      <a:r>
                        <a:rPr sz="1950">
                          <a:solidFill>
                            <a:srgbClr val="18384B"/>
                          </a:solidFill>
                          <a:latin typeface="Arial"/>
                          <a:ea typeface="Arial"/>
                          <a:cs typeface="Arial"/>
                        </a:rPr>
                        <a:t>Corporate identity / MFA</a:t>
                      </a:r>
                    </a:p>
                  </a:txBody>
                  <a:tcPr marL="133350" marR="133350" marT="142875" marB="123825" anchor="ctr">
                    <a:solidFill>
                      <a:srgbClr val="F1F6F8"/>
                    </a:solidFill>
                  </a:tcPr>
                </a:tc>
                <a:tc>
                  <a:txBody>
                    <a:bodyPr/>
                    <a:lstStyle/>
                    <a:p>
                      <a:r>
                        <a:rPr sz="1950">
                          <a:solidFill>
                            <a:srgbClr val="18384B"/>
                          </a:solidFill>
                          <a:latin typeface="Arial"/>
                          <a:ea typeface="Arial"/>
                          <a:cs typeface="Arial"/>
                        </a:rPr>
                        <a:t>IdP, protocol, claims, roles and revocation</a:t>
                      </a:r>
                    </a:p>
                  </a:txBody>
                  <a:tcPr marL="133350" marR="133350" marT="142875" marB="123825" anchor="ctr">
                    <a:solidFill>
                      <a:srgbClr val="F1F6F8"/>
                    </a:solidFill>
                  </a:tcPr>
                </a:tc>
                <a:tc>
                  <a:txBody>
                    <a:bodyPr/>
                    <a:lstStyle/>
                    <a:p>
                      <a:r>
                        <a:rPr sz="1950">
                          <a:solidFill>
                            <a:srgbClr val="18384B"/>
                          </a:solidFill>
                          <a:latin typeface="Arial"/>
                          <a:ea typeface="Arial"/>
                          <a:cs typeface="Arial"/>
                        </a:rPr>
                        <a:t>Development and identity acceptance</a:t>
                      </a:r>
                    </a:p>
                  </a:txBody>
                  <a:tcPr marL="133350" marR="133350" marT="142875" marB="123825" anchor="ctr">
                    <a:solidFill>
                      <a:srgbClr val="F1F6F8"/>
                    </a:solidFill>
                  </a:tcPr>
                </a:tc>
              </a:tr>
              <a:tr h="809625">
                <a:tc>
                  <a:txBody>
                    <a:bodyPr/>
                    <a:lstStyle/>
                    <a:p>
                      <a:r>
                        <a:rPr sz="1950">
                          <a:solidFill>
                            <a:srgbClr val="18384B"/>
                          </a:solidFill>
                          <a:latin typeface="Arial"/>
                          <a:ea typeface="Arial"/>
                          <a:cs typeface="Arial"/>
                        </a:rPr>
                        <a:t>ERP / EAM / CMMS</a:t>
                      </a:r>
                    </a:p>
                  </a:txBody>
                  <a:tcPr marL="133350" marR="133350" marT="142875" marB="123825" anchor="ctr">
                    <a:solidFill>
                      <a:srgbClr val="FFFFFF"/>
                    </a:solidFill>
                  </a:tcPr>
                </a:tc>
                <a:tc>
                  <a:txBody>
                    <a:bodyPr/>
                    <a:lstStyle/>
                    <a:p>
                      <a:r>
                        <a:rPr sz="1950">
                          <a:solidFill>
                            <a:srgbClr val="18384B"/>
                          </a:solidFill>
                          <a:latin typeface="Arial"/>
                          <a:ea typeface="Arial"/>
                          <a:cs typeface="Arial"/>
                        </a:rPr>
                        <a:t>Asset, maintenance and cost interfaces</a:t>
                      </a:r>
                    </a:p>
                  </a:txBody>
                  <a:tcPr marL="133350" marR="133350" marT="142875" marB="123825" anchor="ctr">
                    <a:solidFill>
                      <a:srgbClr val="FFFFFF"/>
                    </a:solidFill>
                  </a:tcPr>
                </a:tc>
                <a:tc>
                  <a:txBody>
                    <a:bodyPr/>
                    <a:lstStyle/>
                    <a:p>
                      <a:r>
                        <a:rPr sz="1950">
                          <a:solidFill>
                            <a:srgbClr val="18384B"/>
                          </a:solidFill>
                          <a:latin typeface="Arial"/>
                          <a:ea typeface="Arial"/>
                          <a:cs typeface="Arial"/>
                        </a:rPr>
                        <a:t>Contract, connector and reconciliation work</a:t>
                      </a:r>
                    </a:p>
                  </a:txBody>
                  <a:tcPr marL="133350" marR="133350" marT="142875" marB="123825" anchor="ctr">
                    <a:solidFill>
                      <a:srgbClr val="FFFFFF"/>
                    </a:solidFill>
                  </a:tcPr>
                </a:tc>
              </a:tr>
              <a:tr h="809625">
                <a:tc>
                  <a:txBody>
                    <a:bodyPr/>
                    <a:lstStyle/>
                    <a:p>
                      <a:r>
                        <a:rPr sz="1950">
                          <a:solidFill>
                            <a:srgbClr val="18384B"/>
                          </a:solidFill>
                          <a:latin typeface="Arial"/>
                          <a:ea typeface="Arial"/>
                          <a:cs typeface="Arial"/>
                        </a:rPr>
                        <a:t>SCADA / historian</a:t>
                      </a:r>
                    </a:p>
                  </a:txBody>
                  <a:tcPr marL="133350" marR="133350" marT="142875" marB="123825" anchor="ctr">
                    <a:solidFill>
                      <a:srgbClr val="F1F6F8"/>
                    </a:solidFill>
                  </a:tcPr>
                </a:tc>
                <a:tc>
                  <a:txBody>
                    <a:bodyPr/>
                    <a:lstStyle/>
                    <a:p>
                      <a:r>
                        <a:rPr sz="1950">
                          <a:solidFill>
                            <a:srgbClr val="18384B"/>
                          </a:solidFill>
                          <a:latin typeface="Arial"/>
                          <a:ea typeface="Arial"/>
                          <a:cs typeface="Arial"/>
                        </a:rPr>
                        <a:t>Read-only measurements, units and aggregation</a:t>
                      </a:r>
                    </a:p>
                  </a:txBody>
                  <a:tcPr marL="133350" marR="133350" marT="142875" marB="123825" anchor="ctr">
                    <a:solidFill>
                      <a:srgbClr val="F1F6F8"/>
                    </a:solidFill>
                  </a:tcPr>
                </a:tc>
                <a:tc>
                  <a:txBody>
                    <a:bodyPr/>
                    <a:lstStyle/>
                    <a:p>
                      <a:r>
                        <a:rPr sz="1950">
                          <a:solidFill>
                            <a:srgbClr val="18384B"/>
                          </a:solidFill>
                          <a:latin typeface="Arial"/>
                          <a:ea typeface="Arial"/>
                          <a:cs typeface="Arial"/>
                        </a:rPr>
                        <a:t>Connector and data-quality work</a:t>
                      </a:r>
                    </a:p>
                  </a:txBody>
                  <a:tcPr marL="133350" marR="133350" marT="142875" marB="123825" anchor="ctr">
                    <a:solidFill>
                      <a:srgbClr val="F1F6F8"/>
                    </a:solidFill>
                  </a:tcPr>
                </a:tc>
              </a:tr>
              <a:tr h="809625">
                <a:tc>
                  <a:txBody>
                    <a:bodyPr/>
                    <a:lstStyle/>
                    <a:p>
                      <a:r>
                        <a:rPr sz="1950">
                          <a:solidFill>
                            <a:srgbClr val="18384B"/>
                          </a:solidFill>
                          <a:latin typeface="Arial"/>
                          <a:ea typeface="Arial"/>
                          <a:cs typeface="Arial"/>
                        </a:rPr>
                        <a:t>Equipment control</a:t>
                      </a:r>
                    </a:p>
                  </a:txBody>
                  <a:tcPr marL="133350" marR="133350" marT="142875" marB="123825" anchor="ctr">
                    <a:solidFill>
                      <a:srgbClr val="FFFFFF"/>
                    </a:solidFill>
                  </a:tcPr>
                </a:tc>
                <a:tc>
                  <a:txBody>
                    <a:bodyPr/>
                    <a:lstStyle/>
                    <a:p>
                      <a:r>
                        <a:rPr sz="1950">
                          <a:solidFill>
                            <a:srgbClr val="18384B"/>
                          </a:solidFill>
                          <a:latin typeface="Arial"/>
                          <a:ea typeface="Arial"/>
                          <a:cs typeface="Arial"/>
                        </a:rPr>
                        <a:t>Authority, safety boundary and control design</a:t>
                      </a:r>
                    </a:p>
                  </a:txBody>
                  <a:tcPr marL="133350" marR="133350" marT="142875" marB="123825" anchor="ctr">
                    <a:solidFill>
                      <a:srgbClr val="FFFFFF"/>
                    </a:solidFill>
                  </a:tcPr>
                </a:tc>
                <a:tc>
                  <a:txBody>
                    <a:bodyPr/>
                    <a:lstStyle/>
                    <a:p>
                      <a:r>
                        <a:rPr sz="1950">
                          <a:solidFill>
                            <a:srgbClr val="18384B"/>
                          </a:solidFill>
                          <a:latin typeface="Arial"/>
                          <a:ea typeface="Arial"/>
                          <a:cs typeface="Arial"/>
                        </a:rPr>
                        <a:t>Separate scope; no actuator connector evidenced</a:t>
                      </a:r>
                    </a:p>
                  </a:txBody>
                  <a:tcPr marL="133350" marR="133350" marT="142875" marB="123825" anchor="ctr">
                    <a:solidFill>
                      <a:srgbClr val="FFFFFF"/>
                    </a:solidFill>
                  </a:tcPr>
                </a:tc>
              </a:tr>
              <a:tr h="809625">
                <a:tc>
                  <a:txBody>
                    <a:bodyPr/>
                    <a:lstStyle/>
                    <a:p>
                      <a:r>
                        <a:rPr sz="1950">
                          <a:solidFill>
                            <a:srgbClr val="18384B"/>
                          </a:solidFill>
                          <a:latin typeface="Arial"/>
                          <a:ea typeface="Arial"/>
                          <a:cs typeface="Arial"/>
                        </a:rPr>
                        <a:t>SIEM / central monitoring</a:t>
                      </a:r>
                    </a:p>
                  </a:txBody>
                  <a:tcPr marL="133350" marR="133350" marT="142875" marB="123825" anchor="ctr">
                    <a:solidFill>
                      <a:srgbClr val="F1F6F8"/>
                    </a:solidFill>
                  </a:tcPr>
                </a:tc>
                <a:tc>
                  <a:txBody>
                    <a:bodyPr/>
                    <a:lstStyle/>
                    <a:p>
                      <a:r>
                        <a:rPr sz="1950">
                          <a:solidFill>
                            <a:srgbClr val="18384B"/>
                          </a:solidFill>
                          <a:latin typeface="Arial"/>
                          <a:ea typeface="Arial"/>
                          <a:cs typeface="Arial"/>
                        </a:rPr>
                        <a:t>Event schema, retention and collector</a:t>
                      </a:r>
                    </a:p>
                  </a:txBody>
                  <a:tcPr marL="133350" marR="133350" marT="142875" marB="123825" anchor="ctr">
                    <a:solidFill>
                      <a:srgbClr val="F1F6F8"/>
                    </a:solidFill>
                  </a:tcPr>
                </a:tc>
                <a:tc>
                  <a:txBody>
                    <a:bodyPr/>
                    <a:lstStyle/>
                    <a:p>
                      <a:r>
                        <a:rPr sz="1950">
                          <a:solidFill>
                            <a:srgbClr val="18384B"/>
                          </a:solidFill>
                          <a:latin typeface="Arial"/>
                          <a:ea typeface="Arial"/>
                          <a:cs typeface="Arial"/>
                        </a:rPr>
                        <a:t>Configuration plus application audit work</a:t>
                      </a:r>
                    </a:p>
                  </a:txBody>
                  <a:tcPr marL="133350" marR="133350" marT="142875" marB="123825" anchor="ctr">
                    <a:solidFill>
                      <a:srgbClr val="F1F6F8"/>
                    </a:solidFill>
                  </a:tcPr>
                </a:tc>
              </a:tr>
            </a:tbl>
          </a:graphicData>
        </a:graphic>
      </p:graphicFrame>
      <p:sp>
        <p:nvSpPr>
          <p:cNvPr id="6" name="The integration discussion should end with named systems, interfa">
            <a:extLst xmlns:a="http://schemas.openxmlformats.org/drawingml/2006/main">
              <a:ext uri="{FF2B5EF4-FFF2-40B4-BE49-F238E27FC236}">
                <a16:creationId xmlns:a16="http://schemas.microsoft.com/office/drawing/2014/main" id="{CAD68208-959C-43F9-BDD5-0A1C0FF2372E}"/>
              </a:ext>
            </a:extLst>
          </p:cNvPr>
          <p:cNvSpPr>
            <a:spLocks xmlns:a="http://schemas.openxmlformats.org/drawingml/2006/main" noGrp="1"/>
          </p:cNvSpPr>
          <p:nvPr/>
        </p:nvSpPr>
        <p:spPr>
          <a:xfrm xmlns:a="http://schemas.openxmlformats.org/drawingml/2006/main">
            <a:off x="609600" y="7362825"/>
            <a:ext cx="14020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07E92"/>
                </a:solidFill>
                <a:latin typeface="Arial"/>
                <a:ea typeface="Arial"/>
                <a:cs typeface="Arial"/>
              </a:defRPr>
            </a:pPr>
            <a:r>
              <a:rPr sz="1875" b="1">
                <a:solidFill>
                  <a:srgbClr val="007E92"/>
                </a:solidFill>
                <a:latin typeface="Arial"/>
                <a:ea typeface="Arial"/>
                <a:cs typeface="Arial"/>
              </a:rPr>
              <a:t>The integration discussion should end with named systems, interface owners and acceptance criteria.</a:t>
            </a:r>
          </a:p>
        </p:txBody>
      </p:sp>
    </p:spTree>
    <p:extLst>
      <p:ext uri="{BB962C8B-B14F-4D97-AF65-F5344CB8AC3E}">
        <p14:creationId xmlns:p14="http://schemas.microsoft.com/office/powerpoint/2010/main" val="165817287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ecurity evidence and remaining controls">
            <a:extLst xmlns:a="http://schemas.openxmlformats.org/drawingml/2006/main">
              <a:ext uri="{FF2B5EF4-FFF2-40B4-BE49-F238E27FC236}">
                <a16:creationId xmlns:a16="http://schemas.microsoft.com/office/drawing/2014/main" id="{11FEC687-BDB1-4BB8-BAE0-D9035EA901BD}"/>
              </a:ext>
            </a:extLst>
          </p:cNvPr>
          <p:cNvSpPr>
            <a:spLocks xmlns:a="http://schemas.openxmlformats.org/drawingml/2006/main" noGrp="1"/>
          </p:cNvSpPr>
          <p:nvPr/>
        </p:nvSpPr>
        <p:spPr>
          <a:xfrm xmlns:a="http://schemas.openxmlformats.org/drawingml/2006/main">
            <a:off x="609600" y="428625"/>
            <a:ext cx="14020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374B"/>
                </a:solidFill>
                <a:latin typeface="Arial"/>
                <a:ea typeface="Arial"/>
                <a:cs typeface="Arial"/>
              </a:defRPr>
            </a:pPr>
            <a:r>
              <a:rPr sz="3300" b="1">
                <a:solidFill>
                  <a:srgbClr val="12374B"/>
                </a:solidFill>
                <a:latin typeface="Arial"/>
                <a:ea typeface="Arial"/>
                <a:cs typeface="Arial"/>
              </a:rPr>
              <a:t>Security evidence and remaining controls</a:t>
            </a:r>
          </a:p>
        </p:txBody>
      </p:sp>
      <p:sp>
        <p:nvSpPr>
          <p:cNvPr id="2" name="Current-source findings as of 29 September 2026. No penetration t">
            <a:extLst xmlns:a="http://schemas.openxmlformats.org/drawingml/2006/main">
              <a:ext uri="{FF2B5EF4-FFF2-40B4-BE49-F238E27FC236}">
                <a16:creationId xmlns:a16="http://schemas.microsoft.com/office/drawing/2014/main" id="{7084E393-C17A-40E4-A0ED-6F8CDAE33506}"/>
              </a:ext>
            </a:extLst>
          </p:cNvPr>
          <p:cNvSpPr>
            <a:spLocks xmlns:a="http://schemas.openxmlformats.org/drawingml/2006/main" noGrp="1"/>
          </p:cNvSpPr>
          <p:nvPr/>
        </p:nvSpPr>
        <p:spPr>
          <a:xfrm xmlns:a="http://schemas.openxmlformats.org/drawingml/2006/main">
            <a:off x="609600" y="1304925"/>
            <a:ext cx="1395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547080"/>
                </a:solidFill>
                <a:latin typeface="Arial"/>
                <a:ea typeface="Arial"/>
                <a:cs typeface="Arial"/>
              </a:defRPr>
            </a:pPr>
            <a:r>
              <a:rPr sz="1875" b="0">
                <a:solidFill>
                  <a:srgbClr val="547080"/>
                </a:solidFill>
                <a:latin typeface="Arial"/>
                <a:ea typeface="Arial"/>
                <a:cs typeface="Arial"/>
              </a:rPr>
              <a:t>Current-source findings as of 29 September 2026. No penetration test or hosted security certification was performed.</a:t>
            </a:r>
          </a:p>
        </p:txBody>
      </p:sp>
      <p:sp>
        <p:nvSpPr>
          <p:cNvPr id="3" name="WIDispatch   /   IT briefing   /   29 September 2026">
            <a:extLst xmlns:a="http://schemas.openxmlformats.org/drawingml/2006/main">
              <a:ext uri="{FF2B5EF4-FFF2-40B4-BE49-F238E27FC236}">
                <a16:creationId xmlns:a16="http://schemas.microsoft.com/office/drawing/2014/main" id="{C3663A1A-8C2F-4D10-8650-17EDD235817D}"/>
              </a:ext>
            </a:extLst>
          </p:cNvPr>
          <p:cNvSpPr>
            <a:spLocks xmlns:a="http://schemas.openxmlformats.org/drawingml/2006/main" noGrp="1"/>
          </p:cNvSpPr>
          <p:nvPr/>
        </p:nvSpPr>
        <p:spPr>
          <a:xfrm xmlns:a="http://schemas.openxmlformats.org/drawingml/2006/main">
            <a:off x="609600" y="8172450"/>
            <a:ext cx="1162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547080"/>
                </a:solidFill>
                <a:latin typeface="Arial"/>
                <a:ea typeface="Arial"/>
                <a:cs typeface="Arial"/>
              </a:defRPr>
            </a:pPr>
            <a:r>
              <a:rPr sz="1275" b="0">
                <a:solidFill>
                  <a:srgbClr val="547080"/>
                </a:solidFill>
                <a:latin typeface="Arial"/>
                <a:ea typeface="Arial"/>
                <a:cs typeface="Arial"/>
              </a:rPr>
              <a:t>WIDispatch   /   IT briefing   /   29 September 2026</a:t>
            </a:r>
          </a:p>
        </p:txBody>
      </p:sp>
      <p:sp>
        <p:nvSpPr>
          <p:cNvPr id="4" name="11">
            <a:extLst xmlns:a="http://schemas.openxmlformats.org/drawingml/2006/main">
              <a:ext uri="{FF2B5EF4-FFF2-40B4-BE49-F238E27FC236}">
                <a16:creationId xmlns:a16="http://schemas.microsoft.com/office/drawing/2014/main" id="{46242B64-4D3F-44CC-9A70-8BF9A2D3EBF3}"/>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547080"/>
                </a:solidFill>
                <a:latin typeface="Arial"/>
                <a:ea typeface="Arial"/>
                <a:cs typeface="Arial"/>
              </a:defRPr>
            </a:pPr>
            <a:r>
              <a:rPr sz="1650" b="0">
                <a:solidFill>
                  <a:srgbClr val="547080"/>
                </a:solidFill>
                <a:latin typeface="Arial"/>
                <a:ea typeface="Arial"/>
                <a:cs typeface="Arial"/>
              </a:rPr>
              <a:t>11</a:t>
            </a:r>
          </a:p>
        </p:txBody>
      </p:sp>
      <p:graphicFrame>
        <p:nvGraphicFramePr>
          <p:cNvPr id="11" name=""/>
          <p:cNvGraphicFramePr/>
          <p:nvPr/>
        </p:nvGraphicFramePr>
        <p:xfrm>
          <a:off xmlns:a="http://schemas.openxmlformats.org/drawingml/2006/main" x="609600" y="2076450"/>
          <a:ext xmlns:a="http://schemas.openxmlformats.org/drawingml/2006/main" cx="14020800" cy="4857750"/>
        </p:xfrm>
        <a:graphic xmlns:a="http://schemas.openxmlformats.org/drawingml/2006/main">
          <a:graphicData uri="http://schemas.openxmlformats.org/drawingml/2006/table">
            <a:tbl>
              <a:tblPr/>
              <a:tblGrid>
                <a:gridCol w="2952750"/>
                <a:gridCol w="5810250"/>
                <a:gridCol w="5257800"/>
              </a:tblGrid>
              <a:tr h="809625">
                <a:tc>
                  <a:txBody>
                    <a:bodyPr/>
                    <a:lstStyle/>
                    <a:p>
                      <a:r>
                        <a:rPr sz="1875" b="1">
                          <a:solidFill>
                            <a:srgbClr val="FFFFFF"/>
                          </a:solidFill>
                          <a:latin typeface="Arial"/>
                          <a:ea typeface="Arial"/>
                          <a:cs typeface="Arial"/>
                        </a:rPr>
                        <a:t>Control</a:t>
                      </a:r>
                    </a:p>
                  </a:txBody>
                  <a:tcPr marL="133350" marR="133350" marT="142875" marB="123825" anchor="ctr">
                    <a:solidFill>
                      <a:srgbClr val="12374B"/>
                    </a:solidFill>
                  </a:tcPr>
                </a:tc>
                <a:tc>
                  <a:txBody>
                    <a:bodyPr/>
                    <a:lstStyle/>
                    <a:p>
                      <a:r>
                        <a:rPr sz="1875" b="1">
                          <a:solidFill>
                            <a:srgbClr val="FFFFFF"/>
                          </a:solidFill>
                          <a:latin typeface="Arial"/>
                          <a:ea typeface="Arial"/>
                          <a:cs typeface="Arial"/>
                        </a:rPr>
                        <a:t>Evidence available</a:t>
                      </a:r>
                    </a:p>
                  </a:txBody>
                  <a:tcPr marL="133350" marR="133350" marT="142875" marB="123825" anchor="ctr">
                    <a:solidFill>
                      <a:srgbClr val="12374B"/>
                    </a:solidFill>
                  </a:tcPr>
                </a:tc>
                <a:tc>
                  <a:txBody>
                    <a:bodyPr/>
                    <a:lstStyle/>
                    <a:p>
                      <a:r>
                        <a:rPr sz="1875" b="1">
                          <a:solidFill>
                            <a:srgbClr val="FFFFFF"/>
                          </a:solidFill>
                          <a:latin typeface="Arial"/>
                          <a:ea typeface="Arial"/>
                          <a:cs typeface="Arial"/>
                        </a:rPr>
                        <a:t>Remaining action</a:t>
                      </a:r>
                    </a:p>
                  </a:txBody>
                  <a:tcPr marL="133350" marR="133350" marT="142875" marB="123825" anchor="ctr">
                    <a:solidFill>
                      <a:srgbClr val="12374B"/>
                    </a:solidFill>
                  </a:tcPr>
                </a:tc>
              </a:tr>
              <a:tr h="809625">
                <a:tc>
                  <a:txBody>
                    <a:bodyPr/>
                    <a:lstStyle/>
                    <a:p>
                      <a:r>
                        <a:rPr sz="1875">
                          <a:solidFill>
                            <a:srgbClr val="18384B"/>
                          </a:solidFill>
                          <a:latin typeface="Arial"/>
                          <a:ea typeface="Arial"/>
                          <a:cs typeface="Arial"/>
                        </a:rPr>
                        <a:t>Portal sign-in</a:t>
                      </a:r>
                    </a:p>
                  </a:txBody>
                  <a:tcPr marL="133350" marR="133350" marT="142875" marB="123825" anchor="ctr">
                    <a:solidFill>
                      <a:srgbClr val="F1F6F8"/>
                    </a:solidFill>
                  </a:tcPr>
                </a:tc>
                <a:tc>
                  <a:txBody>
                    <a:bodyPr/>
                    <a:lstStyle/>
                    <a:p>
                      <a:r>
                        <a:rPr sz="1875">
                          <a:solidFill>
                            <a:srgbClr val="18384B"/>
                          </a:solidFill>
                          <a:latin typeface="Arial"/>
                          <a:ea typeface="Arial"/>
                          <a:cs typeface="Arial"/>
                        </a:rPr>
                        <a:t>Password hashing and signed-token login in source</a:t>
                      </a:r>
                    </a:p>
                  </a:txBody>
                  <a:tcPr marL="133350" marR="133350" marT="142875" marB="123825" anchor="ctr">
                    <a:solidFill>
                      <a:srgbClr val="F1F6F8"/>
                    </a:solidFill>
                  </a:tcPr>
                </a:tc>
                <a:tc>
                  <a:txBody>
                    <a:bodyPr/>
                    <a:lstStyle/>
                    <a:p>
                      <a:r>
                        <a:rPr sz="1875">
                          <a:solidFill>
                            <a:srgbClr val="18384B"/>
                          </a:solidFill>
                          <a:latin typeface="Arial"/>
                          <a:ea typeface="Arial"/>
                          <a:cs typeface="Arial"/>
                        </a:rPr>
                        <a:t>Session policy, federation and authorization tests</a:t>
                      </a:r>
                    </a:p>
                  </a:txBody>
                  <a:tcPr marL="133350" marR="133350" marT="142875" marB="123825" anchor="ctr">
                    <a:solidFill>
                      <a:srgbClr val="F1F6F8"/>
                    </a:solidFill>
                  </a:tcPr>
                </a:tc>
              </a:tr>
              <a:tr h="809625">
                <a:tc>
                  <a:txBody>
                    <a:bodyPr/>
                    <a:lstStyle/>
                    <a:p>
                      <a:r>
                        <a:rPr sz="1875">
                          <a:solidFill>
                            <a:srgbClr val="18384B"/>
                          </a:solidFill>
                          <a:latin typeface="Arial"/>
                          <a:ea typeface="Arial"/>
                          <a:cs typeface="Arial"/>
                        </a:rPr>
                        <a:t>Desktop access</a:t>
                      </a:r>
                    </a:p>
                  </a:txBody>
                  <a:tcPr marL="133350" marR="133350" marT="142875" marB="123825" anchor="ctr">
                    <a:solidFill>
                      <a:srgbClr val="FFFFFF"/>
                    </a:solidFill>
                  </a:tcPr>
                </a:tc>
                <a:tc>
                  <a:txBody>
                    <a:bodyPr/>
                    <a:lstStyle/>
                    <a:p>
                      <a:r>
                        <a:rPr sz="1875">
                          <a:solidFill>
                            <a:srgbClr val="18384B"/>
                          </a:solidFill>
                          <a:latin typeface="Arial"/>
                          <a:ea typeface="Arial"/>
                          <a:cs typeface="Arial"/>
                        </a:rPr>
                        <a:t>API routes inspected; no authentication middleware</a:t>
                      </a:r>
                    </a:p>
                  </a:txBody>
                  <a:tcPr marL="133350" marR="133350" marT="142875" marB="123825" anchor="ctr">
                    <a:solidFill>
                      <a:srgbClr val="FFFFFF"/>
                    </a:solidFill>
                  </a:tcPr>
                </a:tc>
                <a:tc>
                  <a:txBody>
                    <a:bodyPr/>
                    <a:lstStyle/>
                    <a:p>
                      <a:r>
                        <a:rPr sz="1875">
                          <a:solidFill>
                            <a:srgbClr val="18384B"/>
                          </a:solidFill>
                          <a:latin typeface="Arial"/>
                          <a:ea typeface="Arial"/>
                          <a:cs typeface="Arial"/>
                        </a:rPr>
                        <a:t>Implement identity, scoped permissions and protected actions</a:t>
                      </a:r>
                    </a:p>
                  </a:txBody>
                  <a:tcPr marL="133350" marR="133350" marT="142875" marB="123825" anchor="ctr">
                    <a:solidFill>
                      <a:srgbClr val="FFFFFF"/>
                    </a:solidFill>
                  </a:tcPr>
                </a:tc>
              </a:tr>
              <a:tr h="809625">
                <a:tc>
                  <a:txBody>
                    <a:bodyPr/>
                    <a:lstStyle/>
                    <a:p>
                      <a:r>
                        <a:rPr sz="1875">
                          <a:solidFill>
                            <a:srgbClr val="18384B"/>
                          </a:solidFill>
                          <a:latin typeface="Arial"/>
                          <a:ea typeface="Arial"/>
                          <a:cs typeface="Arial"/>
                        </a:rPr>
                        <a:t>Approval boundaries</a:t>
                      </a:r>
                    </a:p>
                  </a:txBody>
                  <a:tcPr marL="133350" marR="133350" marT="142875" marB="123825" anchor="ctr">
                    <a:solidFill>
                      <a:srgbClr val="F1F6F8"/>
                    </a:solidFill>
                  </a:tcPr>
                </a:tc>
                <a:tc>
                  <a:txBody>
                    <a:bodyPr/>
                    <a:lstStyle/>
                    <a:p>
                      <a:r>
                        <a:rPr sz="1875">
                          <a:solidFill>
                            <a:srgbClr val="18384B"/>
                          </a:solidFill>
                          <a:latin typeface="Arial"/>
                          <a:ea typeface="Arial"/>
                          <a:cs typeface="Arial"/>
                        </a:rPr>
                        <a:t>Role gates in source</a:t>
                      </a:r>
                    </a:p>
                  </a:txBody>
                  <a:tcPr marL="133350" marR="133350" marT="142875" marB="123825" anchor="ctr">
                    <a:solidFill>
                      <a:srgbClr val="F1F6F8"/>
                    </a:solidFill>
                  </a:tcPr>
                </a:tc>
                <a:tc>
                  <a:txBody>
                    <a:bodyPr/>
                    <a:lstStyle/>
                    <a:p>
                      <a:r>
                        <a:rPr sz="1875">
                          <a:solidFill>
                            <a:srgbClr val="18384B"/>
                          </a:solidFill>
                          <a:latin typeface="Arial"/>
                          <a:ea typeface="Arial"/>
                          <a:cs typeface="Arial"/>
                        </a:rPr>
                        <a:t>Add record scope and agreed separation of duties</a:t>
                      </a:r>
                    </a:p>
                  </a:txBody>
                  <a:tcPr marL="133350" marR="133350" marT="142875" marB="123825" anchor="ctr">
                    <a:solidFill>
                      <a:srgbClr val="F1F6F8"/>
                    </a:solidFill>
                  </a:tcPr>
                </a:tc>
              </a:tr>
              <a:tr h="809625">
                <a:tc>
                  <a:txBody>
                    <a:bodyPr/>
                    <a:lstStyle/>
                    <a:p>
                      <a:r>
                        <a:rPr sz="1875">
                          <a:solidFill>
                            <a:srgbClr val="18384B"/>
                          </a:solidFill>
                          <a:latin typeface="Arial"/>
                          <a:ea typeface="Arial"/>
                          <a:cs typeface="Arial"/>
                        </a:rPr>
                        <a:t>Secrets / diagnostics</a:t>
                      </a:r>
                    </a:p>
                  </a:txBody>
                  <a:tcPr marL="133350" marR="133350" marT="142875" marB="123825" anchor="ctr">
                    <a:solidFill>
                      <a:srgbClr val="FFFFFF"/>
                    </a:solidFill>
                  </a:tcPr>
                </a:tc>
                <a:tc>
                  <a:txBody>
                    <a:bodyPr/>
                    <a:lstStyle/>
                    <a:p>
                      <a:r>
                        <a:rPr sz="1875">
                          <a:solidFill>
                            <a:srgbClr val="18384B"/>
                          </a:solidFill>
                          <a:latin typeface="Arial"/>
                          <a:ea typeface="Arial"/>
                          <a:cs typeface="Arial"/>
                        </a:rPr>
                        <a:t>Fallback and diagnostic paths identified</a:t>
                      </a:r>
                    </a:p>
                  </a:txBody>
                  <a:tcPr marL="133350" marR="133350" marT="142875" marB="123825" anchor="ctr">
                    <a:solidFill>
                      <a:srgbClr val="FFFFFF"/>
                    </a:solidFill>
                  </a:tcPr>
                </a:tc>
                <a:tc>
                  <a:txBody>
                    <a:bodyPr/>
                    <a:lstStyle/>
                    <a:p>
                      <a:r>
                        <a:rPr sz="1875">
                          <a:solidFill>
                            <a:srgbClr val="18384B"/>
                          </a:solidFill>
                          <a:latin typeface="Arial"/>
                          <a:ea typeface="Arial"/>
                          <a:cs typeface="Arial"/>
                        </a:rPr>
                        <a:t>Fail closed, protect diagnostics and restrict origins</a:t>
                      </a:r>
                    </a:p>
                  </a:txBody>
                  <a:tcPr marL="133350" marR="133350" marT="142875" marB="123825" anchor="ctr">
                    <a:solidFill>
                      <a:srgbClr val="FFFFFF"/>
                    </a:solidFill>
                  </a:tcPr>
                </a:tc>
              </a:tr>
              <a:tr h="809625">
                <a:tc>
                  <a:txBody>
                    <a:bodyPr/>
                    <a:lstStyle/>
                    <a:p>
                      <a:r>
                        <a:rPr sz="1875">
                          <a:solidFill>
                            <a:srgbClr val="18384B"/>
                          </a:solidFill>
                          <a:latin typeface="Arial"/>
                          <a:ea typeface="Arial"/>
                          <a:cs typeface="Arial"/>
                        </a:rPr>
                        <a:t>Audit / encryption</a:t>
                      </a:r>
                    </a:p>
                  </a:txBody>
                  <a:tcPr marL="133350" marR="133350" marT="142875" marB="123825" anchor="ctr">
                    <a:solidFill>
                      <a:srgbClr val="F1F6F8"/>
                    </a:solidFill>
                  </a:tcPr>
                </a:tc>
                <a:tc>
                  <a:txBody>
                    <a:bodyPr/>
                    <a:lstStyle/>
                    <a:p>
                      <a:r>
                        <a:rPr sz="1875">
                          <a:solidFill>
                            <a:srgbClr val="18384B"/>
                          </a:solidFill>
                          <a:latin typeface="Arial"/>
                          <a:ea typeface="Arial"/>
                          <a:cs typeface="Arial"/>
                        </a:rPr>
                        <a:t>Portal audit and plan lineage exist</a:t>
                      </a:r>
                    </a:p>
                  </a:txBody>
                  <a:tcPr marL="133350" marR="133350" marT="142875" marB="123825" anchor="ctr">
                    <a:solidFill>
                      <a:srgbClr val="F1F6F8"/>
                    </a:solidFill>
                  </a:tcPr>
                </a:tc>
                <a:tc>
                  <a:txBody>
                    <a:bodyPr/>
                    <a:lstStyle/>
                    <a:p>
                      <a:r>
                        <a:rPr sz="1875">
                          <a:solidFill>
                            <a:srgbClr val="18384B"/>
                          </a:solidFill>
                          <a:latin typeface="Arial"/>
                          <a:ea typeface="Arial"/>
                          <a:cs typeface="Arial"/>
                        </a:rPr>
                        <a:t>Complete actor trail; verify transport, storage and retention</a:t>
                      </a:r>
                    </a:p>
                  </a:txBody>
                  <a:tcPr marL="133350" marR="133350" marT="142875" marB="123825" anchor="ctr">
                    <a:solidFill>
                      <a:srgbClr val="F1F6F8"/>
                    </a:solidFill>
                  </a:tcPr>
                </a:tc>
              </a:tr>
            </a:tbl>
          </a:graphicData>
        </a:graphic>
      </p:graphicFrame>
      <p:sp>
        <p:nvSpPr>
          <p:cNvPr id="6" name="Security claims should cite an implemented control and its verifi">
            <a:extLst xmlns:a="http://schemas.openxmlformats.org/drawingml/2006/main">
              <a:ext uri="{FF2B5EF4-FFF2-40B4-BE49-F238E27FC236}">
                <a16:creationId xmlns:a16="http://schemas.microsoft.com/office/drawing/2014/main" id="{4CAD1CE3-8049-4145-A1FD-08F54007EFEF}"/>
              </a:ext>
            </a:extLst>
          </p:cNvPr>
          <p:cNvSpPr>
            <a:spLocks xmlns:a="http://schemas.openxmlformats.org/drawingml/2006/main" noGrp="1"/>
          </p:cNvSpPr>
          <p:nvPr/>
        </p:nvSpPr>
        <p:spPr>
          <a:xfrm xmlns:a="http://schemas.openxmlformats.org/drawingml/2006/main">
            <a:off x="609600" y="7362825"/>
            <a:ext cx="14020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07E92"/>
                </a:solidFill>
                <a:latin typeface="Arial"/>
                <a:ea typeface="Arial"/>
                <a:cs typeface="Arial"/>
              </a:defRPr>
            </a:pPr>
            <a:r>
              <a:rPr sz="1875" b="1">
                <a:solidFill>
                  <a:srgbClr val="007E92"/>
                </a:solidFill>
                <a:latin typeface="Arial"/>
                <a:ea typeface="Arial"/>
                <a:cs typeface="Arial"/>
              </a:rPr>
              <a:t>Security claims should cite an implemented control and its verification evidence.</a:t>
            </a:r>
          </a:p>
        </p:txBody>
      </p:sp>
    </p:spTree>
    <p:extLst>
      <p:ext uri="{BB962C8B-B14F-4D97-AF65-F5344CB8AC3E}">
        <p14:creationId xmlns:p14="http://schemas.microsoft.com/office/powerpoint/2010/main" val="134169046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Functional evidence and performance acceptance">
            <a:extLst xmlns:a="http://schemas.openxmlformats.org/drawingml/2006/main">
              <a:ext uri="{FF2B5EF4-FFF2-40B4-BE49-F238E27FC236}">
                <a16:creationId xmlns:a16="http://schemas.microsoft.com/office/drawing/2014/main" id="{9AE33233-940A-444D-97BD-4F429EAE2CB3}"/>
              </a:ext>
            </a:extLst>
          </p:cNvPr>
          <p:cNvSpPr>
            <a:spLocks xmlns:a="http://schemas.openxmlformats.org/drawingml/2006/main" noGrp="1"/>
          </p:cNvSpPr>
          <p:nvPr/>
        </p:nvSpPr>
        <p:spPr>
          <a:xfrm xmlns:a="http://schemas.openxmlformats.org/drawingml/2006/main">
            <a:off x="609600" y="428625"/>
            <a:ext cx="14020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374B"/>
                </a:solidFill>
                <a:latin typeface="Arial"/>
                <a:ea typeface="Arial"/>
                <a:cs typeface="Arial"/>
              </a:defRPr>
            </a:pPr>
            <a:r>
              <a:rPr sz="3300" b="1">
                <a:solidFill>
                  <a:srgbClr val="12374B"/>
                </a:solidFill>
                <a:latin typeface="Arial"/>
                <a:ea typeface="Arial"/>
                <a:cs typeface="Arial"/>
              </a:rPr>
              <a:t>Functional evidence and performance acceptance</a:t>
            </a:r>
          </a:p>
        </p:txBody>
      </p:sp>
      <p:sp>
        <p:nvSpPr>
          <p:cNvPr id="2" name="Existing backend tests were executed locally on 29 September 2026">
            <a:extLst xmlns:a="http://schemas.openxmlformats.org/drawingml/2006/main">
              <a:ext uri="{FF2B5EF4-FFF2-40B4-BE49-F238E27FC236}">
                <a16:creationId xmlns:a16="http://schemas.microsoft.com/office/drawing/2014/main" id="{252C3758-4566-403E-A119-B677660C6857}"/>
              </a:ext>
            </a:extLst>
          </p:cNvPr>
          <p:cNvSpPr>
            <a:spLocks xmlns:a="http://schemas.openxmlformats.org/drawingml/2006/main" noGrp="1"/>
          </p:cNvSpPr>
          <p:nvPr/>
        </p:nvSpPr>
        <p:spPr>
          <a:xfrm xmlns:a="http://schemas.openxmlformats.org/drawingml/2006/main">
            <a:off x="609600" y="1304925"/>
            <a:ext cx="1395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547080"/>
                </a:solidFill>
                <a:latin typeface="Arial"/>
                <a:ea typeface="Arial"/>
                <a:cs typeface="Arial"/>
              </a:defRPr>
            </a:pPr>
            <a:r>
              <a:rPr sz="1875" b="0">
                <a:solidFill>
                  <a:srgbClr val="547080"/>
                </a:solidFill>
                <a:latin typeface="Arial"/>
                <a:ea typeface="Arial"/>
                <a:cs typeface="Arial"/>
              </a:rPr>
              <a:t>Existing backend tests were executed locally on 29 September 2026.</a:t>
            </a:r>
          </a:p>
        </p:txBody>
      </p:sp>
      <p:sp>
        <p:nvSpPr>
          <p:cNvPr id="3" name="WIDispatch   /   IT briefing   /   29 September 2026">
            <a:extLst xmlns:a="http://schemas.openxmlformats.org/drawingml/2006/main">
              <a:ext uri="{FF2B5EF4-FFF2-40B4-BE49-F238E27FC236}">
                <a16:creationId xmlns:a16="http://schemas.microsoft.com/office/drawing/2014/main" id="{9D05366E-F358-418F-B1E7-CB5EA506C095}"/>
              </a:ext>
            </a:extLst>
          </p:cNvPr>
          <p:cNvSpPr>
            <a:spLocks xmlns:a="http://schemas.openxmlformats.org/drawingml/2006/main" noGrp="1"/>
          </p:cNvSpPr>
          <p:nvPr/>
        </p:nvSpPr>
        <p:spPr>
          <a:xfrm xmlns:a="http://schemas.openxmlformats.org/drawingml/2006/main">
            <a:off x="609600" y="8172450"/>
            <a:ext cx="1162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547080"/>
                </a:solidFill>
                <a:latin typeface="Arial"/>
                <a:ea typeface="Arial"/>
                <a:cs typeface="Arial"/>
              </a:defRPr>
            </a:pPr>
            <a:r>
              <a:rPr sz="1275" b="0">
                <a:solidFill>
                  <a:srgbClr val="547080"/>
                </a:solidFill>
                <a:latin typeface="Arial"/>
                <a:ea typeface="Arial"/>
                <a:cs typeface="Arial"/>
              </a:rPr>
              <a:t>WIDispatch   /   IT briefing   /   29 September 2026</a:t>
            </a:r>
          </a:p>
        </p:txBody>
      </p:sp>
      <p:sp>
        <p:nvSpPr>
          <p:cNvPr id="4" name="12">
            <a:extLst xmlns:a="http://schemas.openxmlformats.org/drawingml/2006/main">
              <a:ext uri="{FF2B5EF4-FFF2-40B4-BE49-F238E27FC236}">
                <a16:creationId xmlns:a16="http://schemas.microsoft.com/office/drawing/2014/main" id="{D611A349-14F5-4280-8992-B40C28AC5ACA}"/>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547080"/>
                </a:solidFill>
                <a:latin typeface="Arial"/>
                <a:ea typeface="Arial"/>
                <a:cs typeface="Arial"/>
              </a:defRPr>
            </a:pPr>
            <a:r>
              <a:rPr sz="1650" b="0">
                <a:solidFill>
                  <a:srgbClr val="547080"/>
                </a:solidFill>
                <a:latin typeface="Arial"/>
                <a:ea typeface="Arial"/>
                <a:cs typeface="Arial"/>
              </a:rPr>
              <a:t>12</a:t>
            </a:r>
          </a:p>
        </p:txBody>
      </p:sp>
      <p:sp>
        <p:nvSpPr>
          <p:cNvPr id="5" name="87">
            <a:extLst xmlns:a="http://schemas.openxmlformats.org/drawingml/2006/main">
              <a:ext uri="{FF2B5EF4-FFF2-40B4-BE49-F238E27FC236}">
                <a16:creationId xmlns:a16="http://schemas.microsoft.com/office/drawing/2014/main" id="{999DA7B4-7F11-4C6D-A887-666EE656CBE9}"/>
              </a:ext>
            </a:extLst>
          </p:cNvPr>
          <p:cNvSpPr>
            <a:spLocks xmlns:a="http://schemas.openxmlformats.org/drawingml/2006/main" noGrp="1"/>
          </p:cNvSpPr>
          <p:nvPr/>
        </p:nvSpPr>
        <p:spPr>
          <a:xfrm xmlns:a="http://schemas.openxmlformats.org/drawingml/2006/main">
            <a:off x="609600" y="2266950"/>
            <a:ext cx="4191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000" b="1">
                <a:solidFill>
                  <a:srgbClr val="007E92"/>
                </a:solidFill>
                <a:latin typeface="Arial"/>
                <a:ea typeface="Arial"/>
                <a:cs typeface="Arial"/>
              </a:defRPr>
            </a:pPr>
            <a:r>
              <a:rPr sz="9000" b="1">
                <a:solidFill>
                  <a:srgbClr val="007E92"/>
                </a:solidFill>
                <a:latin typeface="Arial"/>
                <a:ea typeface="Arial"/>
                <a:cs typeface="Arial"/>
              </a:rPr>
              <a:t>87</a:t>
            </a:r>
          </a:p>
        </p:txBody>
      </p:sp>
      <p:sp>
        <p:nvSpPr>
          <p:cNvPr id="6" name="tests passed">
            <a:extLst xmlns:a="http://schemas.openxmlformats.org/drawingml/2006/main">
              <a:ext uri="{FF2B5EF4-FFF2-40B4-BE49-F238E27FC236}">
                <a16:creationId xmlns:a16="http://schemas.microsoft.com/office/drawing/2014/main" id="{AC2CE8DA-FAE5-4ACC-979A-0D0255390105}"/>
              </a:ext>
            </a:extLst>
          </p:cNvPr>
          <p:cNvSpPr>
            <a:spLocks xmlns:a="http://schemas.openxmlformats.org/drawingml/2006/main" noGrp="1"/>
          </p:cNvSpPr>
          <p:nvPr/>
        </p:nvSpPr>
        <p:spPr>
          <a:xfrm xmlns:a="http://schemas.openxmlformats.org/drawingml/2006/main">
            <a:off x="647700" y="3838575"/>
            <a:ext cx="4191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775" b="1">
                <a:solidFill>
                  <a:srgbClr val="12374B"/>
                </a:solidFill>
                <a:latin typeface="Arial"/>
                <a:ea typeface="Arial"/>
                <a:cs typeface="Arial"/>
              </a:defRPr>
            </a:pPr>
            <a:r>
              <a:rPr sz="2775" b="1">
                <a:solidFill>
                  <a:srgbClr val="12374B"/>
                </a:solidFill>
                <a:latin typeface="Arial"/>
                <a:ea typeface="Arial"/>
                <a:cs typeface="Arial"/>
              </a:rPr>
              <a:t>tests passed</a:t>
            </a:r>
          </a:p>
        </p:txBody>
      </p:sp>
      <p:sp>
        <p:nvSpPr>
          <p:cNvPr id="7" name="0 failed   /   0 skipped">
            <a:extLst xmlns:a="http://schemas.openxmlformats.org/drawingml/2006/main">
              <a:ext uri="{FF2B5EF4-FFF2-40B4-BE49-F238E27FC236}">
                <a16:creationId xmlns:a16="http://schemas.microsoft.com/office/drawing/2014/main" id="{B09F3A30-AEF7-4397-BBF5-879BB7A4C46B}"/>
              </a:ext>
            </a:extLst>
          </p:cNvPr>
          <p:cNvSpPr>
            <a:spLocks xmlns:a="http://schemas.openxmlformats.org/drawingml/2006/main" noGrp="1"/>
          </p:cNvSpPr>
          <p:nvPr/>
        </p:nvSpPr>
        <p:spPr>
          <a:xfrm xmlns:a="http://schemas.openxmlformats.org/drawingml/2006/main">
            <a:off x="647700" y="4686300"/>
            <a:ext cx="433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547080"/>
                </a:solidFill>
                <a:latin typeface="Arial"/>
                <a:ea typeface="Arial"/>
                <a:cs typeface="Arial"/>
              </a:defRPr>
            </a:pPr>
            <a:r>
              <a:rPr sz="2175" b="0">
                <a:solidFill>
                  <a:srgbClr val="547080"/>
                </a:solidFill>
                <a:latin typeface="Arial"/>
                <a:ea typeface="Arial"/>
                <a:cs typeface="Arial"/>
              </a:rPr>
              <a:t>0 failed   /   0 skipped</a:t>
            </a:r>
          </a:p>
        </p:txBody>
      </p:sp>
      <p:sp>
        <p:nvSpPr>
          <p:cNvPr id="8" name="What the tests cover">
            <a:extLst xmlns:a="http://schemas.openxmlformats.org/drawingml/2006/main">
              <a:ext uri="{FF2B5EF4-FFF2-40B4-BE49-F238E27FC236}">
                <a16:creationId xmlns:a16="http://schemas.microsoft.com/office/drawing/2014/main" id="{62593DB5-EFAD-4C8F-A5A5-7792F311AC5F}"/>
              </a:ext>
            </a:extLst>
          </p:cNvPr>
          <p:cNvSpPr>
            <a:spLocks xmlns:a="http://schemas.openxmlformats.org/drawingml/2006/main" noGrp="1"/>
          </p:cNvSpPr>
          <p:nvPr/>
        </p:nvSpPr>
        <p:spPr>
          <a:xfrm xmlns:a="http://schemas.openxmlformats.org/drawingml/2006/main">
            <a:off x="5810250" y="2190750"/>
            <a:ext cx="838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550" b="1">
                <a:solidFill>
                  <a:srgbClr val="007E92"/>
                </a:solidFill>
                <a:latin typeface="Arial"/>
                <a:ea typeface="Arial"/>
                <a:cs typeface="Arial"/>
              </a:defRPr>
            </a:pPr>
            <a:r>
              <a:rPr sz="2550" b="1">
                <a:solidFill>
                  <a:srgbClr val="007E92"/>
                </a:solidFill>
                <a:latin typeface="Arial"/>
                <a:ea typeface="Arial"/>
                <a:cs typeface="Arial"/>
              </a:rPr>
              <a:t>What the tests cover</a:t>
            </a:r>
          </a:p>
        </p:txBody>
      </p:sp>
      <p:sp>
        <p:nvSpPr>
          <p:cNvPr id="9" name="Dispatch and cost selection&#10;Capacity, outages and standby pumps&#10;S">
            <a:extLst xmlns:a="http://schemas.openxmlformats.org/drawingml/2006/main">
              <a:ext uri="{FF2B5EF4-FFF2-40B4-BE49-F238E27FC236}">
                <a16:creationId xmlns:a16="http://schemas.microsoft.com/office/drawing/2014/main" id="{E91FFC05-9EBA-4F5C-8304-64B235BE372C}"/>
              </a:ext>
            </a:extLst>
          </p:cNvPr>
          <p:cNvSpPr>
            <a:spLocks xmlns:a="http://schemas.openxmlformats.org/drawingml/2006/main" noGrp="1"/>
          </p:cNvSpPr>
          <p:nvPr/>
        </p:nvSpPr>
        <p:spPr>
          <a:xfrm xmlns:a="http://schemas.openxmlformats.org/drawingml/2006/main">
            <a:off x="5810250" y="3124200"/>
            <a:ext cx="8239125" cy="261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8384B"/>
                </a:solidFill>
                <a:latin typeface="Arial"/>
                <a:ea typeface="Arial"/>
                <a:cs typeface="Arial"/>
              </a:defRPr>
            </a:pPr>
            <a:r>
              <a:rPr sz="2400" b="0">
                <a:solidFill>
                  <a:srgbClr val="18384B"/>
                </a:solidFill>
                <a:latin typeface="Arial"/>
                <a:ea typeface="Arial"/>
                <a:cs typeface="Arial"/>
              </a:rPr>
              <a:t>Dispatch and cost selection</a:t>
            </a:r>
          </a:p>
          <a:p xmlns:a="http://schemas.openxmlformats.org/drawingml/2006/main">
            <a:pPr>
              <a:defRPr sz="2400" b="0">
                <a:solidFill>
                  <a:srgbClr val="18384B"/>
                </a:solidFill>
                <a:latin typeface="Arial"/>
                <a:ea typeface="Arial"/>
                <a:cs typeface="Arial"/>
              </a:defRPr>
            </a:pPr>
            <a:r>
              <a:rPr sz="2400" b="0">
                <a:solidFill>
                  <a:srgbClr val="18384B"/>
                </a:solidFill>
                <a:latin typeface="Arial"/>
                <a:ea typeface="Arial"/>
                <a:cs typeface="Arial"/>
              </a:rPr>
              <a:t>Capacity, outages and standby pumps</a:t>
            </a:r>
          </a:p>
          <a:p xmlns:a="http://schemas.openxmlformats.org/drawingml/2006/main">
            <a:pPr>
              <a:defRPr sz="2400" b="0">
                <a:solidFill>
                  <a:srgbClr val="18384B"/>
                </a:solidFill>
                <a:latin typeface="Arial"/>
                <a:ea typeface="Arial"/>
                <a:cs typeface="Arial"/>
              </a:defRPr>
            </a:pPr>
            <a:r>
              <a:rPr sz="2400" b="0">
                <a:solidFill>
                  <a:srgbClr val="18384B"/>
                </a:solidFill>
                <a:latin typeface="Arial"/>
                <a:ea typeface="Arial"/>
                <a:cs typeface="Arial"/>
              </a:rPr>
              <a:t>Shortages, bottlenecks and storage</a:t>
            </a:r>
          </a:p>
          <a:p xmlns:a="http://schemas.openxmlformats.org/drawingml/2006/main">
            <a:pPr>
              <a:defRPr sz="2400" b="0">
                <a:solidFill>
                  <a:srgbClr val="18384B"/>
                </a:solidFill>
                <a:latin typeface="Arial"/>
                <a:ea typeface="Arial"/>
                <a:cs typeface="Arial"/>
              </a:defRPr>
            </a:pPr>
            <a:r>
              <a:rPr sz="2400" b="0">
                <a:solidFill>
                  <a:srgbClr val="18384B"/>
                </a:solidFill>
                <a:latin typeface="Arial"/>
                <a:ea typeface="Arial"/>
                <a:cs typeface="Arial"/>
              </a:rPr>
              <a:t>Decision bounds and comment rules</a:t>
            </a:r>
          </a:p>
        </p:txBody>
      </p:sp>
      <p:sp>
        <p:nvSpPr>
          <p:cNvPr id="10" name="Production load capacity remains unmeasured.">
            <a:extLst xmlns:a="http://schemas.openxmlformats.org/drawingml/2006/main">
              <a:ext uri="{FF2B5EF4-FFF2-40B4-BE49-F238E27FC236}">
                <a16:creationId xmlns:a16="http://schemas.microsoft.com/office/drawing/2014/main" id="{1207E329-FB0B-4A0C-B7F8-7C466BE24F48}"/>
              </a:ext>
            </a:extLst>
          </p:cNvPr>
          <p:cNvSpPr>
            <a:spLocks xmlns:a="http://schemas.openxmlformats.org/drawingml/2006/main" noGrp="1"/>
          </p:cNvSpPr>
          <p:nvPr/>
        </p:nvSpPr>
        <p:spPr>
          <a:xfrm xmlns:a="http://schemas.openxmlformats.org/drawingml/2006/main">
            <a:off x="5810250" y="6000750"/>
            <a:ext cx="8239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1">
                <a:solidFill>
                  <a:srgbClr val="12374B"/>
                </a:solidFill>
                <a:latin typeface="Arial"/>
                <a:ea typeface="Arial"/>
                <a:cs typeface="Arial"/>
              </a:defRPr>
            </a:pPr>
            <a:r>
              <a:rPr sz="2325" b="1">
                <a:solidFill>
                  <a:srgbClr val="12374B"/>
                </a:solidFill>
                <a:latin typeface="Arial"/>
                <a:ea typeface="Arial"/>
                <a:cs typeface="Arial"/>
              </a:rPr>
              <a:t>Production load capacity remains unmeasured.</a:t>
            </a:r>
          </a:p>
        </p:txBody>
      </p:sp>
      <p:sp>
        <p:nvSpPr>
          <p:cNvPr id="11" name="Agree a target-host workload, then measure API latency, simulatio">
            <a:extLst xmlns:a="http://schemas.openxmlformats.org/drawingml/2006/main">
              <a:ext uri="{FF2B5EF4-FFF2-40B4-BE49-F238E27FC236}">
                <a16:creationId xmlns:a16="http://schemas.microsoft.com/office/drawing/2014/main" id="{7844CE3B-A9E4-4C56-8BD4-6251BF2DD9B3}"/>
              </a:ext>
            </a:extLst>
          </p:cNvPr>
          <p:cNvSpPr>
            <a:spLocks xmlns:a="http://schemas.openxmlformats.org/drawingml/2006/main" noGrp="1"/>
          </p:cNvSpPr>
          <p:nvPr/>
        </p:nvSpPr>
        <p:spPr>
          <a:xfrm xmlns:a="http://schemas.openxmlformats.org/drawingml/2006/main">
            <a:off x="609600" y="7362825"/>
            <a:ext cx="14020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07E92"/>
                </a:solidFill>
                <a:latin typeface="Arial"/>
                <a:ea typeface="Arial"/>
                <a:cs typeface="Arial"/>
              </a:defRPr>
            </a:pPr>
            <a:r>
              <a:rPr sz="1875" b="1">
                <a:solidFill>
                  <a:srgbClr val="007E92"/>
                </a:solidFill>
                <a:latin typeface="Arial"/>
                <a:ea typeface="Arial"/>
                <a:cs typeface="Arial"/>
              </a:rPr>
              <a:t>Agree a target-host workload, then measure API latency, simulation time, concurrency and resource use.</a:t>
            </a:r>
          </a:p>
        </p:txBody>
      </p:sp>
    </p:spTree>
    <p:extLst>
      <p:ext uri="{BB962C8B-B14F-4D97-AF65-F5344CB8AC3E}">
        <p14:creationId xmlns:p14="http://schemas.microsoft.com/office/powerpoint/2010/main" val="146146149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Recovery and service operations">
            <a:extLst xmlns:a="http://schemas.openxmlformats.org/drawingml/2006/main">
              <a:ext uri="{FF2B5EF4-FFF2-40B4-BE49-F238E27FC236}">
                <a16:creationId xmlns:a16="http://schemas.microsoft.com/office/drawing/2014/main" id="{C161C8B3-FF00-48EC-8126-84E78C5D2E57}"/>
              </a:ext>
            </a:extLst>
          </p:cNvPr>
          <p:cNvSpPr>
            <a:spLocks xmlns:a="http://schemas.openxmlformats.org/drawingml/2006/main" noGrp="1"/>
          </p:cNvSpPr>
          <p:nvPr/>
        </p:nvSpPr>
        <p:spPr>
          <a:xfrm xmlns:a="http://schemas.openxmlformats.org/drawingml/2006/main">
            <a:off x="609600" y="428625"/>
            <a:ext cx="14020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374B"/>
                </a:solidFill>
                <a:latin typeface="Arial"/>
                <a:ea typeface="Arial"/>
                <a:cs typeface="Arial"/>
              </a:defRPr>
            </a:pPr>
            <a:r>
              <a:rPr sz="3300" b="1">
                <a:solidFill>
                  <a:srgbClr val="12374B"/>
                </a:solidFill>
                <a:latin typeface="Arial"/>
                <a:ea typeface="Arial"/>
                <a:cs typeface="Arial"/>
              </a:rPr>
              <a:t>Recovery and service operations</a:t>
            </a:r>
          </a:p>
        </p:txBody>
      </p:sp>
      <p:sp>
        <p:nvSpPr>
          <p:cNvPr id="2" name="Responsibilities and recovery commitments require agreement and e">
            <a:extLst xmlns:a="http://schemas.openxmlformats.org/drawingml/2006/main">
              <a:ext uri="{FF2B5EF4-FFF2-40B4-BE49-F238E27FC236}">
                <a16:creationId xmlns:a16="http://schemas.microsoft.com/office/drawing/2014/main" id="{10927D67-7CEA-4E65-9BB7-4C48E338E65B}"/>
              </a:ext>
            </a:extLst>
          </p:cNvPr>
          <p:cNvSpPr>
            <a:spLocks xmlns:a="http://schemas.openxmlformats.org/drawingml/2006/main" noGrp="1"/>
          </p:cNvSpPr>
          <p:nvPr/>
        </p:nvSpPr>
        <p:spPr>
          <a:xfrm xmlns:a="http://schemas.openxmlformats.org/drawingml/2006/main">
            <a:off x="609600" y="1304925"/>
            <a:ext cx="1395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547080"/>
                </a:solidFill>
                <a:latin typeface="Arial"/>
                <a:ea typeface="Arial"/>
                <a:cs typeface="Arial"/>
              </a:defRPr>
            </a:pPr>
            <a:r>
              <a:rPr sz="1875" b="0">
                <a:solidFill>
                  <a:srgbClr val="547080"/>
                </a:solidFill>
                <a:latin typeface="Arial"/>
                <a:ea typeface="Arial"/>
                <a:cs typeface="Arial"/>
              </a:rPr>
              <a:t>Responsibilities and recovery commitments require agreement and evidence from the selected hosting environment.</a:t>
            </a:r>
          </a:p>
        </p:txBody>
      </p:sp>
      <p:sp>
        <p:nvSpPr>
          <p:cNvPr id="3" name="WIDispatch   /   IT briefing   /   29 September 2026">
            <a:extLst xmlns:a="http://schemas.openxmlformats.org/drawingml/2006/main">
              <a:ext uri="{FF2B5EF4-FFF2-40B4-BE49-F238E27FC236}">
                <a16:creationId xmlns:a16="http://schemas.microsoft.com/office/drawing/2014/main" id="{7019E1F2-DE71-40AD-A52D-9AB792AEBCBB}"/>
              </a:ext>
            </a:extLst>
          </p:cNvPr>
          <p:cNvSpPr>
            <a:spLocks xmlns:a="http://schemas.openxmlformats.org/drawingml/2006/main" noGrp="1"/>
          </p:cNvSpPr>
          <p:nvPr/>
        </p:nvSpPr>
        <p:spPr>
          <a:xfrm xmlns:a="http://schemas.openxmlformats.org/drawingml/2006/main">
            <a:off x="609600" y="8172450"/>
            <a:ext cx="1162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547080"/>
                </a:solidFill>
                <a:latin typeface="Arial"/>
                <a:ea typeface="Arial"/>
                <a:cs typeface="Arial"/>
              </a:defRPr>
            </a:pPr>
            <a:r>
              <a:rPr sz="1275" b="0">
                <a:solidFill>
                  <a:srgbClr val="547080"/>
                </a:solidFill>
                <a:latin typeface="Arial"/>
                <a:ea typeface="Arial"/>
                <a:cs typeface="Arial"/>
              </a:rPr>
              <a:t>WIDispatch   /   IT briefing   /   29 September 2026</a:t>
            </a:r>
          </a:p>
        </p:txBody>
      </p:sp>
      <p:sp>
        <p:nvSpPr>
          <p:cNvPr id="4" name="13">
            <a:extLst xmlns:a="http://schemas.openxmlformats.org/drawingml/2006/main">
              <a:ext uri="{FF2B5EF4-FFF2-40B4-BE49-F238E27FC236}">
                <a16:creationId xmlns:a16="http://schemas.microsoft.com/office/drawing/2014/main" id="{D68FB633-1E79-484D-9D4C-F48030458F1A}"/>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547080"/>
                </a:solidFill>
                <a:latin typeface="Arial"/>
                <a:ea typeface="Arial"/>
                <a:cs typeface="Arial"/>
              </a:defRPr>
            </a:pPr>
            <a:r>
              <a:rPr sz="1650" b="0">
                <a:solidFill>
                  <a:srgbClr val="547080"/>
                </a:solidFill>
                <a:latin typeface="Arial"/>
                <a:ea typeface="Arial"/>
                <a:cs typeface="Arial"/>
              </a:rPr>
              <a:t>13</a:t>
            </a:r>
          </a:p>
        </p:txBody>
      </p:sp>
      <p:graphicFrame>
        <p:nvGraphicFramePr>
          <p:cNvPr id="11" name=""/>
          <p:cNvGraphicFramePr/>
          <p:nvPr/>
        </p:nvGraphicFramePr>
        <p:xfrm>
          <a:off xmlns:a="http://schemas.openxmlformats.org/drawingml/2006/main" x="609600" y="2076450"/>
          <a:ext xmlns:a="http://schemas.openxmlformats.org/drawingml/2006/main" cx="14020800" cy="4857750"/>
        </p:xfrm>
        <a:graphic xmlns:a="http://schemas.openxmlformats.org/drawingml/2006/main">
          <a:graphicData uri="http://schemas.openxmlformats.org/drawingml/2006/table">
            <a:tbl>
              <a:tblPr/>
              <a:tblGrid>
                <a:gridCol w="3143250"/>
                <a:gridCol w="4762500"/>
                <a:gridCol w="6115050"/>
              </a:tblGrid>
              <a:tr h="809625">
                <a:tc>
                  <a:txBody>
                    <a:bodyPr/>
                    <a:lstStyle/>
                    <a:p>
                      <a:r>
                        <a:rPr sz="1950" b="1">
                          <a:solidFill>
                            <a:srgbClr val="FFFFFF"/>
                          </a:solidFill>
                          <a:latin typeface="Arial"/>
                          <a:ea typeface="Arial"/>
                          <a:cs typeface="Arial"/>
                        </a:rPr>
                        <a:t>Area</a:t>
                      </a:r>
                    </a:p>
                  </a:txBody>
                  <a:tcPr marL="133350" marR="133350" marT="142875" marB="123825" anchor="ctr">
                    <a:solidFill>
                      <a:srgbClr val="12374B"/>
                    </a:solidFill>
                  </a:tcPr>
                </a:tc>
                <a:tc>
                  <a:txBody>
                    <a:bodyPr/>
                    <a:lstStyle/>
                    <a:p>
                      <a:r>
                        <a:rPr sz="1950" b="1">
                          <a:solidFill>
                            <a:srgbClr val="FFFFFF"/>
                          </a:solidFill>
                          <a:latin typeface="Arial"/>
                          <a:ea typeface="Arial"/>
                          <a:cs typeface="Arial"/>
                        </a:rPr>
                        <a:t>Evidence now</a:t>
                      </a:r>
                    </a:p>
                  </a:txBody>
                  <a:tcPr marL="133350" marR="133350" marT="142875" marB="123825" anchor="ctr">
                    <a:solidFill>
                      <a:srgbClr val="12374B"/>
                    </a:solidFill>
                  </a:tcPr>
                </a:tc>
                <a:tc>
                  <a:txBody>
                    <a:bodyPr/>
                    <a:lstStyle/>
                    <a:p>
                      <a:r>
                        <a:rPr sz="1950" b="1">
                          <a:solidFill>
                            <a:srgbClr val="FFFFFF"/>
                          </a:solidFill>
                          <a:latin typeface="Arial"/>
                          <a:ea typeface="Arial"/>
                          <a:cs typeface="Arial"/>
                        </a:rPr>
                        <a:t>Required agreement / proof</a:t>
                      </a:r>
                    </a:p>
                  </a:txBody>
                  <a:tcPr marL="133350" marR="133350" marT="142875" marB="123825" anchor="ctr">
                    <a:solidFill>
                      <a:srgbClr val="12374B"/>
                    </a:solidFill>
                  </a:tcPr>
                </a:tc>
              </a:tr>
              <a:tr h="809625">
                <a:tc>
                  <a:txBody>
                    <a:bodyPr/>
                    <a:lstStyle/>
                    <a:p>
                      <a:r>
                        <a:rPr sz="1950">
                          <a:solidFill>
                            <a:srgbClr val="18384B"/>
                          </a:solidFill>
                          <a:latin typeface="Arial"/>
                          <a:ea typeface="Arial"/>
                          <a:cs typeface="Arial"/>
                        </a:rPr>
                        <a:t>Backup / retention</a:t>
                      </a:r>
                    </a:p>
                  </a:txBody>
                  <a:tcPr marL="133350" marR="133350" marT="142875" marB="123825" anchor="ctr">
                    <a:solidFill>
                      <a:srgbClr val="F1F6F8"/>
                    </a:solidFill>
                  </a:tcPr>
                </a:tc>
                <a:tc>
                  <a:txBody>
                    <a:bodyPr/>
                    <a:lstStyle/>
                    <a:p>
                      <a:r>
                        <a:rPr sz="1950">
                          <a:solidFill>
                            <a:srgbClr val="18384B"/>
                          </a:solidFill>
                          <a:latin typeface="Arial"/>
                          <a:ea typeface="Arial"/>
                          <a:cs typeface="Arial"/>
                        </a:rPr>
                        <a:t>No operational evidence reviewed</a:t>
                      </a:r>
                    </a:p>
                  </a:txBody>
                  <a:tcPr marL="133350" marR="133350" marT="142875" marB="123825" anchor="ctr">
                    <a:solidFill>
                      <a:srgbClr val="F1F6F8"/>
                    </a:solidFill>
                  </a:tcPr>
                </a:tc>
                <a:tc>
                  <a:txBody>
                    <a:bodyPr/>
                    <a:lstStyle/>
                    <a:p>
                      <a:r>
                        <a:rPr sz="1950">
                          <a:solidFill>
                            <a:srgbClr val="18384B"/>
                          </a:solidFill>
                          <a:latin typeface="Arial"/>
                          <a:ea typeface="Arial"/>
                          <a:cs typeface="Arial"/>
                        </a:rPr>
                        <a:t>Schedule, retention, encryption, location and ownership</a:t>
                      </a:r>
                    </a:p>
                  </a:txBody>
                  <a:tcPr marL="133350" marR="133350" marT="142875" marB="123825" anchor="ctr">
                    <a:solidFill>
                      <a:srgbClr val="F1F6F8"/>
                    </a:solidFill>
                  </a:tcPr>
                </a:tc>
              </a:tr>
              <a:tr h="809625">
                <a:tc>
                  <a:txBody>
                    <a:bodyPr/>
                    <a:lstStyle/>
                    <a:p>
                      <a:r>
                        <a:rPr sz="1950">
                          <a:solidFill>
                            <a:srgbClr val="18384B"/>
                          </a:solidFill>
                          <a:latin typeface="Arial"/>
                          <a:ea typeface="Arial"/>
                          <a:cs typeface="Arial"/>
                        </a:rPr>
                        <a:t>Restore / RPO / RTO</a:t>
                      </a:r>
                    </a:p>
                  </a:txBody>
                  <a:tcPr marL="133350" marR="133350" marT="142875" marB="123825" anchor="ctr">
                    <a:solidFill>
                      <a:srgbClr val="FFFFFF"/>
                    </a:solidFill>
                  </a:tcPr>
                </a:tc>
                <a:tc>
                  <a:txBody>
                    <a:bodyPr/>
                    <a:lstStyle/>
                    <a:p>
                      <a:r>
                        <a:rPr sz="1950">
                          <a:solidFill>
                            <a:srgbClr val="18384B"/>
                          </a:solidFill>
                          <a:latin typeface="Arial"/>
                          <a:ea typeface="Arial"/>
                          <a:cs typeface="Arial"/>
                        </a:rPr>
                        <a:t>Draft trial targets only</a:t>
                      </a:r>
                    </a:p>
                  </a:txBody>
                  <a:tcPr marL="133350" marR="133350" marT="142875" marB="123825" anchor="ctr">
                    <a:solidFill>
                      <a:srgbClr val="FFFFFF"/>
                    </a:solidFill>
                  </a:tcPr>
                </a:tc>
                <a:tc>
                  <a:txBody>
                    <a:bodyPr/>
                    <a:lstStyle/>
                    <a:p>
                      <a:r>
                        <a:rPr sz="1950">
                          <a:solidFill>
                            <a:srgbClr val="18384B"/>
                          </a:solidFill>
                          <a:latin typeface="Arial"/>
                          <a:ea typeface="Arial"/>
                          <a:cs typeface="Arial"/>
                        </a:rPr>
                        <a:t>Isolated restore and measured recovery against agreed targets</a:t>
                      </a:r>
                    </a:p>
                  </a:txBody>
                  <a:tcPr marL="133350" marR="133350" marT="142875" marB="123825" anchor="ctr">
                    <a:solidFill>
                      <a:srgbClr val="FFFFFF"/>
                    </a:solidFill>
                  </a:tcPr>
                </a:tc>
              </a:tr>
              <a:tr h="809625">
                <a:tc>
                  <a:txBody>
                    <a:bodyPr/>
                    <a:lstStyle/>
                    <a:p>
                      <a:r>
                        <a:rPr sz="1950">
                          <a:solidFill>
                            <a:srgbClr val="18384B"/>
                          </a:solidFill>
                          <a:latin typeface="Arial"/>
                          <a:ea typeface="Arial"/>
                          <a:cs typeface="Arial"/>
                        </a:rPr>
                        <a:t>Availability / failover</a:t>
                      </a:r>
                    </a:p>
                  </a:txBody>
                  <a:tcPr marL="133350" marR="133350" marT="142875" marB="123825" anchor="ctr">
                    <a:solidFill>
                      <a:srgbClr val="F1F6F8"/>
                    </a:solidFill>
                  </a:tcPr>
                </a:tc>
                <a:tc>
                  <a:txBody>
                    <a:bodyPr/>
                    <a:lstStyle/>
                    <a:p>
                      <a:r>
                        <a:rPr sz="1950">
                          <a:solidFill>
                            <a:srgbClr val="18384B"/>
                          </a:solidFill>
                          <a:latin typeface="Arial"/>
                          <a:ea typeface="Arial"/>
                          <a:cs typeface="Arial"/>
                        </a:rPr>
                        <a:t>No deployed failover evidence reviewed</a:t>
                      </a:r>
                    </a:p>
                  </a:txBody>
                  <a:tcPr marL="133350" marR="133350" marT="142875" marB="123825" anchor="ctr">
                    <a:solidFill>
                      <a:srgbClr val="F1F6F8"/>
                    </a:solidFill>
                  </a:tcPr>
                </a:tc>
                <a:tc>
                  <a:txBody>
                    <a:bodyPr/>
                    <a:lstStyle/>
                    <a:p>
                      <a:r>
                        <a:rPr sz="1950">
                          <a:solidFill>
                            <a:srgbClr val="18384B"/>
                          </a:solidFill>
                          <a:latin typeface="Arial"/>
                          <a:ea typeface="Arial"/>
                          <a:cs typeface="Arial"/>
                        </a:rPr>
                        <a:t>Production topology and service/database failure tests</a:t>
                      </a:r>
                    </a:p>
                  </a:txBody>
                  <a:tcPr marL="133350" marR="133350" marT="142875" marB="123825" anchor="ctr">
                    <a:solidFill>
                      <a:srgbClr val="F1F6F8"/>
                    </a:solidFill>
                  </a:tcPr>
                </a:tc>
              </a:tr>
              <a:tr h="809625">
                <a:tc>
                  <a:txBody>
                    <a:bodyPr/>
                    <a:lstStyle/>
                    <a:p>
                      <a:r>
                        <a:rPr sz="1950">
                          <a:solidFill>
                            <a:srgbClr val="18384B"/>
                          </a:solidFill>
                          <a:latin typeface="Arial"/>
                          <a:ea typeface="Arial"/>
                          <a:cs typeface="Arial"/>
                        </a:rPr>
                        <a:t>Monitoring / incidents</a:t>
                      </a:r>
                    </a:p>
                  </a:txBody>
                  <a:tcPr marL="133350" marR="133350" marT="142875" marB="123825" anchor="ctr">
                    <a:solidFill>
                      <a:srgbClr val="FFFFFF"/>
                    </a:solidFill>
                  </a:tcPr>
                </a:tc>
                <a:tc>
                  <a:txBody>
                    <a:bodyPr/>
                    <a:lstStyle/>
                    <a:p>
                      <a:r>
                        <a:rPr sz="1950">
                          <a:solidFill>
                            <a:srgbClr val="18384B"/>
                          </a:solidFill>
                          <a:latin typeface="Arial"/>
                          <a:ea typeface="Arial"/>
                          <a:cs typeface="Arial"/>
                        </a:rPr>
                        <a:t>Health route and logging paths exist</a:t>
                      </a:r>
                    </a:p>
                  </a:txBody>
                  <a:tcPr marL="133350" marR="133350" marT="142875" marB="123825" anchor="ctr">
                    <a:solidFill>
                      <a:srgbClr val="FFFFFF"/>
                    </a:solidFill>
                  </a:tcPr>
                </a:tc>
                <a:tc>
                  <a:txBody>
                    <a:bodyPr/>
                    <a:lstStyle/>
                    <a:p>
                      <a:r>
                        <a:rPr sz="1950">
                          <a:solidFill>
                            <a:srgbClr val="18384B"/>
                          </a:solidFill>
                          <a:latin typeface="Arial"/>
                          <a:ea typeface="Arial"/>
                          <a:cs typeface="Arial"/>
                        </a:rPr>
                        <a:t>Alert routing, escalation, support hours and owner</a:t>
                      </a:r>
                    </a:p>
                  </a:txBody>
                  <a:tcPr marL="133350" marR="133350" marT="142875" marB="123825" anchor="ctr">
                    <a:solidFill>
                      <a:srgbClr val="FFFFFF"/>
                    </a:solidFill>
                  </a:tcPr>
                </a:tc>
              </a:tr>
              <a:tr h="809625">
                <a:tc>
                  <a:txBody>
                    <a:bodyPr/>
                    <a:lstStyle/>
                    <a:p>
                      <a:r>
                        <a:rPr sz="1950">
                          <a:solidFill>
                            <a:srgbClr val="18384B"/>
                          </a:solidFill>
                          <a:latin typeface="Arial"/>
                          <a:ea typeface="Arial"/>
                          <a:cs typeface="Arial"/>
                        </a:rPr>
                        <a:t>Release / rollback</a:t>
                      </a:r>
                    </a:p>
                  </a:txBody>
                  <a:tcPr marL="133350" marR="133350" marT="142875" marB="123825" anchor="ctr">
                    <a:solidFill>
                      <a:srgbClr val="F1F6F8"/>
                    </a:solidFill>
                  </a:tcPr>
                </a:tc>
                <a:tc>
                  <a:txBody>
                    <a:bodyPr/>
                    <a:lstStyle/>
                    <a:p>
                      <a:r>
                        <a:rPr sz="1950">
                          <a:solidFill>
                            <a:srgbClr val="18384B"/>
                          </a:solidFill>
                          <a:latin typeface="Arial"/>
                          <a:ea typeface="Arial"/>
                          <a:cs typeface="Arial"/>
                        </a:rPr>
                        <a:t>Build scripts exist</a:t>
                      </a:r>
                    </a:p>
                  </a:txBody>
                  <a:tcPr marL="133350" marR="133350" marT="142875" marB="123825" anchor="ctr">
                    <a:solidFill>
                      <a:srgbClr val="F1F6F8"/>
                    </a:solidFill>
                  </a:tcPr>
                </a:tc>
                <a:tc>
                  <a:txBody>
                    <a:bodyPr/>
                    <a:lstStyle/>
                    <a:p>
                      <a:r>
                        <a:rPr sz="1950">
                          <a:solidFill>
                            <a:srgbClr val="18384B"/>
                          </a:solidFill>
                          <a:latin typeface="Arial"/>
                          <a:ea typeface="Arial"/>
                          <a:cs typeface="Arial"/>
                        </a:rPr>
                        <a:t>Explicit quality gates, compatible rollback and rehearsal</a:t>
                      </a:r>
                    </a:p>
                  </a:txBody>
                  <a:tcPr marL="133350" marR="133350" marT="142875" marB="123825" anchor="ctr">
                    <a:solidFill>
                      <a:srgbClr val="F1F6F8"/>
                    </a:solidFill>
                  </a:tcPr>
                </a:tc>
              </a:tr>
            </a:tbl>
          </a:graphicData>
        </a:graphic>
      </p:graphicFrame>
      <p:sp>
        <p:nvSpPr>
          <p:cNvPr id="6" name="No contractual availability, capacity or recovery SLA is establis">
            <a:extLst xmlns:a="http://schemas.openxmlformats.org/drawingml/2006/main">
              <a:ext uri="{FF2B5EF4-FFF2-40B4-BE49-F238E27FC236}">
                <a16:creationId xmlns:a16="http://schemas.microsoft.com/office/drawing/2014/main" id="{EDF4CA90-E3A0-4494-BBD8-3FA7A6C59204}"/>
              </a:ext>
            </a:extLst>
          </p:cNvPr>
          <p:cNvSpPr>
            <a:spLocks xmlns:a="http://schemas.openxmlformats.org/drawingml/2006/main" noGrp="1"/>
          </p:cNvSpPr>
          <p:nvPr/>
        </p:nvSpPr>
        <p:spPr>
          <a:xfrm xmlns:a="http://schemas.openxmlformats.org/drawingml/2006/main">
            <a:off x="609600" y="7362825"/>
            <a:ext cx="14020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07E92"/>
                </a:solidFill>
                <a:latin typeface="Arial"/>
                <a:ea typeface="Arial"/>
                <a:cs typeface="Arial"/>
              </a:defRPr>
            </a:pPr>
            <a:r>
              <a:rPr sz="1875" b="1">
                <a:solidFill>
                  <a:srgbClr val="007E92"/>
                </a:solidFill>
                <a:latin typeface="Arial"/>
                <a:ea typeface="Arial"/>
                <a:cs typeface="Arial"/>
              </a:rPr>
              <a:t>No contractual availability, capacity or recovery SLA is established by this briefing.</a:t>
            </a:r>
          </a:p>
        </p:txBody>
      </p:sp>
    </p:spTree>
    <p:extLst>
      <p:ext uri="{BB962C8B-B14F-4D97-AF65-F5344CB8AC3E}">
        <p14:creationId xmlns:p14="http://schemas.microsoft.com/office/powerpoint/2010/main" val="158556839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Capability and delivery register">
            <a:extLst xmlns:a="http://schemas.openxmlformats.org/drawingml/2006/main">
              <a:ext uri="{FF2B5EF4-FFF2-40B4-BE49-F238E27FC236}">
                <a16:creationId xmlns:a16="http://schemas.microsoft.com/office/drawing/2014/main" id="{DED540ED-1E67-4795-83E7-887A5B601F14}"/>
              </a:ext>
            </a:extLst>
          </p:cNvPr>
          <p:cNvSpPr>
            <a:spLocks xmlns:a="http://schemas.openxmlformats.org/drawingml/2006/main" noGrp="1"/>
          </p:cNvSpPr>
          <p:nvPr/>
        </p:nvSpPr>
        <p:spPr>
          <a:xfrm xmlns:a="http://schemas.openxmlformats.org/drawingml/2006/main">
            <a:off x="609600" y="428625"/>
            <a:ext cx="14020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374B"/>
                </a:solidFill>
                <a:latin typeface="Arial"/>
                <a:ea typeface="Arial"/>
                <a:cs typeface="Arial"/>
              </a:defRPr>
            </a:pPr>
            <a:r>
              <a:rPr sz="3300" b="1">
                <a:solidFill>
                  <a:srgbClr val="12374B"/>
                </a:solidFill>
                <a:latin typeface="Arial"/>
                <a:ea typeface="Arial"/>
                <a:cs typeface="Arial"/>
              </a:rPr>
              <a:t>Capability and delivery register</a:t>
            </a:r>
          </a:p>
        </p:txBody>
      </p:sp>
      <p:sp>
        <p:nvSpPr>
          <p:cNvPr id="2" name="The companion workbook contains 32 entries, with next action, pro">
            <a:extLst xmlns:a="http://schemas.openxmlformats.org/drawingml/2006/main">
              <a:ext uri="{FF2B5EF4-FFF2-40B4-BE49-F238E27FC236}">
                <a16:creationId xmlns:a16="http://schemas.microsoft.com/office/drawing/2014/main" id="{4634991F-C5E6-4226-A853-0A49399ECA36}"/>
              </a:ext>
            </a:extLst>
          </p:cNvPr>
          <p:cNvSpPr>
            <a:spLocks xmlns:a="http://schemas.openxmlformats.org/drawingml/2006/main" noGrp="1"/>
          </p:cNvSpPr>
          <p:nvPr/>
        </p:nvSpPr>
        <p:spPr>
          <a:xfrm xmlns:a="http://schemas.openxmlformats.org/drawingml/2006/main">
            <a:off x="609600" y="1304925"/>
            <a:ext cx="1395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547080"/>
                </a:solidFill>
                <a:latin typeface="Arial"/>
                <a:ea typeface="Arial"/>
                <a:cs typeface="Arial"/>
              </a:defRPr>
            </a:pPr>
            <a:r>
              <a:rPr sz="1875" b="0">
                <a:solidFill>
                  <a:srgbClr val="547080"/>
                </a:solidFill>
                <a:latin typeface="Arial"/>
                <a:ea typeface="Arial"/>
                <a:cs typeface="Arial"/>
              </a:rPr>
              <a:t>The companion workbook contains 32 entries, with next action, proposed owner and required acceptance evidence.</a:t>
            </a:r>
          </a:p>
        </p:txBody>
      </p:sp>
      <p:sp>
        <p:nvSpPr>
          <p:cNvPr id="3" name="WIDispatch   /   IT briefing   /   29 September 2026">
            <a:extLst xmlns:a="http://schemas.openxmlformats.org/drawingml/2006/main">
              <a:ext uri="{FF2B5EF4-FFF2-40B4-BE49-F238E27FC236}">
                <a16:creationId xmlns:a16="http://schemas.microsoft.com/office/drawing/2014/main" id="{1A856813-925F-4643-AE4F-30228DBA77D5}"/>
              </a:ext>
            </a:extLst>
          </p:cNvPr>
          <p:cNvSpPr>
            <a:spLocks xmlns:a="http://schemas.openxmlformats.org/drawingml/2006/main" noGrp="1"/>
          </p:cNvSpPr>
          <p:nvPr/>
        </p:nvSpPr>
        <p:spPr>
          <a:xfrm xmlns:a="http://schemas.openxmlformats.org/drawingml/2006/main">
            <a:off x="609600" y="8172450"/>
            <a:ext cx="1162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547080"/>
                </a:solidFill>
                <a:latin typeface="Arial"/>
                <a:ea typeface="Arial"/>
                <a:cs typeface="Arial"/>
              </a:defRPr>
            </a:pPr>
            <a:r>
              <a:rPr sz="1275" b="0">
                <a:solidFill>
                  <a:srgbClr val="547080"/>
                </a:solidFill>
                <a:latin typeface="Arial"/>
                <a:ea typeface="Arial"/>
                <a:cs typeface="Arial"/>
              </a:rPr>
              <a:t>WIDispatch   /   IT briefing   /   29 September 2026</a:t>
            </a:r>
          </a:p>
        </p:txBody>
      </p:sp>
      <p:sp>
        <p:nvSpPr>
          <p:cNvPr id="4" name="14">
            <a:extLst xmlns:a="http://schemas.openxmlformats.org/drawingml/2006/main">
              <a:ext uri="{FF2B5EF4-FFF2-40B4-BE49-F238E27FC236}">
                <a16:creationId xmlns:a16="http://schemas.microsoft.com/office/drawing/2014/main" id="{D8BF1D48-01A2-4574-B421-C76FD12C676E}"/>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547080"/>
                </a:solidFill>
                <a:latin typeface="Arial"/>
                <a:ea typeface="Arial"/>
                <a:cs typeface="Arial"/>
              </a:defRPr>
            </a:pPr>
            <a:r>
              <a:rPr sz="1650" b="0">
                <a:solidFill>
                  <a:srgbClr val="547080"/>
                </a:solidFill>
                <a:latin typeface="Arial"/>
                <a:ea typeface="Arial"/>
                <a:cs typeface="Arial"/>
              </a:rPr>
              <a:t>14</a:t>
            </a:r>
          </a:p>
        </p:txBody>
      </p:sp>
      <p:sp>
        <p:nvSpPr>
          <p:cNvPr id="5" name="7 current capabilities">
            <a:extLst xmlns:a="http://schemas.openxmlformats.org/drawingml/2006/main">
              <a:ext uri="{FF2B5EF4-FFF2-40B4-BE49-F238E27FC236}">
                <a16:creationId xmlns:a16="http://schemas.microsoft.com/office/drawing/2014/main" id="{5987CDC2-A615-41F1-84B1-CFEE7A1A66F6}"/>
              </a:ext>
            </a:extLst>
          </p:cNvPr>
          <p:cNvSpPr>
            <a:spLocks xmlns:a="http://schemas.openxmlformats.org/drawingml/2006/main" noGrp="1"/>
          </p:cNvSpPr>
          <p:nvPr/>
        </p:nvSpPr>
        <p:spPr>
          <a:xfrm xmlns:a="http://schemas.openxmlformats.org/drawingml/2006/main">
            <a:off x="609600" y="2266950"/>
            <a:ext cx="4286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007E92"/>
                </a:solidFill>
                <a:latin typeface="Arial"/>
                <a:ea typeface="Arial"/>
                <a:cs typeface="Arial"/>
              </a:defRPr>
            </a:pPr>
            <a:r>
              <a:rPr sz="2400" b="1">
                <a:solidFill>
                  <a:srgbClr val="007E92"/>
                </a:solidFill>
                <a:latin typeface="Arial"/>
                <a:ea typeface="Arial"/>
                <a:cs typeface="Arial"/>
              </a:rPr>
              <a:t>7 current capabilities</a:t>
            </a:r>
          </a:p>
        </p:txBody>
      </p:sp>
      <p:sp>
        <p:nvSpPr>
          <p:cNvPr id="6" name="Portal workflow&#10;Assets and networks&#10;Dispatch calculation&#10;Decision">
            <a:extLst xmlns:a="http://schemas.openxmlformats.org/drawingml/2006/main">
              <a:ext uri="{FF2B5EF4-FFF2-40B4-BE49-F238E27FC236}">
                <a16:creationId xmlns:a16="http://schemas.microsoft.com/office/drawing/2014/main" id="{EAA825CC-806E-4125-B6AD-B28064C01145}"/>
              </a:ext>
            </a:extLst>
          </p:cNvPr>
          <p:cNvSpPr>
            <a:spLocks xmlns:a="http://schemas.openxmlformats.org/drawingml/2006/main" noGrp="1"/>
          </p:cNvSpPr>
          <p:nvPr/>
        </p:nvSpPr>
        <p:spPr>
          <a:xfrm xmlns:a="http://schemas.openxmlformats.org/drawingml/2006/main">
            <a:off x="609600" y="3343275"/>
            <a:ext cx="4238625"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18384B"/>
                </a:solidFill>
                <a:latin typeface="Arial"/>
                <a:ea typeface="Arial"/>
                <a:cs typeface="Arial"/>
              </a:defRPr>
            </a:pPr>
            <a:r>
              <a:rPr sz="2175" b="0">
                <a:solidFill>
                  <a:srgbClr val="18384B"/>
                </a:solidFill>
                <a:latin typeface="Arial"/>
                <a:ea typeface="Arial"/>
                <a:cs typeface="Arial"/>
              </a:rPr>
              <a:t>Portal workflow</a:t>
            </a:r>
          </a:p>
          <a:p xmlns:a="http://schemas.openxmlformats.org/drawingml/2006/main">
            <a:pPr>
              <a:defRPr sz="2175" b="0">
                <a:solidFill>
                  <a:srgbClr val="18384B"/>
                </a:solidFill>
                <a:latin typeface="Arial"/>
                <a:ea typeface="Arial"/>
                <a:cs typeface="Arial"/>
              </a:defRPr>
            </a:pPr>
            <a:r>
              <a:rPr sz="2175" b="0">
                <a:solidFill>
                  <a:srgbClr val="18384B"/>
                </a:solidFill>
                <a:latin typeface="Arial"/>
                <a:ea typeface="Arial"/>
                <a:cs typeface="Arial"/>
              </a:rPr>
              <a:t>Assets and networks</a:t>
            </a:r>
          </a:p>
          <a:p xmlns:a="http://schemas.openxmlformats.org/drawingml/2006/main">
            <a:pPr>
              <a:defRPr sz="2175" b="0">
                <a:solidFill>
                  <a:srgbClr val="18384B"/>
                </a:solidFill>
                <a:latin typeface="Arial"/>
                <a:ea typeface="Arial"/>
                <a:cs typeface="Arial"/>
              </a:defRPr>
            </a:pPr>
            <a:r>
              <a:rPr sz="2175" b="0">
                <a:solidFill>
                  <a:srgbClr val="18384B"/>
                </a:solidFill>
                <a:latin typeface="Arial"/>
                <a:ea typeface="Arial"/>
                <a:cs typeface="Arial"/>
              </a:rPr>
              <a:t>Dispatch calculation</a:t>
            </a:r>
          </a:p>
          <a:p xmlns:a="http://schemas.openxmlformats.org/drawingml/2006/main">
            <a:pPr>
              <a:defRPr sz="2175" b="0">
                <a:solidFill>
                  <a:srgbClr val="18384B"/>
                </a:solidFill>
                <a:latin typeface="Arial"/>
                <a:ea typeface="Arial"/>
                <a:cs typeface="Arial"/>
              </a:defRPr>
            </a:pPr>
            <a:r>
              <a:rPr sz="2175" b="0">
                <a:solidFill>
                  <a:srgbClr val="18384B"/>
                </a:solidFill>
                <a:latin typeface="Arial"/>
                <a:ea typeface="Arial"/>
                <a:cs typeface="Arial"/>
              </a:rPr>
              <a:t>Decision review</a:t>
            </a:r>
          </a:p>
          <a:p xmlns:a="http://schemas.openxmlformats.org/drawingml/2006/main">
            <a:pPr>
              <a:defRPr sz="2175" b="0">
                <a:solidFill>
                  <a:srgbClr val="18384B"/>
                </a:solidFill>
                <a:latin typeface="Arial"/>
                <a:ea typeface="Arial"/>
                <a:cs typeface="Arial"/>
              </a:defRPr>
            </a:pPr>
            <a:r>
              <a:rPr sz="2175" b="0">
                <a:solidFill>
                  <a:srgbClr val="18384B"/>
                </a:solidFill>
                <a:latin typeface="Arial"/>
                <a:ea typeface="Arial"/>
                <a:cs typeface="Arial"/>
              </a:rPr>
              <a:t>Explicit publication</a:t>
            </a:r>
          </a:p>
          <a:p xmlns:a="http://schemas.openxmlformats.org/drawingml/2006/main">
            <a:pPr>
              <a:defRPr sz="2175" b="0">
                <a:solidFill>
                  <a:srgbClr val="18384B"/>
                </a:solidFill>
                <a:latin typeface="Arial"/>
                <a:ea typeface="Arial"/>
                <a:cs typeface="Arial"/>
              </a:defRPr>
            </a:pPr>
            <a:r>
              <a:rPr sz="2175" b="0">
                <a:solidFill>
                  <a:srgbClr val="18384B"/>
                </a:solidFill>
                <a:latin typeface="Arial"/>
                <a:ea typeface="Arial"/>
                <a:cs typeface="Arial"/>
              </a:rPr>
              <a:t>File exchange</a:t>
            </a:r>
          </a:p>
          <a:p xmlns:a="http://schemas.openxmlformats.org/drawingml/2006/main">
            <a:pPr>
              <a:defRPr sz="2175" b="0">
                <a:solidFill>
                  <a:srgbClr val="18384B"/>
                </a:solidFill>
                <a:latin typeface="Arial"/>
                <a:ea typeface="Arial"/>
                <a:cs typeface="Arial"/>
              </a:defRPr>
            </a:pPr>
            <a:r>
              <a:rPr sz="2175" b="0">
                <a:solidFill>
                  <a:srgbClr val="18384B"/>
                </a:solidFill>
                <a:latin typeface="Arial"/>
                <a:ea typeface="Arial"/>
                <a:cs typeface="Arial"/>
              </a:rPr>
              <a:t>Backend test baseline</a:t>
            </a:r>
          </a:p>
        </p:txBody>
      </p:sp>
      <p:sp>
        <p:nvSpPr>
          <p:cNvPr id="7" name="10 configuration items">
            <a:extLst xmlns:a="http://schemas.openxmlformats.org/drawingml/2006/main">
              <a:ext uri="{FF2B5EF4-FFF2-40B4-BE49-F238E27FC236}">
                <a16:creationId xmlns:a16="http://schemas.microsoft.com/office/drawing/2014/main" id="{30CF0484-8C2C-4DE4-9E45-16F29A041707}"/>
              </a:ext>
            </a:extLst>
          </p:cNvPr>
          <p:cNvSpPr>
            <a:spLocks xmlns:a="http://schemas.openxmlformats.org/drawingml/2006/main" noGrp="1"/>
          </p:cNvSpPr>
          <p:nvPr/>
        </p:nvSpPr>
        <p:spPr>
          <a:xfrm xmlns:a="http://schemas.openxmlformats.org/drawingml/2006/main">
            <a:off x="5419725" y="2266950"/>
            <a:ext cx="4286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007E92"/>
                </a:solidFill>
                <a:latin typeface="Arial"/>
                <a:ea typeface="Arial"/>
                <a:cs typeface="Arial"/>
              </a:defRPr>
            </a:pPr>
            <a:r>
              <a:rPr sz="2400" b="1">
                <a:solidFill>
                  <a:srgbClr val="007E92"/>
                </a:solidFill>
                <a:latin typeface="Arial"/>
                <a:ea typeface="Arial"/>
                <a:cs typeface="Arial"/>
              </a:rPr>
              <a:t>10 configuration items</a:t>
            </a:r>
          </a:p>
        </p:txBody>
      </p:sp>
      <p:sp>
        <p:nvSpPr>
          <p:cNvPr id="8" name="Hosting and access&#10;Role assignments&#10;Email and maps&#10;Backup and mon">
            <a:extLst xmlns:a="http://schemas.openxmlformats.org/drawingml/2006/main">
              <a:ext uri="{FF2B5EF4-FFF2-40B4-BE49-F238E27FC236}">
                <a16:creationId xmlns:a16="http://schemas.microsoft.com/office/drawing/2014/main" id="{0EFE76F9-7E4B-49A5-A887-B083AAA0600A}"/>
              </a:ext>
            </a:extLst>
          </p:cNvPr>
          <p:cNvSpPr>
            <a:spLocks xmlns:a="http://schemas.openxmlformats.org/drawingml/2006/main" noGrp="1"/>
          </p:cNvSpPr>
          <p:nvPr/>
        </p:nvSpPr>
        <p:spPr>
          <a:xfrm xmlns:a="http://schemas.openxmlformats.org/drawingml/2006/main">
            <a:off x="5419725" y="3343275"/>
            <a:ext cx="4238625"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18384B"/>
                </a:solidFill>
                <a:latin typeface="Arial"/>
                <a:ea typeface="Arial"/>
                <a:cs typeface="Arial"/>
              </a:defRPr>
            </a:pPr>
            <a:r>
              <a:rPr sz="2175" b="0">
                <a:solidFill>
                  <a:srgbClr val="18384B"/>
                </a:solidFill>
                <a:latin typeface="Arial"/>
                <a:ea typeface="Arial"/>
                <a:cs typeface="Arial"/>
              </a:rPr>
              <a:t>Hosting and access</a:t>
            </a:r>
          </a:p>
          <a:p xmlns:a="http://schemas.openxmlformats.org/drawingml/2006/main">
            <a:pPr>
              <a:defRPr sz="2175" b="0">
                <a:solidFill>
                  <a:srgbClr val="18384B"/>
                </a:solidFill>
                <a:latin typeface="Arial"/>
                <a:ea typeface="Arial"/>
                <a:cs typeface="Arial"/>
              </a:defRPr>
            </a:pPr>
            <a:r>
              <a:rPr sz="2175" b="0">
                <a:solidFill>
                  <a:srgbClr val="18384B"/>
                </a:solidFill>
                <a:latin typeface="Arial"/>
                <a:ea typeface="Arial"/>
                <a:cs typeface="Arial"/>
              </a:rPr>
              <a:t>Role assignments</a:t>
            </a:r>
          </a:p>
          <a:p xmlns:a="http://schemas.openxmlformats.org/drawingml/2006/main">
            <a:pPr>
              <a:defRPr sz="2175" b="0">
                <a:solidFill>
                  <a:srgbClr val="18384B"/>
                </a:solidFill>
                <a:latin typeface="Arial"/>
                <a:ea typeface="Arial"/>
                <a:cs typeface="Arial"/>
              </a:defRPr>
            </a:pPr>
            <a:r>
              <a:rPr sz="2175" b="0">
                <a:solidFill>
                  <a:srgbClr val="18384B"/>
                </a:solidFill>
                <a:latin typeface="Arial"/>
                <a:ea typeface="Arial"/>
                <a:cs typeface="Arial"/>
              </a:rPr>
              <a:t>Email and maps</a:t>
            </a:r>
          </a:p>
          <a:p xmlns:a="http://schemas.openxmlformats.org/drawingml/2006/main">
            <a:pPr>
              <a:defRPr sz="2175" b="0">
                <a:solidFill>
                  <a:srgbClr val="18384B"/>
                </a:solidFill>
                <a:latin typeface="Arial"/>
                <a:ea typeface="Arial"/>
                <a:cs typeface="Arial"/>
              </a:defRPr>
            </a:pPr>
            <a:r>
              <a:rPr sz="2175" b="0">
                <a:solidFill>
                  <a:srgbClr val="18384B"/>
                </a:solidFill>
                <a:latin typeface="Arial"/>
                <a:ea typeface="Arial"/>
                <a:cs typeface="Arial"/>
              </a:rPr>
              <a:t>Backup and monitoring</a:t>
            </a:r>
          </a:p>
          <a:p xmlns:a="http://schemas.openxmlformats.org/drawingml/2006/main">
            <a:pPr>
              <a:defRPr sz="2175" b="0">
                <a:solidFill>
                  <a:srgbClr val="18384B"/>
                </a:solidFill>
                <a:latin typeface="Arial"/>
                <a:ea typeface="Arial"/>
                <a:cs typeface="Arial"/>
              </a:defRPr>
            </a:pPr>
            <a:r>
              <a:rPr sz="2175" b="0">
                <a:solidFill>
                  <a:srgbClr val="18384B"/>
                </a:solidFill>
                <a:latin typeface="Arial"/>
                <a:ea typeface="Arial"/>
                <a:cs typeface="Arial"/>
              </a:rPr>
              <a:t>Performance acceptance</a:t>
            </a:r>
          </a:p>
          <a:p xmlns:a="http://schemas.openxmlformats.org/drawingml/2006/main">
            <a:pPr>
              <a:defRPr sz="2175" b="0">
                <a:solidFill>
                  <a:srgbClr val="18384B"/>
                </a:solidFill>
                <a:latin typeface="Arial"/>
                <a:ea typeface="Arial"/>
                <a:cs typeface="Arial"/>
              </a:defRPr>
            </a:pPr>
            <a:r>
              <a:rPr sz="2175" b="0">
                <a:solidFill>
                  <a:srgbClr val="18384B"/>
                </a:solidFill>
                <a:latin typeface="Arial"/>
                <a:ea typeface="Arial"/>
                <a:cs typeface="Arial"/>
              </a:rPr>
              <a:t>Cost fallback policy</a:t>
            </a:r>
          </a:p>
          <a:p xmlns:a="http://schemas.openxmlformats.org/drawingml/2006/main">
            <a:pPr>
              <a:defRPr sz="2175" b="0">
                <a:solidFill>
                  <a:srgbClr val="18384B"/>
                </a:solidFill>
                <a:latin typeface="Arial"/>
                <a:ea typeface="Arial"/>
                <a:cs typeface="Arial"/>
              </a:defRPr>
            </a:pPr>
            <a:r>
              <a:rPr sz="2175" b="0">
                <a:solidFill>
                  <a:srgbClr val="18384B"/>
                </a:solidFill>
                <a:latin typeface="Arial"/>
                <a:ea typeface="Arial"/>
                <a:cs typeface="Arial"/>
              </a:rPr>
              <a:t>Retention and data exit</a:t>
            </a:r>
          </a:p>
        </p:txBody>
      </p:sp>
      <p:sp>
        <p:nvSpPr>
          <p:cNvPr id="9" name="15 development items">
            <a:extLst xmlns:a="http://schemas.openxmlformats.org/drawingml/2006/main">
              <a:ext uri="{FF2B5EF4-FFF2-40B4-BE49-F238E27FC236}">
                <a16:creationId xmlns:a16="http://schemas.microsoft.com/office/drawing/2014/main" id="{FFDA096B-BE06-42CA-8B25-E2E8BFB68B0B}"/>
              </a:ext>
            </a:extLst>
          </p:cNvPr>
          <p:cNvSpPr>
            <a:spLocks xmlns:a="http://schemas.openxmlformats.org/drawingml/2006/main" noGrp="1"/>
          </p:cNvSpPr>
          <p:nvPr/>
        </p:nvSpPr>
        <p:spPr>
          <a:xfrm xmlns:a="http://schemas.openxmlformats.org/drawingml/2006/main">
            <a:off x="10229850" y="2266950"/>
            <a:ext cx="4286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007E92"/>
                </a:solidFill>
                <a:latin typeface="Arial"/>
                <a:ea typeface="Arial"/>
                <a:cs typeface="Arial"/>
              </a:defRPr>
            </a:pPr>
            <a:r>
              <a:rPr sz="2400" b="1">
                <a:solidFill>
                  <a:srgbClr val="007E92"/>
                </a:solidFill>
                <a:latin typeface="Arial"/>
                <a:ea typeface="Arial"/>
                <a:cs typeface="Arial"/>
              </a:rPr>
              <a:t>15 development items</a:t>
            </a:r>
          </a:p>
        </p:txBody>
      </p:sp>
      <p:sp>
        <p:nvSpPr>
          <p:cNvPr id="10" name="Desktop security&#10;Approval scope and duties&#10;Publication integrity&#10;">
            <a:extLst xmlns:a="http://schemas.openxmlformats.org/drawingml/2006/main">
              <a:ext uri="{FF2B5EF4-FFF2-40B4-BE49-F238E27FC236}">
                <a16:creationId xmlns:a16="http://schemas.microsoft.com/office/drawing/2014/main" id="{CCD2A793-56F2-4CBD-9480-2C22B7C1AC89}"/>
              </a:ext>
            </a:extLst>
          </p:cNvPr>
          <p:cNvSpPr>
            <a:spLocks xmlns:a="http://schemas.openxmlformats.org/drawingml/2006/main" noGrp="1"/>
          </p:cNvSpPr>
          <p:nvPr/>
        </p:nvSpPr>
        <p:spPr>
          <a:xfrm xmlns:a="http://schemas.openxmlformats.org/drawingml/2006/main">
            <a:off x="10229850" y="3343275"/>
            <a:ext cx="4238625"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18384B"/>
                </a:solidFill>
                <a:latin typeface="Arial"/>
                <a:ea typeface="Arial"/>
                <a:cs typeface="Arial"/>
              </a:defRPr>
            </a:pPr>
            <a:r>
              <a:rPr sz="2175" b="0">
                <a:solidFill>
                  <a:srgbClr val="18384B"/>
                </a:solidFill>
                <a:latin typeface="Arial"/>
                <a:ea typeface="Arial"/>
                <a:cs typeface="Arial"/>
              </a:rPr>
              <a:t>Desktop security</a:t>
            </a:r>
          </a:p>
          <a:p xmlns:a="http://schemas.openxmlformats.org/drawingml/2006/main">
            <a:pPr>
              <a:defRPr sz="2175" b="0">
                <a:solidFill>
                  <a:srgbClr val="18384B"/>
                </a:solidFill>
                <a:latin typeface="Arial"/>
                <a:ea typeface="Arial"/>
                <a:cs typeface="Arial"/>
              </a:defRPr>
            </a:pPr>
            <a:r>
              <a:rPr sz="2175" b="0">
                <a:solidFill>
                  <a:srgbClr val="18384B"/>
                </a:solidFill>
                <a:latin typeface="Arial"/>
                <a:ea typeface="Arial"/>
                <a:cs typeface="Arial"/>
              </a:rPr>
              <a:t>Approval scope and duties</a:t>
            </a:r>
          </a:p>
          <a:p xmlns:a="http://schemas.openxmlformats.org/drawingml/2006/main">
            <a:pPr>
              <a:defRPr sz="2175" b="0">
                <a:solidFill>
                  <a:srgbClr val="18384B"/>
                </a:solidFill>
                <a:latin typeface="Arial"/>
                <a:ea typeface="Arial"/>
                <a:cs typeface="Arial"/>
              </a:defRPr>
            </a:pPr>
            <a:r>
              <a:rPr sz="2175" b="0">
                <a:solidFill>
                  <a:srgbClr val="18384B"/>
                </a:solidFill>
                <a:latin typeface="Arial"/>
                <a:ea typeface="Arial"/>
                <a:cs typeface="Arial"/>
              </a:rPr>
              <a:t>Publication integrity</a:t>
            </a:r>
          </a:p>
          <a:p xmlns:a="http://schemas.openxmlformats.org/drawingml/2006/main">
            <a:pPr>
              <a:defRPr sz="2175" b="0">
                <a:solidFill>
                  <a:srgbClr val="18384B"/>
                </a:solidFill>
                <a:latin typeface="Arial"/>
                <a:ea typeface="Arial"/>
                <a:cs typeface="Arial"/>
              </a:defRPr>
            </a:pPr>
            <a:r>
              <a:rPr sz="2175" b="0">
                <a:solidFill>
                  <a:srgbClr val="18384B"/>
                </a:solidFill>
                <a:latin typeface="Arial"/>
                <a:ea typeface="Arial"/>
                <a:cs typeface="Arial"/>
              </a:rPr>
              <a:t>Versioning and feasibility</a:t>
            </a:r>
          </a:p>
          <a:p xmlns:a="http://schemas.openxmlformats.org/drawingml/2006/main">
            <a:pPr>
              <a:defRPr sz="2175" b="0">
                <a:solidFill>
                  <a:srgbClr val="18384B"/>
                </a:solidFill>
                <a:latin typeface="Arial"/>
                <a:ea typeface="Arial"/>
                <a:cs typeface="Arial"/>
              </a:defRPr>
            </a:pPr>
            <a:r>
              <a:rPr sz="2175" b="0">
                <a:solidFill>
                  <a:srgbClr val="18384B"/>
                </a:solidFill>
                <a:latin typeface="Arial"/>
                <a:ea typeface="Arial"/>
                <a:cs typeface="Arial"/>
              </a:rPr>
              <a:t>Audit and data controls</a:t>
            </a:r>
          </a:p>
          <a:p xmlns:a="http://schemas.openxmlformats.org/drawingml/2006/main">
            <a:pPr>
              <a:defRPr sz="2175" b="0">
                <a:solidFill>
                  <a:srgbClr val="18384B"/>
                </a:solidFill>
                <a:latin typeface="Arial"/>
                <a:ea typeface="Arial"/>
                <a:cs typeface="Arial"/>
              </a:defRPr>
            </a:pPr>
            <a:r>
              <a:rPr sz="2175" b="0">
                <a:solidFill>
                  <a:srgbClr val="18384B"/>
                </a:solidFill>
                <a:latin typeface="Arial"/>
                <a:ea typeface="Arial"/>
                <a:cs typeface="Arial"/>
              </a:rPr>
              <a:t>Client integrations</a:t>
            </a:r>
          </a:p>
          <a:p xmlns:a="http://schemas.openxmlformats.org/drawingml/2006/main">
            <a:pPr>
              <a:defRPr sz="2175" b="0">
                <a:solidFill>
                  <a:srgbClr val="18384B"/>
                </a:solidFill>
                <a:latin typeface="Arial"/>
                <a:ea typeface="Arial"/>
                <a:cs typeface="Arial"/>
              </a:defRPr>
            </a:pPr>
            <a:r>
              <a:rPr sz="2175" b="0">
                <a:solidFill>
                  <a:srgbClr val="18384B"/>
                </a:solidFill>
                <a:latin typeface="Arial"/>
                <a:ea typeface="Arial"/>
                <a:cs typeface="Arial"/>
              </a:rPr>
              <a:t>Release safeguards</a:t>
            </a:r>
          </a:p>
        </p:txBody>
      </p:sp>
      <p:sp>
        <p:nvSpPr>
          <p:cNvPr id="11" name="Implementation category and evidence status are separate. The reg">
            <a:extLst xmlns:a="http://schemas.openxmlformats.org/drawingml/2006/main">
              <a:ext uri="{FF2B5EF4-FFF2-40B4-BE49-F238E27FC236}">
                <a16:creationId xmlns:a16="http://schemas.microsoft.com/office/drawing/2014/main" id="{30532390-25AE-4F07-A909-4B2F2C25AA86}"/>
              </a:ext>
            </a:extLst>
          </p:cNvPr>
          <p:cNvSpPr>
            <a:spLocks xmlns:a="http://schemas.openxmlformats.org/drawingml/2006/main" noGrp="1"/>
          </p:cNvSpPr>
          <p:nvPr/>
        </p:nvSpPr>
        <p:spPr>
          <a:xfrm xmlns:a="http://schemas.openxmlformats.org/drawingml/2006/main">
            <a:off x="609600" y="7362825"/>
            <a:ext cx="14020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07E92"/>
                </a:solidFill>
                <a:latin typeface="Arial"/>
                <a:ea typeface="Arial"/>
                <a:cs typeface="Arial"/>
              </a:defRPr>
            </a:pPr>
            <a:r>
              <a:rPr sz="1875" b="1">
                <a:solidFill>
                  <a:srgbClr val="007E92"/>
                </a:solidFill>
                <a:latin typeface="Arial"/>
                <a:ea typeface="Arial"/>
                <a:cs typeface="Arial"/>
              </a:rPr>
              <a:t>Implementation category and evidence status are separate. The register records both without declaring production readiness.</a:t>
            </a:r>
          </a:p>
        </p:txBody>
      </p:sp>
    </p:spTree>
    <p:extLst>
      <p:ext uri="{BB962C8B-B14F-4D97-AF65-F5344CB8AC3E}">
        <p14:creationId xmlns:p14="http://schemas.microsoft.com/office/powerpoint/2010/main" val="51067934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Priority actions before production use">
            <a:extLst xmlns:a="http://schemas.openxmlformats.org/drawingml/2006/main">
              <a:ext uri="{FF2B5EF4-FFF2-40B4-BE49-F238E27FC236}">
                <a16:creationId xmlns:a16="http://schemas.microsoft.com/office/drawing/2014/main" id="{FE12569D-7FFC-4634-84CB-DEC1096628F4}"/>
              </a:ext>
            </a:extLst>
          </p:cNvPr>
          <p:cNvSpPr>
            <a:spLocks xmlns:a="http://schemas.openxmlformats.org/drawingml/2006/main" noGrp="1"/>
          </p:cNvSpPr>
          <p:nvPr/>
        </p:nvSpPr>
        <p:spPr>
          <a:xfrm xmlns:a="http://schemas.openxmlformats.org/drawingml/2006/main">
            <a:off x="609600" y="428625"/>
            <a:ext cx="14020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374B"/>
                </a:solidFill>
                <a:latin typeface="Arial"/>
                <a:ea typeface="Arial"/>
                <a:cs typeface="Arial"/>
              </a:defRPr>
            </a:pPr>
            <a:r>
              <a:rPr sz="3300" b="1">
                <a:solidFill>
                  <a:srgbClr val="12374B"/>
                </a:solidFill>
                <a:latin typeface="Arial"/>
                <a:ea typeface="Arial"/>
                <a:cs typeface="Arial"/>
              </a:rPr>
              <a:t>Priority actions before production use</a:t>
            </a:r>
          </a:p>
        </p:txBody>
      </p:sp>
      <p:sp>
        <p:nvSpPr>
          <p:cNvPr id="2" name="Proposed acceptance workstreams. Owners and delivery dates need a">
            <a:extLst xmlns:a="http://schemas.openxmlformats.org/drawingml/2006/main">
              <a:ext uri="{FF2B5EF4-FFF2-40B4-BE49-F238E27FC236}">
                <a16:creationId xmlns:a16="http://schemas.microsoft.com/office/drawing/2014/main" id="{1B50D675-31FD-4FB9-898B-AD13A619603F}"/>
              </a:ext>
            </a:extLst>
          </p:cNvPr>
          <p:cNvSpPr>
            <a:spLocks xmlns:a="http://schemas.openxmlformats.org/drawingml/2006/main" noGrp="1"/>
          </p:cNvSpPr>
          <p:nvPr/>
        </p:nvSpPr>
        <p:spPr>
          <a:xfrm xmlns:a="http://schemas.openxmlformats.org/drawingml/2006/main">
            <a:off x="609600" y="1304925"/>
            <a:ext cx="1395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547080"/>
                </a:solidFill>
                <a:latin typeface="Arial"/>
                <a:ea typeface="Arial"/>
                <a:cs typeface="Arial"/>
              </a:defRPr>
            </a:pPr>
            <a:r>
              <a:rPr sz="1875" b="0">
                <a:solidFill>
                  <a:srgbClr val="547080"/>
                </a:solidFill>
                <a:latin typeface="Arial"/>
                <a:ea typeface="Arial"/>
                <a:cs typeface="Arial"/>
              </a:rPr>
              <a:t>Proposed acceptance workstreams. Owners and delivery dates need agreement.</a:t>
            </a:r>
          </a:p>
        </p:txBody>
      </p:sp>
      <p:sp>
        <p:nvSpPr>
          <p:cNvPr id="3" name="WIDispatch   /   IT briefing   /   29 September 2026">
            <a:extLst xmlns:a="http://schemas.openxmlformats.org/drawingml/2006/main">
              <a:ext uri="{FF2B5EF4-FFF2-40B4-BE49-F238E27FC236}">
                <a16:creationId xmlns:a16="http://schemas.microsoft.com/office/drawing/2014/main" id="{EDD14719-9A47-456F-9909-F96C1884D5C0}"/>
              </a:ext>
            </a:extLst>
          </p:cNvPr>
          <p:cNvSpPr>
            <a:spLocks xmlns:a="http://schemas.openxmlformats.org/drawingml/2006/main" noGrp="1"/>
          </p:cNvSpPr>
          <p:nvPr/>
        </p:nvSpPr>
        <p:spPr>
          <a:xfrm xmlns:a="http://schemas.openxmlformats.org/drawingml/2006/main">
            <a:off x="609600" y="8172450"/>
            <a:ext cx="1162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547080"/>
                </a:solidFill>
                <a:latin typeface="Arial"/>
                <a:ea typeface="Arial"/>
                <a:cs typeface="Arial"/>
              </a:defRPr>
            </a:pPr>
            <a:r>
              <a:rPr sz="1275" b="0">
                <a:solidFill>
                  <a:srgbClr val="547080"/>
                </a:solidFill>
                <a:latin typeface="Arial"/>
                <a:ea typeface="Arial"/>
                <a:cs typeface="Arial"/>
              </a:rPr>
              <a:t>WIDispatch   /   IT briefing   /   29 September 2026</a:t>
            </a:r>
          </a:p>
        </p:txBody>
      </p:sp>
      <p:sp>
        <p:nvSpPr>
          <p:cNvPr id="4" name="15">
            <a:extLst xmlns:a="http://schemas.openxmlformats.org/drawingml/2006/main">
              <a:ext uri="{FF2B5EF4-FFF2-40B4-BE49-F238E27FC236}">
                <a16:creationId xmlns:a16="http://schemas.microsoft.com/office/drawing/2014/main" id="{5B009208-3077-4B37-B1FF-2FEA995EC099}"/>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547080"/>
                </a:solidFill>
                <a:latin typeface="Arial"/>
                <a:ea typeface="Arial"/>
                <a:cs typeface="Arial"/>
              </a:defRPr>
            </a:pPr>
            <a:r>
              <a:rPr sz="1650" b="0">
                <a:solidFill>
                  <a:srgbClr val="547080"/>
                </a:solidFill>
                <a:latin typeface="Arial"/>
                <a:ea typeface="Arial"/>
                <a:cs typeface="Arial"/>
              </a:rPr>
              <a:t>15</a:t>
            </a:r>
          </a:p>
        </p:txBody>
      </p:sp>
      <p:graphicFrame>
        <p:nvGraphicFramePr>
          <p:cNvPr id="11" name=""/>
          <p:cNvGraphicFramePr/>
          <p:nvPr/>
        </p:nvGraphicFramePr>
        <p:xfrm>
          <a:off xmlns:a="http://schemas.openxmlformats.org/drawingml/2006/main" x="609600" y="2076450"/>
          <a:ext xmlns:a="http://schemas.openxmlformats.org/drawingml/2006/main" cx="14020800" cy="4857750"/>
        </p:xfrm>
        <a:graphic xmlns:a="http://schemas.openxmlformats.org/drawingml/2006/main">
          <a:graphicData uri="http://schemas.openxmlformats.org/drawingml/2006/table">
            <a:tbl>
              <a:tblPr/>
              <a:tblGrid>
                <a:gridCol w="3286125"/>
                <a:gridCol w="5524500"/>
                <a:gridCol w="5210175"/>
              </a:tblGrid>
              <a:tr h="809625">
                <a:tc>
                  <a:txBody>
                    <a:bodyPr/>
                    <a:lstStyle/>
                    <a:p>
                      <a:r>
                        <a:rPr sz="1875" b="1">
                          <a:solidFill>
                            <a:srgbClr val="FFFFFF"/>
                          </a:solidFill>
                          <a:latin typeface="Arial"/>
                          <a:ea typeface="Arial"/>
                          <a:cs typeface="Arial"/>
                        </a:rPr>
                        <a:t>Workstream</a:t>
                      </a:r>
                    </a:p>
                  </a:txBody>
                  <a:tcPr marL="133350" marR="133350" marT="142875" marB="123825" anchor="ctr">
                    <a:solidFill>
                      <a:srgbClr val="12374B"/>
                    </a:solidFill>
                  </a:tcPr>
                </a:tc>
                <a:tc>
                  <a:txBody>
                    <a:bodyPr/>
                    <a:lstStyle/>
                    <a:p>
                      <a:r>
                        <a:rPr sz="1875" b="1">
                          <a:solidFill>
                            <a:srgbClr val="FFFFFF"/>
                          </a:solidFill>
                          <a:latin typeface="Arial"/>
                          <a:ea typeface="Arial"/>
                          <a:cs typeface="Arial"/>
                        </a:rPr>
                        <a:t>What must be resolved</a:t>
                      </a:r>
                    </a:p>
                  </a:txBody>
                  <a:tcPr marL="133350" marR="133350" marT="142875" marB="123825" anchor="ctr">
                    <a:solidFill>
                      <a:srgbClr val="12374B"/>
                    </a:solidFill>
                  </a:tcPr>
                </a:tc>
                <a:tc>
                  <a:txBody>
                    <a:bodyPr/>
                    <a:lstStyle/>
                    <a:p>
                      <a:r>
                        <a:rPr sz="1875" b="1">
                          <a:solidFill>
                            <a:srgbClr val="FFFFFF"/>
                          </a:solidFill>
                          <a:latin typeface="Arial"/>
                          <a:ea typeface="Arial"/>
                          <a:cs typeface="Arial"/>
                        </a:rPr>
                        <a:t>Acceptance example</a:t>
                      </a:r>
                    </a:p>
                  </a:txBody>
                  <a:tcPr marL="133350" marR="133350" marT="142875" marB="123825" anchor="ctr">
                    <a:solidFill>
                      <a:srgbClr val="12374B"/>
                    </a:solidFill>
                  </a:tcPr>
                </a:tc>
              </a:tr>
              <a:tr h="809625">
                <a:tc>
                  <a:txBody>
                    <a:bodyPr/>
                    <a:lstStyle/>
                    <a:p>
                      <a:r>
                        <a:rPr sz="1875">
                          <a:solidFill>
                            <a:srgbClr val="18384B"/>
                          </a:solidFill>
                          <a:latin typeface="Arial"/>
                          <a:ea typeface="Arial"/>
                          <a:cs typeface="Arial"/>
                        </a:rPr>
                        <a:t>Identity and authorization</a:t>
                      </a:r>
                    </a:p>
                  </a:txBody>
                  <a:tcPr marL="133350" marR="133350" marT="142875" marB="123825" anchor="ctr">
                    <a:solidFill>
                      <a:srgbClr val="F1F6F8"/>
                    </a:solidFill>
                  </a:tcPr>
                </a:tc>
                <a:tc>
                  <a:txBody>
                    <a:bodyPr/>
                    <a:lstStyle/>
                    <a:p>
                      <a:r>
                        <a:rPr sz="1875">
                          <a:solidFill>
                            <a:srgbClr val="18384B"/>
                          </a:solidFill>
                          <a:latin typeface="Arial"/>
                          <a:ea typeface="Arial"/>
                          <a:cs typeface="Arial"/>
                        </a:rPr>
                        <a:t>Desktop access, portal scope and self-approval policy</a:t>
                      </a:r>
                    </a:p>
                  </a:txBody>
                  <a:tcPr marL="133350" marR="133350" marT="142875" marB="123825" anchor="ctr">
                    <a:solidFill>
                      <a:srgbClr val="F1F6F8"/>
                    </a:solidFill>
                  </a:tcPr>
                </a:tc>
                <a:tc>
                  <a:txBody>
                    <a:bodyPr/>
                    <a:lstStyle/>
                    <a:p>
                      <a:r>
                        <a:rPr sz="1875">
                          <a:solidFill>
                            <a:srgbClr val="18384B"/>
                          </a:solidFill>
                          <a:latin typeface="Arial"/>
                          <a:ea typeface="Arial"/>
                          <a:cs typeface="Arial"/>
                        </a:rPr>
                        <a:t>Unauthorized calls fail with no mutation</a:t>
                      </a:r>
                    </a:p>
                  </a:txBody>
                  <a:tcPr marL="133350" marR="133350" marT="142875" marB="123825" anchor="ctr">
                    <a:solidFill>
                      <a:srgbClr val="F1F6F8"/>
                    </a:solidFill>
                  </a:tcPr>
                </a:tc>
              </a:tr>
              <a:tr h="809625">
                <a:tc>
                  <a:txBody>
                    <a:bodyPr/>
                    <a:lstStyle/>
                    <a:p>
                      <a:r>
                        <a:rPr sz="1875">
                          <a:solidFill>
                            <a:srgbClr val="18384B"/>
                          </a:solidFill>
                          <a:latin typeface="Arial"/>
                          <a:ea typeface="Arial"/>
                          <a:cs typeface="Arial"/>
                        </a:rPr>
                        <a:t>Data and publication</a:t>
                      </a:r>
                    </a:p>
                  </a:txBody>
                  <a:tcPr marL="133350" marR="133350" marT="142875" marB="123825" anchor="ctr">
                    <a:solidFill>
                      <a:srgbClr val="FFFFFF"/>
                    </a:solidFill>
                  </a:tcPr>
                </a:tc>
                <a:tc>
                  <a:txBody>
                    <a:bodyPr/>
                    <a:lstStyle/>
                    <a:p>
                      <a:r>
                        <a:rPr sz="1875">
                          <a:solidFill>
                            <a:srgbClr val="18384B"/>
                          </a:solidFill>
                          <a:latin typeface="Arial"/>
                          <a:ea typeface="Arial"/>
                          <a:cs typeface="Arial"/>
                        </a:rPr>
                        <a:t>Database naming, atomic writes, safe retries and target counts</a:t>
                      </a:r>
                    </a:p>
                  </a:txBody>
                  <a:tcPr marL="133350" marR="133350" marT="142875" marB="123825" anchor="ctr">
                    <a:solidFill>
                      <a:srgbClr val="FFFFFF"/>
                    </a:solidFill>
                  </a:tcPr>
                </a:tc>
                <a:tc>
                  <a:txBody>
                    <a:bodyPr/>
                    <a:lstStyle/>
                    <a:p>
                      <a:r>
                        <a:rPr sz="1875">
                          <a:solidFill>
                            <a:srgbClr val="18384B"/>
                          </a:solidFill>
                          <a:latin typeface="Arial"/>
                          <a:ea typeface="Arial"/>
                          <a:cs typeface="Arial"/>
                        </a:rPr>
                        <a:t>Injected failure leaves no partial operational plan</a:t>
                      </a:r>
                    </a:p>
                  </a:txBody>
                  <a:tcPr marL="133350" marR="133350" marT="142875" marB="123825" anchor="ctr">
                    <a:solidFill>
                      <a:srgbClr val="FFFFFF"/>
                    </a:solidFill>
                  </a:tcPr>
                </a:tc>
              </a:tr>
              <a:tr h="809625">
                <a:tc>
                  <a:txBody>
                    <a:bodyPr/>
                    <a:lstStyle/>
                    <a:p>
                      <a:r>
                        <a:rPr sz="1875">
                          <a:solidFill>
                            <a:srgbClr val="18384B"/>
                          </a:solidFill>
                          <a:latin typeface="Arial"/>
                          <a:ea typeface="Arial"/>
                          <a:cs typeface="Arial"/>
                        </a:rPr>
                        <a:t>Decision consistency</a:t>
                      </a:r>
                    </a:p>
                  </a:txBody>
                  <a:tcPr marL="133350" marR="133350" marT="142875" marB="123825" anchor="ctr">
                    <a:solidFill>
                      <a:srgbClr val="F1F6F8"/>
                    </a:solidFill>
                  </a:tcPr>
                </a:tc>
                <a:tc>
                  <a:txBody>
                    <a:bodyPr/>
                    <a:lstStyle/>
                    <a:p>
                      <a:r>
                        <a:rPr sz="1875">
                          <a:solidFill>
                            <a:srgbClr val="18384B"/>
                          </a:solidFill>
                          <a:latin typeface="Arial"/>
                          <a:ea typeface="Arial"/>
                          <a:cs typeface="Arial"/>
                        </a:rPr>
                        <a:t>Draft versions, input changes and manual edit feasibility</a:t>
                      </a:r>
                    </a:p>
                  </a:txBody>
                  <a:tcPr marL="133350" marR="133350" marT="142875" marB="123825" anchor="ctr">
                    <a:solidFill>
                      <a:srgbClr val="F1F6F8"/>
                    </a:solidFill>
                  </a:tcPr>
                </a:tc>
                <a:tc>
                  <a:txBody>
                    <a:bodyPr/>
                    <a:lstStyle/>
                    <a:p>
                      <a:r>
                        <a:rPr sz="1875">
                          <a:solidFill>
                            <a:srgbClr val="18384B"/>
                          </a:solidFill>
                          <a:latin typeface="Arial"/>
                          <a:ea typeface="Arial"/>
                          <a:cs typeface="Arial"/>
                        </a:rPr>
                        <a:t>Stale edits conflict; revised quantities reconcile</a:t>
                      </a:r>
                    </a:p>
                  </a:txBody>
                  <a:tcPr marL="133350" marR="133350" marT="142875" marB="123825" anchor="ctr">
                    <a:solidFill>
                      <a:srgbClr val="F1F6F8"/>
                    </a:solidFill>
                  </a:tcPr>
                </a:tc>
              </a:tr>
              <a:tr h="809625">
                <a:tc>
                  <a:txBody>
                    <a:bodyPr/>
                    <a:lstStyle/>
                    <a:p>
                      <a:r>
                        <a:rPr sz="1875">
                          <a:solidFill>
                            <a:srgbClr val="18384B"/>
                          </a:solidFill>
                          <a:latin typeface="Arial"/>
                          <a:ea typeface="Arial"/>
                          <a:cs typeface="Arial"/>
                        </a:rPr>
                        <a:t>Audit and secure configuration</a:t>
                      </a:r>
                    </a:p>
                  </a:txBody>
                  <a:tcPr marL="133350" marR="133350" marT="142875" marB="123825" anchor="ctr">
                    <a:solidFill>
                      <a:srgbClr val="FFFFFF"/>
                    </a:solidFill>
                  </a:tcPr>
                </a:tc>
                <a:tc>
                  <a:txBody>
                    <a:bodyPr/>
                    <a:lstStyle/>
                    <a:p>
                      <a:r>
                        <a:rPr sz="1875">
                          <a:solidFill>
                            <a:srgbClr val="18384B"/>
                          </a:solidFill>
                          <a:latin typeface="Arial"/>
                          <a:ea typeface="Arial"/>
                          <a:cs typeface="Arial"/>
                        </a:rPr>
                        <a:t>Authenticated lineage, secrets, CORS and diagnostic routes</a:t>
                      </a:r>
                    </a:p>
                  </a:txBody>
                  <a:tcPr marL="133350" marR="133350" marT="142875" marB="123825" anchor="ctr">
                    <a:solidFill>
                      <a:srgbClr val="FFFFFF"/>
                    </a:solidFill>
                  </a:tcPr>
                </a:tc>
                <a:tc>
                  <a:txBody>
                    <a:bodyPr/>
                    <a:lstStyle/>
                    <a:p>
                      <a:r>
                        <a:rPr sz="1875">
                          <a:solidFill>
                            <a:srgbClr val="18384B"/>
                          </a:solidFill>
                          <a:latin typeface="Arial"/>
                          <a:ea typeface="Arial"/>
                          <a:cs typeface="Arial"/>
                        </a:rPr>
                        <a:t>Every publish traces to actor and input basis</a:t>
                      </a:r>
                    </a:p>
                  </a:txBody>
                  <a:tcPr marL="133350" marR="133350" marT="142875" marB="123825" anchor="ctr">
                    <a:solidFill>
                      <a:srgbClr val="FFFFFF"/>
                    </a:solidFill>
                  </a:tcPr>
                </a:tc>
              </a:tr>
              <a:tr h="809625">
                <a:tc>
                  <a:txBody>
                    <a:bodyPr/>
                    <a:lstStyle/>
                    <a:p>
                      <a:r>
                        <a:rPr sz="1875">
                          <a:solidFill>
                            <a:srgbClr val="18384B"/>
                          </a:solidFill>
                          <a:latin typeface="Arial"/>
                          <a:ea typeface="Arial"/>
                          <a:cs typeface="Arial"/>
                        </a:rPr>
                        <a:t>Operations and release</a:t>
                      </a:r>
                    </a:p>
                  </a:txBody>
                  <a:tcPr marL="133350" marR="133350" marT="142875" marB="123825" anchor="ctr">
                    <a:solidFill>
                      <a:srgbClr val="F1F6F8"/>
                    </a:solidFill>
                  </a:tcPr>
                </a:tc>
                <a:tc>
                  <a:txBody>
                    <a:bodyPr/>
                    <a:lstStyle/>
                    <a:p>
                      <a:r>
                        <a:rPr sz="1875">
                          <a:solidFill>
                            <a:srgbClr val="18384B"/>
                          </a:solidFill>
                          <a:latin typeface="Arial"/>
                          <a:ea typeface="Arial"/>
                          <a:cs typeface="Arial"/>
                        </a:rPr>
                        <a:t>Backups, monitoring, load evidence, rollback and quality gates</a:t>
                      </a:r>
                    </a:p>
                  </a:txBody>
                  <a:tcPr marL="133350" marR="133350" marT="142875" marB="123825" anchor="ctr">
                    <a:solidFill>
                      <a:srgbClr val="F1F6F8"/>
                    </a:solidFill>
                  </a:tcPr>
                </a:tc>
                <a:tc>
                  <a:txBody>
                    <a:bodyPr/>
                    <a:lstStyle/>
                    <a:p>
                      <a:r>
                        <a:rPr sz="1875">
                          <a:solidFill>
                            <a:srgbClr val="18384B"/>
                          </a:solidFill>
                          <a:latin typeface="Arial"/>
                          <a:ea typeface="Arial"/>
                          <a:cs typeface="Arial"/>
                        </a:rPr>
                        <a:t>Agreed recovery/load tests pass on target host</a:t>
                      </a:r>
                    </a:p>
                  </a:txBody>
                  <a:tcPr marL="133350" marR="133350" marT="142875" marB="123825" anchor="ctr">
                    <a:solidFill>
                      <a:srgbClr val="F1F6F8"/>
                    </a:solidFill>
                  </a:tcPr>
                </a:tc>
              </a:tr>
            </a:tbl>
          </a:graphicData>
        </a:graphic>
      </p:graphicFrame>
      <p:sp>
        <p:nvSpPr>
          <p:cNvPr id="6" name="Functional demonstration acceptance and production deployment acc">
            <a:extLst xmlns:a="http://schemas.openxmlformats.org/drawingml/2006/main">
              <a:ext uri="{FF2B5EF4-FFF2-40B4-BE49-F238E27FC236}">
                <a16:creationId xmlns:a16="http://schemas.microsoft.com/office/drawing/2014/main" id="{2D0CD286-1A5D-44E9-8EDF-D8EB8CA05483}"/>
              </a:ext>
            </a:extLst>
          </p:cNvPr>
          <p:cNvSpPr>
            <a:spLocks xmlns:a="http://schemas.openxmlformats.org/drawingml/2006/main" noGrp="1"/>
          </p:cNvSpPr>
          <p:nvPr/>
        </p:nvSpPr>
        <p:spPr>
          <a:xfrm xmlns:a="http://schemas.openxmlformats.org/drawingml/2006/main">
            <a:off x="609600" y="7362825"/>
            <a:ext cx="14020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07E92"/>
                </a:solidFill>
                <a:latin typeface="Arial"/>
                <a:ea typeface="Arial"/>
                <a:cs typeface="Arial"/>
              </a:defRPr>
            </a:pPr>
            <a:r>
              <a:rPr sz="1875" b="1">
                <a:solidFill>
                  <a:srgbClr val="007E92"/>
                </a:solidFill>
                <a:latin typeface="Arial"/>
                <a:ea typeface="Arial"/>
                <a:cs typeface="Arial"/>
              </a:rPr>
              <a:t>Functional demonstration acceptance and production deployment acceptance should have distinct criteria.</a:t>
            </a:r>
          </a:p>
        </p:txBody>
      </p:sp>
    </p:spTree>
    <p:extLst>
      <p:ext uri="{BB962C8B-B14F-4D97-AF65-F5344CB8AC3E}">
        <p14:creationId xmlns:p14="http://schemas.microsoft.com/office/powerpoint/2010/main" val="137477225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Decisions to capture with the client IT team">
            <a:extLst xmlns:a="http://schemas.openxmlformats.org/drawingml/2006/main">
              <a:ext uri="{FF2B5EF4-FFF2-40B4-BE49-F238E27FC236}">
                <a16:creationId xmlns:a16="http://schemas.microsoft.com/office/drawing/2014/main" id="{622E7728-9EA7-42AF-819D-17DC8476182A}"/>
              </a:ext>
            </a:extLst>
          </p:cNvPr>
          <p:cNvSpPr>
            <a:spLocks xmlns:a="http://schemas.openxmlformats.org/drawingml/2006/main" noGrp="1"/>
          </p:cNvSpPr>
          <p:nvPr/>
        </p:nvSpPr>
        <p:spPr>
          <a:xfrm xmlns:a="http://schemas.openxmlformats.org/drawingml/2006/main">
            <a:off x="609600" y="428625"/>
            <a:ext cx="14020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374B"/>
                </a:solidFill>
                <a:latin typeface="Arial"/>
                <a:ea typeface="Arial"/>
                <a:cs typeface="Arial"/>
              </a:defRPr>
            </a:pPr>
            <a:r>
              <a:rPr sz="3300" b="1">
                <a:solidFill>
                  <a:srgbClr val="12374B"/>
                </a:solidFill>
                <a:latin typeface="Arial"/>
                <a:ea typeface="Arial"/>
                <a:cs typeface="Arial"/>
              </a:rPr>
              <a:t>Decisions to capture with the client IT team</a:t>
            </a:r>
          </a:p>
        </p:txBody>
      </p:sp>
      <p:sp>
        <p:nvSpPr>
          <p:cNvPr id="2" name="Use the workbook during discussion to record a named owner, decis">
            <a:extLst xmlns:a="http://schemas.openxmlformats.org/drawingml/2006/main">
              <a:ext uri="{FF2B5EF4-FFF2-40B4-BE49-F238E27FC236}">
                <a16:creationId xmlns:a16="http://schemas.microsoft.com/office/drawing/2014/main" id="{8EBC45D7-EDFC-42E1-9E0C-00A61ABAD3F3}"/>
              </a:ext>
            </a:extLst>
          </p:cNvPr>
          <p:cNvSpPr>
            <a:spLocks xmlns:a="http://schemas.openxmlformats.org/drawingml/2006/main" noGrp="1"/>
          </p:cNvSpPr>
          <p:nvPr/>
        </p:nvSpPr>
        <p:spPr>
          <a:xfrm xmlns:a="http://schemas.openxmlformats.org/drawingml/2006/main">
            <a:off x="609600" y="1304925"/>
            <a:ext cx="1395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547080"/>
                </a:solidFill>
                <a:latin typeface="Arial"/>
                <a:ea typeface="Arial"/>
                <a:cs typeface="Arial"/>
              </a:defRPr>
            </a:pPr>
            <a:r>
              <a:rPr sz="1875" b="0">
                <a:solidFill>
                  <a:srgbClr val="547080"/>
                </a:solidFill>
                <a:latin typeface="Arial"/>
                <a:ea typeface="Arial"/>
                <a:cs typeface="Arial"/>
              </a:rPr>
              <a:t>Use the workbook during discussion to record a named owner, decision and required evidence.</a:t>
            </a:r>
          </a:p>
        </p:txBody>
      </p:sp>
      <p:sp>
        <p:nvSpPr>
          <p:cNvPr id="3" name="WIDispatch   /   IT briefing   /   29 September 2026">
            <a:extLst xmlns:a="http://schemas.openxmlformats.org/drawingml/2006/main">
              <a:ext uri="{FF2B5EF4-FFF2-40B4-BE49-F238E27FC236}">
                <a16:creationId xmlns:a16="http://schemas.microsoft.com/office/drawing/2014/main" id="{AA353FC1-B2EE-43EF-B4A1-64005FD705D2}"/>
              </a:ext>
            </a:extLst>
          </p:cNvPr>
          <p:cNvSpPr>
            <a:spLocks xmlns:a="http://schemas.openxmlformats.org/drawingml/2006/main" noGrp="1"/>
          </p:cNvSpPr>
          <p:nvPr/>
        </p:nvSpPr>
        <p:spPr>
          <a:xfrm xmlns:a="http://schemas.openxmlformats.org/drawingml/2006/main">
            <a:off x="609600" y="8172450"/>
            <a:ext cx="1162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547080"/>
                </a:solidFill>
                <a:latin typeface="Arial"/>
                <a:ea typeface="Arial"/>
                <a:cs typeface="Arial"/>
              </a:defRPr>
            </a:pPr>
            <a:r>
              <a:rPr sz="1275" b="0">
                <a:solidFill>
                  <a:srgbClr val="547080"/>
                </a:solidFill>
                <a:latin typeface="Arial"/>
                <a:ea typeface="Arial"/>
                <a:cs typeface="Arial"/>
              </a:rPr>
              <a:t>WIDispatch   /   IT briefing   /   29 September 2026</a:t>
            </a:r>
          </a:p>
        </p:txBody>
      </p:sp>
      <p:sp>
        <p:nvSpPr>
          <p:cNvPr id="4" name="16">
            <a:extLst xmlns:a="http://schemas.openxmlformats.org/drawingml/2006/main">
              <a:ext uri="{FF2B5EF4-FFF2-40B4-BE49-F238E27FC236}">
                <a16:creationId xmlns:a16="http://schemas.microsoft.com/office/drawing/2014/main" id="{E1FE8089-6073-43AE-AE2A-F14020DA5098}"/>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547080"/>
                </a:solidFill>
                <a:latin typeface="Arial"/>
                <a:ea typeface="Arial"/>
                <a:cs typeface="Arial"/>
              </a:defRPr>
            </a:pPr>
            <a:r>
              <a:rPr sz="1650" b="0">
                <a:solidFill>
                  <a:srgbClr val="547080"/>
                </a:solidFill>
                <a:latin typeface="Arial"/>
                <a:ea typeface="Arial"/>
                <a:cs typeface="Arial"/>
              </a:rPr>
              <a:t>16</a:t>
            </a:r>
          </a:p>
        </p:txBody>
      </p:sp>
      <p:sp>
        <p:nvSpPr>
          <p:cNvPr id="5" name="Hosting">
            <a:extLst xmlns:a="http://schemas.openxmlformats.org/drawingml/2006/main">
              <a:ext uri="{FF2B5EF4-FFF2-40B4-BE49-F238E27FC236}">
                <a16:creationId xmlns:a16="http://schemas.microsoft.com/office/drawing/2014/main" id="{58CC399B-4DDE-4694-96D1-DA00E2C1BE72}"/>
              </a:ext>
            </a:extLst>
          </p:cNvPr>
          <p:cNvSpPr>
            <a:spLocks xmlns:a="http://schemas.openxmlformats.org/drawingml/2006/main" noGrp="1"/>
          </p:cNvSpPr>
          <p:nvPr/>
        </p:nvSpPr>
        <p:spPr>
          <a:xfrm xmlns:a="http://schemas.openxmlformats.org/drawingml/2006/main">
            <a:off x="619125" y="2238375"/>
            <a:ext cx="26193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1">
                <a:solidFill>
                  <a:srgbClr val="007E92"/>
                </a:solidFill>
                <a:latin typeface="Arial"/>
                <a:ea typeface="Arial"/>
                <a:cs typeface="Arial"/>
              </a:defRPr>
            </a:pPr>
            <a:r>
              <a:rPr sz="2325" b="1">
                <a:solidFill>
                  <a:srgbClr val="007E92"/>
                </a:solidFill>
                <a:latin typeface="Arial"/>
                <a:ea typeface="Arial"/>
                <a:cs typeface="Arial"/>
              </a:rPr>
              <a:t>Hosting</a:t>
            </a:r>
          </a:p>
        </p:txBody>
      </p:sp>
      <p:sp>
        <p:nvSpPr>
          <p:cNvPr id="6" name="Who hosts it, where does data reside, and who operates each layer">
            <a:extLst xmlns:a="http://schemas.openxmlformats.org/drawingml/2006/main">
              <a:ext uri="{FF2B5EF4-FFF2-40B4-BE49-F238E27FC236}">
                <a16:creationId xmlns:a16="http://schemas.microsoft.com/office/drawing/2014/main" id="{B72ECD27-9229-4C2A-8258-364DFF9CFE8E}"/>
              </a:ext>
            </a:extLst>
          </p:cNvPr>
          <p:cNvSpPr>
            <a:spLocks xmlns:a="http://schemas.openxmlformats.org/drawingml/2006/main" noGrp="1"/>
          </p:cNvSpPr>
          <p:nvPr/>
        </p:nvSpPr>
        <p:spPr>
          <a:xfrm xmlns:a="http://schemas.openxmlformats.org/drawingml/2006/main">
            <a:off x="3476625" y="2238375"/>
            <a:ext cx="11049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18384B"/>
                </a:solidFill>
                <a:latin typeface="Arial"/>
                <a:ea typeface="Arial"/>
                <a:cs typeface="Arial"/>
              </a:defRPr>
            </a:pPr>
            <a:r>
              <a:rPr sz="2250" b="0">
                <a:solidFill>
                  <a:srgbClr val="18384B"/>
                </a:solidFill>
                <a:latin typeface="Arial"/>
                <a:ea typeface="Arial"/>
                <a:cs typeface="Arial"/>
              </a:rPr>
              <a:t>Who hosts it, where does data reside, and who operates each layer?</a:t>
            </a:r>
          </a:p>
        </p:txBody>
      </p:sp>
      <p:sp>
        <p:nvSpPr>
          <p:cNvPr id="7" name="Identity">
            <a:extLst xmlns:a="http://schemas.openxmlformats.org/drawingml/2006/main">
              <a:ext uri="{FF2B5EF4-FFF2-40B4-BE49-F238E27FC236}">
                <a16:creationId xmlns:a16="http://schemas.microsoft.com/office/drawing/2014/main" id="{59B033F6-2174-44E0-9959-CC7F2270DC2F}"/>
              </a:ext>
            </a:extLst>
          </p:cNvPr>
          <p:cNvSpPr>
            <a:spLocks xmlns:a="http://schemas.openxmlformats.org/drawingml/2006/main" noGrp="1"/>
          </p:cNvSpPr>
          <p:nvPr/>
        </p:nvSpPr>
        <p:spPr>
          <a:xfrm xmlns:a="http://schemas.openxmlformats.org/drawingml/2006/main">
            <a:off x="619125" y="3200400"/>
            <a:ext cx="26193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1">
                <a:solidFill>
                  <a:srgbClr val="007E92"/>
                </a:solidFill>
                <a:latin typeface="Arial"/>
                <a:ea typeface="Arial"/>
                <a:cs typeface="Arial"/>
              </a:defRPr>
            </a:pPr>
            <a:r>
              <a:rPr sz="2325" b="1">
                <a:solidFill>
                  <a:srgbClr val="007E92"/>
                </a:solidFill>
                <a:latin typeface="Arial"/>
                <a:ea typeface="Arial"/>
                <a:cs typeface="Arial"/>
              </a:rPr>
              <a:t>Identity</a:t>
            </a:r>
          </a:p>
        </p:txBody>
      </p:sp>
      <p:sp>
        <p:nvSpPr>
          <p:cNvPr id="8" name="Which identity provider, roles, asset scopes and approval duties ">
            <a:extLst xmlns:a="http://schemas.openxmlformats.org/drawingml/2006/main">
              <a:ext uri="{FF2B5EF4-FFF2-40B4-BE49-F238E27FC236}">
                <a16:creationId xmlns:a16="http://schemas.microsoft.com/office/drawing/2014/main" id="{E3892675-E83B-4207-B1E6-3D53565785D6}"/>
              </a:ext>
            </a:extLst>
          </p:cNvPr>
          <p:cNvSpPr>
            <a:spLocks xmlns:a="http://schemas.openxmlformats.org/drawingml/2006/main" noGrp="1"/>
          </p:cNvSpPr>
          <p:nvPr/>
        </p:nvSpPr>
        <p:spPr>
          <a:xfrm xmlns:a="http://schemas.openxmlformats.org/drawingml/2006/main">
            <a:off x="3476625" y="3200400"/>
            <a:ext cx="11049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18384B"/>
                </a:solidFill>
                <a:latin typeface="Arial"/>
                <a:ea typeface="Arial"/>
                <a:cs typeface="Arial"/>
              </a:defRPr>
            </a:pPr>
            <a:r>
              <a:rPr sz="2250" b="0">
                <a:solidFill>
                  <a:srgbClr val="18384B"/>
                </a:solidFill>
                <a:latin typeface="Arial"/>
                <a:ea typeface="Arial"/>
                <a:cs typeface="Arial"/>
              </a:rPr>
              <a:t>Which identity provider, roles, asset scopes and approval duties apply?</a:t>
            </a:r>
          </a:p>
        </p:txBody>
      </p:sp>
      <p:sp>
        <p:nvSpPr>
          <p:cNvPr id="9" name="Interfaces">
            <a:extLst xmlns:a="http://schemas.openxmlformats.org/drawingml/2006/main">
              <a:ext uri="{FF2B5EF4-FFF2-40B4-BE49-F238E27FC236}">
                <a16:creationId xmlns:a16="http://schemas.microsoft.com/office/drawing/2014/main" id="{361DAB22-E94A-41E5-8F5A-7A41392188E8}"/>
              </a:ext>
            </a:extLst>
          </p:cNvPr>
          <p:cNvSpPr>
            <a:spLocks xmlns:a="http://schemas.openxmlformats.org/drawingml/2006/main" noGrp="1"/>
          </p:cNvSpPr>
          <p:nvPr/>
        </p:nvSpPr>
        <p:spPr>
          <a:xfrm xmlns:a="http://schemas.openxmlformats.org/drawingml/2006/main">
            <a:off x="619125" y="4162425"/>
            <a:ext cx="26193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1">
                <a:solidFill>
                  <a:srgbClr val="007E92"/>
                </a:solidFill>
                <a:latin typeface="Arial"/>
                <a:ea typeface="Arial"/>
                <a:cs typeface="Arial"/>
              </a:defRPr>
            </a:pPr>
            <a:r>
              <a:rPr sz="2325" b="1">
                <a:solidFill>
                  <a:srgbClr val="007E92"/>
                </a:solidFill>
                <a:latin typeface="Arial"/>
                <a:ea typeface="Arial"/>
                <a:cs typeface="Arial"/>
              </a:rPr>
              <a:t>Interfaces</a:t>
            </a:r>
          </a:p>
        </p:txBody>
      </p:sp>
      <p:sp>
        <p:nvSpPr>
          <p:cNvPr id="10" name="Which systems exchange what data, in which direction and how ofte">
            <a:extLst xmlns:a="http://schemas.openxmlformats.org/drawingml/2006/main">
              <a:ext uri="{FF2B5EF4-FFF2-40B4-BE49-F238E27FC236}">
                <a16:creationId xmlns:a16="http://schemas.microsoft.com/office/drawing/2014/main" id="{14832ED6-2530-41F7-BAF6-FA2DBC04F678}"/>
              </a:ext>
            </a:extLst>
          </p:cNvPr>
          <p:cNvSpPr>
            <a:spLocks xmlns:a="http://schemas.openxmlformats.org/drawingml/2006/main" noGrp="1"/>
          </p:cNvSpPr>
          <p:nvPr/>
        </p:nvSpPr>
        <p:spPr>
          <a:xfrm xmlns:a="http://schemas.openxmlformats.org/drawingml/2006/main">
            <a:off x="3476625" y="4162425"/>
            <a:ext cx="11049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18384B"/>
                </a:solidFill>
                <a:latin typeface="Arial"/>
                <a:ea typeface="Arial"/>
                <a:cs typeface="Arial"/>
              </a:defRPr>
            </a:pPr>
            <a:r>
              <a:rPr sz="2250" b="0">
                <a:solidFill>
                  <a:srgbClr val="18384B"/>
                </a:solidFill>
                <a:latin typeface="Arial"/>
                <a:ea typeface="Arial"/>
                <a:cs typeface="Arial"/>
              </a:rPr>
              <a:t>Which systems exchange what data, in which direction and how often?</a:t>
            </a:r>
          </a:p>
        </p:txBody>
      </p:sp>
      <p:sp>
        <p:nvSpPr>
          <p:cNvPr id="11" name="Service targets">
            <a:extLst xmlns:a="http://schemas.openxmlformats.org/drawingml/2006/main">
              <a:ext uri="{FF2B5EF4-FFF2-40B4-BE49-F238E27FC236}">
                <a16:creationId xmlns:a16="http://schemas.microsoft.com/office/drawing/2014/main" id="{21F6F178-8AFE-4EB6-B4F6-8C2F0E0B72DE}"/>
              </a:ext>
            </a:extLst>
          </p:cNvPr>
          <p:cNvSpPr>
            <a:spLocks xmlns:a="http://schemas.openxmlformats.org/drawingml/2006/main" noGrp="1"/>
          </p:cNvSpPr>
          <p:nvPr/>
        </p:nvSpPr>
        <p:spPr>
          <a:xfrm xmlns:a="http://schemas.openxmlformats.org/drawingml/2006/main">
            <a:off x="619125" y="5124450"/>
            <a:ext cx="26193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1">
                <a:solidFill>
                  <a:srgbClr val="007E92"/>
                </a:solidFill>
                <a:latin typeface="Arial"/>
                <a:ea typeface="Arial"/>
                <a:cs typeface="Arial"/>
              </a:defRPr>
            </a:pPr>
            <a:r>
              <a:rPr sz="2325" b="1">
                <a:solidFill>
                  <a:srgbClr val="007E92"/>
                </a:solidFill>
                <a:latin typeface="Arial"/>
                <a:ea typeface="Arial"/>
                <a:cs typeface="Arial"/>
              </a:rPr>
              <a:t>Service targets</a:t>
            </a:r>
          </a:p>
        </p:txBody>
      </p:sp>
      <p:sp>
        <p:nvSpPr>
          <p:cNvPr id="12" name="What workload, recovery, availability and support targets must ac">
            <a:extLst xmlns:a="http://schemas.openxmlformats.org/drawingml/2006/main">
              <a:ext uri="{FF2B5EF4-FFF2-40B4-BE49-F238E27FC236}">
                <a16:creationId xmlns:a16="http://schemas.microsoft.com/office/drawing/2014/main" id="{E102386D-B1B2-4A62-BAD3-F96B6D623AA3}"/>
              </a:ext>
            </a:extLst>
          </p:cNvPr>
          <p:cNvSpPr>
            <a:spLocks xmlns:a="http://schemas.openxmlformats.org/drawingml/2006/main" noGrp="1"/>
          </p:cNvSpPr>
          <p:nvPr/>
        </p:nvSpPr>
        <p:spPr>
          <a:xfrm xmlns:a="http://schemas.openxmlformats.org/drawingml/2006/main">
            <a:off x="3476625" y="5124450"/>
            <a:ext cx="11049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18384B"/>
                </a:solidFill>
                <a:latin typeface="Arial"/>
                <a:ea typeface="Arial"/>
                <a:cs typeface="Arial"/>
              </a:defRPr>
            </a:pPr>
            <a:r>
              <a:rPr sz="2250" b="0">
                <a:solidFill>
                  <a:srgbClr val="18384B"/>
                </a:solidFill>
                <a:latin typeface="Arial"/>
                <a:ea typeface="Arial"/>
                <a:cs typeface="Arial"/>
              </a:rPr>
              <a:t>What workload, recovery, availability and support targets must acceptance prove?</a:t>
            </a:r>
          </a:p>
        </p:txBody>
      </p:sp>
      <p:sp>
        <p:nvSpPr>
          <p:cNvPr id="13" name="Next approval">
            <a:extLst xmlns:a="http://schemas.openxmlformats.org/drawingml/2006/main">
              <a:ext uri="{FF2B5EF4-FFF2-40B4-BE49-F238E27FC236}">
                <a16:creationId xmlns:a16="http://schemas.microsoft.com/office/drawing/2014/main" id="{8AE44C25-333C-4A43-B98C-08906E04FE26}"/>
              </a:ext>
            </a:extLst>
          </p:cNvPr>
          <p:cNvSpPr>
            <a:spLocks xmlns:a="http://schemas.openxmlformats.org/drawingml/2006/main" noGrp="1"/>
          </p:cNvSpPr>
          <p:nvPr/>
        </p:nvSpPr>
        <p:spPr>
          <a:xfrm xmlns:a="http://schemas.openxmlformats.org/drawingml/2006/main">
            <a:off x="619125" y="6086475"/>
            <a:ext cx="26193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1">
                <a:solidFill>
                  <a:srgbClr val="007E92"/>
                </a:solidFill>
                <a:latin typeface="Arial"/>
                <a:ea typeface="Arial"/>
                <a:cs typeface="Arial"/>
              </a:defRPr>
            </a:pPr>
            <a:r>
              <a:rPr sz="2325" b="1">
                <a:solidFill>
                  <a:srgbClr val="007E92"/>
                </a:solidFill>
                <a:latin typeface="Arial"/>
                <a:ea typeface="Arial"/>
                <a:cs typeface="Arial"/>
              </a:rPr>
              <a:t>Next approval</a:t>
            </a:r>
          </a:p>
        </p:txBody>
      </p:sp>
      <p:sp>
        <p:nvSpPr>
          <p:cNvPr id="14" name="Who owns technical acceptance, and which evidence is required bef">
            <a:extLst xmlns:a="http://schemas.openxmlformats.org/drawingml/2006/main">
              <a:ext uri="{FF2B5EF4-FFF2-40B4-BE49-F238E27FC236}">
                <a16:creationId xmlns:a16="http://schemas.microsoft.com/office/drawing/2014/main" id="{807A4DE6-6FC5-4092-87B7-88003A82D65B}"/>
              </a:ext>
            </a:extLst>
          </p:cNvPr>
          <p:cNvSpPr>
            <a:spLocks xmlns:a="http://schemas.openxmlformats.org/drawingml/2006/main" noGrp="1"/>
          </p:cNvSpPr>
          <p:nvPr/>
        </p:nvSpPr>
        <p:spPr>
          <a:xfrm xmlns:a="http://schemas.openxmlformats.org/drawingml/2006/main">
            <a:off x="3476625" y="6086475"/>
            <a:ext cx="11049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18384B"/>
                </a:solidFill>
                <a:latin typeface="Arial"/>
                <a:ea typeface="Arial"/>
                <a:cs typeface="Arial"/>
              </a:defRPr>
            </a:pPr>
            <a:r>
              <a:rPr sz="2250" b="0">
                <a:solidFill>
                  <a:srgbClr val="18384B"/>
                </a:solidFill>
                <a:latin typeface="Arial"/>
                <a:ea typeface="Arial"/>
                <a:cs typeface="Arial"/>
              </a:rPr>
              <a:t>Who owns technical acceptance, and which evidence is required before production?</a:t>
            </a:r>
          </a:p>
        </p:txBody>
      </p:sp>
    </p:spTree>
    <p:extLst>
      <p:ext uri="{BB962C8B-B14F-4D97-AF65-F5344CB8AC3E}">
        <p14:creationId xmlns:p14="http://schemas.microsoft.com/office/powerpoint/2010/main" val="210984492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2026-09-29T11:12:56.9190000Z</dcterms:created>
  <dcterms:modified xsi:type="dcterms:W3CDTF">2026-09-29T11:12:56.9190000Z</dcterms:modified>
</coreProperties>
</file>